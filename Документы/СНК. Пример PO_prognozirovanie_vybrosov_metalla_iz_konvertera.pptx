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63" r:id="rId5"/>
  </p:sldMasterIdLst>
  <p:notesMasterIdLst>
    <p:notesMasterId r:id="rId16"/>
  </p:notesMasterIdLst>
  <p:handoutMasterIdLst>
    <p:handoutMasterId r:id="rId17"/>
  </p:handoutMasterIdLst>
  <p:sldIdLst>
    <p:sldId id="256" r:id="rId6"/>
    <p:sldId id="285" r:id="rId7"/>
    <p:sldId id="292" r:id="rId8"/>
    <p:sldId id="273" r:id="rId9"/>
    <p:sldId id="286" r:id="rId10"/>
    <p:sldId id="290" r:id="rId11"/>
    <p:sldId id="287" r:id="rId12"/>
    <p:sldId id="295" r:id="rId13"/>
    <p:sldId id="281" r:id="rId14"/>
    <p:sldId id="294" r:id="rId15"/>
  </p:sldIdLst>
  <p:sldSz cx="12190413" cy="6859588"/>
  <p:notesSz cx="6858000" cy="9144000"/>
  <p:defaultTextStyle>
    <a:defPPr>
      <a:defRPr lang="ru-RU"/>
    </a:defPPr>
    <a:lvl1pPr marL="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3">
          <p15:clr>
            <a:srgbClr val="A4A3A4"/>
          </p15:clr>
        </p15:guide>
        <p15:guide id="2" orient="horz" pos="176">
          <p15:clr>
            <a:srgbClr val="A4A3A4"/>
          </p15:clr>
        </p15:guide>
        <p15:guide id="3" pos="7482">
          <p15:clr>
            <a:srgbClr val="A4A3A4"/>
          </p15:clr>
        </p15:guide>
        <p15:guide id="4" pos="1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05D5C"/>
    <a:srgbClr val="E63538"/>
    <a:srgbClr val="FF6600"/>
    <a:srgbClr val="008000"/>
    <a:srgbClr val="FF3300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060C3-0039-4B5E-89A1-9176497768FA}" v="2" dt="2024-12-14T13:54:12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Светлый стиль 2 -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35" autoAdjust="0"/>
    <p:restoredTop sz="88673" autoAdjust="0"/>
  </p:normalViewPr>
  <p:slideViewPr>
    <p:cSldViewPr snapToGrid="0" snapToObjects="1" showGuides="1">
      <p:cViewPr>
        <p:scale>
          <a:sx n="75" d="100"/>
          <a:sy n="75" d="100"/>
        </p:scale>
        <p:origin x="1608" y="628"/>
      </p:cViewPr>
      <p:guideLst>
        <p:guide orient="horz" pos="4143"/>
        <p:guide orient="horz" pos="176"/>
        <p:guide pos="7482"/>
        <p:guide pos="19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-354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E1BFF3-16DD-45DB-A512-B61C5FCB4853}" type="doc">
      <dgm:prSet loTypeId="urn:microsoft.com/office/officeart/2005/8/layout/p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3FF785D-E3BF-41FB-A388-882246D74D11}">
      <dgm:prSet phldrT="[Текст]"/>
      <dgm:spPr/>
      <dgm:t>
        <a:bodyPr/>
        <a:lstStyle/>
        <a:p>
          <a:r>
            <a:rPr lang="ru-RU" dirty="0" smtClean="0"/>
            <a:t>Повысить надежность оборудования</a:t>
          </a:r>
          <a:endParaRPr lang="ru-RU" dirty="0"/>
        </a:p>
      </dgm:t>
    </dgm:pt>
    <dgm:pt modelId="{8B1CFDDA-B6C2-4FF7-8519-F79775CC8213}" type="parTrans" cxnId="{862D6DD2-4C22-47AF-A979-6DD578D59A03}">
      <dgm:prSet/>
      <dgm:spPr/>
      <dgm:t>
        <a:bodyPr/>
        <a:lstStyle/>
        <a:p>
          <a:endParaRPr lang="ru-RU"/>
        </a:p>
      </dgm:t>
    </dgm:pt>
    <dgm:pt modelId="{68D06290-0FBB-40CE-9CC1-F142C975CDFE}" type="sibTrans" cxnId="{862D6DD2-4C22-47AF-A979-6DD578D59A03}">
      <dgm:prSet/>
      <dgm:spPr/>
      <dgm:t>
        <a:bodyPr/>
        <a:lstStyle/>
        <a:p>
          <a:endParaRPr lang="ru-RU"/>
        </a:p>
      </dgm:t>
    </dgm:pt>
    <dgm:pt modelId="{85C18B7F-2028-407F-9497-36A4D7123198}">
      <dgm:prSet phldrT="[Текст]"/>
      <dgm:spPr/>
      <dgm:t>
        <a:bodyPr/>
        <a:lstStyle/>
        <a:p>
          <a:r>
            <a:rPr lang="ru-RU" dirty="0" smtClean="0"/>
            <a:t>Уменьшить простои на производстве</a:t>
          </a:r>
          <a:endParaRPr lang="ru-RU" dirty="0"/>
        </a:p>
      </dgm:t>
    </dgm:pt>
    <dgm:pt modelId="{969642F5-E021-4807-86FC-C4E8D8F7548C}" type="parTrans" cxnId="{208B58C9-BFD6-41EE-B9C2-8D9FE40BCBD5}">
      <dgm:prSet/>
      <dgm:spPr/>
      <dgm:t>
        <a:bodyPr/>
        <a:lstStyle/>
        <a:p>
          <a:endParaRPr lang="ru-RU"/>
        </a:p>
      </dgm:t>
    </dgm:pt>
    <dgm:pt modelId="{B7693E96-B572-43CA-9B08-6B375B250FB7}" type="sibTrans" cxnId="{208B58C9-BFD6-41EE-B9C2-8D9FE40BCBD5}">
      <dgm:prSet/>
      <dgm:spPr/>
      <dgm:t>
        <a:bodyPr/>
        <a:lstStyle/>
        <a:p>
          <a:endParaRPr lang="ru-RU"/>
        </a:p>
      </dgm:t>
    </dgm:pt>
    <dgm:pt modelId="{B3623F97-B3B3-4609-99FA-659539D35D7F}">
      <dgm:prSet phldrT="[Текст]"/>
      <dgm:spPr/>
      <dgm:t>
        <a:bodyPr/>
        <a:lstStyle/>
        <a:p>
          <a:r>
            <a:rPr lang="ru-RU" dirty="0" smtClean="0"/>
            <a:t>Повысить уровень промышленной безопасности</a:t>
          </a:r>
          <a:endParaRPr lang="ru-RU" dirty="0"/>
        </a:p>
      </dgm:t>
    </dgm:pt>
    <dgm:pt modelId="{32D5B410-96FE-4B14-967E-C879220AE8FF}" type="parTrans" cxnId="{74B38BFC-6AC0-4CD7-9FBB-7B080CA4708C}">
      <dgm:prSet/>
      <dgm:spPr/>
      <dgm:t>
        <a:bodyPr/>
        <a:lstStyle/>
        <a:p>
          <a:endParaRPr lang="ru-RU"/>
        </a:p>
      </dgm:t>
    </dgm:pt>
    <dgm:pt modelId="{85C5CAF6-4AC9-41DD-92F3-5ADAA210DF45}" type="sibTrans" cxnId="{74B38BFC-6AC0-4CD7-9FBB-7B080CA4708C}">
      <dgm:prSet/>
      <dgm:spPr/>
      <dgm:t>
        <a:bodyPr/>
        <a:lstStyle/>
        <a:p>
          <a:endParaRPr lang="ru-RU"/>
        </a:p>
      </dgm:t>
    </dgm:pt>
    <dgm:pt modelId="{78E8B252-A29A-4F8B-9C15-9F2DCF617183}" type="pres">
      <dgm:prSet presAssocID="{5CE1BFF3-16DD-45DB-A512-B61C5FCB4853}" presName="Name0" presStyleCnt="0">
        <dgm:presLayoutVars>
          <dgm:dir/>
          <dgm:resizeHandles val="exact"/>
        </dgm:presLayoutVars>
      </dgm:prSet>
      <dgm:spPr/>
    </dgm:pt>
    <dgm:pt modelId="{0547D277-247C-42C5-9009-AC35A34BBADE}" type="pres">
      <dgm:prSet presAssocID="{5CE1BFF3-16DD-45DB-A512-B61C5FCB4853}" presName="bkgdShp" presStyleLbl="alignAccFollowNode1" presStyleIdx="0" presStyleCnt="1" custLinFactNeighborY="0"/>
      <dgm:spPr/>
    </dgm:pt>
    <dgm:pt modelId="{59551799-10D8-4FEF-BB31-94A108530E1A}" type="pres">
      <dgm:prSet presAssocID="{5CE1BFF3-16DD-45DB-A512-B61C5FCB4853}" presName="linComp" presStyleCnt="0"/>
      <dgm:spPr/>
    </dgm:pt>
    <dgm:pt modelId="{C38CAFB2-4B74-4A17-A34A-E7E73367DB92}" type="pres">
      <dgm:prSet presAssocID="{33FF785D-E3BF-41FB-A388-882246D74D11}" presName="compNode" presStyleCnt="0"/>
      <dgm:spPr/>
    </dgm:pt>
    <dgm:pt modelId="{26AA8BB1-E284-4262-9014-B659F638BD82}" type="pres">
      <dgm:prSet presAssocID="{33FF785D-E3BF-41FB-A388-882246D74D11}" presName="node" presStyleLbl="node1" presStyleIdx="0" presStyleCnt="3">
        <dgm:presLayoutVars>
          <dgm:bulletEnabled val="1"/>
        </dgm:presLayoutVars>
      </dgm:prSet>
      <dgm:spPr/>
    </dgm:pt>
    <dgm:pt modelId="{D3FF9351-7CC0-4150-9C1E-CE9BAEAD627C}" type="pres">
      <dgm:prSet presAssocID="{33FF785D-E3BF-41FB-A388-882246D74D11}" presName="invisiNode" presStyleLbl="node1" presStyleIdx="0" presStyleCnt="3"/>
      <dgm:spPr/>
    </dgm:pt>
    <dgm:pt modelId="{1AC20793-E2D5-4576-8A5C-EDCC09CCDF66}" type="pres">
      <dgm:prSet presAssocID="{33FF785D-E3BF-41FB-A388-882246D74D11}" presName="imagNode" presStyleLbl="fgImgPlace1" presStyleIdx="0" presStyleCnt="3" custScaleX="63661" custScaleY="130348" custLinFactNeighborX="-3601" custLinFactNeighborY="-8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</dgm:spPr>
    </dgm:pt>
    <dgm:pt modelId="{1392EC71-281B-454A-B22B-963D0EFCF0CA}" type="pres">
      <dgm:prSet presAssocID="{68D06290-0FBB-40CE-9CC1-F142C975CDFE}" presName="sibTrans" presStyleLbl="sibTrans2D1" presStyleIdx="0" presStyleCnt="0"/>
      <dgm:spPr/>
    </dgm:pt>
    <dgm:pt modelId="{9DAC0AEB-123D-4A69-982F-1B7F8568BBCB}" type="pres">
      <dgm:prSet presAssocID="{85C18B7F-2028-407F-9497-36A4D7123198}" presName="compNode" presStyleCnt="0"/>
      <dgm:spPr/>
    </dgm:pt>
    <dgm:pt modelId="{0A45E2F1-D41A-47A0-8F20-2AAB3CF60525}" type="pres">
      <dgm:prSet presAssocID="{85C18B7F-2028-407F-9497-36A4D7123198}" presName="node" presStyleLbl="node1" presStyleIdx="1" presStyleCnt="3">
        <dgm:presLayoutVars>
          <dgm:bulletEnabled val="1"/>
        </dgm:presLayoutVars>
      </dgm:prSet>
      <dgm:spPr/>
    </dgm:pt>
    <dgm:pt modelId="{B6DCDB6B-49F1-4CE6-BBE9-22A02DCF0173}" type="pres">
      <dgm:prSet presAssocID="{85C18B7F-2028-407F-9497-36A4D7123198}" presName="invisiNode" presStyleLbl="node1" presStyleIdx="1" presStyleCnt="3"/>
      <dgm:spPr/>
    </dgm:pt>
    <dgm:pt modelId="{59046BC5-C992-4B46-84EC-DF5D5A74CE11}" type="pres">
      <dgm:prSet presAssocID="{85C18B7F-2028-407F-9497-36A4D7123198}" presName="imagNode" presStyleLbl="fgImgPlace1" presStyleIdx="1" presStyleCnt="3" custScaleX="62574" custScaleY="129123" custLinFactNeighborX="-3157" custLinFactNeighborY="290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089A51C0-0FC5-474F-89A8-2E2067BB248E}" type="pres">
      <dgm:prSet presAssocID="{B7693E96-B572-43CA-9B08-6B375B250FB7}" presName="sibTrans" presStyleLbl="sibTrans2D1" presStyleIdx="0" presStyleCnt="0"/>
      <dgm:spPr/>
    </dgm:pt>
    <dgm:pt modelId="{7C9BB99B-3ABB-4E02-A6B6-91D8FA01A6CB}" type="pres">
      <dgm:prSet presAssocID="{B3623F97-B3B3-4609-99FA-659539D35D7F}" presName="compNode" presStyleCnt="0"/>
      <dgm:spPr/>
    </dgm:pt>
    <dgm:pt modelId="{E0E7A888-D86F-4E83-81A3-3E9F2F371861}" type="pres">
      <dgm:prSet presAssocID="{B3623F97-B3B3-4609-99FA-659539D35D7F}" presName="node" presStyleLbl="node1" presStyleIdx="2" presStyleCnt="3">
        <dgm:presLayoutVars>
          <dgm:bulletEnabled val="1"/>
        </dgm:presLayoutVars>
      </dgm:prSet>
      <dgm:spPr/>
    </dgm:pt>
    <dgm:pt modelId="{8BB8A384-9A2B-49BC-BEAD-F4D10DC91090}" type="pres">
      <dgm:prSet presAssocID="{B3623F97-B3B3-4609-99FA-659539D35D7F}" presName="invisiNode" presStyleLbl="node1" presStyleIdx="2" presStyleCnt="3"/>
      <dgm:spPr/>
    </dgm:pt>
    <dgm:pt modelId="{8221F026-7959-495E-9FE9-0EA4569F001D}" type="pres">
      <dgm:prSet presAssocID="{B3623F97-B3B3-4609-99FA-659539D35D7F}" presName="imagNode" presStyleLbl="fgImgPlace1" presStyleIdx="2" presStyleCnt="3" custScaleX="65171" custScaleY="130150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86" t="-15043" r="-11396" b="-15848"/>
          </a:stretch>
        </a:blipFill>
      </dgm:spPr>
    </dgm:pt>
  </dgm:ptLst>
  <dgm:cxnLst>
    <dgm:cxn modelId="{0BB34BED-5F98-486C-9C8F-9EE37FFAC4B2}" type="presOf" srcId="{33FF785D-E3BF-41FB-A388-882246D74D11}" destId="{26AA8BB1-E284-4262-9014-B659F638BD82}" srcOrd="0" destOrd="0" presId="urn:microsoft.com/office/officeart/2005/8/layout/pList2"/>
    <dgm:cxn modelId="{862D6DD2-4C22-47AF-A979-6DD578D59A03}" srcId="{5CE1BFF3-16DD-45DB-A512-B61C5FCB4853}" destId="{33FF785D-E3BF-41FB-A388-882246D74D11}" srcOrd="0" destOrd="0" parTransId="{8B1CFDDA-B6C2-4FF7-8519-F79775CC8213}" sibTransId="{68D06290-0FBB-40CE-9CC1-F142C975CDFE}"/>
    <dgm:cxn modelId="{208B58C9-BFD6-41EE-B9C2-8D9FE40BCBD5}" srcId="{5CE1BFF3-16DD-45DB-A512-B61C5FCB4853}" destId="{85C18B7F-2028-407F-9497-36A4D7123198}" srcOrd="1" destOrd="0" parTransId="{969642F5-E021-4807-86FC-C4E8D8F7548C}" sibTransId="{B7693E96-B572-43CA-9B08-6B375B250FB7}"/>
    <dgm:cxn modelId="{4C1560C5-5E7B-4354-9E2F-AF3DD9BCF22B}" type="presOf" srcId="{85C18B7F-2028-407F-9497-36A4D7123198}" destId="{0A45E2F1-D41A-47A0-8F20-2AAB3CF60525}" srcOrd="0" destOrd="0" presId="urn:microsoft.com/office/officeart/2005/8/layout/pList2"/>
    <dgm:cxn modelId="{74B38BFC-6AC0-4CD7-9FBB-7B080CA4708C}" srcId="{5CE1BFF3-16DD-45DB-A512-B61C5FCB4853}" destId="{B3623F97-B3B3-4609-99FA-659539D35D7F}" srcOrd="2" destOrd="0" parTransId="{32D5B410-96FE-4B14-967E-C879220AE8FF}" sibTransId="{85C5CAF6-4AC9-41DD-92F3-5ADAA210DF45}"/>
    <dgm:cxn modelId="{20CD4E7B-E5D0-48FA-B494-19A21B43EA94}" type="presOf" srcId="{B7693E96-B572-43CA-9B08-6B375B250FB7}" destId="{089A51C0-0FC5-474F-89A8-2E2067BB248E}" srcOrd="0" destOrd="0" presId="urn:microsoft.com/office/officeart/2005/8/layout/pList2"/>
    <dgm:cxn modelId="{5E1311E3-0799-4482-9108-DE10CEA63F90}" type="presOf" srcId="{B3623F97-B3B3-4609-99FA-659539D35D7F}" destId="{E0E7A888-D86F-4E83-81A3-3E9F2F371861}" srcOrd="0" destOrd="0" presId="urn:microsoft.com/office/officeart/2005/8/layout/pList2"/>
    <dgm:cxn modelId="{8173059E-FC46-4EF8-B72A-683140F448A2}" type="presOf" srcId="{5CE1BFF3-16DD-45DB-A512-B61C5FCB4853}" destId="{78E8B252-A29A-4F8B-9C15-9F2DCF617183}" srcOrd="0" destOrd="0" presId="urn:microsoft.com/office/officeart/2005/8/layout/pList2"/>
    <dgm:cxn modelId="{5C5B0D47-85D7-440C-B233-56E49BEF6C9D}" type="presOf" srcId="{68D06290-0FBB-40CE-9CC1-F142C975CDFE}" destId="{1392EC71-281B-454A-B22B-963D0EFCF0CA}" srcOrd="0" destOrd="0" presId="urn:microsoft.com/office/officeart/2005/8/layout/pList2"/>
    <dgm:cxn modelId="{FD0305EC-31EE-465F-9EFD-79057FEEC0DA}" type="presParOf" srcId="{78E8B252-A29A-4F8B-9C15-9F2DCF617183}" destId="{0547D277-247C-42C5-9009-AC35A34BBADE}" srcOrd="0" destOrd="0" presId="urn:microsoft.com/office/officeart/2005/8/layout/pList2"/>
    <dgm:cxn modelId="{8B303BD4-3D8B-4A94-BA06-7B3D7581C0DB}" type="presParOf" srcId="{78E8B252-A29A-4F8B-9C15-9F2DCF617183}" destId="{59551799-10D8-4FEF-BB31-94A108530E1A}" srcOrd="1" destOrd="0" presId="urn:microsoft.com/office/officeart/2005/8/layout/pList2"/>
    <dgm:cxn modelId="{4F6BBD7A-B5EB-4BA9-A3C1-7CE22D5861B6}" type="presParOf" srcId="{59551799-10D8-4FEF-BB31-94A108530E1A}" destId="{C38CAFB2-4B74-4A17-A34A-E7E73367DB92}" srcOrd="0" destOrd="0" presId="urn:microsoft.com/office/officeart/2005/8/layout/pList2"/>
    <dgm:cxn modelId="{104E3572-1B61-46A0-8E19-66C7AB34151F}" type="presParOf" srcId="{C38CAFB2-4B74-4A17-A34A-E7E73367DB92}" destId="{26AA8BB1-E284-4262-9014-B659F638BD82}" srcOrd="0" destOrd="0" presId="urn:microsoft.com/office/officeart/2005/8/layout/pList2"/>
    <dgm:cxn modelId="{2850D7DB-A21D-4515-9DE7-E8738852F230}" type="presParOf" srcId="{C38CAFB2-4B74-4A17-A34A-E7E73367DB92}" destId="{D3FF9351-7CC0-4150-9C1E-CE9BAEAD627C}" srcOrd="1" destOrd="0" presId="urn:microsoft.com/office/officeart/2005/8/layout/pList2"/>
    <dgm:cxn modelId="{D0687293-CDB1-4AFD-8077-1341F5151566}" type="presParOf" srcId="{C38CAFB2-4B74-4A17-A34A-E7E73367DB92}" destId="{1AC20793-E2D5-4576-8A5C-EDCC09CCDF66}" srcOrd="2" destOrd="0" presId="urn:microsoft.com/office/officeart/2005/8/layout/pList2"/>
    <dgm:cxn modelId="{3A51BE74-ABA6-47AA-82DD-76CDD38E3A10}" type="presParOf" srcId="{59551799-10D8-4FEF-BB31-94A108530E1A}" destId="{1392EC71-281B-454A-B22B-963D0EFCF0CA}" srcOrd="1" destOrd="0" presId="urn:microsoft.com/office/officeart/2005/8/layout/pList2"/>
    <dgm:cxn modelId="{5B7676BA-0E9F-4958-B413-57CA281ED052}" type="presParOf" srcId="{59551799-10D8-4FEF-BB31-94A108530E1A}" destId="{9DAC0AEB-123D-4A69-982F-1B7F8568BBCB}" srcOrd="2" destOrd="0" presId="urn:microsoft.com/office/officeart/2005/8/layout/pList2"/>
    <dgm:cxn modelId="{7FC22A54-EFED-4A25-8C04-1386A2C1EA4B}" type="presParOf" srcId="{9DAC0AEB-123D-4A69-982F-1B7F8568BBCB}" destId="{0A45E2F1-D41A-47A0-8F20-2AAB3CF60525}" srcOrd="0" destOrd="0" presId="urn:microsoft.com/office/officeart/2005/8/layout/pList2"/>
    <dgm:cxn modelId="{79A9BBC7-4852-436A-B278-F3FA872C65AE}" type="presParOf" srcId="{9DAC0AEB-123D-4A69-982F-1B7F8568BBCB}" destId="{B6DCDB6B-49F1-4CE6-BBE9-22A02DCF0173}" srcOrd="1" destOrd="0" presId="urn:microsoft.com/office/officeart/2005/8/layout/pList2"/>
    <dgm:cxn modelId="{9D55A3CA-2CFB-4B9D-AABE-0491169D60E9}" type="presParOf" srcId="{9DAC0AEB-123D-4A69-982F-1B7F8568BBCB}" destId="{59046BC5-C992-4B46-84EC-DF5D5A74CE11}" srcOrd="2" destOrd="0" presId="urn:microsoft.com/office/officeart/2005/8/layout/pList2"/>
    <dgm:cxn modelId="{C4597825-37F0-4635-B585-BCD54A66B85D}" type="presParOf" srcId="{59551799-10D8-4FEF-BB31-94A108530E1A}" destId="{089A51C0-0FC5-474F-89A8-2E2067BB248E}" srcOrd="3" destOrd="0" presId="urn:microsoft.com/office/officeart/2005/8/layout/pList2"/>
    <dgm:cxn modelId="{4084D871-1F87-45D1-9F9F-F78045CC9818}" type="presParOf" srcId="{59551799-10D8-4FEF-BB31-94A108530E1A}" destId="{7C9BB99B-3ABB-4E02-A6B6-91D8FA01A6CB}" srcOrd="4" destOrd="0" presId="urn:microsoft.com/office/officeart/2005/8/layout/pList2"/>
    <dgm:cxn modelId="{041871D4-3F52-4FE3-83F2-2110EA5A8240}" type="presParOf" srcId="{7C9BB99B-3ABB-4E02-A6B6-91D8FA01A6CB}" destId="{E0E7A888-D86F-4E83-81A3-3E9F2F371861}" srcOrd="0" destOrd="0" presId="urn:microsoft.com/office/officeart/2005/8/layout/pList2"/>
    <dgm:cxn modelId="{4F38226E-72F6-434F-A830-EBEA13ACD4F6}" type="presParOf" srcId="{7C9BB99B-3ABB-4E02-A6B6-91D8FA01A6CB}" destId="{8BB8A384-9A2B-49BC-BEAD-F4D10DC91090}" srcOrd="1" destOrd="0" presId="urn:microsoft.com/office/officeart/2005/8/layout/pList2"/>
    <dgm:cxn modelId="{49199CDD-4819-40DE-8BCD-18950D64CF29}" type="presParOf" srcId="{7C9BB99B-3ABB-4E02-A6B6-91D8FA01A6CB}" destId="{8221F026-7959-495E-9FE9-0EA4569F001D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47D277-247C-42C5-9009-AC35A34BBADE}">
      <dsp:nvSpPr>
        <dsp:cNvPr id="0" name=""/>
        <dsp:cNvSpPr/>
      </dsp:nvSpPr>
      <dsp:spPr>
        <a:xfrm>
          <a:off x="0" y="0"/>
          <a:ext cx="8159096" cy="1539359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C20793-E2D5-4576-8A5C-EDCC09CCDF66}">
      <dsp:nvSpPr>
        <dsp:cNvPr id="0" name=""/>
        <dsp:cNvSpPr/>
      </dsp:nvSpPr>
      <dsp:spPr>
        <a:xfrm>
          <a:off x="593941" y="33863"/>
          <a:ext cx="1525785" cy="14714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" b="-2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6AA8BB1-E284-4262-9014-B659F638BD82}">
      <dsp:nvSpPr>
        <dsp:cNvPr id="0" name=""/>
        <dsp:cNvSpPr/>
      </dsp:nvSpPr>
      <dsp:spPr>
        <a:xfrm rot="10800000">
          <a:off x="244772" y="1539359"/>
          <a:ext cx="2396734" cy="1881439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Повысить надежность оборудования</a:t>
          </a:r>
          <a:endParaRPr lang="ru-RU" sz="2100" kern="1200" dirty="0"/>
        </a:p>
      </dsp:txBody>
      <dsp:txXfrm rot="10800000">
        <a:off x="302633" y="1539359"/>
        <a:ext cx="2281012" cy="1823578"/>
      </dsp:txXfrm>
    </dsp:sp>
    <dsp:sp modelId="{59046BC5-C992-4B46-84EC-DF5D5A74CE11}">
      <dsp:nvSpPr>
        <dsp:cNvPr id="0" name=""/>
        <dsp:cNvSpPr/>
      </dsp:nvSpPr>
      <dsp:spPr>
        <a:xfrm>
          <a:off x="3254016" y="44142"/>
          <a:ext cx="1499732" cy="145762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A45E2F1-D41A-47A0-8F20-2AAB3CF60525}">
      <dsp:nvSpPr>
        <dsp:cNvPr id="0" name=""/>
        <dsp:cNvSpPr/>
      </dsp:nvSpPr>
      <dsp:spPr>
        <a:xfrm rot="10800000">
          <a:off x="2881180" y="1539359"/>
          <a:ext cx="2396734" cy="1881439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Уменьшить простои на производстве</a:t>
          </a:r>
          <a:endParaRPr lang="ru-RU" sz="2100" kern="1200" dirty="0"/>
        </a:p>
      </dsp:txBody>
      <dsp:txXfrm rot="10800000">
        <a:off x="2939041" y="1539359"/>
        <a:ext cx="2281012" cy="1823578"/>
      </dsp:txXfrm>
    </dsp:sp>
    <dsp:sp modelId="{8221F026-7959-495E-9FE9-0EA4569F001D}">
      <dsp:nvSpPr>
        <dsp:cNvPr id="0" name=""/>
        <dsp:cNvSpPr/>
      </dsp:nvSpPr>
      <dsp:spPr>
        <a:xfrm>
          <a:off x="5934967" y="35071"/>
          <a:ext cx="1561975" cy="1469216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86" t="-15043" r="-11396" b="-15848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0E7A888-D86F-4E83-81A3-3E9F2F371861}">
      <dsp:nvSpPr>
        <dsp:cNvPr id="0" name=""/>
        <dsp:cNvSpPr/>
      </dsp:nvSpPr>
      <dsp:spPr>
        <a:xfrm rot="10800000">
          <a:off x="5517588" y="1539359"/>
          <a:ext cx="2396734" cy="1881439"/>
        </a:xfrm>
        <a:prstGeom prst="round2SameRect">
          <a:avLst>
            <a:gd name="adj1" fmla="val 10500"/>
            <a:gd name="adj2" fmla="val 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smtClean="0"/>
            <a:t>Повысить уровень промышленной безопасности</a:t>
          </a:r>
          <a:endParaRPr lang="ru-RU" sz="2100" kern="1200" dirty="0"/>
        </a:p>
      </dsp:txBody>
      <dsp:txXfrm rot="10800000">
        <a:off x="5575449" y="1539359"/>
        <a:ext cx="2281012" cy="182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C8F61-8705-440C-8B29-6BD7C90BE63C}" type="datetimeFigureOut">
              <a:rPr lang="ru-RU" smtClean="0"/>
              <a:pPr/>
              <a:t>17.12.2024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BE808-1554-468C-B2C2-0DAAB620BE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01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896A2-B392-49D6-B011-BDC8CAECD43A}" type="datetimeFigureOut">
              <a:rPr lang="ru-RU" smtClean="0"/>
              <a:pPr/>
              <a:t>17.12.2024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9DFDB-5F00-45A8-8ECA-5F26B55FE9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67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6148431" y="-1"/>
            <a:ext cx="6041982" cy="68595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281" y="1841949"/>
            <a:ext cx="5753344" cy="2844046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14281" y="4685995"/>
            <a:ext cx="5753344" cy="1078445"/>
          </a:xfrm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1111" y="6357823"/>
            <a:ext cx="7714245" cy="36521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784630" y="687152"/>
            <a:ext cx="4012647" cy="826257"/>
          </a:xfrm>
          <a:prstGeom prst="rect">
            <a:avLst/>
          </a:prstGeom>
          <a:noFill/>
        </p:spPr>
        <p:txBody>
          <a:bodyPr wrap="none" lIns="117226" tIns="58613" rIns="117226" bIns="58613" rtlCol="0">
            <a:spAutoFit/>
          </a:bodyPr>
          <a:lstStyle/>
          <a:p>
            <a:pPr marL="0" marR="0" indent="0" algn="ct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latin typeface="+mj-lt"/>
              </a:rPr>
              <a:t>Череповецкий</a:t>
            </a:r>
            <a:endParaRPr lang="en-US" b="0" i="0" dirty="0">
              <a:solidFill>
                <a:schemeClr val="bg1"/>
              </a:solidFill>
              <a:latin typeface="+mj-lt"/>
            </a:endParaRPr>
          </a:p>
          <a:p>
            <a:pPr marL="0" marR="0" indent="0" algn="ct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latin typeface="+mj-lt"/>
              </a:rPr>
              <a:t>государственный университет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pic>
        <p:nvPicPr>
          <p:cNvPr id="8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21" y="983009"/>
            <a:ext cx="10971372" cy="514457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9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0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6118257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одержимое 2"/>
          <p:cNvSpPr>
            <a:spLocks noGrp="1"/>
          </p:cNvSpPr>
          <p:nvPr>
            <p:ph idx="1"/>
          </p:nvPr>
        </p:nvSpPr>
        <p:spPr>
          <a:xfrm>
            <a:off x="512515" y="983009"/>
            <a:ext cx="5434286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7" name="Содержимое 2"/>
          <p:cNvSpPr>
            <a:spLocks noGrp="1"/>
          </p:cNvSpPr>
          <p:nvPr>
            <p:ph idx="16"/>
          </p:nvPr>
        </p:nvSpPr>
        <p:spPr>
          <a:xfrm>
            <a:off x="6289712" y="983009"/>
            <a:ext cx="5434286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2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11110" y="983010"/>
            <a:ext cx="3611023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4105386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Содержимое 2"/>
          <p:cNvSpPr>
            <a:spLocks noGrp="1"/>
          </p:cNvSpPr>
          <p:nvPr>
            <p:ph idx="13"/>
          </p:nvPr>
        </p:nvSpPr>
        <p:spPr>
          <a:xfrm>
            <a:off x="4288638" y="983010"/>
            <a:ext cx="3611023" cy="5144571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cxnSp>
        <p:nvCxnSpPr>
          <p:cNvPr id="11" name="Прямая соединительная линия 10"/>
          <p:cNvCxnSpPr/>
          <p:nvPr userDrawn="1"/>
        </p:nvCxnSpPr>
        <p:spPr>
          <a:xfrm>
            <a:off x="8082913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одержимое 2"/>
          <p:cNvSpPr>
            <a:spLocks noGrp="1"/>
          </p:cNvSpPr>
          <p:nvPr>
            <p:ph idx="14"/>
          </p:nvPr>
        </p:nvSpPr>
        <p:spPr>
          <a:xfrm>
            <a:off x="8266164" y="983010"/>
            <a:ext cx="3611023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5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Содержимое 2"/>
          <p:cNvSpPr>
            <a:spLocks noGrp="1"/>
          </p:cNvSpPr>
          <p:nvPr>
            <p:ph idx="13"/>
          </p:nvPr>
        </p:nvSpPr>
        <p:spPr>
          <a:xfrm>
            <a:off x="6174715" y="983009"/>
            <a:ext cx="5517482" cy="5144573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/>
          </p:nvPr>
        </p:nvSpPr>
        <p:spPr>
          <a:xfrm>
            <a:off x="524514" y="983208"/>
            <a:ext cx="5517690" cy="514469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Содержимое 2"/>
          <p:cNvSpPr>
            <a:spLocks noGrp="1"/>
          </p:cNvSpPr>
          <p:nvPr>
            <p:ph idx="13"/>
          </p:nvPr>
        </p:nvSpPr>
        <p:spPr>
          <a:xfrm>
            <a:off x="524514" y="3932036"/>
            <a:ext cx="11167682" cy="2195546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/>
          </p:nvPr>
        </p:nvSpPr>
        <p:spPr>
          <a:xfrm>
            <a:off x="524514" y="983208"/>
            <a:ext cx="11167682" cy="279612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pic>
        <p:nvPicPr>
          <p:cNvPr id="7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г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8"/>
          <p:cNvSpPr>
            <a:spLocks noGrp="1"/>
          </p:cNvSpPr>
          <p:nvPr>
            <p:ph type="body" sz="quarter" idx="24"/>
          </p:nvPr>
        </p:nvSpPr>
        <p:spPr>
          <a:xfrm>
            <a:off x="2088070" y="3878127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2" name="Текст 18"/>
          <p:cNvSpPr>
            <a:spLocks noGrp="1"/>
          </p:cNvSpPr>
          <p:nvPr>
            <p:ph type="body" sz="quarter" idx="26"/>
          </p:nvPr>
        </p:nvSpPr>
        <p:spPr>
          <a:xfrm>
            <a:off x="7802084" y="3876272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4" name="Текст 18"/>
          <p:cNvSpPr>
            <a:spLocks noGrp="1"/>
          </p:cNvSpPr>
          <p:nvPr>
            <p:ph type="body" sz="quarter" idx="28"/>
          </p:nvPr>
        </p:nvSpPr>
        <p:spPr>
          <a:xfrm>
            <a:off x="7802084" y="1620535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23"/>
          </p:nvPr>
        </p:nvSpPr>
        <p:spPr>
          <a:xfrm>
            <a:off x="2088879" y="1619625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6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Рисунок 25"/>
          <p:cNvSpPr>
            <a:spLocks noGrp="1"/>
          </p:cNvSpPr>
          <p:nvPr>
            <p:ph type="pic" sz="quarter" idx="30"/>
          </p:nvPr>
        </p:nvSpPr>
        <p:spPr>
          <a:xfrm>
            <a:off x="758776" y="1813465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7" name="Рисунок 25"/>
          <p:cNvSpPr>
            <a:spLocks noGrp="1"/>
          </p:cNvSpPr>
          <p:nvPr>
            <p:ph type="pic" sz="quarter" idx="31"/>
          </p:nvPr>
        </p:nvSpPr>
        <p:spPr>
          <a:xfrm>
            <a:off x="6464251" y="1813465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8" name="Рисунок 25"/>
          <p:cNvSpPr>
            <a:spLocks noGrp="1"/>
          </p:cNvSpPr>
          <p:nvPr>
            <p:ph type="pic" sz="quarter" idx="32"/>
          </p:nvPr>
        </p:nvSpPr>
        <p:spPr>
          <a:xfrm>
            <a:off x="6464251" y="4070112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9" name="Рисунок 25"/>
          <p:cNvSpPr>
            <a:spLocks noGrp="1"/>
          </p:cNvSpPr>
          <p:nvPr>
            <p:ph type="pic" sz="quarter" idx="33"/>
          </p:nvPr>
        </p:nvSpPr>
        <p:spPr>
          <a:xfrm>
            <a:off x="758776" y="4070112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аблица 1"/>
          <p:cNvSpPr>
            <a:spLocks noGrp="1"/>
          </p:cNvSpPr>
          <p:nvPr userDrawn="1">
            <p:ph type="tbl" sz="quarter" idx="12"/>
          </p:nvPr>
        </p:nvSpPr>
        <p:spPr>
          <a:xfrm>
            <a:off x="487617" y="2109174"/>
            <a:ext cx="11204580" cy="4027474"/>
          </a:xfrm>
        </p:spPr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 txBox="1">
            <a:spLocks/>
          </p:cNvSpPr>
          <p:nvPr userDrawn="1"/>
        </p:nvSpPr>
        <p:spPr>
          <a:xfrm>
            <a:off x="311110" y="1"/>
            <a:ext cx="11119190" cy="777014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>
            <a:lvl1pPr algn="l">
              <a:defRPr/>
            </a:lvl1pPr>
          </a:lstStyle>
          <a:p>
            <a:pPr marL="0" marR="0" lvl="0" indent="0" algn="l" defTabSz="117226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Образец заголовка</a:t>
            </a:r>
          </a:p>
        </p:txBody>
      </p:sp>
      <p:sp>
        <p:nvSpPr>
          <p:cNvPr id="12" name="Текст 10"/>
          <p:cNvSpPr>
            <a:spLocks noGrp="1"/>
          </p:cNvSpPr>
          <p:nvPr>
            <p:ph type="body" sz="quarter" idx="14"/>
          </p:nvPr>
        </p:nvSpPr>
        <p:spPr>
          <a:xfrm>
            <a:off x="487616" y="991957"/>
            <a:ext cx="11204580" cy="111721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 txBox="1">
            <a:spLocks/>
          </p:cNvSpPr>
          <p:nvPr userDrawn="1"/>
        </p:nvSpPr>
        <p:spPr>
          <a:xfrm>
            <a:off x="311110" y="1"/>
            <a:ext cx="11119190" cy="777014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>
            <a:lvl1pPr algn="l">
              <a:defRPr/>
            </a:lvl1pPr>
          </a:lstStyle>
          <a:p>
            <a:pPr marL="0" marR="0" lvl="0" indent="0" algn="l" defTabSz="117226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Образец заголовка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6"/>
          </p:nvPr>
        </p:nvSpPr>
        <p:spPr>
          <a:xfrm>
            <a:off x="561820" y="3263209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5" name="Текст 13"/>
          <p:cNvSpPr>
            <a:spLocks noGrp="1"/>
          </p:cNvSpPr>
          <p:nvPr>
            <p:ph type="body" sz="quarter" idx="17"/>
          </p:nvPr>
        </p:nvSpPr>
        <p:spPr>
          <a:xfrm>
            <a:off x="3390024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8"/>
          </p:nvPr>
        </p:nvSpPr>
        <p:spPr>
          <a:xfrm>
            <a:off x="6218227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7" name="Текст 13"/>
          <p:cNvSpPr>
            <a:spLocks noGrp="1"/>
          </p:cNvSpPr>
          <p:nvPr>
            <p:ph type="body" sz="quarter" idx="19"/>
          </p:nvPr>
        </p:nvSpPr>
        <p:spPr>
          <a:xfrm>
            <a:off x="9046431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8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Рисунок 19"/>
          <p:cNvSpPr>
            <a:spLocks noGrp="1"/>
          </p:cNvSpPr>
          <p:nvPr>
            <p:ph type="pic" sz="quarter" idx="20"/>
          </p:nvPr>
        </p:nvSpPr>
        <p:spPr>
          <a:xfrm>
            <a:off x="859466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1" name="Рисунок 19"/>
          <p:cNvSpPr>
            <a:spLocks noGrp="1"/>
          </p:cNvSpPr>
          <p:nvPr>
            <p:ph type="pic" sz="quarter" idx="21"/>
          </p:nvPr>
        </p:nvSpPr>
        <p:spPr>
          <a:xfrm>
            <a:off x="3687670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2" name="Рисунок 19"/>
          <p:cNvSpPr>
            <a:spLocks noGrp="1"/>
          </p:cNvSpPr>
          <p:nvPr>
            <p:ph type="pic" sz="quarter" idx="22"/>
          </p:nvPr>
        </p:nvSpPr>
        <p:spPr>
          <a:xfrm>
            <a:off x="6515873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3" name="Рисунок 19"/>
          <p:cNvSpPr>
            <a:spLocks noGrp="1"/>
          </p:cNvSpPr>
          <p:nvPr>
            <p:ph type="pic" sz="quarter" idx="23"/>
          </p:nvPr>
        </p:nvSpPr>
        <p:spPr>
          <a:xfrm>
            <a:off x="9344077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Титульный слайд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48431" y="-1"/>
            <a:ext cx="6041982" cy="685958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914281" y="1841949"/>
            <a:ext cx="5753344" cy="2844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914281" y="4685995"/>
            <a:ext cx="5753344" cy="1078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lvl="0" algn="l">
              <a:spcBef>
                <a:spcPts val="420"/>
              </a:spcBef>
              <a:spcAft>
                <a:spcPts val="0"/>
              </a:spcAft>
              <a:buClr>
                <a:srgbClr val="F2F2F2"/>
              </a:buClr>
              <a:buSzPts val="2100"/>
              <a:buNone/>
              <a:defRPr sz="2100">
                <a:solidFill>
                  <a:srgbClr val="F2F2F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20"/>
              </a:spcBef>
              <a:spcAft>
                <a:spcPts val="0"/>
              </a:spcAft>
              <a:buClr>
                <a:srgbClr val="888888"/>
              </a:buClr>
              <a:buSzPts val="2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/>
          <p:nvPr/>
        </p:nvSpPr>
        <p:spPr>
          <a:xfrm>
            <a:off x="1784630" y="687152"/>
            <a:ext cx="4012647" cy="82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spAutoFit/>
          </a:bodyPr>
          <a:lstStyle/>
          <a:p>
            <a:pPr algn="ctr" defTabSz="914400">
              <a:buClr>
                <a:srgbClr val="FFFFFF"/>
              </a:buClr>
              <a:buSzPts val="2300"/>
              <a:buFont typeface="Calibri"/>
              <a:buNone/>
            </a:pPr>
            <a:r>
              <a:rPr lang="ru-RU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Череповецкий</a:t>
            </a:r>
            <a:endParaRPr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 defTabSz="914400">
              <a:buClr>
                <a:srgbClr val="FFFFFF"/>
              </a:buClr>
              <a:buSzPts val="2300"/>
              <a:buFont typeface="Calibri"/>
              <a:buNone/>
            </a:pPr>
            <a:r>
              <a:rPr lang="ru-RU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государственный университет</a:t>
            </a:r>
            <a:endParaRPr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5641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Заголовок и объект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13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609521" y="983009"/>
            <a:ext cx="10971372" cy="514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6395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sp>
        <p:nvSpPr>
          <p:cNvPr id="30" name="Google Shape;30;p14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14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0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897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два объекта">
  <p:cSld name="Заголовок и два объекта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cxnSp>
        <p:nvCxnSpPr>
          <p:cNvPr id="38" name="Google Shape;38;p15"/>
          <p:cNvCxnSpPr/>
          <p:nvPr/>
        </p:nvCxnSpPr>
        <p:spPr>
          <a:xfrm>
            <a:off x="6118257" y="983009"/>
            <a:ext cx="0" cy="5144573"/>
          </a:xfrm>
          <a:prstGeom prst="straightConnector1">
            <a:avLst/>
          </a:prstGeom>
          <a:noFill/>
          <a:ln w="1270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2515" y="983009"/>
            <a:ext cx="5434286" cy="5144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289712" y="983009"/>
            <a:ext cx="5434286" cy="5144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1" name="Google Shape;41;p15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906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ри объекта">
  <p:cSld name="Заголовок и три объекта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311110" y="983010"/>
            <a:ext cx="3611023" cy="5144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cxnSp>
        <p:nvCxnSpPr>
          <p:cNvPr id="48" name="Google Shape;48;p16"/>
          <p:cNvCxnSpPr/>
          <p:nvPr/>
        </p:nvCxnSpPr>
        <p:spPr>
          <a:xfrm>
            <a:off x="4105386" y="983009"/>
            <a:ext cx="0" cy="5144573"/>
          </a:xfrm>
          <a:prstGeom prst="straightConnector1">
            <a:avLst/>
          </a:prstGeom>
          <a:noFill/>
          <a:ln w="1270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49;p16"/>
          <p:cNvSpPr txBox="1">
            <a:spLocks noGrp="1"/>
          </p:cNvSpPr>
          <p:nvPr>
            <p:ph type="body" idx="2"/>
          </p:nvPr>
        </p:nvSpPr>
        <p:spPr>
          <a:xfrm>
            <a:off x="4288638" y="983010"/>
            <a:ext cx="3611023" cy="514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16"/>
          <p:cNvCxnSpPr/>
          <p:nvPr/>
        </p:nvCxnSpPr>
        <p:spPr>
          <a:xfrm>
            <a:off x="8082913" y="983009"/>
            <a:ext cx="0" cy="5144573"/>
          </a:xfrm>
          <a:prstGeom prst="straightConnector1">
            <a:avLst/>
          </a:prstGeom>
          <a:noFill/>
          <a:ln w="12700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16"/>
          <p:cNvSpPr txBox="1">
            <a:spLocks noGrp="1"/>
          </p:cNvSpPr>
          <p:nvPr>
            <p:ph type="body" idx="3"/>
          </p:nvPr>
        </p:nvSpPr>
        <p:spPr>
          <a:xfrm>
            <a:off x="8266164" y="983010"/>
            <a:ext cx="3611023" cy="5144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2" name="Google Shape;52;p16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879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и объект">
  <p:cSld name="Текст и объект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sp>
        <p:nvSpPr>
          <p:cNvPr id="56" name="Google Shape;56;p17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1"/>
          </p:nvPr>
        </p:nvSpPr>
        <p:spPr>
          <a:xfrm>
            <a:off x="6174715" y="983009"/>
            <a:ext cx="5517482" cy="5144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L="457200" lvl="0" indent="-228600" algn="ctr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marL="914400" lvl="1" indent="-2286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ctr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5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2"/>
          </p:nvPr>
        </p:nvSpPr>
        <p:spPr>
          <a:xfrm>
            <a:off x="524514" y="983208"/>
            <a:ext cx="5517690" cy="514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17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5563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и объект 2">
  <p:cSld name="Текст и объект 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sp>
        <p:nvSpPr>
          <p:cNvPr id="64" name="Google Shape;64;p18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8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body" idx="1"/>
          </p:nvPr>
        </p:nvSpPr>
        <p:spPr>
          <a:xfrm>
            <a:off x="524514" y="3932036"/>
            <a:ext cx="11167682" cy="219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L="457200" lvl="0" indent="-228600" algn="ctr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/>
            </a:lvl1pPr>
            <a:lvl2pPr marL="914400" lvl="1" indent="-22860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ctr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5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2"/>
          </p:nvPr>
        </p:nvSpPr>
        <p:spPr>
          <a:xfrm>
            <a:off x="524514" y="983208"/>
            <a:ext cx="11167682" cy="2796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8" name="Google Shape;68;p18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74793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sp>
        <p:nvSpPr>
          <p:cNvPr id="72" name="Google Shape;72;p19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9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075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ги">
  <p:cSld name="Шаги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2088070" y="3878127"/>
            <a:ext cx="3667705" cy="141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7802084" y="3876272"/>
            <a:ext cx="3667705" cy="141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3"/>
          </p:nvPr>
        </p:nvSpPr>
        <p:spPr>
          <a:xfrm>
            <a:off x="7802084" y="1620535"/>
            <a:ext cx="3667705" cy="141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4"/>
          </p:nvPr>
        </p:nvSpPr>
        <p:spPr>
          <a:xfrm>
            <a:off x="2088879" y="1619625"/>
            <a:ext cx="3667705" cy="141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sp>
        <p:nvSpPr>
          <p:cNvPr id="81" name="Google Shape;81;p20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20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>
            <a:spLocks noGrp="1"/>
          </p:cNvSpPr>
          <p:nvPr>
            <p:ph type="pic" idx="5"/>
          </p:nvPr>
        </p:nvSpPr>
        <p:spPr>
          <a:xfrm>
            <a:off x="758776" y="1813465"/>
            <a:ext cx="1031875" cy="1031875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20"/>
          <p:cNvSpPr>
            <a:spLocks noGrp="1"/>
          </p:cNvSpPr>
          <p:nvPr>
            <p:ph type="pic" idx="6"/>
          </p:nvPr>
        </p:nvSpPr>
        <p:spPr>
          <a:xfrm>
            <a:off x="6464251" y="1813465"/>
            <a:ext cx="1031875" cy="1031875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20"/>
          <p:cNvSpPr>
            <a:spLocks noGrp="1"/>
          </p:cNvSpPr>
          <p:nvPr>
            <p:ph type="pic" idx="7"/>
          </p:nvPr>
        </p:nvSpPr>
        <p:spPr>
          <a:xfrm>
            <a:off x="6464251" y="4070112"/>
            <a:ext cx="1031875" cy="1031875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20"/>
          <p:cNvSpPr>
            <a:spLocks noGrp="1"/>
          </p:cNvSpPr>
          <p:nvPr>
            <p:ph type="pic" idx="8"/>
          </p:nvPr>
        </p:nvSpPr>
        <p:spPr>
          <a:xfrm>
            <a:off x="758776" y="4070112"/>
            <a:ext cx="1031875" cy="1031875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620605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">
  <p:cSld name="Таблица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sp>
        <p:nvSpPr>
          <p:cNvPr id="91" name="Google Shape;91;p21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 txBox="1"/>
          <p:nvPr/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/>
          <a:p>
            <a:pPr defTabSz="914400">
              <a:buClr>
                <a:srgbClr val="FFFFFF"/>
              </a:buClr>
              <a:buSzPts val="3100"/>
              <a:buFont typeface="Calibri"/>
              <a:buNone/>
            </a:pPr>
            <a:r>
              <a:rPr lang="ru-RU" sz="3100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Образец заголовка</a:t>
            </a: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>
            <a:off x="487616" y="991957"/>
            <a:ext cx="11204580" cy="1117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4" name="Google Shape;94;p21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9928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онтакты">
  <p:cSld name="Контакты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/>
              <a:pPr/>
              <a:t>‹#›</a:t>
            </a:fld>
            <a:endParaRPr/>
          </a:p>
        </p:txBody>
      </p:sp>
      <p:sp>
        <p:nvSpPr>
          <p:cNvPr id="98" name="Google Shape;98;p22"/>
          <p:cNvSpPr/>
          <p:nvPr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srgbClr val="000000">
                <a:alpha val="30980"/>
              </a:srgbClr>
            </a:outerShdw>
          </a:effectLst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algn="ctr" defTabSz="914400">
              <a:buClr>
                <a:srgbClr val="000000"/>
              </a:buClr>
              <a:buFont typeface="Arial"/>
              <a:buNone/>
            </a:pPr>
            <a:endParaRPr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 txBox="1"/>
          <p:nvPr/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/>
          <a:p>
            <a:pPr defTabSz="914400">
              <a:buClr>
                <a:srgbClr val="FFFFFF"/>
              </a:buClr>
              <a:buSzPts val="3100"/>
              <a:buFont typeface="Calibri"/>
              <a:buNone/>
            </a:pPr>
            <a:r>
              <a:rPr lang="ru-RU" sz="3100" b="1" ker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Образец заголовка</a:t>
            </a: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561820" y="3263209"/>
            <a:ext cx="2657551" cy="261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2"/>
          </p:nvPr>
        </p:nvSpPr>
        <p:spPr>
          <a:xfrm>
            <a:off x="3390024" y="3262396"/>
            <a:ext cx="2657551" cy="261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3"/>
          </p:nvPr>
        </p:nvSpPr>
        <p:spPr>
          <a:xfrm>
            <a:off x="6218227" y="3262396"/>
            <a:ext cx="2657551" cy="261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4"/>
          </p:nvPr>
        </p:nvSpPr>
        <p:spPr>
          <a:xfrm>
            <a:off x="9046431" y="3262396"/>
            <a:ext cx="2657551" cy="2615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BFBFBF"/>
              </a:buClr>
              <a:buSzPts val="18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4" name="Google Shape;104;p22" descr="G:\CHSU\Бакалавриат\Презентации\ЧГУ (Brandbook)_титул_700 - коп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2"/>
          <p:cNvSpPr>
            <a:spLocks noGrp="1"/>
          </p:cNvSpPr>
          <p:nvPr>
            <p:ph type="pic" idx="5"/>
          </p:nvPr>
        </p:nvSpPr>
        <p:spPr>
          <a:xfrm>
            <a:off x="859466" y="1112742"/>
            <a:ext cx="2062258" cy="2062258"/>
          </a:xfrm>
          <a:prstGeom prst="ellipse">
            <a:avLst/>
          </a:prstGeom>
          <a:noFill/>
          <a:ln>
            <a:noFill/>
          </a:ln>
        </p:spPr>
      </p:sp>
      <p:sp>
        <p:nvSpPr>
          <p:cNvPr id="106" name="Google Shape;106;p22"/>
          <p:cNvSpPr>
            <a:spLocks noGrp="1"/>
          </p:cNvSpPr>
          <p:nvPr>
            <p:ph type="pic" idx="6"/>
          </p:nvPr>
        </p:nvSpPr>
        <p:spPr>
          <a:xfrm>
            <a:off x="3687670" y="1112742"/>
            <a:ext cx="2062258" cy="2062258"/>
          </a:xfrm>
          <a:prstGeom prst="ellipse">
            <a:avLst/>
          </a:prstGeom>
          <a:noFill/>
          <a:ln>
            <a:noFill/>
          </a:ln>
        </p:spPr>
      </p:sp>
      <p:sp>
        <p:nvSpPr>
          <p:cNvPr id="107" name="Google Shape;107;p22"/>
          <p:cNvSpPr>
            <a:spLocks noGrp="1"/>
          </p:cNvSpPr>
          <p:nvPr>
            <p:ph type="pic" idx="7"/>
          </p:nvPr>
        </p:nvSpPr>
        <p:spPr>
          <a:xfrm>
            <a:off x="6515873" y="1112742"/>
            <a:ext cx="2062258" cy="2062258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22"/>
          <p:cNvSpPr>
            <a:spLocks noGrp="1"/>
          </p:cNvSpPr>
          <p:nvPr>
            <p:ph type="pic" idx="8"/>
          </p:nvPr>
        </p:nvSpPr>
        <p:spPr>
          <a:xfrm>
            <a:off x="9344077" y="1112742"/>
            <a:ext cx="2062258" cy="2062258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5913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521" y="1600571"/>
            <a:ext cx="10971372" cy="4527011"/>
          </a:xfrm>
          <a:prstGeom prst="rect">
            <a:avLst/>
          </a:prstGeom>
        </p:spPr>
        <p:txBody>
          <a:bodyPr vert="horz" lIns="117226" tIns="58613" rIns="117226" bIns="58613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algn="l" defTabSz="1172261" rtl="0" eaLnBrk="1" latinLnBrk="0" hangingPunct="1">
        <a:spcBef>
          <a:spcPct val="0"/>
        </a:spcBef>
        <a:buNone/>
        <a:defRPr sz="31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036" indent="-2036" algn="l" defTabSz="1172261" rtl="0" eaLnBrk="1" latinLnBrk="0" hangingPunct="1">
        <a:spcBef>
          <a:spcPct val="20000"/>
        </a:spcBef>
        <a:buFont typeface="Arial" pitchFamily="34" charset="0"/>
        <a:buNone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461985" indent="-4070" algn="l" defTabSz="1172261" rtl="0" eaLnBrk="1" latinLnBrk="0" hangingPunct="1">
        <a:spcBef>
          <a:spcPct val="200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3744" indent="2036" algn="l" defTabSz="1172261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3pPr>
      <a:lvl4pPr marL="2051456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37587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23717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0984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9597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8210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613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26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39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452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065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1678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0291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8904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  <a:defRPr sz="3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521" y="1600571"/>
            <a:ext cx="10971372" cy="452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t" anchorCtr="0">
            <a:normAutofit/>
          </a:bodyPr>
          <a:lstStyle>
            <a:lvl1pPr marL="457200" marR="0" lvl="0" indent="-228600" algn="l" rtl="0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00"/>
              </a:spcBef>
              <a:spcAft>
                <a:spcPts val="0"/>
              </a:spcAft>
              <a:buClr>
                <a:srgbClr val="BFBFBF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 kern="0"/>
              <a:pPr defTabSz="914400"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34876924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ctrTitle"/>
          </p:nvPr>
        </p:nvSpPr>
        <p:spPr>
          <a:xfrm>
            <a:off x="1005073" y="2516400"/>
            <a:ext cx="5753344" cy="2844046"/>
          </a:xfrm>
        </p:spPr>
        <p:txBody>
          <a:bodyPr>
            <a:noAutofit/>
          </a:bodyPr>
          <a:lstStyle/>
          <a:p>
            <a:pPr algn="l"/>
            <a:r>
              <a:rPr lang="ru-RU" sz="3600" dirty="0">
                <a:ea typeface="Calibri"/>
                <a:cs typeface="Calibri"/>
              </a:rPr>
              <a:t>Программное обеспечение для прогнозирования выбросов металла из конвертера на основе вибрационных сигналов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2"/>
          <p:cNvGraphicFramePr/>
          <p:nvPr>
            <p:extLst>
              <p:ext uri="{D42A27DB-BD31-4B8C-83A1-F6EECF244321}">
                <p14:modId xmlns:p14="http://schemas.microsoft.com/office/powerpoint/2010/main" val="303841526"/>
              </p:ext>
            </p:extLst>
          </p:nvPr>
        </p:nvGraphicFramePr>
        <p:xfrm>
          <a:off x="419100" y="1095601"/>
          <a:ext cx="11161700" cy="555160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58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>
                          <a:solidFill>
                            <a:schemeClr val="bg1"/>
                          </a:solidFill>
                        </a:rPr>
                        <a:t>Проблема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</a:rPr>
                        <a:t>Показатели эффективности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4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Потеря металла в процессе его переработки вследствие не</a:t>
                      </a:r>
                      <a:r>
                        <a:rPr lang="ru-RU" sz="1400" baseline="0" dirty="0"/>
                        <a:t> </a:t>
                      </a:r>
                      <a:r>
                        <a:rPr lang="ru-RU" sz="1400" dirty="0"/>
                        <a:t>спрогнозированного выброса металла</a:t>
                      </a:r>
                      <a:r>
                        <a:rPr lang="ru-RU" sz="1400" baseline="0" dirty="0"/>
                        <a:t> из конвертера.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1400" dirty="0"/>
                        <a:t>Количество размеченных данных, полученных с датчиков на конвертере</a:t>
                      </a: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1400" dirty="0"/>
                        <a:t>Экономическая выгода (внедрение продукта снизит расходы на 10%)</a:t>
                      </a:r>
                    </a:p>
                    <a:p>
                      <a:pPr marL="342900" marR="0" lvl="0" indent="-34290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ru-RU" sz="1400" dirty="0"/>
                        <a:t>Качество процесса (внедрение продукта позволит сократить количество ошибок на 10%)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Цель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Тип</a:t>
                      </a:r>
                      <a:r>
                        <a:rPr lang="ru-RU" sz="2000" b="1" baseline="0" dirty="0">
                          <a:solidFill>
                            <a:schemeClr val="lt1"/>
                          </a:solidFill>
                        </a:rPr>
                        <a:t>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Сложность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4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Повысить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надёжность работы конвертера,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Уменьшить простои на производстве,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Повысить уровень промышленной безопасности,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Сократить расходы.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Заказной проект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IT-</a:t>
                      </a:r>
                      <a:r>
                        <a:rPr lang="ru-RU" sz="1400" dirty="0"/>
                        <a:t>решение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В – повышенный уровень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49">
                <a:tc gridSpan="3"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Описание продуктового результата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7474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Итогом</a:t>
                      </a:r>
                      <a:r>
                        <a:rPr lang="ru-RU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работы над проектом является программное обеспечение, которое обрабатывает данные с датчиков вибрации, установленных на конвертере и прогнозирует выброс металла из конвертера с точностью 90% за 15-20 секунд до возникновения аварийной ситуации.</a:t>
                      </a:r>
                      <a:endParaRPr lang="ru-RU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Срок реализации проекта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Заказчик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5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1.02.2024 - 1.06.2025 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Организация-заказчик: АО «Северсталь-менеджмент»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Представитель заказчика: </a:t>
                      </a:r>
                      <a:r>
                        <a:rPr lang="ru-RU" sz="1400" dirty="0" err="1"/>
                        <a:t>Левичев</a:t>
                      </a:r>
                      <a:r>
                        <a:rPr lang="ru-RU" sz="1400" dirty="0"/>
                        <a:t> И.П.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 fontScale="90000"/>
          </a:bodyPr>
          <a:lstStyle/>
          <a:p>
            <a:pPr lvl="0"/>
            <a:r>
              <a:rPr lang="ru-RU" dirty="0"/>
              <a:t>Карточка проекта «</a:t>
            </a:r>
            <a:r>
              <a:rPr lang="ru-RU" sz="2200" dirty="0"/>
              <a:t>Программное обеспечение для прогнозирования выбросов металла из конвертера на основе </a:t>
            </a:r>
            <a:r>
              <a:rPr lang="ru-RU" sz="2200"/>
              <a:t>вибрационных сигналов</a:t>
            </a:r>
            <a:r>
              <a:rPr lang="ru-RU"/>
              <a:t>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375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F11CC26-0F22-F413-835D-79D4BA71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Описание и демонстрация продуктового результата проекта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E277E4-14FA-A183-E984-AFD46997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>
                <a:solidFill>
                  <a:srgbClr val="000000">
                    <a:tint val="75000"/>
                  </a:srgbClr>
                </a:solidFill>
              </a:rPr>
              <a:pPr/>
              <a:t>3</a:t>
            </a:fld>
            <a:endParaRPr lang="ru-RU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Объект 1"/>
          <p:cNvSpPr>
            <a:spLocks noGrp="1"/>
          </p:cNvSpPr>
          <p:nvPr>
            <p:ph idx="1"/>
          </p:nvPr>
        </p:nvSpPr>
        <p:spPr>
          <a:xfrm>
            <a:off x="653661" y="1117216"/>
            <a:ext cx="10971372" cy="1402051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На данный момент разработано программное обеспечение, позволяющее обучать нейронную сеть по имеющимся координатам перемещения и углам поворота. В качестве модели был выбран случайный лес. Точность прогнозирования выброса составляет около 98%.</a:t>
            </a:r>
            <a:r>
              <a:rPr lang="en-US" dirty="0"/>
              <a:t> </a:t>
            </a:r>
            <a:r>
              <a:rPr lang="ru-RU" dirty="0"/>
              <a:t>Продукт находится на TRL</a:t>
            </a:r>
            <a:r>
              <a:rPr lang="en-US" dirty="0"/>
              <a:t>7.</a:t>
            </a:r>
            <a:endParaRPr lang="ru-RU" dirty="0"/>
          </a:p>
        </p:txBody>
      </p:sp>
      <p:pic>
        <p:nvPicPr>
          <p:cNvPr id="2050" name="Picture 2" descr="random forest algorithm color icon vector illustration 39202122 Vector Art  at Vecteezy">
            <a:extLst>
              <a:ext uri="{FF2B5EF4-FFF2-40B4-BE49-F238E27FC236}">
                <a16:creationId xmlns:a16="http://schemas.microsoft.com/office/drawing/2014/main" id="{731CA6B9-D306-4C2E-A8BB-FF02F5339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85252"/>
            <a:ext cx="2597426" cy="259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B91C35-434E-4854-B390-A965F8BCFE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15" t="32442" r="47819" b="29661"/>
          <a:stretch/>
        </p:blipFill>
        <p:spPr>
          <a:xfrm>
            <a:off x="2743200" y="2885252"/>
            <a:ext cx="4664765" cy="2597426"/>
          </a:xfrm>
          <a:prstGeom prst="rect">
            <a:avLst/>
          </a:prstGeom>
        </p:spPr>
      </p:pic>
      <p:pic>
        <p:nvPicPr>
          <p:cNvPr id="6" name="Picture 2" descr="https://sun9-52.userapi.com/impg/1pJSXJFQ2xY0otTROsJ-VwblJMkPuZ7II_9dag/XY3nSNCcFzM.jpg?size=765x600&amp;quality=95&amp;sign=cf25a1c69a01fcf5d0921b5423914607&amp;type=album">
            <a:extLst>
              <a:ext uri="{FF2B5EF4-FFF2-40B4-BE49-F238E27FC236}">
                <a16:creationId xmlns:a16="http://schemas.microsoft.com/office/drawing/2014/main" id="{B049F31E-4D60-4BD6-8C88-6E7461F8D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648" y="2669537"/>
            <a:ext cx="4460724" cy="349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00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936C1B7-E3FC-8D4E-F423-12E84BFB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Достижения проекта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5E2AA6-BB82-550B-A53C-E03FB3D3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571919" y="1250061"/>
            <a:ext cx="11305268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itchFamily="34" charset="0"/>
              <a:buAutoNum type="arabicParenR"/>
            </a:pPr>
            <a:r>
              <a:rPr lang="ru-RU" dirty="0"/>
              <a:t>О</a:t>
            </a:r>
            <a:r>
              <a:rPr lang="ru-RU" dirty="0" smtClean="0"/>
              <a:t>публикована </a:t>
            </a:r>
            <a:r>
              <a:rPr lang="ru-RU" dirty="0"/>
              <a:t>статья в научном издании («Современные информационные технологии. Теория и практика». Материалы VI Всероссийской научно-практической конференции: В 2-х частях. Череповец, 2024);</a:t>
            </a:r>
          </a:p>
          <a:p>
            <a:pPr marL="457200" indent="-457200" algn="just">
              <a:spcBef>
                <a:spcPts val="1200"/>
              </a:spcBef>
              <a:buFont typeface="Arial" pitchFamily="34" charset="0"/>
              <a:buAutoNum type="arabicParenR"/>
            </a:pPr>
            <a:r>
              <a:rPr lang="ru-RU" dirty="0"/>
              <a:t>П</a:t>
            </a:r>
            <a:r>
              <a:rPr lang="ru-RU" dirty="0" smtClean="0"/>
              <a:t>роект </a:t>
            </a:r>
            <a:r>
              <a:rPr lang="ru-RU" dirty="0"/>
              <a:t>представлен на различных площадках:</a:t>
            </a:r>
          </a:p>
          <a:p>
            <a:pPr marL="92903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VI Всероссийская научно-практическая конференция «Современные информационные технологии. Теория и практика» (Череповец, 29 ноября 2023 г.);</a:t>
            </a:r>
          </a:p>
          <a:p>
            <a:pPr marL="92903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/>
              <a:t>Семинары с заказчиком проекта.</a:t>
            </a:r>
          </a:p>
          <a:p>
            <a:r>
              <a:rPr lang="ru-RU" dirty="0"/>
              <a:t>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471" y="3700903"/>
            <a:ext cx="3885596" cy="302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0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реализации проекта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6" name="Rectangle 35">
            <a:extLst>
              <a:ext uri="{FF2B5EF4-FFF2-40B4-BE49-F238E27FC236}">
                <a16:creationId xmlns:a16="http://schemas.microsoft.com/office/drawing/2014/main" id="{C5041DAC-5DCD-4030-8245-DD4FB06A2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479" y="1245704"/>
            <a:ext cx="1219041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F3DC4CFD-0CBA-4459-ACE8-5561942338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802695"/>
              </p:ext>
            </p:extLst>
          </p:nvPr>
        </p:nvGraphicFramePr>
        <p:xfrm>
          <a:off x="728663" y="1023938"/>
          <a:ext cx="10201275" cy="695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Документ" r:id="rId3" imgW="9231786" imgH="6297480" progId="Word.Document.12">
                  <p:embed/>
                </p:oleObj>
              </mc:Choice>
              <mc:Fallback>
                <p:oleObj name="Документ" r:id="rId3" imgW="9231786" imgH="6297480" progId="Word.Document.12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1023938"/>
                        <a:ext cx="10201275" cy="695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872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проекта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6</a:t>
            </a:fld>
            <a:endParaRPr lang="ru-RU"/>
          </a:p>
        </p:txBody>
      </p:sp>
      <p:graphicFrame>
        <p:nvGraphicFramePr>
          <p:cNvPr id="7" name="Google Shape;128;p3"/>
          <p:cNvGraphicFramePr/>
          <p:nvPr>
            <p:extLst>
              <p:ext uri="{D42A27DB-BD31-4B8C-83A1-F6EECF244321}">
                <p14:modId xmlns:p14="http://schemas.microsoft.com/office/powerpoint/2010/main" val="2055453107"/>
              </p:ext>
            </p:extLst>
          </p:nvPr>
        </p:nvGraphicFramePr>
        <p:xfrm>
          <a:off x="592667" y="1447781"/>
          <a:ext cx="11201702" cy="44787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491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035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</a:rPr>
                        <a:t>Ключевые риски проекта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</a:rPr>
                        <a:t>Последствия для проекта от наступления риска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</a:rPr>
                        <a:t>Мероприятия по управлению рисками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03"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rPr>
                        <a:t>Неполнота исходных данных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Некорректная</a:t>
                      </a:r>
                      <a:r>
                        <a:rPr lang="ru-RU" sz="14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работа ПО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Требование недостающих исходных данных у заказчика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0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Некорректная работа  ПО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Ложный прогноз выброса или его отсутствие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Провести</a:t>
                      </a:r>
                      <a:r>
                        <a:rPr lang="ru-RU" sz="14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большее количество тестов и д</a:t>
                      </a: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оработать программное обеспечение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770828"/>
                  </a:ext>
                </a:extLst>
              </a:tr>
              <a:tr h="736073"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cap="none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Несоблюдение сроков реализации</a:t>
                      </a:r>
                      <a:endParaRPr lang="en-US" sz="1400" b="0" i="0" u="none" strike="noStrike" cap="none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Сырое ПО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Чёткое распределение обязанностей между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участниками проекта</a:t>
                      </a: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530933"/>
                  </a:ext>
                </a:extLst>
              </a:tr>
              <a:tr h="10889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Несоответствие продукта требованиям заказчика </a:t>
                      </a: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ПО выдает отличный</a:t>
                      </a:r>
                      <a:r>
                        <a:rPr lang="ru-RU" sz="14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от требуемого результат, не решает проблему на производстве 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Постоянная коммуникация с заказчиком проекта, совместное обсуждение дальнейшего плана проекта</a:t>
                      </a:r>
                      <a:b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</a:br>
                      <a:endParaRPr lang="ru-RU"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447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39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Бюджет проекта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7" name="Google Shape;131;p3"/>
          <p:cNvGraphicFramePr/>
          <p:nvPr>
            <p:extLst>
              <p:ext uri="{D42A27DB-BD31-4B8C-83A1-F6EECF244321}">
                <p14:modId xmlns:p14="http://schemas.microsoft.com/office/powerpoint/2010/main" val="2270580234"/>
              </p:ext>
            </p:extLst>
          </p:nvPr>
        </p:nvGraphicFramePr>
        <p:xfrm>
          <a:off x="460505" y="992076"/>
          <a:ext cx="10820399" cy="57237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9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5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6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78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85806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№</a:t>
                      </a:r>
                      <a:endParaRPr sz="13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Категория расходов </a:t>
                      </a:r>
                      <a:endParaRPr sz="13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Статья расхода</a:t>
                      </a:r>
                    </a:p>
                  </a:txBody>
                  <a:tcPr marL="51438" marR="514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Стоимость (ед.), руб.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Количество единиц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Всего, руб.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Всего для оплаты из источника финансирования, руб.</a:t>
                      </a:r>
                    </a:p>
                  </a:txBody>
                  <a:tcPr marL="51438" marR="514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5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Трудозатраты: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20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 Аналитик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1.1.1 Анализ данных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1.1.2 Разметка данных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865047"/>
                  </a:ext>
                </a:extLst>
              </a:tr>
              <a:tr h="2679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1.1.3 Анализ проблемы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697862"/>
                  </a:ext>
                </a:extLst>
              </a:tr>
              <a:tr h="261935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</a:t>
                      </a:r>
                      <a:r>
                        <a:rPr lang="ru-RU" sz="1300" baseline="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Разработчик ПО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</a:t>
                      </a: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.1 Обучение нейронной сети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1.2.2 Написание серверной части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628419"/>
                  </a:ext>
                </a:extLst>
              </a:tr>
              <a:tr h="2619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1.2.3 Написание</a:t>
                      </a:r>
                      <a:r>
                        <a:rPr lang="ru-RU" sz="1300" baseline="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клиентской части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631596"/>
                  </a:ext>
                </a:extLst>
              </a:tr>
              <a:tr h="2619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 </a:t>
                      </a:r>
                      <a:r>
                        <a:rPr lang="ru-RU" sz="1300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Тестировщик</a:t>
                      </a: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ПО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1.3.1 Выбор методов тестирования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4 800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227138"/>
                  </a:ext>
                </a:extLst>
              </a:tr>
              <a:tr h="2619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1.3.2 Автономное тестирование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500675"/>
                  </a:ext>
                </a:extLst>
              </a:tr>
              <a:tr h="2619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1.3.3 Комплексное тестирование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953397"/>
                  </a:ext>
                </a:extLst>
              </a:tr>
              <a:tr h="26193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 </a:t>
                      </a:r>
                      <a:r>
                        <a:rPr lang="en-US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 Lead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</a:t>
                      </a:r>
                      <a:r>
                        <a:rPr lang="ru-RU" sz="1300" baseline="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Организация работы команды, разработка стратегии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50 000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531578"/>
                  </a:ext>
                </a:extLst>
              </a:tr>
              <a:tr h="261935">
                <a:tc gridSpan="5"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Итого (общий)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198 200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198 200</a:t>
                      </a:r>
                      <a:endParaRPr sz="13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6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результаты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689819" y="880012"/>
            <a:ext cx="10971372" cy="1710788"/>
          </a:xfrm>
        </p:spPr>
        <p:txBody>
          <a:bodyPr/>
          <a:lstStyle/>
          <a:p>
            <a:pPr algn="just"/>
            <a:r>
              <a:rPr lang="ru-RU" dirty="0"/>
              <a:t>В ходе работы над проектом разработано программное обеспечение, которое обрабатывает данные с датчиков вибрации, установленных на конвертере и прогнозирует выброс металла из конвертера с точностью 98% за 15-20 секунд до возникновения аварийной ситуации</a:t>
            </a:r>
            <a:r>
              <a:rPr lang="ru-RU" dirty="0" smtClean="0"/>
              <a:t>.</a:t>
            </a:r>
          </a:p>
          <a:p>
            <a:pPr algn="just"/>
            <a:endParaRPr lang="ru-RU" dirty="0"/>
          </a:p>
          <a:p>
            <a:pPr algn="just"/>
            <a:endParaRPr lang="ru-RU" dirty="0" smtClean="0"/>
          </a:p>
          <a:p>
            <a:pPr algn="just"/>
            <a:endParaRPr lang="ru-RU" dirty="0"/>
          </a:p>
          <a:p>
            <a:pPr algn="just"/>
            <a:endParaRPr lang="ru-RU" dirty="0" smtClean="0"/>
          </a:p>
          <a:p>
            <a:pPr algn="just"/>
            <a:endParaRPr lang="ru-RU" dirty="0"/>
          </a:p>
          <a:p>
            <a:pPr algn="just"/>
            <a:endParaRPr lang="ru-RU" dirty="0" smtClean="0"/>
          </a:p>
          <a:p>
            <a:pPr algn="just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3868980942"/>
              </p:ext>
            </p:extLst>
          </p:nvPr>
        </p:nvGraphicFramePr>
        <p:xfrm>
          <a:off x="1964934" y="3126474"/>
          <a:ext cx="8159096" cy="3420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91276" y="2658618"/>
            <a:ext cx="3306413" cy="467856"/>
          </a:xfrm>
          <a:prstGeom prst="round2Same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Данное ПО </a:t>
            </a:r>
            <a:r>
              <a:rPr lang="ru-RU" dirty="0" smtClean="0"/>
              <a:t>позволяет: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084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C7A1EAF-E809-2AA4-077A-DF27BDE0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проекта после защиты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1F8FD9-CB3D-06A6-9460-0E8706C9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9</a:t>
            </a:fld>
            <a:endParaRPr lang="ru-RU"/>
          </a:p>
        </p:txBody>
      </p:sp>
      <p:graphicFrame>
        <p:nvGraphicFramePr>
          <p:cNvPr id="7" name="Объект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423048"/>
              </p:ext>
            </p:extLst>
          </p:nvPr>
        </p:nvGraphicFramePr>
        <p:xfrm>
          <a:off x="1915388" y="1502468"/>
          <a:ext cx="8344894" cy="472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996">
                <a:tc>
                  <a:txBody>
                    <a:bodyPr/>
                    <a:lstStyle/>
                    <a:p>
                      <a:r>
                        <a:rPr lang="ru-RU" sz="2000" b="1" dirty="0"/>
                        <a:t>Статус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Работа над проектом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Работа над продуктом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5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014">
                <a:tc>
                  <a:txBody>
                    <a:bodyPr/>
                    <a:lstStyle/>
                    <a:p>
                      <a:r>
                        <a:rPr lang="ru-RU" sz="1400" dirty="0"/>
                        <a:t>В работе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40"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 паузе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891"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Отменен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891"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Завершен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641"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Передан заказчику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373"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Передан заказчику</a:t>
                      </a:r>
                    </a:p>
                    <a:p>
                      <a:pPr marL="0" algn="l" defTabSz="1172261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Внедрён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5165"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 принят заказчиком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1172261" rtl="0" eaLnBrk="1" latinLnBrk="0" hangingPunct="1"/>
                      <a:endParaRPr lang="ru-RU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469" y="3730280"/>
            <a:ext cx="470496" cy="47049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324" y="4319625"/>
            <a:ext cx="470496" cy="47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0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08A107F-A184-DBAD-0369-6A57D544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ea typeface="+mn-lt"/>
                <a:cs typeface="Calibri" panose="020F0502020204030204" pitchFamily="34" charset="0"/>
              </a:rPr>
              <a:t>Команда проекта</a:t>
            </a:r>
            <a:endParaRPr lang="ru-RU" dirty="0">
              <a:cs typeface="Calibri" panose="020F050202020403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AD242E-963A-DA61-B006-39ED0B973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1A46DE-1ED8-4790-9751-862B3C472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3" t="11351" r="16634" b="38994"/>
          <a:stretch/>
        </p:blipFill>
        <p:spPr bwMode="auto">
          <a:xfrm>
            <a:off x="1326244" y="2100889"/>
            <a:ext cx="1862300" cy="18669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ED9FFE1-848B-40DD-88F3-60C3340409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4" t="3768" r="18421" b="49686"/>
          <a:stretch/>
        </p:blipFill>
        <p:spPr bwMode="auto">
          <a:xfrm>
            <a:off x="5140742" y="2088622"/>
            <a:ext cx="1908927" cy="189143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0DCF70-FB9B-487C-8F10-53C4C37097CE}"/>
              </a:ext>
            </a:extLst>
          </p:cNvPr>
          <p:cNvSpPr txBox="1"/>
          <p:nvPr/>
        </p:nvSpPr>
        <p:spPr>
          <a:xfrm>
            <a:off x="275973" y="4270572"/>
            <a:ext cx="39504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 err="1">
                <a:ea typeface="+mn-lt"/>
                <a:cs typeface="+mn-lt"/>
              </a:rPr>
              <a:t>Башарин</a:t>
            </a:r>
            <a:r>
              <a:rPr lang="ru-RU" sz="2000" dirty="0">
                <a:ea typeface="+mn-lt"/>
                <a:cs typeface="+mn-lt"/>
              </a:rPr>
              <a:t> Андрей Павлович</a:t>
            </a:r>
          </a:p>
          <a:p>
            <a:pPr algn="ctr"/>
            <a:r>
              <a:rPr lang="ru-RU" sz="2000" dirty="0">
                <a:ea typeface="+mn-lt"/>
                <a:cs typeface="+mn-lt"/>
              </a:rPr>
              <a:t>Лидер команды</a:t>
            </a:r>
          </a:p>
          <a:p>
            <a:pPr algn="ctr"/>
            <a:r>
              <a:rPr lang="en-US" sz="2000" dirty="0">
                <a:ea typeface="+mn-lt"/>
                <a:cs typeface="+mn-lt"/>
              </a:rPr>
              <a:t> </a:t>
            </a:r>
            <a:r>
              <a:rPr lang="ru-RU" sz="2000" dirty="0">
                <a:ea typeface="+mn-lt"/>
                <a:cs typeface="+mn-lt"/>
              </a:rPr>
              <a:t>Почта: </a:t>
            </a:r>
            <a:r>
              <a:rPr lang="en-US" sz="2000" dirty="0">
                <a:ea typeface="+mn-lt"/>
                <a:cs typeface="+mn-lt"/>
              </a:rPr>
              <a:t>andrejka1710@mail.ru</a:t>
            </a:r>
            <a:endParaRPr lang="ru-RU" sz="2000" dirty="0">
              <a:ea typeface="+mn-lt"/>
              <a:cs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4F521F-DAD8-442E-8BB3-E71DA3837672}"/>
              </a:ext>
            </a:extLst>
          </p:cNvPr>
          <p:cNvSpPr txBox="1"/>
          <p:nvPr/>
        </p:nvSpPr>
        <p:spPr>
          <a:xfrm>
            <a:off x="4448444" y="4270572"/>
            <a:ext cx="32935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ea typeface="+mn-lt"/>
                <a:cs typeface="+mn-lt"/>
              </a:rPr>
              <a:t>Шаханов</a:t>
            </a:r>
            <a:r>
              <a:rPr lang="ru-RU" sz="2000" dirty="0">
                <a:ea typeface="+mn-lt"/>
                <a:cs typeface="+mn-lt"/>
              </a:rPr>
              <a:t> Иван Сергеевич</a:t>
            </a:r>
          </a:p>
          <a:p>
            <a:pPr algn="ctr"/>
            <a:r>
              <a:rPr lang="ru-RU" sz="2000" dirty="0">
                <a:ea typeface="+mn-lt"/>
                <a:cs typeface="+mn-lt"/>
              </a:rPr>
              <a:t>Разработчик ПО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5785FE-36FC-4BD4-B9B9-034B7030882D}"/>
              </a:ext>
            </a:extLst>
          </p:cNvPr>
          <p:cNvSpPr txBox="1"/>
          <p:nvPr/>
        </p:nvSpPr>
        <p:spPr>
          <a:xfrm>
            <a:off x="7963980" y="4287196"/>
            <a:ext cx="3950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a typeface="+mn-lt"/>
                <a:cs typeface="+mn-lt"/>
              </a:rPr>
              <a:t>Тенигина Виктория Романовна</a:t>
            </a:r>
          </a:p>
          <a:p>
            <a:pPr algn="ctr"/>
            <a:r>
              <a:rPr lang="ru-RU" sz="2000" dirty="0">
                <a:ea typeface="+mn-lt"/>
                <a:cs typeface="+mn-lt"/>
              </a:rPr>
              <a:t>Аналитик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5" t="31671" r="329" b="28441"/>
          <a:stretch/>
        </p:blipFill>
        <p:spPr>
          <a:xfrm>
            <a:off x="9001867" y="2059599"/>
            <a:ext cx="1868493" cy="1866900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341002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езентация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ЧГУ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Презентация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C87649E7524794AA35A456EA0EAADF8" ma:contentTypeVersion="17" ma:contentTypeDescription="Создание документа." ma:contentTypeScope="" ma:versionID="fb87eedecd697ba4617cc72a1530f443">
  <xsd:schema xmlns:xsd="http://www.w3.org/2001/XMLSchema" xmlns:xs="http://www.w3.org/2001/XMLSchema" xmlns:p="http://schemas.microsoft.com/office/2006/metadata/properties" xmlns:ns2="2b9d9955-93fb-4bd4-bcdb-8e7ddc259c20" xmlns:ns3="4c612441-9502-4d03-96ef-459065c861af" targetNamespace="http://schemas.microsoft.com/office/2006/metadata/properties" ma:root="true" ma:fieldsID="254d64a51c8f49f4711996da5ada53aa" ns2:_="" ns3:_="">
    <xsd:import namespace="2b9d9955-93fb-4bd4-bcdb-8e7ddc259c20"/>
    <xsd:import namespace="4c612441-9502-4d03-96ef-459065c86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9d9955-93fb-4bd4-bcdb-8e7ddc259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8b14e38-c1c0-4c10-a034-9890b75499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612441-9502-4d03-96ef-459065c86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4f5d557-526c-428f-9913-5aeff0506f6f}" ma:internalName="TaxCatchAll" ma:showField="CatchAllData" ma:web="4c612441-9502-4d03-96ef-459065c86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9d9955-93fb-4bd4-bcdb-8e7ddc259c20">
      <Terms xmlns="http://schemas.microsoft.com/office/infopath/2007/PartnerControls"/>
    </lcf76f155ced4ddcb4097134ff3c332f>
    <TaxCatchAll xmlns="4c612441-9502-4d03-96ef-459065c861a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0D346B-80C0-47FB-B108-F9B8ADBBBC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9d9955-93fb-4bd4-bcdb-8e7ddc259c20"/>
    <ds:schemaRef ds:uri="4c612441-9502-4d03-96ef-459065c86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AE2C0A-E4FA-4BAB-87D9-D91317353A19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4c612441-9502-4d03-96ef-459065c861af"/>
    <ds:schemaRef ds:uri="http://schemas.microsoft.com/office/2006/documentManagement/types"/>
    <ds:schemaRef ds:uri="http://schemas.openxmlformats.org/package/2006/metadata/core-properties"/>
    <ds:schemaRef ds:uri="2b9d9955-93fb-4bd4-bcdb-8e7ddc259c20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7C07626-017D-4E80-9AB7-BD28765D84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2630</TotalTime>
  <Words>622</Words>
  <Application>Microsoft Office PowerPoint</Application>
  <PresentationFormat>Произвольный</PresentationFormat>
  <Paragraphs>158</Paragraphs>
  <Slides>10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Презентация</vt:lpstr>
      <vt:lpstr>1_Презентация</vt:lpstr>
      <vt:lpstr>Документ Microsoft Word</vt:lpstr>
      <vt:lpstr>Программное обеспечение для прогнозирования выбросов металла из конвертера на основе вибрационных сигналов</vt:lpstr>
      <vt:lpstr>Карточка проекта «Программное обеспечение для прогнозирования выбросов металла из конвертера на основе вибрационных сигналов»</vt:lpstr>
      <vt:lpstr>Описание и демонстрация продуктового результата проекта </vt:lpstr>
      <vt:lpstr>Достижения проекта</vt:lpstr>
      <vt:lpstr>График реализации проекта</vt:lpstr>
      <vt:lpstr>Риски проекта</vt:lpstr>
      <vt:lpstr>Бюджет проекта</vt:lpstr>
      <vt:lpstr>Полученные результаты</vt:lpstr>
      <vt:lpstr>Развитие проекта после защиты</vt:lpstr>
      <vt:lpstr>Команда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и достижения кафедры химических технологий  1972-2022 гг.</dc:title>
  <dc:creator>Anastasia</dc:creator>
  <cp:lastModifiedBy>Вика</cp:lastModifiedBy>
  <cp:revision>333</cp:revision>
  <dcterms:created xsi:type="dcterms:W3CDTF">2022-04-04T12:37:27Z</dcterms:created>
  <dcterms:modified xsi:type="dcterms:W3CDTF">2024-12-17T00:22:36Z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0x0101003C87649E7524794AA35A456EA0EAADF8</vt:lpwstr>
  </property>
  <property fmtid="{D5CDD505-2E9C-101B-9397-08002B2CF9AE}" pid="3" name="MediaServiceImageTags">
    <vt:lpwstr/>
  </property>
</Properties>
</file>