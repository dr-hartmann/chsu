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64" r:id="rId3"/>
    <p:sldId id="270" r:id="rId4"/>
    <p:sldId id="265" r:id="rId5"/>
    <p:sldId id="266" r:id="rId6"/>
    <p:sldId id="273" r:id="rId7"/>
    <p:sldId id="267" r:id="rId8"/>
    <p:sldId id="272" r:id="rId9"/>
    <p:sldId id="271" r:id="rId10"/>
    <p:sldId id="274" r:id="rId11"/>
    <p:sldId id="275" r:id="rId12"/>
    <p:sldId id="276" r:id="rId13"/>
    <p:sldId id="282" r:id="rId14"/>
    <p:sldId id="277" r:id="rId15"/>
    <p:sldId id="279" r:id="rId16"/>
    <p:sldId id="280" r:id="rId17"/>
    <p:sldId id="281" r:id="rId18"/>
  </p:sldIdLst>
  <p:sldSz cx="12190413" cy="6859588"/>
  <p:notesSz cx="6858000" cy="9144000"/>
  <p:defaultTextStyle>
    <a:defPPr>
      <a:defRPr lang="ru-RU"/>
    </a:defPPr>
    <a:lvl1pPr marL="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">
          <p15:clr>
            <a:srgbClr val="A4A3A4"/>
          </p15:clr>
        </p15:guide>
        <p15:guide id="2" orient="horz" pos="3966">
          <p15:clr>
            <a:srgbClr val="A4A3A4"/>
          </p15:clr>
        </p15:guide>
        <p15:guide id="3" pos="227">
          <p15:clr>
            <a:srgbClr val="A4A3A4"/>
          </p15:clr>
        </p15:guide>
        <p15:guide id="4" pos="74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6" d="100"/>
          <a:sy n="106" d="100"/>
        </p:scale>
        <p:origin x="756" y="96"/>
      </p:cViewPr>
      <p:guideLst>
        <p:guide orient="horz" pos="204"/>
        <p:guide orient="horz" pos="3966"/>
        <p:guide pos="227"/>
        <p:guide pos="745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-3546" y="-72"/>
      </p:cViewPr>
      <p:guideLst>
        <p:guide orient="horz" pos="2880"/>
        <p:guide pos="2160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4B8532-AD3E-4745-B545-4CCE72FEEC5E}" type="datetimeFigureOut">
              <a:rPr lang="ru-RU" smtClean="0"/>
              <a:pPr/>
              <a:t>15.06.2023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309A1-F369-4229-82CA-1627D037AB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D4D58-331E-4ADB-A594-70D264931170}" type="datetimeFigureOut">
              <a:rPr lang="ru-RU" smtClean="0"/>
              <a:pPr/>
              <a:t>15.06.2023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C0EB2-5A57-4F7D-A32C-8BB75DEAB30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390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35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312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102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577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228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661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650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C0EB2-5A57-4F7D-A32C-8BB75DEAB30F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17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359787" y="2"/>
            <a:ext cx="8194703" cy="56021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7561" y="2452750"/>
            <a:ext cx="6923103" cy="1491612"/>
          </a:xfrm>
        </p:spPr>
        <p:txBody>
          <a:bodyPr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7561" y="3944362"/>
            <a:ext cx="6923103" cy="1059358"/>
          </a:xfrm>
        </p:spPr>
        <p:txBody>
          <a:bodyPr>
            <a:noAutofit/>
          </a:bodyPr>
          <a:lstStyle>
            <a:lvl1pPr marL="0" marR="0" indent="0" algn="l" defTabSz="117226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 smtClean="0"/>
          </a:p>
        </p:txBody>
      </p:sp>
      <p:pic>
        <p:nvPicPr>
          <p:cNvPr id="1032" name="Picture 8" descr="C:\Users\Anastasia\Downloads\ЧГУ_лого_рус_гориз_белый_прозрачный фон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562" y="323926"/>
            <a:ext cx="2666688" cy="78221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3061" y="1336129"/>
            <a:ext cx="11224291" cy="4791453"/>
          </a:xfrm>
        </p:spPr>
        <p:txBody>
          <a:bodyPr/>
          <a:lstStyle>
            <a:lvl1pPr marL="2036" indent="-2036">
              <a:defRPr/>
            </a:lvl1pPr>
            <a:lvl2pPr marL="457915" indent="0">
              <a:defRPr/>
            </a:lvl2pPr>
            <a:lvl3pPr marL="915829" indent="2036">
              <a:tabLst/>
              <a:defRPr/>
            </a:lvl3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одержимое 14"/>
          <p:cNvSpPr>
            <a:spLocks noGrp="1"/>
          </p:cNvSpPr>
          <p:nvPr>
            <p:ph sz="quarter" idx="15"/>
          </p:nvPr>
        </p:nvSpPr>
        <p:spPr>
          <a:xfrm>
            <a:off x="7422186" y="1474811"/>
            <a:ext cx="4270012" cy="4513991"/>
          </a:xfrm>
        </p:spPr>
        <p:txBody>
          <a:bodyPr anchor="ctr"/>
          <a:lstStyle>
            <a:lvl4pPr>
              <a:defRPr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3"/>
          </p:nvPr>
        </p:nvSpPr>
        <p:spPr>
          <a:xfrm>
            <a:off x="487616" y="1335398"/>
            <a:ext cx="6688827" cy="479218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cxnSp>
        <p:nvCxnSpPr>
          <p:cNvPr id="16" name="Прямая соединительная линия 15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одержимое 14"/>
          <p:cNvSpPr>
            <a:spLocks noGrp="1"/>
          </p:cNvSpPr>
          <p:nvPr>
            <p:ph sz="quarter" idx="15"/>
          </p:nvPr>
        </p:nvSpPr>
        <p:spPr>
          <a:xfrm>
            <a:off x="487617" y="3702984"/>
            <a:ext cx="11193980" cy="2424598"/>
          </a:xfrm>
        </p:spPr>
        <p:txBody>
          <a:bodyPr anchor="ctr"/>
          <a:lstStyle>
            <a:lvl4pPr>
              <a:defRPr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3"/>
          </p:nvPr>
        </p:nvSpPr>
        <p:spPr>
          <a:xfrm>
            <a:off x="487617" y="1335399"/>
            <a:ext cx="11193979" cy="221488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:\Users\Anastasia\Desktop\Рисунок2.png"/>
          <p:cNvPicPr>
            <a:picLocks noChangeAspect="1" noChangeArrowheads="1"/>
          </p:cNvPicPr>
          <p:nvPr userDrawn="1"/>
        </p:nvPicPr>
        <p:blipFill>
          <a:blip r:embed="rId2" cstate="print">
            <a:lum bright="2000"/>
          </a:blip>
          <a:srcRect l="2078" t="1062" r="2324" b="4039"/>
          <a:stretch>
            <a:fillRect/>
          </a:stretch>
        </p:blipFill>
        <p:spPr bwMode="auto">
          <a:xfrm>
            <a:off x="0" y="0"/>
            <a:ext cx="12190413" cy="6859588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 userDrawn="1"/>
        </p:nvSpPr>
        <p:spPr>
          <a:xfrm>
            <a:off x="359786" y="2538645"/>
            <a:ext cx="10717589" cy="4320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>
            <a:spLocks noGrp="1"/>
          </p:cNvSpPr>
          <p:nvPr>
            <p:ph type="ctrTitle"/>
          </p:nvPr>
        </p:nvSpPr>
        <p:spPr>
          <a:xfrm>
            <a:off x="857561" y="4257914"/>
            <a:ext cx="6923103" cy="1491612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0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7561" y="3198556"/>
            <a:ext cx="6923103" cy="1059358"/>
          </a:xfrm>
        </p:spPr>
        <p:txBody>
          <a:bodyPr anchor="b">
            <a:noAutofit/>
          </a:bodyPr>
          <a:lstStyle>
            <a:lvl1pPr marL="0" marR="0" indent="0" algn="l" defTabSz="117226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chemeClr val="tx1"/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1" name="Picture 12" descr="C:\Users\Anastasia\Downloads\ЧГУ_лого_рус_гориз_прозрачный фон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563" y="323926"/>
            <a:ext cx="2666688" cy="78221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Содержимое 6"/>
          <p:cNvSpPr>
            <a:spLocks noGrp="1"/>
          </p:cNvSpPr>
          <p:nvPr>
            <p:ph sz="quarter" idx="13"/>
          </p:nvPr>
        </p:nvSpPr>
        <p:spPr>
          <a:xfrm>
            <a:off x="359786" y="1335397"/>
            <a:ext cx="3646488" cy="4712977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9" name="Содержимое 6"/>
          <p:cNvSpPr>
            <a:spLocks noGrp="1"/>
          </p:cNvSpPr>
          <p:nvPr>
            <p:ph sz="quarter" idx="14"/>
          </p:nvPr>
        </p:nvSpPr>
        <p:spPr>
          <a:xfrm>
            <a:off x="4270881" y="1335397"/>
            <a:ext cx="3646488" cy="4712977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10" name="Содержимое 6"/>
          <p:cNvSpPr>
            <a:spLocks noGrp="1"/>
          </p:cNvSpPr>
          <p:nvPr>
            <p:ph sz="quarter" idx="15"/>
          </p:nvPr>
        </p:nvSpPr>
        <p:spPr>
          <a:xfrm>
            <a:off x="8181976" y="1335397"/>
            <a:ext cx="3646488" cy="4712977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 descr="C:\Users\Anastasia\Desktop\Рисунок2.png"/>
          <p:cNvPicPr>
            <a:picLocks noChangeAspect="1" noChangeArrowheads="1"/>
          </p:cNvPicPr>
          <p:nvPr userDrawn="1"/>
        </p:nvPicPr>
        <p:blipFill>
          <a:blip r:embed="rId2" cstate="print">
            <a:lum bright="2000"/>
          </a:blip>
          <a:srcRect l="2078" t="1062" r="2324" b="4039"/>
          <a:stretch>
            <a:fillRect/>
          </a:stretch>
        </p:blipFill>
        <p:spPr bwMode="auto">
          <a:xfrm>
            <a:off x="0" y="0"/>
            <a:ext cx="12190413" cy="6859588"/>
          </a:xfrm>
          <a:prstGeom prst="rect">
            <a:avLst/>
          </a:prstGeom>
          <a:noFill/>
        </p:spPr>
      </p:pic>
      <p:sp>
        <p:nvSpPr>
          <p:cNvPr id="6" name="Прямоугольник 1"/>
          <p:cNvSpPr/>
          <p:nvPr userDrawn="1"/>
        </p:nvSpPr>
        <p:spPr bwMode="auto">
          <a:xfrm>
            <a:off x="10838490" y="4520794"/>
            <a:ext cx="1351923" cy="2338794"/>
          </a:xfrm>
          <a:custGeom>
            <a:avLst/>
            <a:gdLst>
              <a:gd name="connsiteX0" fmla="*/ 0 w 1115683"/>
              <a:gd name="connsiteY0" fmla="*/ 0 h 2803585"/>
              <a:gd name="connsiteX1" fmla="*/ 1115683 w 1115683"/>
              <a:gd name="connsiteY1" fmla="*/ 0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0 w 1115683"/>
              <a:gd name="connsiteY0" fmla="*/ 0 h 2803585"/>
              <a:gd name="connsiteX1" fmla="*/ 1115683 w 1115683"/>
              <a:gd name="connsiteY1" fmla="*/ 474453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508958 w 1115683"/>
              <a:gd name="connsiteY0" fmla="*/ 0 h 2777706"/>
              <a:gd name="connsiteX1" fmla="*/ 1115683 w 1115683"/>
              <a:gd name="connsiteY1" fmla="*/ 448574 h 2777706"/>
              <a:gd name="connsiteX2" fmla="*/ 1115683 w 1115683"/>
              <a:gd name="connsiteY2" fmla="*/ 2777706 h 2777706"/>
              <a:gd name="connsiteX3" fmla="*/ 0 w 1115683"/>
              <a:gd name="connsiteY3" fmla="*/ 2777706 h 2777706"/>
              <a:gd name="connsiteX4" fmla="*/ 508958 w 1115683"/>
              <a:gd name="connsiteY4" fmla="*/ 0 h 2777706"/>
              <a:gd name="connsiteX0" fmla="*/ 929555 w 1115683"/>
              <a:gd name="connsiteY0" fmla="*/ 0 h 2708400"/>
              <a:gd name="connsiteX1" fmla="*/ 1115683 w 1115683"/>
              <a:gd name="connsiteY1" fmla="*/ 379268 h 2708400"/>
              <a:gd name="connsiteX2" fmla="*/ 1115683 w 1115683"/>
              <a:gd name="connsiteY2" fmla="*/ 2708400 h 2708400"/>
              <a:gd name="connsiteX3" fmla="*/ 0 w 1115683"/>
              <a:gd name="connsiteY3" fmla="*/ 2708400 h 2708400"/>
              <a:gd name="connsiteX4" fmla="*/ 929555 w 1115683"/>
              <a:gd name="connsiteY4" fmla="*/ 0 h 270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683" h="2708400">
                <a:moveTo>
                  <a:pt x="929555" y="0"/>
                </a:moveTo>
                <a:lnTo>
                  <a:pt x="1115683" y="379268"/>
                </a:lnTo>
                <a:lnTo>
                  <a:pt x="1115683" y="2708400"/>
                </a:lnTo>
                <a:lnTo>
                  <a:pt x="0" y="2708400"/>
                </a:lnTo>
                <a:lnTo>
                  <a:pt x="929555" y="0"/>
                </a:lnTo>
                <a:close/>
              </a:path>
            </a:pathLst>
          </a:custGeom>
          <a:solidFill>
            <a:srgbClr val="FF000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234464" tIns="117232" rIns="234464" bIns="117232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7" name="Прямоугольник 1"/>
          <p:cNvSpPr/>
          <p:nvPr userDrawn="1"/>
        </p:nvSpPr>
        <p:spPr bwMode="auto">
          <a:xfrm flipH="1">
            <a:off x="165126" y="6258808"/>
            <a:ext cx="7356841" cy="637549"/>
          </a:xfrm>
          <a:custGeom>
            <a:avLst/>
            <a:gdLst>
              <a:gd name="connsiteX0" fmla="*/ 0 w 1115683"/>
              <a:gd name="connsiteY0" fmla="*/ 0 h 2803585"/>
              <a:gd name="connsiteX1" fmla="*/ 1115683 w 1115683"/>
              <a:gd name="connsiteY1" fmla="*/ 0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0 w 1115683"/>
              <a:gd name="connsiteY0" fmla="*/ 0 h 2803585"/>
              <a:gd name="connsiteX1" fmla="*/ 1115683 w 1115683"/>
              <a:gd name="connsiteY1" fmla="*/ 474453 h 2803585"/>
              <a:gd name="connsiteX2" fmla="*/ 1115683 w 1115683"/>
              <a:gd name="connsiteY2" fmla="*/ 2803585 h 2803585"/>
              <a:gd name="connsiteX3" fmla="*/ 0 w 1115683"/>
              <a:gd name="connsiteY3" fmla="*/ 2803585 h 2803585"/>
              <a:gd name="connsiteX4" fmla="*/ 0 w 1115683"/>
              <a:gd name="connsiteY4" fmla="*/ 0 h 2803585"/>
              <a:gd name="connsiteX0" fmla="*/ 508958 w 1115683"/>
              <a:gd name="connsiteY0" fmla="*/ 0 h 2777706"/>
              <a:gd name="connsiteX1" fmla="*/ 1115683 w 1115683"/>
              <a:gd name="connsiteY1" fmla="*/ 448574 h 2777706"/>
              <a:gd name="connsiteX2" fmla="*/ 1115683 w 1115683"/>
              <a:gd name="connsiteY2" fmla="*/ 2777706 h 2777706"/>
              <a:gd name="connsiteX3" fmla="*/ 0 w 1115683"/>
              <a:gd name="connsiteY3" fmla="*/ 2777706 h 2777706"/>
              <a:gd name="connsiteX4" fmla="*/ 508958 w 1115683"/>
              <a:gd name="connsiteY4" fmla="*/ 0 h 2777706"/>
              <a:gd name="connsiteX0" fmla="*/ 4911624 w 5518349"/>
              <a:gd name="connsiteY0" fmla="*/ 0 h 2777706"/>
              <a:gd name="connsiteX1" fmla="*/ 5518349 w 5518349"/>
              <a:gd name="connsiteY1" fmla="*/ 448574 h 2777706"/>
              <a:gd name="connsiteX2" fmla="*/ 5518349 w 5518349"/>
              <a:gd name="connsiteY2" fmla="*/ 2777706 h 2777706"/>
              <a:gd name="connsiteX3" fmla="*/ 0 w 5518349"/>
              <a:gd name="connsiteY3" fmla="*/ 2769240 h 2777706"/>
              <a:gd name="connsiteX4" fmla="*/ 4911624 w 5518349"/>
              <a:gd name="connsiteY4" fmla="*/ 0 h 2777706"/>
              <a:gd name="connsiteX0" fmla="*/ 0 w 5518349"/>
              <a:gd name="connsiteY0" fmla="*/ 2320666 h 2329132"/>
              <a:gd name="connsiteX1" fmla="*/ 5518349 w 5518349"/>
              <a:gd name="connsiteY1" fmla="*/ 0 h 2329132"/>
              <a:gd name="connsiteX2" fmla="*/ 5518349 w 5518349"/>
              <a:gd name="connsiteY2" fmla="*/ 2329132 h 2329132"/>
              <a:gd name="connsiteX3" fmla="*/ 0 w 5518349"/>
              <a:gd name="connsiteY3" fmla="*/ 2320666 h 2329132"/>
              <a:gd name="connsiteX0" fmla="*/ 0 w 5518349"/>
              <a:gd name="connsiteY0" fmla="*/ 796666 h 805132"/>
              <a:gd name="connsiteX1" fmla="*/ 5399816 w 5518349"/>
              <a:gd name="connsiteY1" fmla="*/ 0 h 805132"/>
              <a:gd name="connsiteX2" fmla="*/ 5518349 w 5518349"/>
              <a:gd name="connsiteY2" fmla="*/ 805132 h 805132"/>
              <a:gd name="connsiteX3" fmla="*/ 0 w 5518349"/>
              <a:gd name="connsiteY3" fmla="*/ 796666 h 805132"/>
              <a:gd name="connsiteX0" fmla="*/ 0 w 5518349"/>
              <a:gd name="connsiteY0" fmla="*/ 678132 h 686598"/>
              <a:gd name="connsiteX1" fmla="*/ 5425216 w 5518349"/>
              <a:gd name="connsiteY1" fmla="*/ 0 h 686598"/>
              <a:gd name="connsiteX2" fmla="*/ 5518349 w 5518349"/>
              <a:gd name="connsiteY2" fmla="*/ 686598 h 686598"/>
              <a:gd name="connsiteX3" fmla="*/ 0 w 5518349"/>
              <a:gd name="connsiteY3" fmla="*/ 678132 h 686598"/>
              <a:gd name="connsiteX0" fmla="*/ 0 w 5518349"/>
              <a:gd name="connsiteY0" fmla="*/ 467844 h 476310"/>
              <a:gd name="connsiteX1" fmla="*/ 5443502 w 5518349"/>
              <a:gd name="connsiteY1" fmla="*/ 0 h 476310"/>
              <a:gd name="connsiteX2" fmla="*/ 5518349 w 5518349"/>
              <a:gd name="connsiteY2" fmla="*/ 476310 h 476310"/>
              <a:gd name="connsiteX3" fmla="*/ 0 w 5518349"/>
              <a:gd name="connsiteY3" fmla="*/ 467844 h 476310"/>
              <a:gd name="connsiteX0" fmla="*/ 0 w 5518349"/>
              <a:gd name="connsiteY0" fmla="*/ 522702 h 531168"/>
              <a:gd name="connsiteX1" fmla="*/ 5434358 w 5518349"/>
              <a:gd name="connsiteY1" fmla="*/ 0 h 531168"/>
              <a:gd name="connsiteX2" fmla="*/ 5518349 w 5518349"/>
              <a:gd name="connsiteY2" fmla="*/ 531168 h 531168"/>
              <a:gd name="connsiteX3" fmla="*/ 0 w 5518349"/>
              <a:gd name="connsiteY3" fmla="*/ 522702 h 531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8349" h="531168">
                <a:moveTo>
                  <a:pt x="0" y="522702"/>
                </a:moveTo>
                <a:lnTo>
                  <a:pt x="5434358" y="0"/>
                </a:lnTo>
                <a:lnTo>
                  <a:pt x="5518349" y="531168"/>
                </a:lnTo>
                <a:lnTo>
                  <a:pt x="0" y="522702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234464" tIns="117232" rIns="234464" bIns="117232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Picture 2" descr="C:\Users\Anastasia\Downloads\ЧГУ_лого_рус_гориз_прозрачный фон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787" y="323925"/>
            <a:ext cx="1983363" cy="59227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аблица 5"/>
          <p:cNvSpPr>
            <a:spLocks noGrp="1"/>
          </p:cNvSpPr>
          <p:nvPr>
            <p:ph type="tbl" sz="quarter" idx="12"/>
          </p:nvPr>
        </p:nvSpPr>
        <p:spPr>
          <a:xfrm>
            <a:off x="487617" y="1861036"/>
            <a:ext cx="11204580" cy="4275612"/>
          </a:xfrm>
        </p:spPr>
        <p:txBody>
          <a:bodyPr anchor="ctr"/>
          <a:lstStyle/>
          <a:p>
            <a:r>
              <a:rPr lang="ru-RU" smtClean="0"/>
              <a:t>Вставка таблицы</a:t>
            </a:r>
            <a:endParaRPr lang="ru-RU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7617" y="916202"/>
            <a:ext cx="11204581" cy="944834"/>
          </a:xfrm>
        </p:spPr>
        <p:txBody>
          <a:bodyPr>
            <a:noAutofit/>
          </a:bodyPr>
          <a:lstStyle>
            <a:lvl1pPr marL="0" marR="0" indent="0" algn="ctr" defTabSz="117226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 smtClean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2599969" y="323925"/>
            <a:ext cx="9228543" cy="592277"/>
          </a:xfrm>
        </p:spPr>
        <p:txBody>
          <a:bodyPr anchor="ctr">
            <a:noAutofit/>
          </a:bodyPr>
          <a:lstStyle>
            <a:lvl1pPr algn="r"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г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6"/>
          </p:nvPr>
        </p:nvSpPr>
        <p:spPr>
          <a:xfrm>
            <a:off x="2088270" y="1618681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12" name="Текст 10"/>
          <p:cNvSpPr>
            <a:spLocks noGrp="1"/>
          </p:cNvSpPr>
          <p:nvPr>
            <p:ph type="body" sz="quarter" idx="17"/>
          </p:nvPr>
        </p:nvSpPr>
        <p:spPr>
          <a:xfrm>
            <a:off x="2088270" y="3876273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8" name="Текст 10"/>
          <p:cNvSpPr>
            <a:spLocks noGrp="1"/>
          </p:cNvSpPr>
          <p:nvPr>
            <p:ph type="body" sz="quarter" idx="20"/>
          </p:nvPr>
        </p:nvSpPr>
        <p:spPr>
          <a:xfrm>
            <a:off x="7802084" y="1618681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9" name="Текст 10"/>
          <p:cNvSpPr>
            <a:spLocks noGrp="1"/>
          </p:cNvSpPr>
          <p:nvPr>
            <p:ph type="body" sz="quarter" idx="21"/>
          </p:nvPr>
        </p:nvSpPr>
        <p:spPr>
          <a:xfrm>
            <a:off x="7802084" y="3876273"/>
            <a:ext cx="3667505" cy="1421409"/>
          </a:xfrm>
        </p:spPr>
        <p:txBody>
          <a:bodyPr>
            <a:no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21" name="Рисунок 20"/>
          <p:cNvSpPr>
            <a:spLocks noGrp="1"/>
          </p:cNvSpPr>
          <p:nvPr>
            <p:ph type="pic" sz="quarter" idx="22"/>
          </p:nvPr>
        </p:nvSpPr>
        <p:spPr>
          <a:xfrm>
            <a:off x="764019" y="1778585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13" name="Рисунок 20"/>
          <p:cNvSpPr>
            <a:spLocks noGrp="1"/>
          </p:cNvSpPr>
          <p:nvPr>
            <p:ph type="pic" sz="quarter" idx="23"/>
          </p:nvPr>
        </p:nvSpPr>
        <p:spPr>
          <a:xfrm>
            <a:off x="6498069" y="1778585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14" name="Рисунок 20"/>
          <p:cNvSpPr>
            <a:spLocks noGrp="1"/>
          </p:cNvSpPr>
          <p:nvPr>
            <p:ph type="pic" sz="quarter" idx="24"/>
          </p:nvPr>
        </p:nvSpPr>
        <p:spPr>
          <a:xfrm>
            <a:off x="6498069" y="4036177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15" name="Рисунок 20"/>
          <p:cNvSpPr>
            <a:spLocks noGrp="1"/>
          </p:cNvSpPr>
          <p:nvPr>
            <p:ph type="pic" sz="quarter" idx="25"/>
          </p:nvPr>
        </p:nvSpPr>
        <p:spPr>
          <a:xfrm>
            <a:off x="764019" y="4036177"/>
            <a:ext cx="1102639" cy="1101600"/>
          </a:xfrm>
          <a:prstGeom prst="ellipse">
            <a:avLst/>
          </a:prstGeom>
        </p:spPr>
        <p:txBody>
          <a:bodyPr anchor="ctr">
            <a:normAutofit/>
          </a:bodyPr>
          <a:lstStyle>
            <a:lvl1pPr>
              <a:defRPr sz="1000"/>
            </a:lvl1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5" descr="C:\Users\Anastasia\Desktop\Рисунок2.png"/>
          <p:cNvPicPr>
            <a:picLocks noChangeAspect="1" noChangeArrowheads="1"/>
          </p:cNvPicPr>
          <p:nvPr/>
        </p:nvPicPr>
        <p:blipFill>
          <a:blip r:embed="rId12" cstate="print">
            <a:lum bright="2000"/>
          </a:blip>
          <a:srcRect l="2078" t="1062" r="2324" b="4039"/>
          <a:stretch>
            <a:fillRect/>
          </a:stretch>
        </p:blipFill>
        <p:spPr bwMode="auto">
          <a:xfrm>
            <a:off x="0" y="0"/>
            <a:ext cx="12190413" cy="685958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43150" y="323925"/>
            <a:ext cx="9485361" cy="592277"/>
          </a:xfrm>
          <a:prstGeom prst="rect">
            <a:avLst/>
          </a:prstGeom>
        </p:spPr>
        <p:txBody>
          <a:bodyPr vert="horz" lIns="117226" tIns="58613" rIns="117226" bIns="58613" rtlCol="0" anchor="ctr">
            <a:no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59788" y="1087991"/>
            <a:ext cx="11468723" cy="5039591"/>
          </a:xfrm>
          <a:prstGeom prst="rect">
            <a:avLst/>
          </a:prstGeom>
        </p:spPr>
        <p:txBody>
          <a:bodyPr vert="horz" lIns="117226" tIns="58613" rIns="117226" bIns="58613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9786" y="6295578"/>
            <a:ext cx="8194704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077376" y="6295578"/>
            <a:ext cx="751136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r"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D7832B6-5904-45E4-8CB6-550B2F57E54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Picture 2" descr="C:\Users\Anastasia\Downloads\ЧГУ_лого_рус_гориз_прозрачный фон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59787" y="323925"/>
            <a:ext cx="1983363" cy="592277"/>
          </a:xfrm>
          <a:prstGeom prst="rect">
            <a:avLst/>
          </a:prstGeom>
          <a:noFill/>
        </p:spPr>
      </p:pic>
      <p:cxnSp>
        <p:nvCxnSpPr>
          <p:cNvPr id="18" name="Прямая соединительная линия 17"/>
          <p:cNvCxnSpPr/>
          <p:nvPr/>
        </p:nvCxnSpPr>
        <p:spPr>
          <a:xfrm>
            <a:off x="359787" y="6295577"/>
            <a:ext cx="11468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60" r:id="rId4"/>
    <p:sldLayoutId id="2147483651" r:id="rId5"/>
    <p:sldLayoutId id="2147483654" r:id="rId6"/>
    <p:sldLayoutId id="2147483662" r:id="rId7"/>
    <p:sldLayoutId id="2147483655" r:id="rId8"/>
    <p:sldLayoutId id="2147483658" r:id="rId9"/>
    <p:sldLayoutId id="2147483661" r:id="rId10"/>
  </p:sldLayoutIdLst>
  <p:txStyles>
    <p:titleStyle>
      <a:lvl1pPr algn="r" defTabSz="1172261" rtl="0" eaLnBrk="1" latinLnBrk="0" hangingPunct="1">
        <a:spcBef>
          <a:spcPct val="0"/>
        </a:spcBef>
        <a:buNone/>
        <a:defRPr sz="3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172261" rtl="0" eaLnBrk="1" latinLnBrk="0" hangingPunct="1">
        <a:spcBef>
          <a:spcPct val="20000"/>
        </a:spcBef>
        <a:buFont typeface="Arial" pitchFamily="34" charset="0"/>
        <a:buNone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915" indent="0" algn="l" defTabSz="1172261" rtl="0" eaLnBrk="1" latinLnBrk="0" hangingPunct="1">
        <a:spcBef>
          <a:spcPct val="200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7865" indent="0" algn="l" defTabSz="1172261" rtl="0" eaLnBrk="1" latinLnBrk="0" hangingPunct="1">
        <a:spcBef>
          <a:spcPct val="20000"/>
        </a:spcBef>
        <a:buFont typeface="Arial" pitchFamily="34" charset="0"/>
        <a:buNone/>
        <a:tabLst>
          <a:tab pos="917865" algn="l"/>
        </a:tabLst>
        <a:defRPr sz="15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2051456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37587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23717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0984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9597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8210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613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26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39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452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065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1678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0291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8904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</a:t>
            </a:fld>
            <a:endParaRPr lang="ru-RU"/>
          </a:p>
        </p:txBody>
      </p:sp>
      <p:sp>
        <p:nvSpPr>
          <p:cNvPr id="7" name="object 49"/>
          <p:cNvSpPr txBox="1"/>
          <p:nvPr/>
        </p:nvSpPr>
        <p:spPr>
          <a:xfrm>
            <a:off x="310838" y="1402365"/>
            <a:ext cx="3241982" cy="127342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79749">
              <a:spcBef>
                <a:spcPts val="570"/>
              </a:spcBef>
            </a:pPr>
            <a:r>
              <a:rPr lang="ru-RU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ЗАКАЗЧИК</a:t>
            </a:r>
            <a:endParaRPr lang="ru-RU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9749">
              <a:spcBef>
                <a:spcPts val="570"/>
              </a:spcBef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АО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Апатит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9749">
              <a:spcBef>
                <a:spcPts val="570"/>
              </a:spcBef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51"/>
          <p:cNvSpPr txBox="1"/>
          <p:nvPr/>
        </p:nvSpPr>
        <p:spPr>
          <a:xfrm>
            <a:off x="418600" y="2547503"/>
            <a:ext cx="3818060" cy="1544868"/>
          </a:xfrm>
          <a:prstGeom prst="rect">
            <a:avLst/>
          </a:prstGeom>
        </p:spPr>
        <p:txBody>
          <a:bodyPr vert="horz" wrap="square" lIns="0" tIns="31327" rIns="0" bIns="0" rtlCol="0">
            <a:spAutoFit/>
          </a:bodyPr>
          <a:lstStyle/>
          <a:p>
            <a:pPr marL="240889">
              <a:spcBef>
                <a:spcPts val="247"/>
              </a:spcBef>
            </a:pPr>
            <a:r>
              <a:rPr lang="ru-RU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</a:p>
          <a:p>
            <a:pPr marL="240889">
              <a:spcBef>
                <a:spcPts val="247"/>
              </a:spcBef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Виноградова Людмила Николаевна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889">
              <a:spcBef>
                <a:spcPts val="247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53"/>
          <p:cNvSpPr txBox="1"/>
          <p:nvPr/>
        </p:nvSpPr>
        <p:spPr>
          <a:xfrm>
            <a:off x="310838" y="3860552"/>
            <a:ext cx="3271520" cy="2372444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34027">
              <a:spcBef>
                <a:spcPts val="320"/>
              </a:spcBef>
            </a:pPr>
            <a:r>
              <a:rPr lang="ru-RU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</a:t>
            </a:r>
          </a:p>
          <a:p>
            <a:pPr marL="334027">
              <a:spcBef>
                <a:spcPts val="320"/>
              </a:spcBef>
            </a:pP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Буренко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Илья Вадимович,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1ИСб-00-1оп-19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27">
              <a:spcBef>
                <a:spcPts val="320"/>
              </a:spcBef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27">
              <a:spcBef>
                <a:spcPts val="320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EB8C0-7EB4-4778-8A5F-A0408DEBE880}"/>
              </a:ext>
            </a:extLst>
          </p:cNvPr>
          <p:cNvSpPr txBox="1"/>
          <p:nvPr/>
        </p:nvSpPr>
        <p:spPr>
          <a:xfrm>
            <a:off x="5969326" y="1604082"/>
            <a:ext cx="497948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hangingPunct="1">
              <a:spcBef>
                <a:spcPct val="20000"/>
              </a:spcBef>
            </a:pPr>
            <a:r>
              <a:rPr lang="ru-RU" sz="3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виртуального тренажёра для операторов-технологов АО  </a:t>
            </a:r>
            <a:r>
              <a:rPr lang="en-US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Апатит</a:t>
            </a:r>
            <a:r>
              <a:rPr lang="en-US" sz="36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3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условиях производственной среды не получается отработать навыки безопасного, экономичного и слаженного управления в нестандартных и критических ситуациях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автоматизированной системе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технологическими процессами.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1026" name="Picture 2" descr="https://www.automationid.com/wp-content/uploads/2017/05/ICS-ics-me.com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2938052"/>
            <a:ext cx="10226675" cy="296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24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данной работы является разработка многопользовательского виртуального тренажёра для операторов-технологов, который позволит отрабатывать слаженные действия между несколькими операторами и поможет обучить навыками безопасного и экономического управления оборудованием, в том числе при критических ситуациях и в сложных переходных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режимах.</a:t>
            </a:r>
          </a:p>
          <a:p>
            <a:pPr indent="457200"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indent="45720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– анализ существующих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аналогов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– выбор технологий и инструментальных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457200"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457200"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– </a:t>
            </a:r>
            <a:r>
              <a:rPr lang="ru-RU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</a:t>
            </a:r>
            <a:r>
              <a:rPr lang="ru-RU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7200"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задачи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0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аналогов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4</a:t>
            </a:fld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792256"/>
              </p:ext>
            </p:extLst>
          </p:nvPr>
        </p:nvGraphicFramePr>
        <p:xfrm>
          <a:off x="1593417" y="1406093"/>
          <a:ext cx="9137079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4324">
                  <a:extLst>
                    <a:ext uri="{9D8B030D-6E8A-4147-A177-3AD203B41FA5}">
                      <a16:colId xmlns:a16="http://schemas.microsoft.com/office/drawing/2014/main" val="3826583883"/>
                    </a:ext>
                  </a:extLst>
                </a:gridCol>
                <a:gridCol w="3467062">
                  <a:extLst>
                    <a:ext uri="{9D8B030D-6E8A-4147-A177-3AD203B41FA5}">
                      <a16:colId xmlns:a16="http://schemas.microsoft.com/office/drawing/2014/main" val="1066190639"/>
                    </a:ext>
                  </a:extLst>
                </a:gridCol>
                <a:gridCol w="3045693">
                  <a:extLst>
                    <a:ext uri="{9D8B030D-6E8A-4147-A177-3AD203B41FA5}">
                      <a16:colId xmlns:a16="http://schemas.microsoft.com/office/drawing/2014/main" val="67880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r>
                        <a:rPr lang="ru-RU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программного обеспечения</a:t>
                      </a:r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4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RTsim</a:t>
                      </a:r>
                      <a:r>
                        <a:rPr lang="ru-RU" sz="12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компьютерные тренажеры для нефтегазового сектора</a:t>
                      </a:r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ru-RU" sz="12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Это комплексные информационно-интерактивные системы, созданные на базе модели вашего предприятия, позволяющие изменять скорость протекания процессов и включают в себя: техническое, математическое, программное и </a:t>
                      </a:r>
                      <a:r>
                        <a:rPr lang="ru-RU" sz="1200" kern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учебнометодическое</a:t>
                      </a:r>
                      <a:r>
                        <a:rPr lang="ru-RU" sz="12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обеспечение</a:t>
                      </a:r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 минусам же данной системы является отсутствие многопользовательского взаимодействия, тренажёр не использовался в химической сфере и не имеет реализованную виртуальную автоматизированную систему управления технологическим процессом (АСУ ТП), используемую на АО “Апатит”.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926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2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НПФ “КРУГ” Тренажёр операторов технологических установок</a:t>
                      </a:r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Тренажёр предназначен для подготовки оперативного и обслуживающего персонала предприятия к работе на реальном технологическом оборудовании, поддержания и оценивания его квалификации, отработки навыков безопасного и экономичного управления оборудованием в сложных переходных и аварийных режимах</a:t>
                      </a:r>
                      <a:endParaRPr lang="ru-RU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Тренажёр опять же имеет недостаток, что не разрабатывался под химические установки и аппараты, поэтому и симулирования АСУ ТП под предприятия АО “Апатит” будет необходимо разрабатывать с нуля.</a:t>
                      </a:r>
                      <a:endParaRPr lang="ru-RU" sz="1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7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AVEVA Operator Training Simulator</a:t>
                      </a:r>
                      <a:endParaRPr lang="ru-RU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ru-RU" sz="12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Симуляторы обучения операторов (OTS) — это усовершенствованные компьютерные средства обучения, которые помогают операторам диспетчерской приобретать навыки, необходимые им для безопасной, эффективной и прибыльной эксплуатации предприятия. </a:t>
                      </a:r>
                      <a:endParaRPr lang="ru-RU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ru-RU" sz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Тренажёр имеет те же самые достоинства, что и программное обеспеченье (ПО) от НПФ “КРУГ”, но в отличие от русского аналога не является многопользовательским.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200" b="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914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45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используемых средств разработки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08139A4E-65B2-43ED-B924-6834BE248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62" y="1447124"/>
            <a:ext cx="9231660" cy="2158766"/>
          </a:xfrm>
        </p:spPr>
        <p:txBody>
          <a:bodyPr>
            <a:normAutofit/>
          </a:bodyPr>
          <a:lstStyle/>
          <a:p>
            <a:pPr algn="just"/>
            <a:r>
              <a:rPr lang="ru-RU" altLang="ru-RU" sz="2200" dirty="0">
                <a:latin typeface="Times New Roman"/>
                <a:cs typeface="Times New Roman"/>
              </a:rPr>
              <a:t>Подход к разработке: объектно-ориентированный</a:t>
            </a:r>
          </a:p>
          <a:p>
            <a:pPr algn="just"/>
            <a:r>
              <a:rPr lang="ru-RU" altLang="ru-RU" sz="2200" dirty="0">
                <a:latin typeface="Times New Roman"/>
                <a:cs typeface="Times New Roman"/>
              </a:rPr>
              <a:t>Методология проектирования: </a:t>
            </a:r>
            <a:r>
              <a:rPr lang="en-US" altLang="ru-RU" sz="2200" dirty="0">
                <a:latin typeface="Times New Roman"/>
                <a:cs typeface="Times New Roman"/>
              </a:rPr>
              <a:t> UML</a:t>
            </a:r>
            <a:endParaRPr lang="ru-RU" altLang="ru-RU" sz="2200" dirty="0">
              <a:latin typeface="Times New Roman"/>
              <a:cs typeface="Times New Roman"/>
            </a:endParaRPr>
          </a:p>
          <a:p>
            <a:pPr algn="just"/>
            <a:r>
              <a:rPr lang="ru-RU" altLang="ru-RU" sz="2200" dirty="0">
                <a:latin typeface="Times New Roman"/>
                <a:cs typeface="Times New Roman"/>
              </a:rPr>
              <a:t>Среды разработки:  </a:t>
            </a:r>
            <a:r>
              <a:rPr lang="en-US" altLang="ru-RU" sz="2200" dirty="0">
                <a:latin typeface="Times New Roman"/>
                <a:cs typeface="Times New Roman"/>
              </a:rPr>
              <a:t>Unity, </a:t>
            </a:r>
            <a:r>
              <a:rPr lang="en-US" altLang="ru-RU" sz="2200" dirty="0" err="1">
                <a:latin typeface="Times New Roman"/>
                <a:cs typeface="Times New Roman"/>
              </a:rPr>
              <a:t>VisualStudio</a:t>
            </a:r>
            <a:r>
              <a:rPr lang="en-US" altLang="ru-RU" sz="2200" dirty="0">
                <a:latin typeface="Times New Roman"/>
                <a:cs typeface="Times New Roman"/>
              </a:rPr>
              <a:t>, </a:t>
            </a:r>
            <a:r>
              <a:rPr lang="en-US" altLang="ru-RU" sz="2200" dirty="0" smtClean="0">
                <a:latin typeface="Times New Roman"/>
                <a:cs typeface="Times New Roman"/>
              </a:rPr>
              <a:t>Unity Mirror </a:t>
            </a:r>
            <a:r>
              <a:rPr lang="en-US" altLang="ru-RU" sz="2200" dirty="0">
                <a:latin typeface="Times New Roman"/>
                <a:cs typeface="Times New Roman"/>
              </a:rPr>
              <a:t>Networking</a:t>
            </a:r>
          </a:p>
          <a:p>
            <a:pPr algn="just"/>
            <a:r>
              <a:rPr lang="ru-RU" altLang="ru-RU" sz="2200" dirty="0">
                <a:latin typeface="Times New Roman"/>
                <a:cs typeface="Times New Roman"/>
              </a:rPr>
              <a:t>Язык программирования:</a:t>
            </a:r>
            <a:r>
              <a:rPr lang="en-US" altLang="ru-RU" sz="2200" dirty="0">
                <a:latin typeface="Times New Roman"/>
                <a:cs typeface="Times New Roman"/>
              </a:rPr>
              <a:t> C#, </a:t>
            </a:r>
            <a:r>
              <a:rPr lang="en-US" altLang="ru-RU" sz="2200" dirty="0" smtClean="0">
                <a:latin typeface="Times New Roman"/>
                <a:cs typeface="Times New Roman"/>
              </a:rPr>
              <a:t>.NET</a:t>
            </a:r>
          </a:p>
          <a:p>
            <a:pPr algn="just"/>
            <a:r>
              <a:rPr lang="ru-RU" altLang="ru-RU" sz="2200" dirty="0" smtClean="0">
                <a:latin typeface="Times New Roman"/>
                <a:cs typeface="Times New Roman"/>
              </a:rPr>
              <a:t>База данных</a:t>
            </a:r>
            <a:r>
              <a:rPr lang="en-US" altLang="ru-RU" sz="2200" dirty="0" smtClean="0">
                <a:latin typeface="Times New Roman"/>
                <a:cs typeface="Times New Roman"/>
              </a:rPr>
              <a:t>: SQLite</a:t>
            </a:r>
            <a:endParaRPr lang="ru-RU" altLang="ru-RU" sz="2200" dirty="0">
              <a:latin typeface="Times New Roman"/>
              <a:cs typeface="Times New Roman"/>
            </a:endParaRPr>
          </a:p>
        </p:txBody>
      </p:sp>
      <p:pic>
        <p:nvPicPr>
          <p:cNvPr id="1026" name="Picture 2" descr="https://logos-world.net/wp-content/uploads/2023/01/Unity-Symbol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112" y="1181100"/>
            <a:ext cx="3797301" cy="213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243" y="4167915"/>
            <a:ext cx="1897037" cy="1897037"/>
          </a:xfrm>
          <a:prstGeom prst="rect">
            <a:avLst/>
          </a:prstGeom>
        </p:spPr>
      </p:pic>
      <p:pic>
        <p:nvPicPr>
          <p:cNvPr id="1034" name="Picture 10" descr="https://avatars.mds.yandex.net/i?id=9eaa16f3f814d045e53e3170b0f79a96_l-7674757-images-thumbs&amp;n=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109" y="4137262"/>
            <a:ext cx="3427003" cy="192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gitlab.linphone.org/uploads/-/system/project/avatar/407/sqlit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67" y="3605890"/>
            <a:ext cx="4086225" cy="281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73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390115" y="323925"/>
            <a:ext cx="9438397" cy="592277"/>
          </a:xfrm>
        </p:spPr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алгоритма технологического процесса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Содержимое 2">
                <a:extLst>
                  <a:ext uri="{FF2B5EF4-FFF2-40B4-BE49-F238E27FC236}">
                    <a16:creationId xmlns:a16="http://schemas.microsoft.com/office/drawing/2014/main" id="{08139A4E-65B2-43ED-B924-6834BE248F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861" y="1530251"/>
                <a:ext cx="11483033" cy="2158766"/>
              </a:xfrm>
            </p:spPr>
            <p:txBody>
              <a:bodyPr>
                <a:normAutofit fontScale="92500" lnSpcReduction="20000"/>
              </a:bodyPr>
              <a:lstStyle/>
              <a:p>
                <a:pPr marL="457200" indent="-457200" algn="just">
                  <a:buAutoNum type="arabicParenR"/>
                </a:pPr>
                <a:r>
                  <a:rPr lang="ru-RU" altLang="ru-RU" sz="2200" dirty="0" smtClean="0">
                    <a:latin typeface="Times New Roman"/>
                    <a:cs typeface="Times New Roman"/>
                  </a:rPr>
                  <a:t>Вычисляем разницу давлений по формуле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altLang="ru-RU" sz="2200" dirty="0" smtClean="0">
                  <a:latin typeface="Times New Roman"/>
                  <a:cs typeface="Times New Roman"/>
                </a:endParaRPr>
              </a:p>
              <a:p>
                <a:pPr marL="457200" indent="-457200" algn="just">
                  <a:buAutoNum type="arabicParenR"/>
                </a:pPr>
                <a:r>
                  <a:rPr lang="ru-RU" altLang="ru-RU" sz="2200" dirty="0" smtClean="0">
                    <a:latin typeface="Times New Roman"/>
                    <a:cs typeface="Times New Roman"/>
                  </a:rPr>
                  <a:t>Добавляем давление, создаваемое мотором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𝑄𝐻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ru-RU" i="1" dirty="0"/>
                  <a:t> </a:t>
                </a:r>
                <a:endParaRPr lang="ru-RU" altLang="ru-RU" sz="2200" dirty="0" smtClean="0">
                  <a:latin typeface="Times New Roman"/>
                  <a:cs typeface="Times New Roman"/>
                </a:endParaRPr>
              </a:p>
              <a:p>
                <a:pPr marL="0" indent="0" algn="just"/>
                <a:endParaRPr lang="ru-RU" altLang="ru-RU" sz="2200" dirty="0">
                  <a:latin typeface="Times New Roman"/>
                  <a:cs typeface="Times New Roman"/>
                </a:endParaRPr>
              </a:p>
              <a:p>
                <a:pPr marL="0" indent="0" algn="just"/>
                <a:r>
                  <a:rPr lang="ru-RU" altLang="ru-RU" sz="2200" dirty="0" smtClean="0">
                    <a:latin typeface="Times New Roman"/>
                    <a:cs typeface="Times New Roman"/>
                  </a:rPr>
                  <a:t>Если разнится давлений имеется, то выполняем следующие шаги</a:t>
                </a:r>
                <a:r>
                  <a:rPr lang="en-US" altLang="ru-RU" sz="2200" dirty="0" smtClean="0">
                    <a:latin typeface="Times New Roman"/>
                    <a:cs typeface="Times New Roman"/>
                  </a:rPr>
                  <a:t>:</a:t>
                </a:r>
                <a:endParaRPr lang="ru-RU" altLang="ru-RU" sz="2200" dirty="0" smtClean="0">
                  <a:latin typeface="Times New Roman"/>
                  <a:cs typeface="Times New Roman"/>
                </a:endParaRPr>
              </a:p>
              <a:p>
                <a:pPr marL="457200" indent="-457200" algn="just">
                  <a:buAutoNum type="arabicParenR"/>
                </a:pPr>
                <a:r>
                  <a:rPr lang="ru-RU" altLang="ru-RU" sz="2200" dirty="0" smtClean="0">
                    <a:latin typeface="Times New Roman"/>
                    <a:cs typeface="Times New Roman"/>
                  </a:rPr>
                  <a:t>Рассчитываем расход жидкости </a:t>
                </a:r>
                <a:r>
                  <a:rPr lang="ru-RU" altLang="ru-RU" sz="2200" dirty="0">
                    <a:latin typeface="Times New Roman"/>
                    <a:cs typeface="Times New Roman"/>
                  </a:rPr>
                  <a:t>за секунду по закону </a:t>
                </a:r>
                <a:r>
                  <a:rPr lang="ru-RU" altLang="ru-RU" sz="2200" dirty="0" err="1">
                    <a:latin typeface="Times New Roman"/>
                    <a:cs typeface="Times New Roman"/>
                  </a:rPr>
                  <a:t>Пуазёйля</a:t>
                </a:r>
                <a:r>
                  <a:rPr lang="ru-RU" altLang="ru-RU" sz="2200" dirty="0">
                    <a:latin typeface="Times New Roman"/>
                    <a:cs typeface="Times New Roman"/>
                  </a:rPr>
                  <a:t> 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ru-RU" altLang="ru-RU" sz="2200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9" name="Содержимое 2">
                <a:extLst>
                  <a:ext uri="{FF2B5EF4-FFF2-40B4-BE49-F238E27FC236}">
                    <a16:creationId xmlns:a16="http://schemas.microsoft.com/office/drawing/2014/main" id="{08139A4E-65B2-43ED-B924-6834BE248F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861" y="1530251"/>
                <a:ext cx="11483033" cy="2158766"/>
              </a:xfrm>
              <a:blipFill>
                <a:blip r:embed="rId2"/>
                <a:stretch>
                  <a:fillRect l="-372" t="-3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60" y="3689017"/>
            <a:ext cx="3972297" cy="220114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698" y="3754619"/>
            <a:ext cx="2029418" cy="2166540"/>
          </a:xfrm>
          <a:prstGeom prst="rect">
            <a:avLst/>
          </a:prstGeom>
        </p:spPr>
      </p:pic>
      <p:pic>
        <p:nvPicPr>
          <p:cNvPr id="2050" name="Picture 2" descr="https://static.toolineo.de/hcb/hfe/926978074217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369" y="3730628"/>
            <a:ext cx="2190531" cy="219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33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06" y="1486281"/>
            <a:ext cx="4401164" cy="4239217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95" y="2099588"/>
            <a:ext cx="4391638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68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694" y="1123225"/>
            <a:ext cx="5805487" cy="496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1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image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60332" y="1662704"/>
            <a:ext cx="10935923" cy="372671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520592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пакетов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279" y="2073235"/>
            <a:ext cx="7786869" cy="3250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38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Детальные диаграммы классов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218" y="1169786"/>
            <a:ext cx="7929481" cy="549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8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компонентов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 rotWithShape="1">
          <a:blip r:embed="rId3"/>
          <a:srcRect t="1209"/>
          <a:stretch/>
        </p:blipFill>
        <p:spPr bwMode="auto">
          <a:xfrm>
            <a:off x="647344" y="2048552"/>
            <a:ext cx="3905250" cy="31146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Рисунок 6"/>
          <p:cNvPicPr/>
          <p:nvPr/>
        </p:nvPicPr>
        <p:blipFill rotWithShape="1">
          <a:blip r:embed="rId4"/>
          <a:srcRect/>
          <a:stretch/>
        </p:blipFill>
        <p:spPr bwMode="auto">
          <a:xfrm>
            <a:off x="4929132" y="1255033"/>
            <a:ext cx="5940425" cy="54057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51928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размещения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8" name="Рисунок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626" y="940954"/>
            <a:ext cx="5725160" cy="55372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484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 диалога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5" name="image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835318" y="1258556"/>
            <a:ext cx="6502645" cy="493442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8097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15</a:t>
            </a:fld>
            <a:endParaRPr lang="ru-RU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164555"/>
              </p:ext>
            </p:extLst>
          </p:nvPr>
        </p:nvGraphicFramePr>
        <p:xfrm>
          <a:off x="997529" y="1074953"/>
          <a:ext cx="10349344" cy="493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64862">
                  <a:extLst>
                    <a:ext uri="{9D8B030D-6E8A-4147-A177-3AD203B41FA5}">
                      <a16:colId xmlns:a16="http://schemas.microsoft.com/office/drawing/2014/main" val="2921354208"/>
                    </a:ext>
                  </a:extLst>
                </a:gridCol>
                <a:gridCol w="2353384">
                  <a:extLst>
                    <a:ext uri="{9D8B030D-6E8A-4147-A177-3AD203B41FA5}">
                      <a16:colId xmlns:a16="http://schemas.microsoft.com/office/drawing/2014/main" val="1521501620"/>
                    </a:ext>
                  </a:extLst>
                </a:gridCol>
                <a:gridCol w="1882703">
                  <a:extLst>
                    <a:ext uri="{9D8B030D-6E8A-4147-A177-3AD203B41FA5}">
                      <a16:colId xmlns:a16="http://schemas.microsoft.com/office/drawing/2014/main" val="836442276"/>
                    </a:ext>
                  </a:extLst>
                </a:gridCol>
                <a:gridCol w="2515073">
                  <a:extLst>
                    <a:ext uri="{9D8B030D-6E8A-4147-A177-3AD203B41FA5}">
                      <a16:colId xmlns:a16="http://schemas.microsoft.com/office/drawing/2014/main" val="1615974823"/>
                    </a:ext>
                  </a:extLst>
                </a:gridCol>
                <a:gridCol w="2033322">
                  <a:extLst>
                    <a:ext uri="{9D8B030D-6E8A-4147-A177-3AD203B41FA5}">
                      <a16:colId xmlns:a16="http://schemas.microsoft.com/office/drawing/2014/main" val="1597093777"/>
                    </a:ext>
                  </a:extLst>
                </a:gridCol>
              </a:tblGrid>
              <a:tr h="2268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Тестируемый модуль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Кто проводил тестирование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 тестирования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теста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extLst>
                  <a:ext uri="{0D108BD9-81ED-4DB2-BD59-A6C34878D82A}">
                    <a16:rowId xmlns:a16="http://schemas.microsoft.com/office/drawing/2014/main" val="2969462846"/>
                  </a:ext>
                </a:extLst>
              </a:tr>
              <a:tr h="1804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262" marR="18262" marT="0" marB="0"/>
                </a:tc>
                <a:extLst>
                  <a:ext uri="{0D108BD9-81ED-4DB2-BD59-A6C34878D82A}">
                    <a16:rowId xmlns:a16="http://schemas.microsoft.com/office/drawing/2014/main" val="1399061547"/>
                  </a:ext>
                </a:extLst>
              </a:tr>
              <a:tr h="1804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12.01.2023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Admin_UI.cs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4299919"/>
                  </a:ext>
                </a:extLst>
              </a:tr>
              <a:tr h="1804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12.01.2023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Main_Menu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_UI.cs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0169166"/>
                  </a:ext>
                </a:extLst>
              </a:tr>
              <a:tr h="7953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LiquidPipe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Провал, не отображается, что клапан открыт или закрыт для других пользователей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1009272"/>
                  </a:ext>
                </a:extLst>
              </a:tr>
              <a:tr h="3854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LiquidPipe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Провал, исключительная ситуация с текстурой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9530729"/>
                  </a:ext>
                </a:extLst>
              </a:tr>
              <a:tr h="1804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LiquidPipe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0968380"/>
                  </a:ext>
                </a:extLst>
              </a:tr>
              <a:tr h="1804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LiquidPipe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2572"/>
                  </a:ext>
                </a:extLst>
              </a:tr>
              <a:tr h="3854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Tank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И.В.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Провал, уровень отображается зеркально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4239866"/>
                  </a:ext>
                </a:extLst>
              </a:tr>
              <a:tr h="1804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Tank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9726164"/>
                  </a:ext>
                </a:extLst>
              </a:tr>
              <a:tr h="1804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ControlMouse.cs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Успех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1383819"/>
                  </a:ext>
                </a:extLst>
              </a:tr>
              <a:tr h="38540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13.04.2023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ColorMouse.cs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Буренко И.В.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тестирование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Провал, цвет не синхронизируется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113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07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Экономическое обоснование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5">
                <a:extLst>
                  <a:ext uri="{FF2B5EF4-FFF2-40B4-BE49-F238E27FC236}">
                    <a16:creationId xmlns:a16="http://schemas.microsoft.com/office/drawing/2014/main" id="{3F24D5C4-0823-44BF-B759-DC304AF75D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4148" y="1285860"/>
                <a:ext cx="9101170" cy="4840304"/>
              </a:xfrm>
            </p:spPr>
            <p:txBody>
              <a:bodyPr/>
              <a:lstStyle/>
              <a:p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Цена программного продукта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Ц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п.п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=165 483,5∗(1+0,2)=935 668,64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руб.</a:t>
                </a: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Экономия эксплуатационных расходов: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Э=624 360 −101 903,36=574 992,42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руб.</m:t>
                      </m: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Срок окупаемости программного продукта: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Ток= 216 512,4  / 522 456,64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года. </m:t>
                      </m:r>
                    </m:oMath>
                  </m:oMathPara>
                </a14:m>
                <a:endParaRPr lang="ru-RU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Годовой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экономический эффект, получаемый одним потребителем: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ЭЭ=943 536,64 −0,15∗216 512,4 =431 941,40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руб.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Объект 5">
                <a:extLst>
                  <a:ext uri="{FF2B5EF4-FFF2-40B4-BE49-F238E27FC236}">
                    <a16:creationId xmlns:a16="http://schemas.microsoft.com/office/drawing/2014/main" id="{3F24D5C4-0823-44BF-B759-DC304AF75D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4148" y="1285860"/>
                <a:ext cx="9101170" cy="4840304"/>
              </a:xfrm>
              <a:blipFill>
                <a:blip r:embed="rId3"/>
                <a:stretch>
                  <a:fillRect l="-670" t="-7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1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832B6-5904-45E4-8CB6-550B2F57E544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025237" y="1536266"/>
            <a:ext cx="10287666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Результаты</a:t>
            </a:r>
            <a:r>
              <a:rPr lang="en-US" dirty="0" smtClean="0"/>
              <a:t>: </a:t>
            </a:r>
            <a:r>
              <a:rPr lang="ru-RU" dirty="0" smtClean="0"/>
              <a:t>было </a:t>
            </a:r>
            <a:r>
              <a:rPr lang="ru-RU" dirty="0"/>
              <a:t>спроектировано, реализовано программное обеспечения многопользовательского виртуального тренажёра АСУ ТП для предприятия АО “Апатит” для цеха по хранению фосфорной и серной кислоты. Приложение представляет собой симулятор реальной установки, который позволяет нескольким пользователям отрабатывать навыки совместного управления и обучаться на виртуальном двойнике цеха.</a:t>
            </a:r>
          </a:p>
        </p:txBody>
      </p:sp>
    </p:spTree>
    <p:extLst>
      <p:ext uri="{BB962C8B-B14F-4D97-AF65-F5344CB8AC3E}">
        <p14:creationId xmlns:p14="http://schemas.microsoft.com/office/powerpoint/2010/main" val="1519501691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ии ЧГУ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ЧГУ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Презентации ЧГУ</Template>
  <TotalTime>395</TotalTime>
  <Words>572</Words>
  <Application>Microsoft Office PowerPoint</Application>
  <PresentationFormat>Произвольный</PresentationFormat>
  <Paragraphs>148</Paragraphs>
  <Slides>17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 Math</vt:lpstr>
      <vt:lpstr>Times New Roman</vt:lpstr>
      <vt:lpstr>Шаблон Презентации ЧГУ</vt:lpstr>
      <vt:lpstr>Презентация PowerPoint</vt:lpstr>
      <vt:lpstr>Проблема</vt:lpstr>
      <vt:lpstr>Цели и задачи</vt:lpstr>
      <vt:lpstr>Сравнение аналогов</vt:lpstr>
      <vt:lpstr>Описание используемых средств разработки</vt:lpstr>
      <vt:lpstr>Описание алгоритма технологического процесса</vt:lpstr>
      <vt:lpstr>Диаграмма вариантов использования</vt:lpstr>
      <vt:lpstr>Описание предметной области</vt:lpstr>
      <vt:lpstr>ER-диаграмма</vt:lpstr>
      <vt:lpstr>Диаграмма пакетов</vt:lpstr>
      <vt:lpstr>Детальные диаграммы классов</vt:lpstr>
      <vt:lpstr>Диаграммы компонентов</vt:lpstr>
      <vt:lpstr>Диаграммы размещения</vt:lpstr>
      <vt:lpstr>Граф диалога</vt:lpstr>
      <vt:lpstr>Тестирование</vt:lpstr>
      <vt:lpstr>Экономическое обоснование</vt:lpstr>
      <vt:lpstr>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Anastasia</dc:creator>
  <cp:lastModifiedBy>Амбфибия Омник</cp:lastModifiedBy>
  <cp:revision>31</cp:revision>
  <cp:lastPrinted>2023-06-14T09:42:27Z</cp:lastPrinted>
  <dcterms:created xsi:type="dcterms:W3CDTF">2022-05-25T06:56:38Z</dcterms:created>
  <dcterms:modified xsi:type="dcterms:W3CDTF">2023-06-15T03:52:46Z</dcterms:modified>
</cp:coreProperties>
</file>