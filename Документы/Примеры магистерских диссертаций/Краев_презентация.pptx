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vsdx" ContentType="application/vnd.ms-visio.drawi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7"/>
  </p:notesMasterIdLst>
  <p:sldIdLst>
    <p:sldId id="256" r:id="rId5"/>
    <p:sldId id="257" r:id="rId6"/>
    <p:sldId id="278" r:id="rId7"/>
    <p:sldId id="279" r:id="rId8"/>
    <p:sldId id="281" r:id="rId9"/>
    <p:sldId id="280" r:id="rId10"/>
    <p:sldId id="307" r:id="rId11"/>
    <p:sldId id="286" r:id="rId12"/>
    <p:sldId id="287" r:id="rId13"/>
    <p:sldId id="283" r:id="rId14"/>
    <p:sldId id="289" r:id="rId15"/>
    <p:sldId id="290" r:id="rId16"/>
    <p:sldId id="291" r:id="rId17"/>
    <p:sldId id="288" r:id="rId18"/>
    <p:sldId id="292" r:id="rId19"/>
    <p:sldId id="298" r:id="rId20"/>
    <p:sldId id="296" r:id="rId21"/>
    <p:sldId id="293" r:id="rId22"/>
    <p:sldId id="297" r:id="rId23"/>
    <p:sldId id="300" r:id="rId24"/>
    <p:sldId id="299" r:id="rId25"/>
    <p:sldId id="284" r:id="rId26"/>
    <p:sldId id="294" r:id="rId27"/>
    <p:sldId id="301" r:id="rId28"/>
    <p:sldId id="295" r:id="rId29"/>
    <p:sldId id="302" r:id="rId30"/>
    <p:sldId id="303" r:id="rId31"/>
    <p:sldId id="304" r:id="rId32"/>
    <p:sldId id="305" r:id="rId33"/>
    <p:sldId id="306" r:id="rId34"/>
    <p:sldId id="285" r:id="rId35"/>
    <p:sldId id="269" r:id="rId36"/>
  </p:sldIdLst>
  <p:sldSz cx="12192000" cy="6858000"/>
  <p:notesSz cx="6797675" cy="9926638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  <a:srgbClr val="E6EDFB"/>
    <a:srgbClr val="D9D9D9"/>
    <a:srgbClr val="FDFEFF"/>
    <a:srgbClr val="787878"/>
    <a:srgbClr val="F2F2F2"/>
    <a:srgbClr val="FFFFFF"/>
    <a:srgbClr val="AFB0B4"/>
    <a:srgbClr val="B8B9BD"/>
    <a:srgbClr val="DC3B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800" autoAdjust="0"/>
    <p:restoredTop sz="94676" autoAdjust="0"/>
  </p:normalViewPr>
  <p:slideViewPr>
    <p:cSldViewPr>
      <p:cViewPr varScale="1">
        <p:scale>
          <a:sx n="83" d="100"/>
          <a:sy n="83" d="100"/>
        </p:scale>
        <p:origin x="787" y="4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image" Target="../media/image19.png"/><Relationship Id="rId18" Type="http://schemas.openxmlformats.org/officeDocument/2006/relationships/image" Target="../media/image2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svg"/><Relationship Id="rId17" Type="http://schemas.openxmlformats.org/officeDocument/2006/relationships/image" Target="../media/image23.png"/><Relationship Id="rId2" Type="http://schemas.openxmlformats.org/officeDocument/2006/relationships/image" Target="../media/image8.svg"/><Relationship Id="rId16" Type="http://schemas.openxmlformats.org/officeDocument/2006/relationships/image" Target="../media/image22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Relationship Id="rId14" Type="http://schemas.openxmlformats.org/officeDocument/2006/relationships/image" Target="../media/image20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image" Target="../media/image19.png"/><Relationship Id="rId18" Type="http://schemas.openxmlformats.org/officeDocument/2006/relationships/image" Target="../media/image2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svg"/><Relationship Id="rId17" Type="http://schemas.openxmlformats.org/officeDocument/2006/relationships/image" Target="../media/image23.png"/><Relationship Id="rId2" Type="http://schemas.openxmlformats.org/officeDocument/2006/relationships/image" Target="../media/image8.svg"/><Relationship Id="rId16" Type="http://schemas.openxmlformats.org/officeDocument/2006/relationships/image" Target="../media/image22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Relationship Id="rId14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D213E83-A633-40F8-86A2-BDFFDF999607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4B0CF413-8C7B-4F82-99CC-E900AF7C4D1F}">
      <dgm:prSet custT="1"/>
      <dgm:spPr/>
      <dgm:t>
        <a:bodyPr/>
        <a:lstStyle/>
        <a:p>
          <a:r>
            <a:rPr lang="ru-RU" sz="1600" dirty="0"/>
            <a:t>Алгоритмы, выполняющие математические вычисления</a:t>
          </a:r>
        </a:p>
      </dgm:t>
    </dgm:pt>
    <dgm:pt modelId="{815389EB-EE70-4CEB-9EB7-64F3C4A94C6C}" type="parTrans" cxnId="{72396B90-9E91-432E-AE38-FD28CBD03786}">
      <dgm:prSet/>
      <dgm:spPr/>
      <dgm:t>
        <a:bodyPr/>
        <a:lstStyle/>
        <a:p>
          <a:endParaRPr lang="ru-RU"/>
        </a:p>
      </dgm:t>
    </dgm:pt>
    <dgm:pt modelId="{B99D6531-2B6A-4E48-B814-626290419802}" type="sibTrans" cxnId="{72396B90-9E91-432E-AE38-FD28CBD03786}">
      <dgm:prSet/>
      <dgm:spPr/>
      <dgm:t>
        <a:bodyPr/>
        <a:lstStyle/>
        <a:p>
          <a:endParaRPr lang="ru-RU"/>
        </a:p>
      </dgm:t>
    </dgm:pt>
    <dgm:pt modelId="{800B13B6-C748-4A00-B646-87EDB5FB207B}">
      <dgm:prSet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pPr marL="0" indent="0" algn="l" defTabSz="0">
            <a:lnSpc>
              <a:spcPct val="150000"/>
            </a:lnSpc>
            <a:spcAft>
              <a:spcPts val="0"/>
            </a:spcAft>
            <a:buClr>
              <a:srgbClr val="92D050"/>
            </a:buClr>
            <a:buSzPct val="120000"/>
            <a:buFont typeface="Wingdings" panose="05000000000000000000" pitchFamily="2" charset="2"/>
            <a:buNone/>
            <a:tabLst/>
          </a:pPr>
          <a:r>
            <a:rPr lang="ru-RU" sz="1400" dirty="0"/>
            <a:t>простота реализации и коррекции</a:t>
          </a:r>
        </a:p>
      </dgm:t>
    </dgm:pt>
    <dgm:pt modelId="{2DC22142-C5E2-4262-883F-44928946AE4E}" type="parTrans" cxnId="{E3914820-E0C8-4910-95D8-8B502D333F4B}">
      <dgm:prSet/>
      <dgm:spPr/>
      <dgm:t>
        <a:bodyPr/>
        <a:lstStyle/>
        <a:p>
          <a:endParaRPr lang="ru-RU"/>
        </a:p>
      </dgm:t>
    </dgm:pt>
    <dgm:pt modelId="{249B3554-0382-4DF3-A5AD-B523E92951D8}" type="sibTrans" cxnId="{E3914820-E0C8-4910-95D8-8B502D333F4B}">
      <dgm:prSet/>
      <dgm:spPr/>
      <dgm:t>
        <a:bodyPr/>
        <a:lstStyle/>
        <a:p>
          <a:endParaRPr lang="ru-RU"/>
        </a:p>
      </dgm:t>
    </dgm:pt>
    <dgm:pt modelId="{E3DBA6E7-38E0-4765-BBAA-E978950E4227}">
      <dgm:prSet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pPr marL="0" indent="0" algn="l" defTabSz="0">
            <a:lnSpc>
              <a:spcPct val="150000"/>
            </a:lnSpc>
            <a:spcAft>
              <a:spcPts val="0"/>
            </a:spcAft>
            <a:buClr>
              <a:srgbClr val="92D050"/>
            </a:buClr>
            <a:buSzPct val="120000"/>
            <a:buFont typeface="Wingdings" panose="05000000000000000000" pitchFamily="2" charset="2"/>
            <a:buChar char="ü"/>
            <a:tabLst/>
          </a:pPr>
          <a:r>
            <a:rPr lang="ru-RU" sz="1400" dirty="0"/>
            <a:t>низкие требования к характеристикам ЭВМ</a:t>
          </a:r>
        </a:p>
      </dgm:t>
    </dgm:pt>
    <dgm:pt modelId="{4795B53A-0E79-4925-A8B8-649814493C51}" type="parTrans" cxnId="{E585ECBF-9578-4806-9EB8-364BC19C8DD7}">
      <dgm:prSet/>
      <dgm:spPr/>
      <dgm:t>
        <a:bodyPr/>
        <a:lstStyle/>
        <a:p>
          <a:endParaRPr lang="ru-RU"/>
        </a:p>
      </dgm:t>
    </dgm:pt>
    <dgm:pt modelId="{AE0BF9C9-7EBB-4E91-89F6-D38813589C24}" type="sibTrans" cxnId="{E585ECBF-9578-4806-9EB8-364BC19C8DD7}">
      <dgm:prSet/>
      <dgm:spPr/>
      <dgm:t>
        <a:bodyPr/>
        <a:lstStyle/>
        <a:p>
          <a:endParaRPr lang="ru-RU"/>
        </a:p>
      </dgm:t>
    </dgm:pt>
    <dgm:pt modelId="{AF96FCAF-17ED-4673-B3AC-DA048D2C0FDE}">
      <dgm:prSet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pPr marL="0" indent="0" algn="l" defTabSz="0">
            <a:lnSpc>
              <a:spcPct val="150000"/>
            </a:lnSpc>
            <a:spcAft>
              <a:spcPts val="0"/>
            </a:spcAft>
            <a:buClr>
              <a:schemeClr val="accent1"/>
            </a:buClr>
            <a:buSzPct val="120000"/>
            <a:buFont typeface="Wingdings" panose="05000000000000000000" pitchFamily="2" charset="2"/>
            <a:buChar char="v"/>
            <a:tabLst/>
          </a:pPr>
          <a:r>
            <a:rPr lang="ru-RU" sz="1400" dirty="0"/>
            <a:t>не могут использоваться для оптимального решения</a:t>
          </a:r>
        </a:p>
      </dgm:t>
    </dgm:pt>
    <dgm:pt modelId="{32E00888-1A9F-42E1-AFF7-F2CE30CC6D33}" type="parTrans" cxnId="{351ED90D-4CA6-4699-AC31-955180B80367}">
      <dgm:prSet/>
      <dgm:spPr/>
      <dgm:t>
        <a:bodyPr/>
        <a:lstStyle/>
        <a:p>
          <a:endParaRPr lang="ru-RU"/>
        </a:p>
      </dgm:t>
    </dgm:pt>
    <dgm:pt modelId="{324F5917-5A5F-432D-957E-FB060DDD85B4}" type="sibTrans" cxnId="{351ED90D-4CA6-4699-AC31-955180B80367}">
      <dgm:prSet/>
      <dgm:spPr/>
      <dgm:t>
        <a:bodyPr/>
        <a:lstStyle/>
        <a:p>
          <a:endParaRPr lang="ru-RU"/>
        </a:p>
      </dgm:t>
    </dgm:pt>
    <dgm:pt modelId="{2924D083-6907-46F6-9519-0FE30BD6F3D5}">
      <dgm:prSet custT="1"/>
      <dgm:spPr/>
      <dgm:t>
        <a:bodyPr/>
        <a:lstStyle/>
        <a:p>
          <a:r>
            <a:rPr lang="ru-RU" sz="1600" dirty="0"/>
            <a:t>Методы и алгоритмы машинного обучения</a:t>
          </a:r>
        </a:p>
      </dgm:t>
    </dgm:pt>
    <dgm:pt modelId="{3BE48A4C-B5FA-4F4F-9690-F0BF6935ADB0}" type="parTrans" cxnId="{6A62F981-E81B-45E3-BC5C-05C9C321F00C}">
      <dgm:prSet/>
      <dgm:spPr/>
      <dgm:t>
        <a:bodyPr/>
        <a:lstStyle/>
        <a:p>
          <a:endParaRPr lang="ru-RU"/>
        </a:p>
      </dgm:t>
    </dgm:pt>
    <dgm:pt modelId="{BC4B5CFB-D1F9-4940-AF03-AB8C4ACC20A4}" type="sibTrans" cxnId="{6A62F981-E81B-45E3-BC5C-05C9C321F00C}">
      <dgm:prSet/>
      <dgm:spPr/>
      <dgm:t>
        <a:bodyPr/>
        <a:lstStyle/>
        <a:p>
          <a:endParaRPr lang="ru-RU"/>
        </a:p>
      </dgm:t>
    </dgm:pt>
    <dgm:pt modelId="{FE72B3BE-842F-4A46-B3D9-E368A3F7EE9C}">
      <dgm:prSet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pPr marL="0" indent="0" defTabSz="0">
            <a:lnSpc>
              <a:spcPct val="150000"/>
            </a:lnSpc>
            <a:spcAft>
              <a:spcPts val="0"/>
            </a:spcAft>
            <a:buClr>
              <a:srgbClr val="92D050"/>
            </a:buClr>
            <a:buSzPct val="120000"/>
            <a:buFont typeface="Wingdings" panose="05000000000000000000" pitchFamily="2" charset="2"/>
            <a:buChar char="ü"/>
          </a:pPr>
          <a:r>
            <a:rPr lang="ru-RU" sz="1400" dirty="0"/>
            <a:t>возможность наладки процесса самостоятельного переобучения</a:t>
          </a:r>
        </a:p>
      </dgm:t>
    </dgm:pt>
    <dgm:pt modelId="{C6C1F460-E813-49FE-AB07-78258F69545C}" type="parTrans" cxnId="{88E69639-EC9A-4C5A-88FF-2EA7D0DE3481}">
      <dgm:prSet/>
      <dgm:spPr/>
      <dgm:t>
        <a:bodyPr/>
        <a:lstStyle/>
        <a:p>
          <a:endParaRPr lang="ru-RU"/>
        </a:p>
      </dgm:t>
    </dgm:pt>
    <dgm:pt modelId="{23E912CC-0134-4986-874E-165C7A5A8CEB}" type="sibTrans" cxnId="{88E69639-EC9A-4C5A-88FF-2EA7D0DE3481}">
      <dgm:prSet/>
      <dgm:spPr/>
      <dgm:t>
        <a:bodyPr/>
        <a:lstStyle/>
        <a:p>
          <a:endParaRPr lang="ru-RU"/>
        </a:p>
      </dgm:t>
    </dgm:pt>
    <dgm:pt modelId="{E7C60959-9DD0-4724-91EB-CB7E32A91F38}">
      <dgm:prSet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pPr marL="0" indent="0" defTabSz="0">
            <a:lnSpc>
              <a:spcPct val="150000"/>
            </a:lnSpc>
            <a:spcAft>
              <a:spcPts val="0"/>
            </a:spcAft>
            <a:buClr>
              <a:srgbClr val="FF0000"/>
            </a:buClr>
            <a:buSzPct val="120000"/>
            <a:buFont typeface="Wingdings" panose="05000000000000000000" pitchFamily="2" charset="2"/>
            <a:buChar char="v"/>
          </a:pPr>
          <a:r>
            <a:rPr lang="ru-RU" sz="1400" dirty="0"/>
            <a:t>не позволяет найти глобальное оптимальное решение задачи</a:t>
          </a:r>
        </a:p>
      </dgm:t>
    </dgm:pt>
    <dgm:pt modelId="{E4A4D17D-987D-482D-B6B5-2F5A316275A6}" type="parTrans" cxnId="{076AE220-269E-4B74-B038-BD2442AC42F9}">
      <dgm:prSet/>
      <dgm:spPr/>
      <dgm:t>
        <a:bodyPr/>
        <a:lstStyle/>
        <a:p>
          <a:endParaRPr lang="ru-RU"/>
        </a:p>
      </dgm:t>
    </dgm:pt>
    <dgm:pt modelId="{A0A753E1-8CE5-4E02-86EE-BA30E358B90B}" type="sibTrans" cxnId="{076AE220-269E-4B74-B038-BD2442AC42F9}">
      <dgm:prSet/>
      <dgm:spPr/>
      <dgm:t>
        <a:bodyPr/>
        <a:lstStyle/>
        <a:p>
          <a:endParaRPr lang="ru-RU"/>
        </a:p>
      </dgm:t>
    </dgm:pt>
    <dgm:pt modelId="{4B7F5105-672B-4D2E-97C7-CD594FBA4D31}">
      <dgm:prSet custT="1"/>
      <dgm:spPr/>
      <dgm:t>
        <a:bodyPr/>
        <a:lstStyle/>
        <a:p>
          <a:r>
            <a:rPr lang="ru-RU" sz="1600" dirty="0"/>
            <a:t>Методы и алгоритмы оптимизации</a:t>
          </a:r>
        </a:p>
      </dgm:t>
    </dgm:pt>
    <dgm:pt modelId="{86DD2325-9670-43E2-B89A-EBDACA3CB7BC}" type="parTrans" cxnId="{39173BCA-B406-436A-B856-A8D35FF7EBF2}">
      <dgm:prSet/>
      <dgm:spPr/>
      <dgm:t>
        <a:bodyPr/>
        <a:lstStyle/>
        <a:p>
          <a:endParaRPr lang="ru-RU"/>
        </a:p>
      </dgm:t>
    </dgm:pt>
    <dgm:pt modelId="{EC492403-C381-4CA2-9730-357D528B6C23}" type="sibTrans" cxnId="{39173BCA-B406-436A-B856-A8D35FF7EBF2}">
      <dgm:prSet/>
      <dgm:spPr/>
      <dgm:t>
        <a:bodyPr/>
        <a:lstStyle/>
        <a:p>
          <a:endParaRPr lang="ru-RU"/>
        </a:p>
      </dgm:t>
    </dgm:pt>
    <dgm:pt modelId="{A317BADE-8764-45DF-B300-F68684ADB251}">
      <dgm:prSet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pPr marL="0" indent="0">
            <a:lnSpc>
              <a:spcPct val="150000"/>
            </a:lnSpc>
            <a:spcAft>
              <a:spcPts val="0"/>
            </a:spcAft>
            <a:buClr>
              <a:srgbClr val="92D050"/>
            </a:buClr>
            <a:buSzPct val="120000"/>
            <a:buFont typeface="Wingdings" panose="05000000000000000000" pitchFamily="2" charset="2"/>
            <a:buChar char="ü"/>
          </a:pPr>
          <a:r>
            <a:rPr lang="ru-RU" sz="1400" dirty="0"/>
            <a:t>возможность нахождения глобального оптимума</a:t>
          </a:r>
        </a:p>
      </dgm:t>
    </dgm:pt>
    <dgm:pt modelId="{0A17F9A9-FD02-47CB-90F2-7B8F541A3E37}" type="parTrans" cxnId="{6502F786-DDA2-48B4-A10E-DA0B1474708B}">
      <dgm:prSet/>
      <dgm:spPr/>
      <dgm:t>
        <a:bodyPr/>
        <a:lstStyle/>
        <a:p>
          <a:endParaRPr lang="ru-RU"/>
        </a:p>
      </dgm:t>
    </dgm:pt>
    <dgm:pt modelId="{B79E9130-D7DB-4ABA-AE6D-945AEAF08B03}" type="sibTrans" cxnId="{6502F786-DDA2-48B4-A10E-DA0B1474708B}">
      <dgm:prSet/>
      <dgm:spPr/>
      <dgm:t>
        <a:bodyPr/>
        <a:lstStyle/>
        <a:p>
          <a:endParaRPr lang="ru-RU"/>
        </a:p>
      </dgm:t>
    </dgm:pt>
    <dgm:pt modelId="{AC32AE6A-397E-4B9E-888C-AEDE052941A1}">
      <dgm:prSet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pPr marL="0" indent="0">
            <a:lnSpc>
              <a:spcPct val="150000"/>
            </a:lnSpc>
            <a:spcAft>
              <a:spcPts val="0"/>
            </a:spcAft>
            <a:buClr>
              <a:srgbClr val="92D050"/>
            </a:buClr>
            <a:buSzPct val="120000"/>
            <a:buFont typeface="Wingdings" panose="05000000000000000000" pitchFamily="2" charset="2"/>
            <a:buChar char="ü"/>
          </a:pPr>
          <a:r>
            <a:rPr lang="ru-RU" sz="1400" dirty="0"/>
            <a:t>простоту корректировки программы под технологические процессы</a:t>
          </a:r>
        </a:p>
      </dgm:t>
    </dgm:pt>
    <dgm:pt modelId="{C2E55D17-940A-4D50-BCBF-52A96E2BE011}" type="parTrans" cxnId="{FCC66B21-B933-4D45-8C7F-022BBA900675}">
      <dgm:prSet/>
      <dgm:spPr/>
      <dgm:t>
        <a:bodyPr/>
        <a:lstStyle/>
        <a:p>
          <a:endParaRPr lang="ru-RU"/>
        </a:p>
      </dgm:t>
    </dgm:pt>
    <dgm:pt modelId="{3736DB41-5969-438C-AAAA-E15437A2E7CD}" type="sibTrans" cxnId="{FCC66B21-B933-4D45-8C7F-022BBA900675}">
      <dgm:prSet/>
      <dgm:spPr/>
      <dgm:t>
        <a:bodyPr/>
        <a:lstStyle/>
        <a:p>
          <a:endParaRPr lang="ru-RU"/>
        </a:p>
      </dgm:t>
    </dgm:pt>
    <dgm:pt modelId="{5F843280-76BB-41AF-A381-28C0904F6991}">
      <dgm:prSet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pPr marL="0" indent="0">
            <a:lnSpc>
              <a:spcPct val="150000"/>
            </a:lnSpc>
            <a:spcAft>
              <a:spcPts val="0"/>
            </a:spcAft>
            <a:buClr>
              <a:srgbClr val="FF0000"/>
            </a:buClr>
            <a:buSzPct val="120000"/>
            <a:buFont typeface="Wingdings" panose="05000000000000000000" pitchFamily="2" charset="2"/>
            <a:buChar char="v"/>
          </a:pPr>
          <a:r>
            <a:rPr lang="ru-RU" sz="1400" dirty="0"/>
            <a:t>невозможность модели самостоятельно переобучаться, любые изменения в технологии заносятся вручную</a:t>
          </a:r>
        </a:p>
      </dgm:t>
    </dgm:pt>
    <dgm:pt modelId="{14901210-9EFF-4A39-9614-7A7FF45F5897}" type="parTrans" cxnId="{34D7B6B3-33F1-4B88-BE91-E39B5CD08662}">
      <dgm:prSet/>
      <dgm:spPr/>
      <dgm:t>
        <a:bodyPr/>
        <a:lstStyle/>
        <a:p>
          <a:endParaRPr lang="ru-RU"/>
        </a:p>
      </dgm:t>
    </dgm:pt>
    <dgm:pt modelId="{39D72B04-270D-4D12-A821-5FA3062D7E89}" type="sibTrans" cxnId="{34D7B6B3-33F1-4B88-BE91-E39B5CD08662}">
      <dgm:prSet/>
      <dgm:spPr/>
      <dgm:t>
        <a:bodyPr/>
        <a:lstStyle/>
        <a:p>
          <a:endParaRPr lang="ru-RU"/>
        </a:p>
      </dgm:t>
    </dgm:pt>
    <dgm:pt modelId="{9C0CDDB0-5575-48F4-8D4D-2FBE23C6914F}">
      <dgm:prSet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pPr marL="0" indent="0" defTabSz="0">
            <a:lnSpc>
              <a:spcPct val="150000"/>
            </a:lnSpc>
            <a:spcAft>
              <a:spcPts val="0"/>
            </a:spcAft>
            <a:buClr>
              <a:srgbClr val="FF0000"/>
            </a:buClr>
            <a:buSzPct val="120000"/>
            <a:buFont typeface="Wingdings" panose="05000000000000000000" pitchFamily="2" charset="2"/>
            <a:buChar char="v"/>
          </a:pPr>
          <a:r>
            <a:rPr lang="ru-RU" sz="1400" dirty="0"/>
            <a:t>сложность корректировки работы программы и калибровки модели</a:t>
          </a:r>
        </a:p>
      </dgm:t>
    </dgm:pt>
    <dgm:pt modelId="{5402B3F7-52A9-4303-BBA7-0D9F163213B5}" type="parTrans" cxnId="{A7E4B34C-44E9-4582-BA25-B9B188516319}">
      <dgm:prSet/>
      <dgm:spPr/>
      <dgm:t>
        <a:bodyPr/>
        <a:lstStyle/>
        <a:p>
          <a:endParaRPr lang="ru-RU"/>
        </a:p>
      </dgm:t>
    </dgm:pt>
    <dgm:pt modelId="{40CAFD1E-9C9B-4F51-A2F9-68DCA475E209}" type="sibTrans" cxnId="{A7E4B34C-44E9-4582-BA25-B9B188516319}">
      <dgm:prSet/>
      <dgm:spPr/>
      <dgm:t>
        <a:bodyPr/>
        <a:lstStyle/>
        <a:p>
          <a:endParaRPr lang="ru-RU"/>
        </a:p>
      </dgm:t>
    </dgm:pt>
    <dgm:pt modelId="{2CFFF7C1-C621-43BE-A9C4-A52ECC18161F}">
      <dgm:prSet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pPr marL="0" indent="0" defTabSz="0">
            <a:lnSpc>
              <a:spcPct val="150000"/>
            </a:lnSpc>
            <a:spcAft>
              <a:spcPts val="0"/>
            </a:spcAft>
            <a:buClr>
              <a:srgbClr val="92D050"/>
            </a:buClr>
            <a:buSzPct val="120000"/>
            <a:buFont typeface="Wingdings" panose="05000000000000000000" pitchFamily="2" charset="2"/>
            <a:buChar char="ü"/>
          </a:pPr>
          <a:r>
            <a:rPr lang="ru-RU" sz="1400" dirty="0"/>
            <a:t>гибкая подстройка модели к конкретным факторам производства</a:t>
          </a:r>
        </a:p>
      </dgm:t>
    </dgm:pt>
    <dgm:pt modelId="{1C329DAA-4796-493F-84D6-41970F96E92C}" type="sibTrans" cxnId="{65EB3898-4827-4289-9249-C1FE3638C9AE}">
      <dgm:prSet/>
      <dgm:spPr/>
      <dgm:t>
        <a:bodyPr/>
        <a:lstStyle/>
        <a:p>
          <a:endParaRPr lang="ru-RU"/>
        </a:p>
      </dgm:t>
    </dgm:pt>
    <dgm:pt modelId="{E139E801-52DF-4AC3-93C3-D14AEA0699D9}" type="parTrans" cxnId="{65EB3898-4827-4289-9249-C1FE3638C9AE}">
      <dgm:prSet/>
      <dgm:spPr/>
      <dgm:t>
        <a:bodyPr/>
        <a:lstStyle/>
        <a:p>
          <a:endParaRPr lang="ru-RU"/>
        </a:p>
      </dgm:t>
    </dgm:pt>
    <dgm:pt modelId="{56B7DA23-F9C6-4DE9-A16F-612B2F0AA027}" type="pres">
      <dgm:prSet presAssocID="{6D213E83-A633-40F8-86A2-BDFFDF999607}" presName="Name0" presStyleCnt="0">
        <dgm:presLayoutVars>
          <dgm:dir/>
          <dgm:animLvl val="lvl"/>
          <dgm:resizeHandles val="exact"/>
        </dgm:presLayoutVars>
      </dgm:prSet>
      <dgm:spPr/>
    </dgm:pt>
    <dgm:pt modelId="{EED95726-9439-4F20-BFE6-41B6EEE8C91F}" type="pres">
      <dgm:prSet presAssocID="{4B0CF413-8C7B-4F82-99CC-E900AF7C4D1F}" presName="composite" presStyleCnt="0"/>
      <dgm:spPr/>
    </dgm:pt>
    <dgm:pt modelId="{BE251DFA-2954-4808-BB4E-4BAB7689A64A}" type="pres">
      <dgm:prSet presAssocID="{4B0CF413-8C7B-4F82-99CC-E900AF7C4D1F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C65A733D-3747-4221-8F95-63E3F0D1715F}" type="pres">
      <dgm:prSet presAssocID="{4B0CF413-8C7B-4F82-99CC-E900AF7C4D1F}" presName="desTx" presStyleLbl="alignAccFollowNode1" presStyleIdx="0" presStyleCnt="3">
        <dgm:presLayoutVars>
          <dgm:bulletEnabled val="1"/>
        </dgm:presLayoutVars>
      </dgm:prSet>
      <dgm:spPr/>
    </dgm:pt>
    <dgm:pt modelId="{3973C2C4-FFAD-4CB7-B189-85CE9E1D718A}" type="pres">
      <dgm:prSet presAssocID="{B99D6531-2B6A-4E48-B814-626290419802}" presName="space" presStyleCnt="0"/>
      <dgm:spPr/>
    </dgm:pt>
    <dgm:pt modelId="{2584A01D-8BA6-44FB-88A4-718B6B1704D6}" type="pres">
      <dgm:prSet presAssocID="{2924D083-6907-46F6-9519-0FE30BD6F3D5}" presName="composite" presStyleCnt="0"/>
      <dgm:spPr/>
    </dgm:pt>
    <dgm:pt modelId="{C2D81240-AF4A-49AE-84A3-D0F0E0479B1D}" type="pres">
      <dgm:prSet presAssocID="{2924D083-6907-46F6-9519-0FE30BD6F3D5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E0C8456D-1889-437C-A22A-4A106EB34355}" type="pres">
      <dgm:prSet presAssocID="{2924D083-6907-46F6-9519-0FE30BD6F3D5}" presName="desTx" presStyleLbl="alignAccFollowNode1" presStyleIdx="1" presStyleCnt="3">
        <dgm:presLayoutVars>
          <dgm:bulletEnabled val="1"/>
        </dgm:presLayoutVars>
      </dgm:prSet>
      <dgm:spPr/>
    </dgm:pt>
    <dgm:pt modelId="{FBBDD268-2A88-4AE5-9F5F-DCBC2A30E8B3}" type="pres">
      <dgm:prSet presAssocID="{BC4B5CFB-D1F9-4940-AF03-AB8C4ACC20A4}" presName="space" presStyleCnt="0"/>
      <dgm:spPr/>
    </dgm:pt>
    <dgm:pt modelId="{FE233815-2552-461A-8AB2-60EA3395B950}" type="pres">
      <dgm:prSet presAssocID="{4B7F5105-672B-4D2E-97C7-CD594FBA4D31}" presName="composite" presStyleCnt="0"/>
      <dgm:spPr/>
    </dgm:pt>
    <dgm:pt modelId="{E92F9BE1-56C5-45E0-89D0-47AC61C01467}" type="pres">
      <dgm:prSet presAssocID="{4B7F5105-672B-4D2E-97C7-CD594FBA4D31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B2B5B399-4C2A-4CD9-9CC1-E4DDD062E4BC}" type="pres">
      <dgm:prSet presAssocID="{4B7F5105-672B-4D2E-97C7-CD594FBA4D31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D4C43D03-7EBD-4BCC-9D8D-037E1DBC36BC}" type="presOf" srcId="{800B13B6-C748-4A00-B646-87EDB5FB207B}" destId="{C65A733D-3747-4221-8F95-63E3F0D1715F}" srcOrd="0" destOrd="0" presId="urn:microsoft.com/office/officeart/2005/8/layout/hList1"/>
    <dgm:cxn modelId="{320F450A-A678-47C3-8F9F-335093273A2B}" type="presOf" srcId="{6D213E83-A633-40F8-86A2-BDFFDF999607}" destId="{56B7DA23-F9C6-4DE9-A16F-612B2F0AA027}" srcOrd="0" destOrd="0" presId="urn:microsoft.com/office/officeart/2005/8/layout/hList1"/>
    <dgm:cxn modelId="{351ED90D-4CA6-4699-AC31-955180B80367}" srcId="{4B0CF413-8C7B-4F82-99CC-E900AF7C4D1F}" destId="{AF96FCAF-17ED-4673-B3AC-DA048D2C0FDE}" srcOrd="2" destOrd="0" parTransId="{32E00888-1A9F-42E1-AFF7-F2CE30CC6D33}" sibTransId="{324F5917-5A5F-432D-957E-FB060DDD85B4}"/>
    <dgm:cxn modelId="{D5ECB017-5A57-45C6-9C8D-C47B3930044A}" type="presOf" srcId="{A317BADE-8764-45DF-B300-F68684ADB251}" destId="{B2B5B399-4C2A-4CD9-9CC1-E4DDD062E4BC}" srcOrd="0" destOrd="0" presId="urn:microsoft.com/office/officeart/2005/8/layout/hList1"/>
    <dgm:cxn modelId="{A982DB1D-0D4B-4B26-A3CE-8A9B04CC844E}" type="presOf" srcId="{FE72B3BE-842F-4A46-B3D9-E368A3F7EE9C}" destId="{E0C8456D-1889-437C-A22A-4A106EB34355}" srcOrd="0" destOrd="1" presId="urn:microsoft.com/office/officeart/2005/8/layout/hList1"/>
    <dgm:cxn modelId="{D4D9FD1F-90C4-494D-BCD7-600A3DDDFFFC}" type="presOf" srcId="{5F843280-76BB-41AF-A381-28C0904F6991}" destId="{B2B5B399-4C2A-4CD9-9CC1-E4DDD062E4BC}" srcOrd="0" destOrd="2" presId="urn:microsoft.com/office/officeart/2005/8/layout/hList1"/>
    <dgm:cxn modelId="{E3914820-E0C8-4910-95D8-8B502D333F4B}" srcId="{4B0CF413-8C7B-4F82-99CC-E900AF7C4D1F}" destId="{800B13B6-C748-4A00-B646-87EDB5FB207B}" srcOrd="0" destOrd="0" parTransId="{2DC22142-C5E2-4262-883F-44928946AE4E}" sibTransId="{249B3554-0382-4DF3-A5AD-B523E92951D8}"/>
    <dgm:cxn modelId="{076AE220-269E-4B74-B038-BD2442AC42F9}" srcId="{2924D083-6907-46F6-9519-0FE30BD6F3D5}" destId="{E7C60959-9DD0-4724-91EB-CB7E32A91F38}" srcOrd="2" destOrd="0" parTransId="{E4A4D17D-987D-482D-B6B5-2F5A316275A6}" sibTransId="{A0A753E1-8CE5-4E02-86EE-BA30E358B90B}"/>
    <dgm:cxn modelId="{FCC66B21-B933-4D45-8C7F-022BBA900675}" srcId="{4B7F5105-672B-4D2E-97C7-CD594FBA4D31}" destId="{AC32AE6A-397E-4B9E-888C-AEDE052941A1}" srcOrd="1" destOrd="0" parTransId="{C2E55D17-940A-4D50-BCBF-52A96E2BE011}" sibTransId="{3736DB41-5969-438C-AAAA-E15437A2E7CD}"/>
    <dgm:cxn modelId="{53AF492F-8D89-4AB3-AA44-F375932FF33E}" type="presOf" srcId="{4B7F5105-672B-4D2E-97C7-CD594FBA4D31}" destId="{E92F9BE1-56C5-45E0-89D0-47AC61C01467}" srcOrd="0" destOrd="0" presId="urn:microsoft.com/office/officeart/2005/8/layout/hList1"/>
    <dgm:cxn modelId="{88E69639-EC9A-4C5A-88FF-2EA7D0DE3481}" srcId="{2924D083-6907-46F6-9519-0FE30BD6F3D5}" destId="{FE72B3BE-842F-4A46-B3D9-E368A3F7EE9C}" srcOrd="1" destOrd="0" parTransId="{C6C1F460-E813-49FE-AB07-78258F69545C}" sibTransId="{23E912CC-0134-4986-874E-165C7A5A8CEB}"/>
    <dgm:cxn modelId="{D165016B-C790-4FDF-93CC-6121674AB904}" type="presOf" srcId="{AF96FCAF-17ED-4673-B3AC-DA048D2C0FDE}" destId="{C65A733D-3747-4221-8F95-63E3F0D1715F}" srcOrd="0" destOrd="2" presId="urn:microsoft.com/office/officeart/2005/8/layout/hList1"/>
    <dgm:cxn modelId="{B2A20A6C-385E-4780-9334-40ACC02DD7B2}" type="presOf" srcId="{4B0CF413-8C7B-4F82-99CC-E900AF7C4D1F}" destId="{BE251DFA-2954-4808-BB4E-4BAB7689A64A}" srcOrd="0" destOrd="0" presId="urn:microsoft.com/office/officeart/2005/8/layout/hList1"/>
    <dgm:cxn modelId="{A7E4B34C-44E9-4582-BA25-B9B188516319}" srcId="{2924D083-6907-46F6-9519-0FE30BD6F3D5}" destId="{9C0CDDB0-5575-48F4-8D4D-2FBE23C6914F}" srcOrd="3" destOrd="0" parTransId="{5402B3F7-52A9-4303-BBA7-0D9F163213B5}" sibTransId="{40CAFD1E-9C9B-4F51-A2F9-68DCA475E209}"/>
    <dgm:cxn modelId="{5651EF6F-017B-4F20-B92A-E2640639129F}" type="presOf" srcId="{2924D083-6907-46F6-9519-0FE30BD6F3D5}" destId="{C2D81240-AF4A-49AE-84A3-D0F0E0479B1D}" srcOrd="0" destOrd="0" presId="urn:microsoft.com/office/officeart/2005/8/layout/hList1"/>
    <dgm:cxn modelId="{6A62F981-E81B-45E3-BC5C-05C9C321F00C}" srcId="{6D213E83-A633-40F8-86A2-BDFFDF999607}" destId="{2924D083-6907-46F6-9519-0FE30BD6F3D5}" srcOrd="1" destOrd="0" parTransId="{3BE48A4C-B5FA-4F4F-9690-F0BF6935ADB0}" sibTransId="{BC4B5CFB-D1F9-4940-AF03-AB8C4ACC20A4}"/>
    <dgm:cxn modelId="{6502F786-DDA2-48B4-A10E-DA0B1474708B}" srcId="{4B7F5105-672B-4D2E-97C7-CD594FBA4D31}" destId="{A317BADE-8764-45DF-B300-F68684ADB251}" srcOrd="0" destOrd="0" parTransId="{0A17F9A9-FD02-47CB-90F2-7B8F541A3E37}" sibTransId="{B79E9130-D7DB-4ABA-AE6D-945AEAF08B03}"/>
    <dgm:cxn modelId="{A459708E-DCAB-4497-9CAB-79B006E71DA7}" type="presOf" srcId="{E3DBA6E7-38E0-4765-BBAA-E978950E4227}" destId="{C65A733D-3747-4221-8F95-63E3F0D1715F}" srcOrd="0" destOrd="1" presId="urn:microsoft.com/office/officeart/2005/8/layout/hList1"/>
    <dgm:cxn modelId="{72396B90-9E91-432E-AE38-FD28CBD03786}" srcId="{6D213E83-A633-40F8-86A2-BDFFDF999607}" destId="{4B0CF413-8C7B-4F82-99CC-E900AF7C4D1F}" srcOrd="0" destOrd="0" parTransId="{815389EB-EE70-4CEB-9EB7-64F3C4A94C6C}" sibTransId="{B99D6531-2B6A-4E48-B814-626290419802}"/>
    <dgm:cxn modelId="{65EB3898-4827-4289-9249-C1FE3638C9AE}" srcId="{2924D083-6907-46F6-9519-0FE30BD6F3D5}" destId="{2CFFF7C1-C621-43BE-A9C4-A52ECC18161F}" srcOrd="0" destOrd="0" parTransId="{E139E801-52DF-4AC3-93C3-D14AEA0699D9}" sibTransId="{1C329DAA-4796-493F-84D6-41970F96E92C}"/>
    <dgm:cxn modelId="{EC2E219B-00AF-402D-AC7E-C8279D23407A}" type="presOf" srcId="{2CFFF7C1-C621-43BE-A9C4-A52ECC18161F}" destId="{E0C8456D-1889-437C-A22A-4A106EB34355}" srcOrd="0" destOrd="0" presId="urn:microsoft.com/office/officeart/2005/8/layout/hList1"/>
    <dgm:cxn modelId="{D617C1A7-07E4-4397-B051-00B03F27CC3B}" type="presOf" srcId="{E7C60959-9DD0-4724-91EB-CB7E32A91F38}" destId="{E0C8456D-1889-437C-A22A-4A106EB34355}" srcOrd="0" destOrd="2" presId="urn:microsoft.com/office/officeart/2005/8/layout/hList1"/>
    <dgm:cxn modelId="{34D7B6B3-33F1-4B88-BE91-E39B5CD08662}" srcId="{4B7F5105-672B-4D2E-97C7-CD594FBA4D31}" destId="{5F843280-76BB-41AF-A381-28C0904F6991}" srcOrd="2" destOrd="0" parTransId="{14901210-9EFF-4A39-9614-7A7FF45F5897}" sibTransId="{39D72B04-270D-4D12-A821-5FA3062D7E89}"/>
    <dgm:cxn modelId="{E585ECBF-9578-4806-9EB8-364BC19C8DD7}" srcId="{4B0CF413-8C7B-4F82-99CC-E900AF7C4D1F}" destId="{E3DBA6E7-38E0-4765-BBAA-E978950E4227}" srcOrd="1" destOrd="0" parTransId="{4795B53A-0E79-4925-A8B8-649814493C51}" sibTransId="{AE0BF9C9-7EBB-4E91-89F6-D38813589C24}"/>
    <dgm:cxn modelId="{39173BCA-B406-436A-B856-A8D35FF7EBF2}" srcId="{6D213E83-A633-40F8-86A2-BDFFDF999607}" destId="{4B7F5105-672B-4D2E-97C7-CD594FBA4D31}" srcOrd="2" destOrd="0" parTransId="{86DD2325-9670-43E2-B89A-EBDACA3CB7BC}" sibTransId="{EC492403-C381-4CA2-9730-357D528B6C23}"/>
    <dgm:cxn modelId="{F6008BD4-F8A5-4A7D-A22E-1243D9017234}" type="presOf" srcId="{AC32AE6A-397E-4B9E-888C-AEDE052941A1}" destId="{B2B5B399-4C2A-4CD9-9CC1-E4DDD062E4BC}" srcOrd="0" destOrd="1" presId="urn:microsoft.com/office/officeart/2005/8/layout/hList1"/>
    <dgm:cxn modelId="{8E01B6F0-3CFB-4EF4-B989-F228F33F5FDB}" type="presOf" srcId="{9C0CDDB0-5575-48F4-8D4D-2FBE23C6914F}" destId="{E0C8456D-1889-437C-A22A-4A106EB34355}" srcOrd="0" destOrd="3" presId="urn:microsoft.com/office/officeart/2005/8/layout/hList1"/>
    <dgm:cxn modelId="{016F9EFA-2382-4CEB-B335-BF1419E570B3}" type="presParOf" srcId="{56B7DA23-F9C6-4DE9-A16F-612B2F0AA027}" destId="{EED95726-9439-4F20-BFE6-41B6EEE8C91F}" srcOrd="0" destOrd="0" presId="urn:microsoft.com/office/officeart/2005/8/layout/hList1"/>
    <dgm:cxn modelId="{FE69DB0E-84B9-4727-8FBB-A2068CA180A3}" type="presParOf" srcId="{EED95726-9439-4F20-BFE6-41B6EEE8C91F}" destId="{BE251DFA-2954-4808-BB4E-4BAB7689A64A}" srcOrd="0" destOrd="0" presId="urn:microsoft.com/office/officeart/2005/8/layout/hList1"/>
    <dgm:cxn modelId="{C3299779-3EE3-42CF-8C41-30BE4EAC54E3}" type="presParOf" srcId="{EED95726-9439-4F20-BFE6-41B6EEE8C91F}" destId="{C65A733D-3747-4221-8F95-63E3F0D1715F}" srcOrd="1" destOrd="0" presId="urn:microsoft.com/office/officeart/2005/8/layout/hList1"/>
    <dgm:cxn modelId="{2C6693BF-D274-4BA4-AD10-2F5B098EE75F}" type="presParOf" srcId="{56B7DA23-F9C6-4DE9-A16F-612B2F0AA027}" destId="{3973C2C4-FFAD-4CB7-B189-85CE9E1D718A}" srcOrd="1" destOrd="0" presId="urn:microsoft.com/office/officeart/2005/8/layout/hList1"/>
    <dgm:cxn modelId="{16AB0EE5-5EF7-4A78-B975-F62AE4233FFB}" type="presParOf" srcId="{56B7DA23-F9C6-4DE9-A16F-612B2F0AA027}" destId="{2584A01D-8BA6-44FB-88A4-718B6B1704D6}" srcOrd="2" destOrd="0" presId="urn:microsoft.com/office/officeart/2005/8/layout/hList1"/>
    <dgm:cxn modelId="{7CE2C076-226F-4B68-A984-68C6E65F0A18}" type="presParOf" srcId="{2584A01D-8BA6-44FB-88A4-718B6B1704D6}" destId="{C2D81240-AF4A-49AE-84A3-D0F0E0479B1D}" srcOrd="0" destOrd="0" presId="urn:microsoft.com/office/officeart/2005/8/layout/hList1"/>
    <dgm:cxn modelId="{6A04E099-B781-4F49-A814-4004FB7CFEDB}" type="presParOf" srcId="{2584A01D-8BA6-44FB-88A4-718B6B1704D6}" destId="{E0C8456D-1889-437C-A22A-4A106EB34355}" srcOrd="1" destOrd="0" presId="urn:microsoft.com/office/officeart/2005/8/layout/hList1"/>
    <dgm:cxn modelId="{E48DB14E-14C0-4041-9D46-2432569E79F5}" type="presParOf" srcId="{56B7DA23-F9C6-4DE9-A16F-612B2F0AA027}" destId="{FBBDD268-2A88-4AE5-9F5F-DCBC2A30E8B3}" srcOrd="3" destOrd="0" presId="urn:microsoft.com/office/officeart/2005/8/layout/hList1"/>
    <dgm:cxn modelId="{111F042F-B017-426B-A018-AADE6F29B081}" type="presParOf" srcId="{56B7DA23-F9C6-4DE9-A16F-612B2F0AA027}" destId="{FE233815-2552-461A-8AB2-60EA3395B950}" srcOrd="4" destOrd="0" presId="urn:microsoft.com/office/officeart/2005/8/layout/hList1"/>
    <dgm:cxn modelId="{0EE1BA12-FF5C-4395-A0FF-D40D0AADE3E6}" type="presParOf" srcId="{FE233815-2552-461A-8AB2-60EA3395B950}" destId="{E92F9BE1-56C5-45E0-89D0-47AC61C01467}" srcOrd="0" destOrd="0" presId="urn:microsoft.com/office/officeart/2005/8/layout/hList1"/>
    <dgm:cxn modelId="{FA65CB04-1E02-4710-9AC2-336CC2B62FD6}" type="presParOf" srcId="{FE233815-2552-461A-8AB2-60EA3395B950}" destId="{B2B5B399-4C2A-4CD9-9CC1-E4DDD062E4BC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9A98212-FA93-43B4-B509-5F611E15A778}" type="doc">
      <dgm:prSet loTypeId="urn:microsoft.com/office/officeart/2008/layout/PictureStrips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ru-RU"/>
        </a:p>
      </dgm:t>
    </dgm:pt>
    <dgm:pt modelId="{849176A6-5F2E-45A4-8749-CF7489A4DD0D}">
      <dgm:prSet/>
      <dgm:spPr/>
      <dgm:t>
        <a:bodyPr/>
        <a:lstStyle/>
        <a:p>
          <a:pPr>
            <a:lnSpc>
              <a:spcPct val="150000"/>
            </a:lnSpc>
            <a:buFont typeface="+mj-lt"/>
            <a:buNone/>
          </a:pPr>
          <a:r>
            <a:rPr lang="ru-RU" dirty="0"/>
            <a:t>Сбор, обработка и хранение данных, полученных от модели и смежных АСУ ТП.</a:t>
          </a:r>
        </a:p>
      </dgm:t>
    </dgm:pt>
    <dgm:pt modelId="{91CBBE01-1FFC-4A53-9435-C92C39C8B949}" type="parTrans" cxnId="{A77CAF72-BB14-4D40-843C-C068A3A14D11}">
      <dgm:prSet/>
      <dgm:spPr/>
      <dgm:t>
        <a:bodyPr/>
        <a:lstStyle/>
        <a:p>
          <a:endParaRPr lang="ru-RU"/>
        </a:p>
      </dgm:t>
    </dgm:pt>
    <dgm:pt modelId="{1158C62F-708D-4ADE-864D-5DA1252940CD}" type="sibTrans" cxnId="{A77CAF72-BB14-4D40-843C-C068A3A14D11}">
      <dgm:prSet/>
      <dgm:spPr/>
      <dgm:t>
        <a:bodyPr/>
        <a:lstStyle/>
        <a:p>
          <a:endParaRPr lang="ru-RU"/>
        </a:p>
      </dgm:t>
    </dgm:pt>
    <dgm:pt modelId="{D4AC5354-1B62-44FC-99AA-1553159B96D8}">
      <dgm:prSet/>
      <dgm:spPr/>
      <dgm:t>
        <a:bodyPr/>
        <a:lstStyle/>
        <a:p>
          <a:pPr>
            <a:lnSpc>
              <a:spcPct val="150000"/>
            </a:lnSpc>
            <a:buFont typeface="+mj-lt"/>
            <a:buNone/>
          </a:pPr>
          <a:r>
            <a:rPr lang="ru-RU" dirty="0"/>
            <a:t>Мониторинг целевого химического состава и проб химического состава в режиме реального времени.</a:t>
          </a:r>
        </a:p>
      </dgm:t>
    </dgm:pt>
    <dgm:pt modelId="{8CEB4CDD-8F11-41D8-9BE8-9EC2669064E2}" type="parTrans" cxnId="{66CF01A6-1FEC-4902-85F4-4F9DCAFFF491}">
      <dgm:prSet/>
      <dgm:spPr/>
      <dgm:t>
        <a:bodyPr/>
        <a:lstStyle/>
        <a:p>
          <a:endParaRPr lang="ru-RU"/>
        </a:p>
      </dgm:t>
    </dgm:pt>
    <dgm:pt modelId="{DC0F2DF1-0D92-451C-B7C1-5EECC655318A}" type="sibTrans" cxnId="{66CF01A6-1FEC-4902-85F4-4F9DCAFFF491}">
      <dgm:prSet/>
      <dgm:spPr/>
      <dgm:t>
        <a:bodyPr/>
        <a:lstStyle/>
        <a:p>
          <a:endParaRPr lang="ru-RU"/>
        </a:p>
      </dgm:t>
    </dgm:pt>
    <dgm:pt modelId="{EDAB4FD3-D02F-40EE-AC2E-1B53004AD5B1}">
      <dgm:prSet/>
      <dgm:spPr/>
      <dgm:t>
        <a:bodyPr/>
        <a:lstStyle/>
        <a:p>
          <a:pPr>
            <a:lnSpc>
              <a:spcPct val="150000"/>
            </a:lnSpc>
            <a:buFont typeface="+mj-lt"/>
            <a:buNone/>
          </a:pPr>
          <a:r>
            <a:rPr lang="ru-RU" dirty="0"/>
            <a:t>Расчет навески легирующих материалов на всех переделах плавки.</a:t>
          </a:r>
        </a:p>
      </dgm:t>
    </dgm:pt>
    <dgm:pt modelId="{DA257881-49AD-4CB8-8746-F6EDE8BE582A}" type="parTrans" cxnId="{21D92319-3344-401B-B836-C9EB50153C94}">
      <dgm:prSet/>
      <dgm:spPr/>
      <dgm:t>
        <a:bodyPr/>
        <a:lstStyle/>
        <a:p>
          <a:endParaRPr lang="ru-RU"/>
        </a:p>
      </dgm:t>
    </dgm:pt>
    <dgm:pt modelId="{2E5122B2-9CF0-4985-8A3F-349F7ABFED74}" type="sibTrans" cxnId="{21D92319-3344-401B-B836-C9EB50153C94}">
      <dgm:prSet/>
      <dgm:spPr/>
      <dgm:t>
        <a:bodyPr/>
        <a:lstStyle/>
        <a:p>
          <a:endParaRPr lang="ru-RU"/>
        </a:p>
      </dgm:t>
    </dgm:pt>
    <dgm:pt modelId="{2AE6D591-526E-4135-BFA7-01548AD1DB9F}">
      <dgm:prSet/>
      <dgm:spPr/>
      <dgm:t>
        <a:bodyPr/>
        <a:lstStyle/>
        <a:p>
          <a:pPr>
            <a:lnSpc>
              <a:spcPct val="150000"/>
            </a:lnSpc>
            <a:buFont typeface="+mj-lt"/>
            <a:buNone/>
          </a:pPr>
          <a:r>
            <a:rPr lang="ru-RU" dirty="0"/>
            <a:t>Сбор информации о наличии легирующих материалов и их ценах.</a:t>
          </a:r>
        </a:p>
      </dgm:t>
    </dgm:pt>
    <dgm:pt modelId="{6D06DF1A-6A1C-4489-B3AD-14BF12AE3F7A}" type="parTrans" cxnId="{D213F7C8-0AD1-4584-BC62-FDDF0D4A237D}">
      <dgm:prSet/>
      <dgm:spPr/>
      <dgm:t>
        <a:bodyPr/>
        <a:lstStyle/>
        <a:p>
          <a:endParaRPr lang="ru-RU"/>
        </a:p>
      </dgm:t>
    </dgm:pt>
    <dgm:pt modelId="{39BF05C4-4170-425B-A4A6-3617EAB4C39F}" type="sibTrans" cxnId="{D213F7C8-0AD1-4584-BC62-FDDF0D4A237D}">
      <dgm:prSet/>
      <dgm:spPr/>
      <dgm:t>
        <a:bodyPr/>
        <a:lstStyle/>
        <a:p>
          <a:endParaRPr lang="ru-RU"/>
        </a:p>
      </dgm:t>
    </dgm:pt>
    <dgm:pt modelId="{06662E1D-FA46-4EB3-82B5-CF2CE16C59E3}">
      <dgm:prSet/>
      <dgm:spPr/>
      <dgm:t>
        <a:bodyPr/>
        <a:lstStyle/>
        <a:p>
          <a:pPr>
            <a:lnSpc>
              <a:spcPct val="150000"/>
            </a:lnSpc>
            <a:buFont typeface="+mj-lt"/>
            <a:buNone/>
          </a:pPr>
          <a:r>
            <a:rPr lang="ru-RU" dirty="0"/>
            <a:t>Сохранение рекомендаций модели и сопутствующих технологических параметрах плавки.</a:t>
          </a:r>
        </a:p>
      </dgm:t>
    </dgm:pt>
    <dgm:pt modelId="{CA6C8A9F-40C6-4612-917F-8ED6A521A6F9}" type="parTrans" cxnId="{E787221D-7A57-42BD-8D81-1D187D885479}">
      <dgm:prSet/>
      <dgm:spPr/>
      <dgm:t>
        <a:bodyPr/>
        <a:lstStyle/>
        <a:p>
          <a:endParaRPr lang="ru-RU"/>
        </a:p>
      </dgm:t>
    </dgm:pt>
    <dgm:pt modelId="{E10730CA-9121-41CF-B0A0-7D8CCB782512}" type="sibTrans" cxnId="{E787221D-7A57-42BD-8D81-1D187D885479}">
      <dgm:prSet/>
      <dgm:spPr/>
      <dgm:t>
        <a:bodyPr/>
        <a:lstStyle/>
        <a:p>
          <a:endParaRPr lang="ru-RU"/>
        </a:p>
      </dgm:t>
    </dgm:pt>
    <dgm:pt modelId="{A391C3FD-1670-4C72-B2BD-0BFAAEDCFECA}">
      <dgm:prSet/>
      <dgm:spPr/>
      <dgm:t>
        <a:bodyPr/>
        <a:lstStyle/>
        <a:p>
          <a:pPr>
            <a:lnSpc>
              <a:spcPct val="150000"/>
            </a:lnSpc>
            <a:buFont typeface="+mj-lt"/>
            <a:buNone/>
          </a:pPr>
          <a:r>
            <a:rPr lang="ru-RU" dirty="0"/>
            <a:t>Индикация отклонений контролируемых величин сверх допустимого диапазона значений.</a:t>
          </a:r>
        </a:p>
      </dgm:t>
    </dgm:pt>
    <dgm:pt modelId="{F516E52D-0DC7-4B92-918C-28592B960337}" type="parTrans" cxnId="{A9E0EC86-67EC-4A8E-96D7-D9C789C107E1}">
      <dgm:prSet/>
      <dgm:spPr/>
      <dgm:t>
        <a:bodyPr/>
        <a:lstStyle/>
        <a:p>
          <a:endParaRPr lang="ru-RU"/>
        </a:p>
      </dgm:t>
    </dgm:pt>
    <dgm:pt modelId="{129CCFA3-AF4E-44CE-813C-DC2C7E431900}" type="sibTrans" cxnId="{A9E0EC86-67EC-4A8E-96D7-D9C789C107E1}">
      <dgm:prSet/>
      <dgm:spPr/>
      <dgm:t>
        <a:bodyPr/>
        <a:lstStyle/>
        <a:p>
          <a:endParaRPr lang="ru-RU"/>
        </a:p>
      </dgm:t>
    </dgm:pt>
    <dgm:pt modelId="{4D704444-01DC-44CC-BE97-934693A6F034}">
      <dgm:prSet/>
      <dgm:spPr/>
      <dgm:t>
        <a:bodyPr/>
        <a:lstStyle/>
        <a:p>
          <a:pPr>
            <a:lnSpc>
              <a:spcPct val="150000"/>
            </a:lnSpc>
            <a:buFont typeface="+mj-lt"/>
            <a:buNone/>
          </a:pPr>
          <a:r>
            <a:rPr lang="ru-RU" dirty="0"/>
            <a:t>Расчет навески с учетом особенностей каждого из переделов (завалка легированного лома, выплавка, внепечная обработка стали).</a:t>
          </a:r>
        </a:p>
      </dgm:t>
    </dgm:pt>
    <dgm:pt modelId="{C58FE47C-5E54-486A-8C4D-448875C22694}" type="parTrans" cxnId="{D94DD5C3-EEE6-4B47-BA26-8447CE71CDBC}">
      <dgm:prSet/>
      <dgm:spPr/>
      <dgm:t>
        <a:bodyPr/>
        <a:lstStyle/>
        <a:p>
          <a:endParaRPr lang="ru-RU"/>
        </a:p>
      </dgm:t>
    </dgm:pt>
    <dgm:pt modelId="{DF2C64D1-1089-4FCF-ADD5-C96D9A692ACE}" type="sibTrans" cxnId="{D94DD5C3-EEE6-4B47-BA26-8447CE71CDBC}">
      <dgm:prSet/>
      <dgm:spPr/>
      <dgm:t>
        <a:bodyPr/>
        <a:lstStyle/>
        <a:p>
          <a:endParaRPr lang="ru-RU"/>
        </a:p>
      </dgm:t>
    </dgm:pt>
    <dgm:pt modelId="{AC64E3D5-05D3-45BE-8E6C-3B77B3523E41}">
      <dgm:prSet/>
      <dgm:spPr/>
      <dgm:t>
        <a:bodyPr/>
        <a:lstStyle/>
        <a:p>
          <a:pPr>
            <a:lnSpc>
              <a:spcPct val="150000"/>
            </a:lnSpc>
            <a:buFont typeface="+mj-lt"/>
            <a:buNone/>
          </a:pPr>
          <a:r>
            <a:rPr lang="ru-RU" dirty="0"/>
            <a:t>Отображение данных на рабочие места пользователей в удобном для восприятия виде.</a:t>
          </a:r>
        </a:p>
      </dgm:t>
    </dgm:pt>
    <dgm:pt modelId="{D67336C8-CD08-49B3-B52D-BD0629A5916D}" type="parTrans" cxnId="{81CDEFE6-8BFC-4D9F-A09C-6DE17CC12CAA}">
      <dgm:prSet/>
      <dgm:spPr/>
      <dgm:t>
        <a:bodyPr/>
        <a:lstStyle/>
        <a:p>
          <a:endParaRPr lang="ru-RU"/>
        </a:p>
      </dgm:t>
    </dgm:pt>
    <dgm:pt modelId="{89952A0A-BEF1-4736-8682-95F9453DE1F2}" type="sibTrans" cxnId="{81CDEFE6-8BFC-4D9F-A09C-6DE17CC12CAA}">
      <dgm:prSet/>
      <dgm:spPr/>
      <dgm:t>
        <a:bodyPr/>
        <a:lstStyle/>
        <a:p>
          <a:endParaRPr lang="ru-RU"/>
        </a:p>
      </dgm:t>
    </dgm:pt>
    <dgm:pt modelId="{05353267-0DF9-424A-AE3B-3F5A1C3A798D}">
      <dgm:prSet/>
      <dgm:spPr/>
      <dgm:t>
        <a:bodyPr/>
        <a:lstStyle/>
        <a:p>
          <a:pPr>
            <a:lnSpc>
              <a:spcPct val="150000"/>
            </a:lnSpc>
            <a:buFont typeface="+mj-lt"/>
            <a:buNone/>
          </a:pPr>
          <a:r>
            <a:rPr lang="ru-RU" dirty="0"/>
            <a:t>Индикация выхода за пределы диапазона целевого химического состава.</a:t>
          </a:r>
        </a:p>
      </dgm:t>
    </dgm:pt>
    <dgm:pt modelId="{AD18299B-CD58-411F-B058-07A4A6841E42}" type="parTrans" cxnId="{BA55CD2B-78AD-444B-B333-27888EE21BF2}">
      <dgm:prSet/>
      <dgm:spPr/>
      <dgm:t>
        <a:bodyPr/>
        <a:lstStyle/>
        <a:p>
          <a:endParaRPr lang="ru-RU"/>
        </a:p>
      </dgm:t>
    </dgm:pt>
    <dgm:pt modelId="{269727E2-C082-4320-8A39-1BB23BAA3F1E}" type="sibTrans" cxnId="{BA55CD2B-78AD-444B-B333-27888EE21BF2}">
      <dgm:prSet/>
      <dgm:spPr/>
      <dgm:t>
        <a:bodyPr/>
        <a:lstStyle/>
        <a:p>
          <a:endParaRPr lang="ru-RU"/>
        </a:p>
      </dgm:t>
    </dgm:pt>
    <dgm:pt modelId="{6179DCE6-4E88-4D6C-B10A-463D66D78496}" type="pres">
      <dgm:prSet presAssocID="{B9A98212-FA93-43B4-B509-5F611E15A778}" presName="Name0" presStyleCnt="0">
        <dgm:presLayoutVars>
          <dgm:dir/>
          <dgm:resizeHandles val="exact"/>
        </dgm:presLayoutVars>
      </dgm:prSet>
      <dgm:spPr/>
    </dgm:pt>
    <dgm:pt modelId="{5B2382FB-20BF-4E7A-80A4-26D28AED5E95}" type="pres">
      <dgm:prSet presAssocID="{849176A6-5F2E-45A4-8749-CF7489A4DD0D}" presName="composite" presStyleCnt="0"/>
      <dgm:spPr/>
    </dgm:pt>
    <dgm:pt modelId="{DDBABC4F-6BAB-41A8-9DC0-6B91E1019383}" type="pres">
      <dgm:prSet presAssocID="{849176A6-5F2E-45A4-8749-CF7489A4DD0D}" presName="rect1" presStyleLbl="trAlignAcc1" presStyleIdx="0" presStyleCnt="9">
        <dgm:presLayoutVars>
          <dgm:bulletEnabled val="1"/>
        </dgm:presLayoutVars>
      </dgm:prSet>
      <dgm:spPr/>
    </dgm:pt>
    <dgm:pt modelId="{3DD317AF-CB81-48B9-805B-6AC43EAB03F3}" type="pres">
      <dgm:prSet presAssocID="{849176A6-5F2E-45A4-8749-CF7489A4DD0D}" presName="rect2" presStyleLbl="fgImgPlace1" presStyleIdx="0" presStyleCnt="9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l="-25000" r="-25000"/>
          </a:stretch>
        </a:blipFill>
      </dgm:spPr>
      <dgm:extLst>
        <a:ext uri="{E40237B7-FDA0-4F09-8148-C483321AD2D9}">
          <dgm14:cNvPr xmlns:dgm14="http://schemas.microsoft.com/office/drawing/2010/diagram" id="0" name="" descr="Сеть"/>
        </a:ext>
      </dgm:extLst>
    </dgm:pt>
    <dgm:pt modelId="{D7E8B4A2-9DFB-4A07-BC40-739C44DE0855}" type="pres">
      <dgm:prSet presAssocID="{1158C62F-708D-4ADE-864D-5DA1252940CD}" presName="sibTrans" presStyleCnt="0"/>
      <dgm:spPr/>
    </dgm:pt>
    <dgm:pt modelId="{A1CB1E50-158B-4005-A404-249D394415D7}" type="pres">
      <dgm:prSet presAssocID="{D4AC5354-1B62-44FC-99AA-1553159B96D8}" presName="composite" presStyleCnt="0"/>
      <dgm:spPr/>
    </dgm:pt>
    <dgm:pt modelId="{1D2C7916-6F37-44FB-90F7-B52166C58420}" type="pres">
      <dgm:prSet presAssocID="{D4AC5354-1B62-44FC-99AA-1553159B96D8}" presName="rect1" presStyleLbl="trAlignAcc1" presStyleIdx="1" presStyleCnt="9">
        <dgm:presLayoutVars>
          <dgm:bulletEnabled val="1"/>
        </dgm:presLayoutVars>
      </dgm:prSet>
      <dgm:spPr/>
    </dgm:pt>
    <dgm:pt modelId="{A0868F02-76B6-45D5-9D6F-FEBC2DBB881B}" type="pres">
      <dgm:prSet presAssocID="{D4AC5354-1B62-44FC-99AA-1553159B96D8}" presName="rect2" presStyleLbl="fgImgPlace1" presStyleIdx="1" presStyleCnt="9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 l="-25000" r="-25000"/>
          </a:stretch>
        </a:blipFill>
      </dgm:spPr>
      <dgm:extLst>
        <a:ext uri="{E40237B7-FDA0-4F09-8148-C483321AD2D9}">
          <dgm14:cNvPr xmlns:dgm14="http://schemas.microsoft.com/office/drawing/2010/diagram" id="0" name="" descr="Камера слежения"/>
        </a:ext>
      </dgm:extLst>
    </dgm:pt>
    <dgm:pt modelId="{221E83BC-BE81-4BBD-B101-275664C59EE8}" type="pres">
      <dgm:prSet presAssocID="{DC0F2DF1-0D92-451C-B7C1-5EECC655318A}" presName="sibTrans" presStyleCnt="0"/>
      <dgm:spPr/>
    </dgm:pt>
    <dgm:pt modelId="{DDDCA84E-2F97-456D-96D8-37810E0961D5}" type="pres">
      <dgm:prSet presAssocID="{EDAB4FD3-D02F-40EE-AC2E-1B53004AD5B1}" presName="composite" presStyleCnt="0"/>
      <dgm:spPr/>
    </dgm:pt>
    <dgm:pt modelId="{26127CB7-30CA-4E9C-A886-06F6D3B44E40}" type="pres">
      <dgm:prSet presAssocID="{EDAB4FD3-D02F-40EE-AC2E-1B53004AD5B1}" presName="rect1" presStyleLbl="trAlignAcc1" presStyleIdx="2" presStyleCnt="9">
        <dgm:presLayoutVars>
          <dgm:bulletEnabled val="1"/>
        </dgm:presLayoutVars>
      </dgm:prSet>
      <dgm:spPr/>
    </dgm:pt>
    <dgm:pt modelId="{F9B447EF-312A-41DE-9C07-2216A26D6EE8}" type="pres">
      <dgm:prSet presAssocID="{EDAB4FD3-D02F-40EE-AC2E-1B53004AD5B1}" presName="rect2" presStyleLbl="fgImgPlace1" presStyleIdx="2" presStyleCnt="9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 l="-25000" r="-25000"/>
          </a:stretch>
        </a:blipFill>
      </dgm:spPr>
      <dgm:extLst>
        <a:ext uri="{E40237B7-FDA0-4F09-8148-C483321AD2D9}">
          <dgm14:cNvPr xmlns:dgm14="http://schemas.microsoft.com/office/drawing/2010/diagram" id="0" name="" descr="Исследование"/>
        </a:ext>
      </dgm:extLst>
    </dgm:pt>
    <dgm:pt modelId="{48F26A58-02C7-4431-91AD-A7FD3A4F15FC}" type="pres">
      <dgm:prSet presAssocID="{2E5122B2-9CF0-4985-8A3F-349F7ABFED74}" presName="sibTrans" presStyleCnt="0"/>
      <dgm:spPr/>
    </dgm:pt>
    <dgm:pt modelId="{301E9AC2-1042-4890-AF98-8E83B69DF578}" type="pres">
      <dgm:prSet presAssocID="{2AE6D591-526E-4135-BFA7-01548AD1DB9F}" presName="composite" presStyleCnt="0"/>
      <dgm:spPr/>
    </dgm:pt>
    <dgm:pt modelId="{CC2D24CE-EB7B-417B-8578-E1E0A02F2FA1}" type="pres">
      <dgm:prSet presAssocID="{2AE6D591-526E-4135-BFA7-01548AD1DB9F}" presName="rect1" presStyleLbl="trAlignAcc1" presStyleIdx="3" presStyleCnt="9">
        <dgm:presLayoutVars>
          <dgm:bulletEnabled val="1"/>
        </dgm:presLayoutVars>
      </dgm:prSet>
      <dgm:spPr/>
    </dgm:pt>
    <dgm:pt modelId="{8C20F720-D001-4F96-A665-91558C850115}" type="pres">
      <dgm:prSet presAssocID="{2AE6D591-526E-4135-BFA7-01548AD1DB9F}" presName="rect2" presStyleLbl="fgImgPlace1" presStyleIdx="3" presStyleCnt="9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 l="-25000" r="-25000"/>
          </a:stretch>
        </a:blipFill>
      </dgm:spPr>
      <dgm:extLst>
        <a:ext uri="{E40237B7-FDA0-4F09-8148-C483321AD2D9}">
          <dgm14:cNvPr xmlns:dgm14="http://schemas.microsoft.com/office/drawing/2010/diagram" id="0" name="" descr="Документ"/>
        </a:ext>
      </dgm:extLst>
    </dgm:pt>
    <dgm:pt modelId="{7D0713FC-BC38-44E2-9BCE-6E287CBB150F}" type="pres">
      <dgm:prSet presAssocID="{39BF05C4-4170-425B-A4A6-3617EAB4C39F}" presName="sibTrans" presStyleCnt="0"/>
      <dgm:spPr/>
    </dgm:pt>
    <dgm:pt modelId="{A3C22E66-D412-48F2-B28B-AA80761A2A57}" type="pres">
      <dgm:prSet presAssocID="{06662E1D-FA46-4EB3-82B5-CF2CE16C59E3}" presName="composite" presStyleCnt="0"/>
      <dgm:spPr/>
    </dgm:pt>
    <dgm:pt modelId="{02A94C93-6B91-4637-B6EA-7A738B00B00A}" type="pres">
      <dgm:prSet presAssocID="{06662E1D-FA46-4EB3-82B5-CF2CE16C59E3}" presName="rect1" presStyleLbl="trAlignAcc1" presStyleIdx="4" presStyleCnt="9">
        <dgm:presLayoutVars>
          <dgm:bulletEnabled val="1"/>
        </dgm:presLayoutVars>
      </dgm:prSet>
      <dgm:spPr/>
    </dgm:pt>
    <dgm:pt modelId="{A87B3263-5B40-4625-9AC6-18FE705E7035}" type="pres">
      <dgm:prSet presAssocID="{06662E1D-FA46-4EB3-82B5-CF2CE16C59E3}" presName="rect2" presStyleLbl="fgImgPlace1" presStyleIdx="4" presStyleCnt="9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 l="-25000" r="-25000"/>
          </a:stretch>
        </a:blipFill>
      </dgm:spPr>
      <dgm:extLst>
        <a:ext uri="{E40237B7-FDA0-4F09-8148-C483321AD2D9}">
          <dgm14:cNvPr xmlns:dgm14="http://schemas.microsoft.com/office/drawing/2010/diagram" id="0" name="" descr="Диск"/>
        </a:ext>
      </dgm:extLst>
    </dgm:pt>
    <dgm:pt modelId="{96CB1AB3-5765-454A-9D89-7314890FAB2B}" type="pres">
      <dgm:prSet presAssocID="{E10730CA-9121-41CF-B0A0-7D8CCB782512}" presName="sibTrans" presStyleCnt="0"/>
      <dgm:spPr/>
    </dgm:pt>
    <dgm:pt modelId="{290AEB60-CA45-435D-BC74-6F8C4C6802E8}" type="pres">
      <dgm:prSet presAssocID="{A391C3FD-1670-4C72-B2BD-0BFAAEDCFECA}" presName="composite" presStyleCnt="0"/>
      <dgm:spPr/>
    </dgm:pt>
    <dgm:pt modelId="{79C7BDD3-765D-49E9-9367-9E6D0727FA50}" type="pres">
      <dgm:prSet presAssocID="{A391C3FD-1670-4C72-B2BD-0BFAAEDCFECA}" presName="rect1" presStyleLbl="trAlignAcc1" presStyleIdx="5" presStyleCnt="9">
        <dgm:presLayoutVars>
          <dgm:bulletEnabled val="1"/>
        </dgm:presLayoutVars>
      </dgm:prSet>
      <dgm:spPr/>
    </dgm:pt>
    <dgm:pt modelId="{643B50BB-BF3E-447B-88DE-4CC129731465}" type="pres">
      <dgm:prSet presAssocID="{A391C3FD-1670-4C72-B2BD-0BFAAEDCFECA}" presName="rect2" presStyleLbl="fgImgPlace1" presStyleIdx="5" presStyleCnt="9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 l="-25000" r="-25000"/>
          </a:stretch>
        </a:blipFill>
      </dgm:spPr>
      <dgm:extLst>
        <a:ext uri="{E40237B7-FDA0-4F09-8148-C483321AD2D9}">
          <dgm14:cNvPr xmlns:dgm14="http://schemas.microsoft.com/office/drawing/2010/diagram" id="0" name="" descr="Цель"/>
        </a:ext>
      </dgm:extLst>
    </dgm:pt>
    <dgm:pt modelId="{61EED120-D44F-42A8-AEF6-5B69DB40B35A}" type="pres">
      <dgm:prSet presAssocID="{129CCFA3-AF4E-44CE-813C-DC2C7E431900}" presName="sibTrans" presStyleCnt="0"/>
      <dgm:spPr/>
    </dgm:pt>
    <dgm:pt modelId="{A1BA94E0-1B97-43C3-A157-2988CAB616CE}" type="pres">
      <dgm:prSet presAssocID="{4D704444-01DC-44CC-BE97-934693A6F034}" presName="composite" presStyleCnt="0"/>
      <dgm:spPr/>
    </dgm:pt>
    <dgm:pt modelId="{015575D4-AFD9-4D44-9839-D77E37C8BA57}" type="pres">
      <dgm:prSet presAssocID="{4D704444-01DC-44CC-BE97-934693A6F034}" presName="rect1" presStyleLbl="trAlignAcc1" presStyleIdx="6" presStyleCnt="9">
        <dgm:presLayoutVars>
          <dgm:bulletEnabled val="1"/>
        </dgm:presLayoutVars>
      </dgm:prSet>
      <dgm:spPr/>
    </dgm:pt>
    <dgm:pt modelId="{17E96644-27CF-4B17-A1D7-E693074E081E}" type="pres">
      <dgm:prSet presAssocID="{4D704444-01DC-44CC-BE97-934693A6F034}" presName="rect2" presStyleLbl="fgImgPlace1" presStyleIdx="6" presStyleCnt="9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 l="-25000" r="-25000"/>
          </a:stretch>
        </a:blipFill>
      </dgm:spPr>
      <dgm:extLst>
        <a:ext uri="{E40237B7-FDA0-4F09-8148-C483321AD2D9}">
          <dgm14:cNvPr xmlns:dgm14="http://schemas.microsoft.com/office/drawing/2010/diagram" id="0" name="" descr="Измерительный прибор"/>
        </a:ext>
      </dgm:extLst>
    </dgm:pt>
    <dgm:pt modelId="{C0871980-B79C-4533-9591-DF9DB0A372E2}" type="pres">
      <dgm:prSet presAssocID="{DF2C64D1-1089-4FCF-ADD5-C96D9A692ACE}" presName="sibTrans" presStyleCnt="0"/>
      <dgm:spPr/>
    </dgm:pt>
    <dgm:pt modelId="{C10BBB08-92C5-442F-890B-44E44C71ABEB}" type="pres">
      <dgm:prSet presAssocID="{AC64E3D5-05D3-45BE-8E6C-3B77B3523E41}" presName="composite" presStyleCnt="0"/>
      <dgm:spPr/>
    </dgm:pt>
    <dgm:pt modelId="{A7BCF211-17E4-41AF-BEA7-5390D5339F8C}" type="pres">
      <dgm:prSet presAssocID="{AC64E3D5-05D3-45BE-8E6C-3B77B3523E41}" presName="rect1" presStyleLbl="trAlignAcc1" presStyleIdx="7" presStyleCnt="9">
        <dgm:presLayoutVars>
          <dgm:bulletEnabled val="1"/>
        </dgm:presLayoutVars>
      </dgm:prSet>
      <dgm:spPr/>
    </dgm:pt>
    <dgm:pt modelId="{3E9544B8-95FD-4A45-AD54-8F97EC32BF46}" type="pres">
      <dgm:prSet presAssocID="{AC64E3D5-05D3-45BE-8E6C-3B77B3523E41}" presName="rect2" presStyleLbl="fgImgPlace1" presStyleIdx="7" presStyleCnt="9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 l="-25000" r="-25000"/>
          </a:stretch>
        </a:blipFill>
      </dgm:spPr>
      <dgm:extLst>
        <a:ext uri="{E40237B7-FDA0-4F09-8148-C483321AD2D9}">
          <dgm14:cNvPr xmlns:dgm14="http://schemas.microsoft.com/office/drawing/2010/diagram" id="0" name="" descr="Окно браузера"/>
        </a:ext>
      </dgm:extLst>
    </dgm:pt>
    <dgm:pt modelId="{4032C852-9604-43CA-8193-46F5370314C1}" type="pres">
      <dgm:prSet presAssocID="{89952A0A-BEF1-4736-8682-95F9453DE1F2}" presName="sibTrans" presStyleCnt="0"/>
      <dgm:spPr/>
    </dgm:pt>
    <dgm:pt modelId="{558F733E-E9A2-4E15-923E-2C4759BF44BB}" type="pres">
      <dgm:prSet presAssocID="{05353267-0DF9-424A-AE3B-3F5A1C3A798D}" presName="composite" presStyleCnt="0"/>
      <dgm:spPr/>
    </dgm:pt>
    <dgm:pt modelId="{2EC8004F-4E02-4594-B5BB-F5CDF4F24D48}" type="pres">
      <dgm:prSet presAssocID="{05353267-0DF9-424A-AE3B-3F5A1C3A798D}" presName="rect1" presStyleLbl="trAlignAcc1" presStyleIdx="8" presStyleCnt="9">
        <dgm:presLayoutVars>
          <dgm:bulletEnabled val="1"/>
        </dgm:presLayoutVars>
      </dgm:prSet>
      <dgm:spPr/>
    </dgm:pt>
    <dgm:pt modelId="{E884C4C8-493C-4161-A868-24286F650C8D}" type="pres">
      <dgm:prSet presAssocID="{05353267-0DF9-424A-AE3B-3F5A1C3A798D}" presName="rect2" presStyleLbl="fgImgPlace1" presStyleIdx="8" presStyleCnt="9"/>
      <dgm:spPr>
        <a:blipFill>
          <a:blip xmlns:r="http://schemas.openxmlformats.org/officeDocument/2006/relationships"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>
            <a:fillRect l="-25000" r="-25000"/>
          </a:stretch>
        </a:blipFill>
      </dgm:spPr>
      <dgm:extLst>
        <a:ext uri="{E40237B7-FDA0-4F09-8148-C483321AD2D9}">
          <dgm14:cNvPr xmlns:dgm14="http://schemas.microsoft.com/office/drawing/2010/diagram" id="0" name="" descr="Сирена"/>
        </a:ext>
      </dgm:extLst>
    </dgm:pt>
  </dgm:ptLst>
  <dgm:cxnLst>
    <dgm:cxn modelId="{98F75F01-2B93-4F3A-94B2-A699B5F21F10}" type="presOf" srcId="{849176A6-5F2E-45A4-8749-CF7489A4DD0D}" destId="{DDBABC4F-6BAB-41A8-9DC0-6B91E1019383}" srcOrd="0" destOrd="0" presId="urn:microsoft.com/office/officeart/2008/layout/PictureStrips"/>
    <dgm:cxn modelId="{21D92319-3344-401B-B836-C9EB50153C94}" srcId="{B9A98212-FA93-43B4-B509-5F611E15A778}" destId="{EDAB4FD3-D02F-40EE-AC2E-1B53004AD5B1}" srcOrd="2" destOrd="0" parTransId="{DA257881-49AD-4CB8-8746-F6EDE8BE582A}" sibTransId="{2E5122B2-9CF0-4985-8A3F-349F7ABFED74}"/>
    <dgm:cxn modelId="{E787221D-7A57-42BD-8D81-1D187D885479}" srcId="{B9A98212-FA93-43B4-B509-5F611E15A778}" destId="{06662E1D-FA46-4EB3-82B5-CF2CE16C59E3}" srcOrd="4" destOrd="0" parTransId="{CA6C8A9F-40C6-4612-917F-8ED6A521A6F9}" sibTransId="{E10730CA-9121-41CF-B0A0-7D8CCB782512}"/>
    <dgm:cxn modelId="{BA55CD2B-78AD-444B-B333-27888EE21BF2}" srcId="{B9A98212-FA93-43B4-B509-5F611E15A778}" destId="{05353267-0DF9-424A-AE3B-3F5A1C3A798D}" srcOrd="8" destOrd="0" parTransId="{AD18299B-CD58-411F-B058-07A4A6841E42}" sibTransId="{269727E2-C082-4320-8A39-1BB23BAA3F1E}"/>
    <dgm:cxn modelId="{D9EF1F71-EDA1-4053-A260-5FD0C2673C99}" type="presOf" srcId="{D4AC5354-1B62-44FC-99AA-1553159B96D8}" destId="{1D2C7916-6F37-44FB-90F7-B52166C58420}" srcOrd="0" destOrd="0" presId="urn:microsoft.com/office/officeart/2008/layout/PictureStrips"/>
    <dgm:cxn modelId="{A77CAF72-BB14-4D40-843C-C068A3A14D11}" srcId="{B9A98212-FA93-43B4-B509-5F611E15A778}" destId="{849176A6-5F2E-45A4-8749-CF7489A4DD0D}" srcOrd="0" destOrd="0" parTransId="{91CBBE01-1FFC-4A53-9435-C92C39C8B949}" sibTransId="{1158C62F-708D-4ADE-864D-5DA1252940CD}"/>
    <dgm:cxn modelId="{200FF375-7C00-41BF-802A-55FE91F5D4D8}" type="presOf" srcId="{EDAB4FD3-D02F-40EE-AC2E-1B53004AD5B1}" destId="{26127CB7-30CA-4E9C-A886-06F6D3B44E40}" srcOrd="0" destOrd="0" presId="urn:microsoft.com/office/officeart/2008/layout/PictureStrips"/>
    <dgm:cxn modelId="{37569778-7735-4440-9608-A1BE3B64179D}" type="presOf" srcId="{A391C3FD-1670-4C72-B2BD-0BFAAEDCFECA}" destId="{79C7BDD3-765D-49E9-9367-9E6D0727FA50}" srcOrd="0" destOrd="0" presId="urn:microsoft.com/office/officeart/2008/layout/PictureStrips"/>
    <dgm:cxn modelId="{3B77C359-75A1-4A81-8AC4-D766F6F2E582}" type="presOf" srcId="{B9A98212-FA93-43B4-B509-5F611E15A778}" destId="{6179DCE6-4E88-4D6C-B10A-463D66D78496}" srcOrd="0" destOrd="0" presId="urn:microsoft.com/office/officeart/2008/layout/PictureStrips"/>
    <dgm:cxn modelId="{A9E0EC86-67EC-4A8E-96D7-D9C789C107E1}" srcId="{B9A98212-FA93-43B4-B509-5F611E15A778}" destId="{A391C3FD-1670-4C72-B2BD-0BFAAEDCFECA}" srcOrd="5" destOrd="0" parTransId="{F516E52D-0DC7-4B92-918C-28592B960337}" sibTransId="{129CCFA3-AF4E-44CE-813C-DC2C7E431900}"/>
    <dgm:cxn modelId="{C47EB7A5-713D-4A08-8795-6D6285FE5AC6}" type="presOf" srcId="{06662E1D-FA46-4EB3-82B5-CF2CE16C59E3}" destId="{02A94C93-6B91-4637-B6EA-7A738B00B00A}" srcOrd="0" destOrd="0" presId="urn:microsoft.com/office/officeart/2008/layout/PictureStrips"/>
    <dgm:cxn modelId="{66CF01A6-1FEC-4902-85F4-4F9DCAFFF491}" srcId="{B9A98212-FA93-43B4-B509-5F611E15A778}" destId="{D4AC5354-1B62-44FC-99AA-1553159B96D8}" srcOrd="1" destOrd="0" parTransId="{8CEB4CDD-8F11-41D8-9BE8-9EC2669064E2}" sibTransId="{DC0F2DF1-0D92-451C-B7C1-5EECC655318A}"/>
    <dgm:cxn modelId="{FD2997C0-4D27-465E-87F9-A4AA1503A60E}" type="presOf" srcId="{05353267-0DF9-424A-AE3B-3F5A1C3A798D}" destId="{2EC8004F-4E02-4594-B5BB-F5CDF4F24D48}" srcOrd="0" destOrd="0" presId="urn:microsoft.com/office/officeart/2008/layout/PictureStrips"/>
    <dgm:cxn modelId="{D94DD5C3-EEE6-4B47-BA26-8447CE71CDBC}" srcId="{B9A98212-FA93-43B4-B509-5F611E15A778}" destId="{4D704444-01DC-44CC-BE97-934693A6F034}" srcOrd="6" destOrd="0" parTransId="{C58FE47C-5E54-486A-8C4D-448875C22694}" sibTransId="{DF2C64D1-1089-4FCF-ADD5-C96D9A692ACE}"/>
    <dgm:cxn modelId="{D213F7C8-0AD1-4584-BC62-FDDF0D4A237D}" srcId="{B9A98212-FA93-43B4-B509-5F611E15A778}" destId="{2AE6D591-526E-4135-BFA7-01548AD1DB9F}" srcOrd="3" destOrd="0" parTransId="{6D06DF1A-6A1C-4489-B3AD-14BF12AE3F7A}" sibTransId="{39BF05C4-4170-425B-A4A6-3617EAB4C39F}"/>
    <dgm:cxn modelId="{40A1BBC9-3AEA-4066-B066-629D434D421F}" type="presOf" srcId="{AC64E3D5-05D3-45BE-8E6C-3B77B3523E41}" destId="{A7BCF211-17E4-41AF-BEA7-5390D5339F8C}" srcOrd="0" destOrd="0" presId="urn:microsoft.com/office/officeart/2008/layout/PictureStrips"/>
    <dgm:cxn modelId="{81CDEFE6-8BFC-4D9F-A09C-6DE17CC12CAA}" srcId="{B9A98212-FA93-43B4-B509-5F611E15A778}" destId="{AC64E3D5-05D3-45BE-8E6C-3B77B3523E41}" srcOrd="7" destOrd="0" parTransId="{D67336C8-CD08-49B3-B52D-BD0629A5916D}" sibTransId="{89952A0A-BEF1-4736-8682-95F9453DE1F2}"/>
    <dgm:cxn modelId="{93F3A2E7-343E-4DA7-901E-3B424CBC4A1E}" type="presOf" srcId="{4D704444-01DC-44CC-BE97-934693A6F034}" destId="{015575D4-AFD9-4D44-9839-D77E37C8BA57}" srcOrd="0" destOrd="0" presId="urn:microsoft.com/office/officeart/2008/layout/PictureStrips"/>
    <dgm:cxn modelId="{6F59C4EF-1E83-43AC-9D68-971DB53A0786}" type="presOf" srcId="{2AE6D591-526E-4135-BFA7-01548AD1DB9F}" destId="{CC2D24CE-EB7B-417B-8578-E1E0A02F2FA1}" srcOrd="0" destOrd="0" presId="urn:microsoft.com/office/officeart/2008/layout/PictureStrips"/>
    <dgm:cxn modelId="{CE55E9B2-CF3F-44A6-B0F9-1D90822AB8AD}" type="presParOf" srcId="{6179DCE6-4E88-4D6C-B10A-463D66D78496}" destId="{5B2382FB-20BF-4E7A-80A4-26D28AED5E95}" srcOrd="0" destOrd="0" presId="urn:microsoft.com/office/officeart/2008/layout/PictureStrips"/>
    <dgm:cxn modelId="{8A66C574-9405-40DC-9320-B8180CCFA153}" type="presParOf" srcId="{5B2382FB-20BF-4E7A-80A4-26D28AED5E95}" destId="{DDBABC4F-6BAB-41A8-9DC0-6B91E1019383}" srcOrd="0" destOrd="0" presId="urn:microsoft.com/office/officeart/2008/layout/PictureStrips"/>
    <dgm:cxn modelId="{3268F088-CFAD-4F09-8160-7C02DDF3ED36}" type="presParOf" srcId="{5B2382FB-20BF-4E7A-80A4-26D28AED5E95}" destId="{3DD317AF-CB81-48B9-805B-6AC43EAB03F3}" srcOrd="1" destOrd="0" presId="urn:microsoft.com/office/officeart/2008/layout/PictureStrips"/>
    <dgm:cxn modelId="{842E0AF8-95B6-4BD6-BC36-267DCFED049C}" type="presParOf" srcId="{6179DCE6-4E88-4D6C-B10A-463D66D78496}" destId="{D7E8B4A2-9DFB-4A07-BC40-739C44DE0855}" srcOrd="1" destOrd="0" presId="urn:microsoft.com/office/officeart/2008/layout/PictureStrips"/>
    <dgm:cxn modelId="{7C667EE4-7BD8-41F2-AFF5-F4A6D7112577}" type="presParOf" srcId="{6179DCE6-4E88-4D6C-B10A-463D66D78496}" destId="{A1CB1E50-158B-4005-A404-249D394415D7}" srcOrd="2" destOrd="0" presId="urn:microsoft.com/office/officeart/2008/layout/PictureStrips"/>
    <dgm:cxn modelId="{2268FF39-E7BC-479C-A3B3-E55290BCD631}" type="presParOf" srcId="{A1CB1E50-158B-4005-A404-249D394415D7}" destId="{1D2C7916-6F37-44FB-90F7-B52166C58420}" srcOrd="0" destOrd="0" presId="urn:microsoft.com/office/officeart/2008/layout/PictureStrips"/>
    <dgm:cxn modelId="{0D97F5EA-C481-4FE5-AAAD-631688C10DCF}" type="presParOf" srcId="{A1CB1E50-158B-4005-A404-249D394415D7}" destId="{A0868F02-76B6-45D5-9D6F-FEBC2DBB881B}" srcOrd="1" destOrd="0" presId="urn:microsoft.com/office/officeart/2008/layout/PictureStrips"/>
    <dgm:cxn modelId="{7BB3D49F-457B-45F7-B9E7-8B7A74547AE0}" type="presParOf" srcId="{6179DCE6-4E88-4D6C-B10A-463D66D78496}" destId="{221E83BC-BE81-4BBD-B101-275664C59EE8}" srcOrd="3" destOrd="0" presId="urn:microsoft.com/office/officeart/2008/layout/PictureStrips"/>
    <dgm:cxn modelId="{1F9ADA99-4669-4810-9004-617D931864E2}" type="presParOf" srcId="{6179DCE6-4E88-4D6C-B10A-463D66D78496}" destId="{DDDCA84E-2F97-456D-96D8-37810E0961D5}" srcOrd="4" destOrd="0" presId="urn:microsoft.com/office/officeart/2008/layout/PictureStrips"/>
    <dgm:cxn modelId="{8EA45CA3-E1BE-40D8-9F02-5270C4F9D04D}" type="presParOf" srcId="{DDDCA84E-2F97-456D-96D8-37810E0961D5}" destId="{26127CB7-30CA-4E9C-A886-06F6D3B44E40}" srcOrd="0" destOrd="0" presId="urn:microsoft.com/office/officeart/2008/layout/PictureStrips"/>
    <dgm:cxn modelId="{7161A79A-C242-47AF-A16E-7D7F25F5DAAF}" type="presParOf" srcId="{DDDCA84E-2F97-456D-96D8-37810E0961D5}" destId="{F9B447EF-312A-41DE-9C07-2216A26D6EE8}" srcOrd="1" destOrd="0" presId="urn:microsoft.com/office/officeart/2008/layout/PictureStrips"/>
    <dgm:cxn modelId="{D68F35CB-E49B-4976-A71C-0B8626BCCD04}" type="presParOf" srcId="{6179DCE6-4E88-4D6C-B10A-463D66D78496}" destId="{48F26A58-02C7-4431-91AD-A7FD3A4F15FC}" srcOrd="5" destOrd="0" presId="urn:microsoft.com/office/officeart/2008/layout/PictureStrips"/>
    <dgm:cxn modelId="{E946A5D4-87F7-44C5-962E-AC3B12168BA0}" type="presParOf" srcId="{6179DCE6-4E88-4D6C-B10A-463D66D78496}" destId="{301E9AC2-1042-4890-AF98-8E83B69DF578}" srcOrd="6" destOrd="0" presId="urn:microsoft.com/office/officeart/2008/layout/PictureStrips"/>
    <dgm:cxn modelId="{2BF6FB8B-B05B-47B6-BF4C-3523F686DE4C}" type="presParOf" srcId="{301E9AC2-1042-4890-AF98-8E83B69DF578}" destId="{CC2D24CE-EB7B-417B-8578-E1E0A02F2FA1}" srcOrd="0" destOrd="0" presId="urn:microsoft.com/office/officeart/2008/layout/PictureStrips"/>
    <dgm:cxn modelId="{DD9D968E-91FE-4808-8952-993BF10A5C72}" type="presParOf" srcId="{301E9AC2-1042-4890-AF98-8E83B69DF578}" destId="{8C20F720-D001-4F96-A665-91558C850115}" srcOrd="1" destOrd="0" presId="urn:microsoft.com/office/officeart/2008/layout/PictureStrips"/>
    <dgm:cxn modelId="{9B7EBA79-E62E-4951-AE43-5287297F4FD8}" type="presParOf" srcId="{6179DCE6-4E88-4D6C-B10A-463D66D78496}" destId="{7D0713FC-BC38-44E2-9BCE-6E287CBB150F}" srcOrd="7" destOrd="0" presId="urn:microsoft.com/office/officeart/2008/layout/PictureStrips"/>
    <dgm:cxn modelId="{888828D9-8251-4117-9588-68D069D447BE}" type="presParOf" srcId="{6179DCE6-4E88-4D6C-B10A-463D66D78496}" destId="{A3C22E66-D412-48F2-B28B-AA80761A2A57}" srcOrd="8" destOrd="0" presId="urn:microsoft.com/office/officeart/2008/layout/PictureStrips"/>
    <dgm:cxn modelId="{811B2BDA-0917-4729-8BD6-2DF916AC4382}" type="presParOf" srcId="{A3C22E66-D412-48F2-B28B-AA80761A2A57}" destId="{02A94C93-6B91-4637-B6EA-7A738B00B00A}" srcOrd="0" destOrd="0" presId="urn:microsoft.com/office/officeart/2008/layout/PictureStrips"/>
    <dgm:cxn modelId="{6A01FE44-87BC-451B-B624-6BF6FB9D3101}" type="presParOf" srcId="{A3C22E66-D412-48F2-B28B-AA80761A2A57}" destId="{A87B3263-5B40-4625-9AC6-18FE705E7035}" srcOrd="1" destOrd="0" presId="urn:microsoft.com/office/officeart/2008/layout/PictureStrips"/>
    <dgm:cxn modelId="{095ED29A-6F72-45A2-8962-5A7DA567AE38}" type="presParOf" srcId="{6179DCE6-4E88-4D6C-B10A-463D66D78496}" destId="{96CB1AB3-5765-454A-9D89-7314890FAB2B}" srcOrd="9" destOrd="0" presId="urn:microsoft.com/office/officeart/2008/layout/PictureStrips"/>
    <dgm:cxn modelId="{9AE134E0-9C84-4A8F-AF4F-AAEACEB4D9CD}" type="presParOf" srcId="{6179DCE6-4E88-4D6C-B10A-463D66D78496}" destId="{290AEB60-CA45-435D-BC74-6F8C4C6802E8}" srcOrd="10" destOrd="0" presId="urn:microsoft.com/office/officeart/2008/layout/PictureStrips"/>
    <dgm:cxn modelId="{62812BAF-4017-4693-9FE2-ECAC276AC499}" type="presParOf" srcId="{290AEB60-CA45-435D-BC74-6F8C4C6802E8}" destId="{79C7BDD3-765D-49E9-9367-9E6D0727FA50}" srcOrd="0" destOrd="0" presId="urn:microsoft.com/office/officeart/2008/layout/PictureStrips"/>
    <dgm:cxn modelId="{7159D938-1B67-449D-804F-4A3C7CE6E611}" type="presParOf" srcId="{290AEB60-CA45-435D-BC74-6F8C4C6802E8}" destId="{643B50BB-BF3E-447B-88DE-4CC129731465}" srcOrd="1" destOrd="0" presId="urn:microsoft.com/office/officeart/2008/layout/PictureStrips"/>
    <dgm:cxn modelId="{1FCECF3D-390B-46CA-86DF-EDB8A17CD35E}" type="presParOf" srcId="{6179DCE6-4E88-4D6C-B10A-463D66D78496}" destId="{61EED120-D44F-42A8-AEF6-5B69DB40B35A}" srcOrd="11" destOrd="0" presId="urn:microsoft.com/office/officeart/2008/layout/PictureStrips"/>
    <dgm:cxn modelId="{E923E1DD-7914-4B1C-89DD-82C8305979EA}" type="presParOf" srcId="{6179DCE6-4E88-4D6C-B10A-463D66D78496}" destId="{A1BA94E0-1B97-43C3-A157-2988CAB616CE}" srcOrd="12" destOrd="0" presId="urn:microsoft.com/office/officeart/2008/layout/PictureStrips"/>
    <dgm:cxn modelId="{F799BACB-DF94-47AE-8428-8079020C9067}" type="presParOf" srcId="{A1BA94E0-1B97-43C3-A157-2988CAB616CE}" destId="{015575D4-AFD9-4D44-9839-D77E37C8BA57}" srcOrd="0" destOrd="0" presId="urn:microsoft.com/office/officeart/2008/layout/PictureStrips"/>
    <dgm:cxn modelId="{6AB9DFA7-0360-412E-B67B-BA12C6CC4550}" type="presParOf" srcId="{A1BA94E0-1B97-43C3-A157-2988CAB616CE}" destId="{17E96644-27CF-4B17-A1D7-E693074E081E}" srcOrd="1" destOrd="0" presId="urn:microsoft.com/office/officeart/2008/layout/PictureStrips"/>
    <dgm:cxn modelId="{6023243E-4F28-4BC9-BA28-0696C06AA7D1}" type="presParOf" srcId="{6179DCE6-4E88-4D6C-B10A-463D66D78496}" destId="{C0871980-B79C-4533-9591-DF9DB0A372E2}" srcOrd="13" destOrd="0" presId="urn:microsoft.com/office/officeart/2008/layout/PictureStrips"/>
    <dgm:cxn modelId="{78183DD7-D9F2-4241-960B-0C22D8D3485E}" type="presParOf" srcId="{6179DCE6-4E88-4D6C-B10A-463D66D78496}" destId="{C10BBB08-92C5-442F-890B-44E44C71ABEB}" srcOrd="14" destOrd="0" presId="urn:microsoft.com/office/officeart/2008/layout/PictureStrips"/>
    <dgm:cxn modelId="{014F39D8-AD15-434E-8D24-82EE9097D472}" type="presParOf" srcId="{C10BBB08-92C5-442F-890B-44E44C71ABEB}" destId="{A7BCF211-17E4-41AF-BEA7-5390D5339F8C}" srcOrd="0" destOrd="0" presId="urn:microsoft.com/office/officeart/2008/layout/PictureStrips"/>
    <dgm:cxn modelId="{2763B129-AAE9-4EB8-8522-A8F5FA9113E1}" type="presParOf" srcId="{C10BBB08-92C5-442F-890B-44E44C71ABEB}" destId="{3E9544B8-95FD-4A45-AD54-8F97EC32BF46}" srcOrd="1" destOrd="0" presId="urn:microsoft.com/office/officeart/2008/layout/PictureStrips"/>
    <dgm:cxn modelId="{2181AF8E-22AA-43B7-A6A1-FC1E6AA24B67}" type="presParOf" srcId="{6179DCE6-4E88-4D6C-B10A-463D66D78496}" destId="{4032C852-9604-43CA-8193-46F5370314C1}" srcOrd="15" destOrd="0" presId="urn:microsoft.com/office/officeart/2008/layout/PictureStrips"/>
    <dgm:cxn modelId="{89DDAA9A-FFED-4F1C-83A1-4162A254317C}" type="presParOf" srcId="{6179DCE6-4E88-4D6C-B10A-463D66D78496}" destId="{558F733E-E9A2-4E15-923E-2C4759BF44BB}" srcOrd="16" destOrd="0" presId="urn:microsoft.com/office/officeart/2008/layout/PictureStrips"/>
    <dgm:cxn modelId="{9D622F27-CFF3-4B47-BDAF-2B266D46909A}" type="presParOf" srcId="{558F733E-E9A2-4E15-923E-2C4759BF44BB}" destId="{2EC8004F-4E02-4594-B5BB-F5CDF4F24D48}" srcOrd="0" destOrd="0" presId="urn:microsoft.com/office/officeart/2008/layout/PictureStrips"/>
    <dgm:cxn modelId="{DFC26019-D534-4559-81D3-4D846ED87BB5}" type="presParOf" srcId="{558F733E-E9A2-4E15-923E-2C4759BF44BB}" destId="{E884C4C8-493C-4161-A868-24286F650C8D}" srcOrd="1" destOrd="0" presId="urn:microsoft.com/office/officeart/2008/layout/PictureStrip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03EFFA0-FF48-485D-B573-6C24CDEAD70D}" type="doc">
      <dgm:prSet loTypeId="urn:microsoft.com/office/officeart/2005/8/layout/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1C33935E-12CF-41EB-95EC-E612C922119D}">
      <dgm:prSet phldrT="[Текст]"/>
      <dgm:spPr/>
      <dgm:t>
        <a:bodyPr/>
        <a:lstStyle/>
        <a:p>
          <a:r>
            <a:rPr lang="ru-RU" dirty="0"/>
            <a:t>Оценка адекватности рекомендации по технологическим требованиям к плавке</a:t>
          </a:r>
        </a:p>
      </dgm:t>
    </dgm:pt>
    <dgm:pt modelId="{3F601A20-3DF6-487A-B7D5-DB00495B2D76}" type="parTrans" cxnId="{B039008D-DFBC-436C-A026-A8A1118F5B85}">
      <dgm:prSet/>
      <dgm:spPr/>
      <dgm:t>
        <a:bodyPr/>
        <a:lstStyle/>
        <a:p>
          <a:endParaRPr lang="ru-RU"/>
        </a:p>
      </dgm:t>
    </dgm:pt>
    <dgm:pt modelId="{5D06B655-CA2E-4E38-85A6-E650CE9D48AF}" type="sibTrans" cxnId="{B039008D-DFBC-436C-A026-A8A1118F5B85}">
      <dgm:prSet/>
      <dgm:spPr/>
      <dgm:t>
        <a:bodyPr/>
        <a:lstStyle/>
        <a:p>
          <a:endParaRPr lang="ru-RU"/>
        </a:p>
      </dgm:t>
    </dgm:pt>
    <dgm:pt modelId="{C6734D44-64D8-42A0-AA16-5FE66D05D6B7}">
      <dgm:prSet phldrT="[Текст]"/>
      <dgm:spPr/>
      <dgm:t>
        <a:bodyPr/>
        <a:lstStyle/>
        <a:p>
          <a:r>
            <a:rPr lang="ru-RU" dirty="0"/>
            <a:t>Оценка адекватности рекомендации модели по технологическому параметру был рассмотрен ключевой параметр легирования — это попадания прогнозного значения в границы требуемого целевого химического состава плавки по элементам углерод, кремний и марганец. </a:t>
          </a:r>
        </a:p>
      </dgm:t>
    </dgm:pt>
    <dgm:pt modelId="{FC6FEFB0-988D-461A-9433-6F299B6039F3}" type="parTrans" cxnId="{657157E4-3EEB-4A67-8A34-FEF19B7AE4C7}">
      <dgm:prSet/>
      <dgm:spPr/>
      <dgm:t>
        <a:bodyPr/>
        <a:lstStyle/>
        <a:p>
          <a:endParaRPr lang="ru-RU"/>
        </a:p>
      </dgm:t>
    </dgm:pt>
    <dgm:pt modelId="{92B18824-D2A2-4B38-BAD3-0F0BA3EC8AFA}" type="sibTrans" cxnId="{657157E4-3EEB-4A67-8A34-FEF19B7AE4C7}">
      <dgm:prSet/>
      <dgm:spPr/>
      <dgm:t>
        <a:bodyPr/>
        <a:lstStyle/>
        <a:p>
          <a:endParaRPr lang="ru-RU"/>
        </a:p>
      </dgm:t>
    </dgm:pt>
    <dgm:pt modelId="{8232C782-B47B-4F44-AAEB-C42FBAA95FB8}">
      <dgm:prSet phldrT="[Текст]"/>
      <dgm:spPr/>
      <dgm:t>
        <a:bodyPr/>
        <a:lstStyle/>
        <a:p>
          <a:r>
            <a:rPr lang="ru-RU" dirty="0"/>
            <a:t>Оценка адекватности модели на предмет минимальной стоимости легирования</a:t>
          </a:r>
        </a:p>
      </dgm:t>
    </dgm:pt>
    <dgm:pt modelId="{0448630A-9119-4DF0-A24C-43DA93F0AA0C}" type="parTrans" cxnId="{EE907BAD-5F7F-4789-A547-3F63C83E4D56}">
      <dgm:prSet/>
      <dgm:spPr/>
      <dgm:t>
        <a:bodyPr/>
        <a:lstStyle/>
        <a:p>
          <a:endParaRPr lang="ru-RU"/>
        </a:p>
      </dgm:t>
    </dgm:pt>
    <dgm:pt modelId="{923EF073-0CA1-4156-BE29-709B8F2FC16E}" type="sibTrans" cxnId="{EE907BAD-5F7F-4789-A547-3F63C83E4D56}">
      <dgm:prSet/>
      <dgm:spPr/>
      <dgm:t>
        <a:bodyPr/>
        <a:lstStyle/>
        <a:p>
          <a:endParaRPr lang="ru-RU"/>
        </a:p>
      </dgm:t>
    </dgm:pt>
    <dgm:pt modelId="{2A4994A0-6620-4AE7-91F2-E0D3E30B8CB4}">
      <dgm:prSet/>
      <dgm:spPr/>
      <dgm:t>
        <a:bodyPr/>
        <a:lstStyle/>
        <a:p>
          <a:endParaRPr lang="ru-RU" dirty="0"/>
        </a:p>
      </dgm:t>
    </dgm:pt>
    <dgm:pt modelId="{85DD55D9-9A72-4505-81B4-927BF7036DCD}" type="parTrans" cxnId="{E47F09E0-1530-45A5-BA81-BD49F267F32B}">
      <dgm:prSet/>
      <dgm:spPr/>
      <dgm:t>
        <a:bodyPr/>
        <a:lstStyle/>
        <a:p>
          <a:endParaRPr lang="ru-RU"/>
        </a:p>
      </dgm:t>
    </dgm:pt>
    <dgm:pt modelId="{9DCE0D3A-A8FA-43E9-990E-3F4823A214D9}" type="sibTrans" cxnId="{E47F09E0-1530-45A5-BA81-BD49F267F32B}">
      <dgm:prSet/>
      <dgm:spPr/>
      <dgm:t>
        <a:bodyPr/>
        <a:lstStyle/>
        <a:p>
          <a:endParaRPr lang="ru-RU"/>
        </a:p>
      </dgm:t>
    </dgm:pt>
    <dgm:pt modelId="{8E4F556A-B353-4186-9458-994866B4E72C}">
      <dgm:prSet/>
      <dgm:spPr/>
      <dgm:t>
        <a:bodyPr/>
        <a:lstStyle/>
        <a:p>
          <a:r>
            <a:rPr lang="ru-RU" dirty="0"/>
            <a:t>Оценка данного показателя проводилась путем сравнения стоимости легирования плавки сталеваром с рекомендацией калькулятора на ту же пробу химического анализа. </a:t>
          </a:r>
        </a:p>
      </dgm:t>
    </dgm:pt>
    <dgm:pt modelId="{75A1A6FA-53DB-4B5E-A92F-7750E6CE5E0E}" type="parTrans" cxnId="{3E057BF8-6E70-489A-8D4D-07512DDBDE7A}">
      <dgm:prSet/>
      <dgm:spPr/>
      <dgm:t>
        <a:bodyPr/>
        <a:lstStyle/>
        <a:p>
          <a:endParaRPr lang="ru-RU"/>
        </a:p>
      </dgm:t>
    </dgm:pt>
    <dgm:pt modelId="{B9917F76-340D-4EF3-AA97-29CB9A172589}" type="sibTrans" cxnId="{3E057BF8-6E70-489A-8D4D-07512DDBDE7A}">
      <dgm:prSet/>
      <dgm:spPr/>
      <dgm:t>
        <a:bodyPr/>
        <a:lstStyle/>
        <a:p>
          <a:endParaRPr lang="ru-RU"/>
        </a:p>
      </dgm:t>
    </dgm:pt>
    <dgm:pt modelId="{03B22072-E563-4ECB-9A0B-ABBFF6FE1B75}" type="pres">
      <dgm:prSet presAssocID="{B03EFFA0-FF48-485D-B573-6C24CDEAD70D}" presName="Name0" presStyleCnt="0">
        <dgm:presLayoutVars>
          <dgm:dir/>
          <dgm:animLvl val="lvl"/>
          <dgm:resizeHandles val="exact"/>
        </dgm:presLayoutVars>
      </dgm:prSet>
      <dgm:spPr/>
    </dgm:pt>
    <dgm:pt modelId="{BA9B4097-68E7-4906-83A5-8450660514BB}" type="pres">
      <dgm:prSet presAssocID="{8232C782-B47B-4F44-AAEB-C42FBAA95FB8}" presName="boxAndChildren" presStyleCnt="0"/>
      <dgm:spPr/>
    </dgm:pt>
    <dgm:pt modelId="{ACF1F228-3C94-41A0-BD76-4760571A98DD}" type="pres">
      <dgm:prSet presAssocID="{8232C782-B47B-4F44-AAEB-C42FBAA95FB8}" presName="parentTextBox" presStyleLbl="node1" presStyleIdx="0" presStyleCnt="2"/>
      <dgm:spPr/>
    </dgm:pt>
    <dgm:pt modelId="{55E2F07D-6343-41B9-BEB1-F5AD180A103F}" type="pres">
      <dgm:prSet presAssocID="{8232C782-B47B-4F44-AAEB-C42FBAA95FB8}" presName="entireBox" presStyleLbl="node1" presStyleIdx="0" presStyleCnt="2"/>
      <dgm:spPr/>
    </dgm:pt>
    <dgm:pt modelId="{83ECE8E9-9B4E-4F7B-AA1E-A67FFD670DA7}" type="pres">
      <dgm:prSet presAssocID="{8232C782-B47B-4F44-AAEB-C42FBAA95FB8}" presName="descendantBox" presStyleCnt="0"/>
      <dgm:spPr/>
    </dgm:pt>
    <dgm:pt modelId="{EB52344F-3579-434B-8B84-CDB172F1CA29}" type="pres">
      <dgm:prSet presAssocID="{2A4994A0-6620-4AE7-91F2-E0D3E30B8CB4}" presName="childTextBox" presStyleLbl="fgAccFollowNode1" presStyleIdx="0" presStyleCnt="3">
        <dgm:presLayoutVars>
          <dgm:bulletEnabled val="1"/>
        </dgm:presLayoutVars>
      </dgm:prSet>
      <dgm:spPr/>
    </dgm:pt>
    <dgm:pt modelId="{508ADB74-D297-4590-9BC4-6285FA85C9C3}" type="pres">
      <dgm:prSet presAssocID="{8E4F556A-B353-4186-9458-994866B4E72C}" presName="childTextBox" presStyleLbl="fgAccFollowNode1" presStyleIdx="1" presStyleCnt="3" custScaleX="2000000">
        <dgm:presLayoutVars>
          <dgm:bulletEnabled val="1"/>
        </dgm:presLayoutVars>
      </dgm:prSet>
      <dgm:spPr/>
    </dgm:pt>
    <dgm:pt modelId="{FCE7648D-7FFF-4F6E-BBFA-6DDCCD26F126}" type="pres">
      <dgm:prSet presAssocID="{5D06B655-CA2E-4E38-85A6-E650CE9D48AF}" presName="sp" presStyleCnt="0"/>
      <dgm:spPr/>
    </dgm:pt>
    <dgm:pt modelId="{46945C57-F4B9-4DA4-A0D5-7484505795E7}" type="pres">
      <dgm:prSet presAssocID="{1C33935E-12CF-41EB-95EC-E612C922119D}" presName="arrowAndChildren" presStyleCnt="0"/>
      <dgm:spPr/>
    </dgm:pt>
    <dgm:pt modelId="{5C621BC3-A015-4A6F-8D11-785A1747C39C}" type="pres">
      <dgm:prSet presAssocID="{1C33935E-12CF-41EB-95EC-E612C922119D}" presName="parentTextArrow" presStyleLbl="node1" presStyleIdx="0" presStyleCnt="2"/>
      <dgm:spPr/>
    </dgm:pt>
    <dgm:pt modelId="{E4B54A63-59B2-49F9-BF78-19BA74665D8C}" type="pres">
      <dgm:prSet presAssocID="{1C33935E-12CF-41EB-95EC-E612C922119D}" presName="arrow" presStyleLbl="node1" presStyleIdx="1" presStyleCnt="2"/>
      <dgm:spPr/>
    </dgm:pt>
    <dgm:pt modelId="{1AEBA2D2-125A-4D50-BF10-495C7AA787F0}" type="pres">
      <dgm:prSet presAssocID="{1C33935E-12CF-41EB-95EC-E612C922119D}" presName="descendantArrow" presStyleCnt="0"/>
      <dgm:spPr/>
    </dgm:pt>
    <dgm:pt modelId="{59939FBF-948D-4BF2-92BB-684BD61D07D8}" type="pres">
      <dgm:prSet presAssocID="{C6734D44-64D8-42A0-AA16-5FE66D05D6B7}" presName="childTextArrow" presStyleLbl="fgAccFollowNode1" presStyleIdx="2" presStyleCnt="3">
        <dgm:presLayoutVars>
          <dgm:bulletEnabled val="1"/>
        </dgm:presLayoutVars>
      </dgm:prSet>
      <dgm:spPr/>
    </dgm:pt>
  </dgm:ptLst>
  <dgm:cxnLst>
    <dgm:cxn modelId="{18C98A15-D64B-4B9F-B0F8-1A93F5C57298}" type="presOf" srcId="{8E4F556A-B353-4186-9458-994866B4E72C}" destId="{508ADB74-D297-4590-9BC4-6285FA85C9C3}" srcOrd="0" destOrd="0" presId="urn:microsoft.com/office/officeart/2005/8/layout/process4"/>
    <dgm:cxn modelId="{C7AD6938-D5F0-4257-96BD-0E59D3011BA6}" type="presOf" srcId="{2A4994A0-6620-4AE7-91F2-E0D3E30B8CB4}" destId="{EB52344F-3579-434B-8B84-CDB172F1CA29}" srcOrd="0" destOrd="0" presId="urn:microsoft.com/office/officeart/2005/8/layout/process4"/>
    <dgm:cxn modelId="{A8185241-3B6B-4387-8D85-A8F648949BF6}" type="presOf" srcId="{8232C782-B47B-4F44-AAEB-C42FBAA95FB8}" destId="{ACF1F228-3C94-41A0-BD76-4760571A98DD}" srcOrd="0" destOrd="0" presId="urn:microsoft.com/office/officeart/2005/8/layout/process4"/>
    <dgm:cxn modelId="{E62D1871-05DA-4592-B2E0-98D1E5239FAB}" type="presOf" srcId="{1C33935E-12CF-41EB-95EC-E612C922119D}" destId="{5C621BC3-A015-4A6F-8D11-785A1747C39C}" srcOrd="0" destOrd="0" presId="urn:microsoft.com/office/officeart/2005/8/layout/process4"/>
    <dgm:cxn modelId="{50117878-0485-4229-9BCE-FF0023623669}" type="presOf" srcId="{1C33935E-12CF-41EB-95EC-E612C922119D}" destId="{E4B54A63-59B2-49F9-BF78-19BA74665D8C}" srcOrd="1" destOrd="0" presId="urn:microsoft.com/office/officeart/2005/8/layout/process4"/>
    <dgm:cxn modelId="{D6E02E7E-A360-4FB2-A765-3CF4F4D477FE}" type="presOf" srcId="{8232C782-B47B-4F44-AAEB-C42FBAA95FB8}" destId="{55E2F07D-6343-41B9-BEB1-F5AD180A103F}" srcOrd="1" destOrd="0" presId="urn:microsoft.com/office/officeart/2005/8/layout/process4"/>
    <dgm:cxn modelId="{B039008D-DFBC-436C-A026-A8A1118F5B85}" srcId="{B03EFFA0-FF48-485D-B573-6C24CDEAD70D}" destId="{1C33935E-12CF-41EB-95EC-E612C922119D}" srcOrd="0" destOrd="0" parTransId="{3F601A20-3DF6-487A-B7D5-DB00495B2D76}" sibTransId="{5D06B655-CA2E-4E38-85A6-E650CE9D48AF}"/>
    <dgm:cxn modelId="{283B80A8-8562-418E-B6A3-93B7145A1F68}" type="presOf" srcId="{B03EFFA0-FF48-485D-B573-6C24CDEAD70D}" destId="{03B22072-E563-4ECB-9A0B-ABBFF6FE1B75}" srcOrd="0" destOrd="0" presId="urn:microsoft.com/office/officeart/2005/8/layout/process4"/>
    <dgm:cxn modelId="{EE907BAD-5F7F-4789-A547-3F63C83E4D56}" srcId="{B03EFFA0-FF48-485D-B573-6C24CDEAD70D}" destId="{8232C782-B47B-4F44-AAEB-C42FBAA95FB8}" srcOrd="1" destOrd="0" parTransId="{0448630A-9119-4DF0-A24C-43DA93F0AA0C}" sibTransId="{923EF073-0CA1-4156-BE29-709B8F2FC16E}"/>
    <dgm:cxn modelId="{2B5EDFD7-AF44-43C3-B17C-E17DD2F2144D}" type="presOf" srcId="{C6734D44-64D8-42A0-AA16-5FE66D05D6B7}" destId="{59939FBF-948D-4BF2-92BB-684BD61D07D8}" srcOrd="0" destOrd="0" presId="urn:microsoft.com/office/officeart/2005/8/layout/process4"/>
    <dgm:cxn modelId="{E47F09E0-1530-45A5-BA81-BD49F267F32B}" srcId="{8232C782-B47B-4F44-AAEB-C42FBAA95FB8}" destId="{2A4994A0-6620-4AE7-91F2-E0D3E30B8CB4}" srcOrd="0" destOrd="0" parTransId="{85DD55D9-9A72-4505-81B4-927BF7036DCD}" sibTransId="{9DCE0D3A-A8FA-43E9-990E-3F4823A214D9}"/>
    <dgm:cxn modelId="{657157E4-3EEB-4A67-8A34-FEF19B7AE4C7}" srcId="{1C33935E-12CF-41EB-95EC-E612C922119D}" destId="{C6734D44-64D8-42A0-AA16-5FE66D05D6B7}" srcOrd="0" destOrd="0" parTransId="{FC6FEFB0-988D-461A-9433-6F299B6039F3}" sibTransId="{92B18824-D2A2-4B38-BAD3-0F0BA3EC8AFA}"/>
    <dgm:cxn modelId="{3E057BF8-6E70-489A-8D4D-07512DDBDE7A}" srcId="{8232C782-B47B-4F44-AAEB-C42FBAA95FB8}" destId="{8E4F556A-B353-4186-9458-994866B4E72C}" srcOrd="1" destOrd="0" parTransId="{75A1A6FA-53DB-4B5E-A92F-7750E6CE5E0E}" sibTransId="{B9917F76-340D-4EF3-AA97-29CB9A172589}"/>
    <dgm:cxn modelId="{C2605E31-3DCF-45A3-A8BC-6925A0895545}" type="presParOf" srcId="{03B22072-E563-4ECB-9A0B-ABBFF6FE1B75}" destId="{BA9B4097-68E7-4906-83A5-8450660514BB}" srcOrd="0" destOrd="0" presId="urn:microsoft.com/office/officeart/2005/8/layout/process4"/>
    <dgm:cxn modelId="{D0D8F825-ECB0-4564-BAEB-DB2F5AE93812}" type="presParOf" srcId="{BA9B4097-68E7-4906-83A5-8450660514BB}" destId="{ACF1F228-3C94-41A0-BD76-4760571A98DD}" srcOrd="0" destOrd="0" presId="urn:microsoft.com/office/officeart/2005/8/layout/process4"/>
    <dgm:cxn modelId="{B3083A46-05C8-40E3-96E2-C5E63C24C7D5}" type="presParOf" srcId="{BA9B4097-68E7-4906-83A5-8450660514BB}" destId="{55E2F07D-6343-41B9-BEB1-F5AD180A103F}" srcOrd="1" destOrd="0" presId="urn:microsoft.com/office/officeart/2005/8/layout/process4"/>
    <dgm:cxn modelId="{B9A189E4-AB14-4FB0-9B33-905FBAFEB8FC}" type="presParOf" srcId="{BA9B4097-68E7-4906-83A5-8450660514BB}" destId="{83ECE8E9-9B4E-4F7B-AA1E-A67FFD670DA7}" srcOrd="2" destOrd="0" presId="urn:microsoft.com/office/officeart/2005/8/layout/process4"/>
    <dgm:cxn modelId="{0B292BB9-44D4-40AD-AB67-7AFCF331AA0D}" type="presParOf" srcId="{83ECE8E9-9B4E-4F7B-AA1E-A67FFD670DA7}" destId="{EB52344F-3579-434B-8B84-CDB172F1CA29}" srcOrd="0" destOrd="0" presId="urn:microsoft.com/office/officeart/2005/8/layout/process4"/>
    <dgm:cxn modelId="{C50695E4-246D-4B55-A975-D3D8E541D142}" type="presParOf" srcId="{83ECE8E9-9B4E-4F7B-AA1E-A67FFD670DA7}" destId="{508ADB74-D297-4590-9BC4-6285FA85C9C3}" srcOrd="1" destOrd="0" presId="urn:microsoft.com/office/officeart/2005/8/layout/process4"/>
    <dgm:cxn modelId="{0594A25A-74AB-4314-AF7B-D5086391670F}" type="presParOf" srcId="{03B22072-E563-4ECB-9A0B-ABBFF6FE1B75}" destId="{FCE7648D-7FFF-4F6E-BBFA-6DDCCD26F126}" srcOrd="1" destOrd="0" presId="urn:microsoft.com/office/officeart/2005/8/layout/process4"/>
    <dgm:cxn modelId="{CD67F9CA-FD11-4E07-B9B9-44B0110EA0AA}" type="presParOf" srcId="{03B22072-E563-4ECB-9A0B-ABBFF6FE1B75}" destId="{46945C57-F4B9-4DA4-A0D5-7484505795E7}" srcOrd="2" destOrd="0" presId="urn:microsoft.com/office/officeart/2005/8/layout/process4"/>
    <dgm:cxn modelId="{5592F832-6966-4515-9B98-0D9884B9E8AA}" type="presParOf" srcId="{46945C57-F4B9-4DA4-A0D5-7484505795E7}" destId="{5C621BC3-A015-4A6F-8D11-785A1747C39C}" srcOrd="0" destOrd="0" presId="urn:microsoft.com/office/officeart/2005/8/layout/process4"/>
    <dgm:cxn modelId="{C03405BC-B383-44B3-AE64-D5CABE74E60A}" type="presParOf" srcId="{46945C57-F4B9-4DA4-A0D5-7484505795E7}" destId="{E4B54A63-59B2-49F9-BF78-19BA74665D8C}" srcOrd="1" destOrd="0" presId="urn:microsoft.com/office/officeart/2005/8/layout/process4"/>
    <dgm:cxn modelId="{5A000E0C-3858-4CCA-AA2F-A2A609B08800}" type="presParOf" srcId="{46945C57-F4B9-4DA4-A0D5-7484505795E7}" destId="{1AEBA2D2-125A-4D50-BF10-495C7AA787F0}" srcOrd="2" destOrd="0" presId="urn:microsoft.com/office/officeart/2005/8/layout/process4"/>
    <dgm:cxn modelId="{E703D260-3B8F-4FB1-A80F-D99F99E554EA}" type="presParOf" srcId="{1AEBA2D2-125A-4D50-BF10-495C7AA787F0}" destId="{59939FBF-948D-4BF2-92BB-684BD61D07D8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251DFA-2954-4808-BB4E-4BAB7689A64A}">
      <dsp:nvSpPr>
        <dsp:cNvPr id="0" name=""/>
        <dsp:cNvSpPr/>
      </dsp:nvSpPr>
      <dsp:spPr>
        <a:xfrm>
          <a:off x="3688" y="26672"/>
          <a:ext cx="3596599" cy="777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Алгоритмы, выполняющие математические вычисления</a:t>
          </a:r>
        </a:p>
      </dsp:txBody>
      <dsp:txXfrm>
        <a:off x="3688" y="26672"/>
        <a:ext cx="3596599" cy="777600"/>
      </dsp:txXfrm>
    </dsp:sp>
    <dsp:sp modelId="{C65A733D-3747-4221-8F95-63E3F0D1715F}">
      <dsp:nvSpPr>
        <dsp:cNvPr id="0" name=""/>
        <dsp:cNvSpPr/>
      </dsp:nvSpPr>
      <dsp:spPr>
        <a:xfrm>
          <a:off x="3688" y="804272"/>
          <a:ext cx="3596599" cy="2610237"/>
        </a:xfrm>
        <a:prstGeom prst="rect">
          <a:avLst/>
        </a:prstGeom>
        <a:solidFill>
          <a:schemeClr val="lt1"/>
        </a:solidFill>
        <a:ln w="10795" cap="flat" cmpd="sng" algn="ctr">
          <a:solidFill>
            <a:schemeClr val="accent2"/>
          </a:solidFill>
          <a:prstDash val="solid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0" lvl="1" indent="0" algn="l" defTabSz="0">
            <a:lnSpc>
              <a:spcPct val="150000"/>
            </a:lnSpc>
            <a:spcBef>
              <a:spcPct val="0"/>
            </a:spcBef>
            <a:spcAft>
              <a:spcPts val="0"/>
            </a:spcAft>
            <a:buClr>
              <a:srgbClr val="92D050"/>
            </a:buClr>
            <a:buSzPct val="120000"/>
            <a:buFont typeface="Wingdings" panose="05000000000000000000" pitchFamily="2" charset="2"/>
            <a:buNone/>
            <a:tabLst/>
          </a:pPr>
          <a:r>
            <a:rPr lang="ru-RU" sz="1400" kern="1200" dirty="0"/>
            <a:t>простота реализации и коррекции</a:t>
          </a:r>
        </a:p>
        <a:p>
          <a:pPr marL="0" lvl="1" indent="0" algn="l" defTabSz="0">
            <a:lnSpc>
              <a:spcPct val="150000"/>
            </a:lnSpc>
            <a:spcBef>
              <a:spcPct val="0"/>
            </a:spcBef>
            <a:spcAft>
              <a:spcPts val="0"/>
            </a:spcAft>
            <a:buClr>
              <a:srgbClr val="92D050"/>
            </a:buClr>
            <a:buSzPct val="120000"/>
            <a:buFont typeface="Wingdings" panose="05000000000000000000" pitchFamily="2" charset="2"/>
            <a:buChar char="ü"/>
            <a:tabLst/>
          </a:pPr>
          <a:r>
            <a:rPr lang="ru-RU" sz="1400" kern="1200" dirty="0"/>
            <a:t>низкие требования к характеристикам ЭВМ</a:t>
          </a:r>
        </a:p>
        <a:p>
          <a:pPr marL="0" lvl="1" indent="0" algn="l" defTabSz="0">
            <a:lnSpc>
              <a:spcPct val="150000"/>
            </a:lnSpc>
            <a:spcBef>
              <a:spcPct val="0"/>
            </a:spcBef>
            <a:spcAft>
              <a:spcPts val="0"/>
            </a:spcAft>
            <a:buClr>
              <a:schemeClr val="accent1"/>
            </a:buClr>
            <a:buSzPct val="120000"/>
            <a:buFont typeface="Wingdings" panose="05000000000000000000" pitchFamily="2" charset="2"/>
            <a:buChar char="v"/>
            <a:tabLst/>
          </a:pPr>
          <a:r>
            <a:rPr lang="ru-RU" sz="1400" kern="1200" dirty="0"/>
            <a:t>не могут использоваться для оптимального решения</a:t>
          </a:r>
        </a:p>
      </dsp:txBody>
      <dsp:txXfrm>
        <a:off x="3688" y="804272"/>
        <a:ext cx="3596599" cy="2610237"/>
      </dsp:txXfrm>
    </dsp:sp>
    <dsp:sp modelId="{C2D81240-AF4A-49AE-84A3-D0F0E0479B1D}">
      <dsp:nvSpPr>
        <dsp:cNvPr id="0" name=""/>
        <dsp:cNvSpPr/>
      </dsp:nvSpPr>
      <dsp:spPr>
        <a:xfrm>
          <a:off x="4103811" y="26672"/>
          <a:ext cx="3596599" cy="777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Методы и алгоритмы машинного обучения</a:t>
          </a:r>
        </a:p>
      </dsp:txBody>
      <dsp:txXfrm>
        <a:off x="4103811" y="26672"/>
        <a:ext cx="3596599" cy="777600"/>
      </dsp:txXfrm>
    </dsp:sp>
    <dsp:sp modelId="{E0C8456D-1889-437C-A22A-4A106EB34355}">
      <dsp:nvSpPr>
        <dsp:cNvPr id="0" name=""/>
        <dsp:cNvSpPr/>
      </dsp:nvSpPr>
      <dsp:spPr>
        <a:xfrm>
          <a:off x="4103811" y="804272"/>
          <a:ext cx="3596599" cy="2610237"/>
        </a:xfrm>
        <a:prstGeom prst="rect">
          <a:avLst/>
        </a:prstGeom>
        <a:solidFill>
          <a:schemeClr val="lt1"/>
        </a:solidFill>
        <a:ln w="10795" cap="flat" cmpd="sng" algn="ctr">
          <a:solidFill>
            <a:schemeClr val="accent2"/>
          </a:solidFill>
          <a:prstDash val="solid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0" lvl="1" indent="0" algn="l" defTabSz="0">
            <a:lnSpc>
              <a:spcPct val="150000"/>
            </a:lnSpc>
            <a:spcBef>
              <a:spcPct val="0"/>
            </a:spcBef>
            <a:spcAft>
              <a:spcPts val="0"/>
            </a:spcAft>
            <a:buClr>
              <a:srgbClr val="92D050"/>
            </a:buClr>
            <a:buSzPct val="120000"/>
            <a:buFont typeface="Wingdings" panose="05000000000000000000" pitchFamily="2" charset="2"/>
            <a:buChar char="ü"/>
          </a:pPr>
          <a:r>
            <a:rPr lang="ru-RU" sz="1400" kern="1200" dirty="0"/>
            <a:t>гибкая подстройка модели к конкретным факторам производства</a:t>
          </a:r>
        </a:p>
        <a:p>
          <a:pPr marL="0" lvl="1" indent="0" algn="l" defTabSz="0">
            <a:lnSpc>
              <a:spcPct val="150000"/>
            </a:lnSpc>
            <a:spcBef>
              <a:spcPct val="0"/>
            </a:spcBef>
            <a:spcAft>
              <a:spcPts val="0"/>
            </a:spcAft>
            <a:buClr>
              <a:srgbClr val="92D050"/>
            </a:buClr>
            <a:buSzPct val="120000"/>
            <a:buFont typeface="Wingdings" panose="05000000000000000000" pitchFamily="2" charset="2"/>
            <a:buChar char="ü"/>
          </a:pPr>
          <a:r>
            <a:rPr lang="ru-RU" sz="1400" kern="1200" dirty="0"/>
            <a:t>возможность наладки процесса самостоятельного переобучения</a:t>
          </a:r>
        </a:p>
        <a:p>
          <a:pPr marL="0" lvl="1" indent="0" algn="l" defTabSz="0">
            <a:lnSpc>
              <a:spcPct val="150000"/>
            </a:lnSpc>
            <a:spcBef>
              <a:spcPct val="0"/>
            </a:spcBef>
            <a:spcAft>
              <a:spcPts val="0"/>
            </a:spcAft>
            <a:buClr>
              <a:srgbClr val="FF0000"/>
            </a:buClr>
            <a:buSzPct val="120000"/>
            <a:buFont typeface="Wingdings" panose="05000000000000000000" pitchFamily="2" charset="2"/>
            <a:buChar char="v"/>
          </a:pPr>
          <a:r>
            <a:rPr lang="ru-RU" sz="1400" kern="1200" dirty="0"/>
            <a:t>не позволяет найти глобальное оптимальное решение задачи</a:t>
          </a:r>
        </a:p>
        <a:p>
          <a:pPr marL="0" lvl="1" indent="0" algn="l" defTabSz="0">
            <a:lnSpc>
              <a:spcPct val="150000"/>
            </a:lnSpc>
            <a:spcBef>
              <a:spcPct val="0"/>
            </a:spcBef>
            <a:spcAft>
              <a:spcPts val="0"/>
            </a:spcAft>
            <a:buClr>
              <a:srgbClr val="FF0000"/>
            </a:buClr>
            <a:buSzPct val="120000"/>
            <a:buFont typeface="Wingdings" panose="05000000000000000000" pitchFamily="2" charset="2"/>
            <a:buChar char="v"/>
          </a:pPr>
          <a:r>
            <a:rPr lang="ru-RU" sz="1400" kern="1200" dirty="0"/>
            <a:t>сложность корректировки работы программы и калибровки модели</a:t>
          </a:r>
        </a:p>
      </dsp:txBody>
      <dsp:txXfrm>
        <a:off x="4103811" y="804272"/>
        <a:ext cx="3596599" cy="2610237"/>
      </dsp:txXfrm>
    </dsp:sp>
    <dsp:sp modelId="{E92F9BE1-56C5-45E0-89D0-47AC61C01467}">
      <dsp:nvSpPr>
        <dsp:cNvPr id="0" name=""/>
        <dsp:cNvSpPr/>
      </dsp:nvSpPr>
      <dsp:spPr>
        <a:xfrm>
          <a:off x="8203934" y="26672"/>
          <a:ext cx="3596599" cy="777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Методы и алгоритмы оптимизации</a:t>
          </a:r>
        </a:p>
      </dsp:txBody>
      <dsp:txXfrm>
        <a:off x="8203934" y="26672"/>
        <a:ext cx="3596599" cy="777600"/>
      </dsp:txXfrm>
    </dsp:sp>
    <dsp:sp modelId="{B2B5B399-4C2A-4CD9-9CC1-E4DDD062E4BC}">
      <dsp:nvSpPr>
        <dsp:cNvPr id="0" name=""/>
        <dsp:cNvSpPr/>
      </dsp:nvSpPr>
      <dsp:spPr>
        <a:xfrm>
          <a:off x="8203934" y="804272"/>
          <a:ext cx="3596599" cy="2610237"/>
        </a:xfrm>
        <a:prstGeom prst="rect">
          <a:avLst/>
        </a:prstGeom>
        <a:solidFill>
          <a:schemeClr val="lt1"/>
        </a:solidFill>
        <a:ln w="10795" cap="flat" cmpd="sng" algn="ctr">
          <a:solidFill>
            <a:schemeClr val="accent2"/>
          </a:solidFill>
          <a:prstDash val="solid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0" lvl="1" indent="0" algn="l" defTabSz="622300">
            <a:lnSpc>
              <a:spcPct val="150000"/>
            </a:lnSpc>
            <a:spcBef>
              <a:spcPct val="0"/>
            </a:spcBef>
            <a:spcAft>
              <a:spcPts val="0"/>
            </a:spcAft>
            <a:buClr>
              <a:srgbClr val="92D050"/>
            </a:buClr>
            <a:buSzPct val="120000"/>
            <a:buFont typeface="Wingdings" panose="05000000000000000000" pitchFamily="2" charset="2"/>
            <a:buChar char="ü"/>
          </a:pPr>
          <a:r>
            <a:rPr lang="ru-RU" sz="1400" kern="1200" dirty="0"/>
            <a:t>возможность нахождения глобального оптимума</a:t>
          </a:r>
        </a:p>
        <a:p>
          <a:pPr marL="0" lvl="1" indent="0" algn="l" defTabSz="622300">
            <a:lnSpc>
              <a:spcPct val="150000"/>
            </a:lnSpc>
            <a:spcBef>
              <a:spcPct val="0"/>
            </a:spcBef>
            <a:spcAft>
              <a:spcPts val="0"/>
            </a:spcAft>
            <a:buClr>
              <a:srgbClr val="92D050"/>
            </a:buClr>
            <a:buSzPct val="120000"/>
            <a:buFont typeface="Wingdings" panose="05000000000000000000" pitchFamily="2" charset="2"/>
            <a:buChar char="ü"/>
          </a:pPr>
          <a:r>
            <a:rPr lang="ru-RU" sz="1400" kern="1200" dirty="0"/>
            <a:t>простоту корректировки программы под технологические процессы</a:t>
          </a:r>
        </a:p>
        <a:p>
          <a:pPr marL="0" lvl="1" indent="0" algn="l" defTabSz="622300">
            <a:lnSpc>
              <a:spcPct val="150000"/>
            </a:lnSpc>
            <a:spcBef>
              <a:spcPct val="0"/>
            </a:spcBef>
            <a:spcAft>
              <a:spcPts val="0"/>
            </a:spcAft>
            <a:buClr>
              <a:srgbClr val="FF0000"/>
            </a:buClr>
            <a:buSzPct val="120000"/>
            <a:buFont typeface="Wingdings" panose="05000000000000000000" pitchFamily="2" charset="2"/>
            <a:buChar char="v"/>
          </a:pPr>
          <a:r>
            <a:rPr lang="ru-RU" sz="1400" kern="1200" dirty="0"/>
            <a:t>невозможность модели самостоятельно переобучаться, любые изменения в технологии заносятся вручную</a:t>
          </a:r>
        </a:p>
      </dsp:txBody>
      <dsp:txXfrm>
        <a:off x="8203934" y="804272"/>
        <a:ext cx="3596599" cy="261023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BABC4F-6BAB-41A8-9DC0-6B91E1019383}">
      <dsp:nvSpPr>
        <dsp:cNvPr id="0" name=""/>
        <dsp:cNvSpPr/>
      </dsp:nvSpPr>
      <dsp:spPr>
        <a:xfrm>
          <a:off x="156356" y="718333"/>
          <a:ext cx="3597542" cy="1124231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148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15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ru-RU" sz="1200" kern="1200" dirty="0"/>
            <a:t>Сбор, обработка и хранение данных, полученных от модели и смежных АСУ ТП.</a:t>
          </a:r>
        </a:p>
      </dsp:txBody>
      <dsp:txXfrm>
        <a:off x="156356" y="718333"/>
        <a:ext cx="3597542" cy="1124231"/>
      </dsp:txXfrm>
    </dsp:sp>
    <dsp:sp modelId="{3DD317AF-CB81-48B9-805B-6AC43EAB03F3}">
      <dsp:nvSpPr>
        <dsp:cNvPr id="0" name=""/>
        <dsp:cNvSpPr/>
      </dsp:nvSpPr>
      <dsp:spPr>
        <a:xfrm>
          <a:off x="6458" y="555944"/>
          <a:ext cx="786962" cy="118044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l="-25000" r="-25000"/>
          </a:stretch>
        </a:blip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2C7916-6F37-44FB-90F7-B52166C58420}">
      <dsp:nvSpPr>
        <dsp:cNvPr id="0" name=""/>
        <dsp:cNvSpPr/>
      </dsp:nvSpPr>
      <dsp:spPr>
        <a:xfrm>
          <a:off x="4072821" y="718333"/>
          <a:ext cx="3597542" cy="1124231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148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15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ru-RU" sz="1200" kern="1200" dirty="0"/>
            <a:t>Мониторинг целевого химического состава и проб химического состава в режиме реального времени.</a:t>
          </a:r>
        </a:p>
      </dsp:txBody>
      <dsp:txXfrm>
        <a:off x="4072821" y="718333"/>
        <a:ext cx="3597542" cy="1124231"/>
      </dsp:txXfrm>
    </dsp:sp>
    <dsp:sp modelId="{A0868F02-76B6-45D5-9D6F-FEBC2DBB881B}">
      <dsp:nvSpPr>
        <dsp:cNvPr id="0" name=""/>
        <dsp:cNvSpPr/>
      </dsp:nvSpPr>
      <dsp:spPr>
        <a:xfrm>
          <a:off x="3922924" y="555944"/>
          <a:ext cx="786962" cy="118044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 l="-25000" r="-25000"/>
          </a:stretch>
        </a:blip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127CB7-30CA-4E9C-A886-06F6D3B44E40}">
      <dsp:nvSpPr>
        <dsp:cNvPr id="0" name=""/>
        <dsp:cNvSpPr/>
      </dsp:nvSpPr>
      <dsp:spPr>
        <a:xfrm>
          <a:off x="7989287" y="718333"/>
          <a:ext cx="3597542" cy="1124231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148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15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ru-RU" sz="1200" kern="1200" dirty="0"/>
            <a:t>Расчет навески легирующих материалов на всех переделах плавки.</a:t>
          </a:r>
        </a:p>
      </dsp:txBody>
      <dsp:txXfrm>
        <a:off x="7989287" y="718333"/>
        <a:ext cx="3597542" cy="1124231"/>
      </dsp:txXfrm>
    </dsp:sp>
    <dsp:sp modelId="{F9B447EF-312A-41DE-9C07-2216A26D6EE8}">
      <dsp:nvSpPr>
        <dsp:cNvPr id="0" name=""/>
        <dsp:cNvSpPr/>
      </dsp:nvSpPr>
      <dsp:spPr>
        <a:xfrm>
          <a:off x="7839389" y="555944"/>
          <a:ext cx="786962" cy="118044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 l="-25000" r="-25000"/>
          </a:stretch>
        </a:blip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2D24CE-EB7B-417B-8578-E1E0A02F2FA1}">
      <dsp:nvSpPr>
        <dsp:cNvPr id="0" name=""/>
        <dsp:cNvSpPr/>
      </dsp:nvSpPr>
      <dsp:spPr>
        <a:xfrm>
          <a:off x="156356" y="2133616"/>
          <a:ext cx="3597542" cy="1124231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148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15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ru-RU" sz="1200" kern="1200" dirty="0"/>
            <a:t>Сбор информации о наличии легирующих материалов и их ценах.</a:t>
          </a:r>
        </a:p>
      </dsp:txBody>
      <dsp:txXfrm>
        <a:off x="156356" y="2133616"/>
        <a:ext cx="3597542" cy="1124231"/>
      </dsp:txXfrm>
    </dsp:sp>
    <dsp:sp modelId="{8C20F720-D001-4F96-A665-91558C850115}">
      <dsp:nvSpPr>
        <dsp:cNvPr id="0" name=""/>
        <dsp:cNvSpPr/>
      </dsp:nvSpPr>
      <dsp:spPr>
        <a:xfrm>
          <a:off x="6458" y="1971227"/>
          <a:ext cx="786962" cy="118044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 l="-25000" r="-25000"/>
          </a:stretch>
        </a:blip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A94C93-6B91-4637-B6EA-7A738B00B00A}">
      <dsp:nvSpPr>
        <dsp:cNvPr id="0" name=""/>
        <dsp:cNvSpPr/>
      </dsp:nvSpPr>
      <dsp:spPr>
        <a:xfrm>
          <a:off x="4072821" y="2133616"/>
          <a:ext cx="3597542" cy="1124231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148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15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ru-RU" sz="1200" kern="1200" dirty="0"/>
            <a:t>Сохранение рекомендаций модели и сопутствующих технологических параметрах плавки.</a:t>
          </a:r>
        </a:p>
      </dsp:txBody>
      <dsp:txXfrm>
        <a:off x="4072821" y="2133616"/>
        <a:ext cx="3597542" cy="1124231"/>
      </dsp:txXfrm>
    </dsp:sp>
    <dsp:sp modelId="{A87B3263-5B40-4625-9AC6-18FE705E7035}">
      <dsp:nvSpPr>
        <dsp:cNvPr id="0" name=""/>
        <dsp:cNvSpPr/>
      </dsp:nvSpPr>
      <dsp:spPr>
        <a:xfrm>
          <a:off x="3922924" y="1971227"/>
          <a:ext cx="786962" cy="118044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 l="-25000" r="-25000"/>
          </a:stretch>
        </a:blip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C7BDD3-765D-49E9-9367-9E6D0727FA50}">
      <dsp:nvSpPr>
        <dsp:cNvPr id="0" name=""/>
        <dsp:cNvSpPr/>
      </dsp:nvSpPr>
      <dsp:spPr>
        <a:xfrm>
          <a:off x="7989287" y="2133616"/>
          <a:ext cx="3597542" cy="1124231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148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15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ru-RU" sz="1200" kern="1200" dirty="0"/>
            <a:t>Индикация отклонений контролируемых величин сверх допустимого диапазона значений.</a:t>
          </a:r>
        </a:p>
      </dsp:txBody>
      <dsp:txXfrm>
        <a:off x="7989287" y="2133616"/>
        <a:ext cx="3597542" cy="1124231"/>
      </dsp:txXfrm>
    </dsp:sp>
    <dsp:sp modelId="{643B50BB-BF3E-447B-88DE-4CC129731465}">
      <dsp:nvSpPr>
        <dsp:cNvPr id="0" name=""/>
        <dsp:cNvSpPr/>
      </dsp:nvSpPr>
      <dsp:spPr>
        <a:xfrm>
          <a:off x="7839389" y="1971227"/>
          <a:ext cx="786962" cy="1180443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 l="-25000" r="-25000"/>
          </a:stretch>
        </a:blip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5575D4-AFD9-4D44-9839-D77E37C8BA57}">
      <dsp:nvSpPr>
        <dsp:cNvPr id="0" name=""/>
        <dsp:cNvSpPr/>
      </dsp:nvSpPr>
      <dsp:spPr>
        <a:xfrm>
          <a:off x="156356" y="3548899"/>
          <a:ext cx="3597542" cy="1124231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148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15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ru-RU" sz="1200" kern="1200" dirty="0"/>
            <a:t>Расчет навески с учетом особенностей каждого из переделов (завалка легированного лома, выплавка, внепечная обработка стали).</a:t>
          </a:r>
        </a:p>
      </dsp:txBody>
      <dsp:txXfrm>
        <a:off x="156356" y="3548899"/>
        <a:ext cx="3597542" cy="1124231"/>
      </dsp:txXfrm>
    </dsp:sp>
    <dsp:sp modelId="{17E96644-27CF-4B17-A1D7-E693074E081E}">
      <dsp:nvSpPr>
        <dsp:cNvPr id="0" name=""/>
        <dsp:cNvSpPr/>
      </dsp:nvSpPr>
      <dsp:spPr>
        <a:xfrm>
          <a:off x="6458" y="3386510"/>
          <a:ext cx="786962" cy="1180443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 l="-25000" r="-25000"/>
          </a:stretch>
        </a:blip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BCF211-17E4-41AF-BEA7-5390D5339F8C}">
      <dsp:nvSpPr>
        <dsp:cNvPr id="0" name=""/>
        <dsp:cNvSpPr/>
      </dsp:nvSpPr>
      <dsp:spPr>
        <a:xfrm>
          <a:off x="4072821" y="3548899"/>
          <a:ext cx="3597542" cy="1124231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148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15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ru-RU" sz="1200" kern="1200" dirty="0"/>
            <a:t>Отображение данных на рабочие места пользователей в удобном для восприятия виде.</a:t>
          </a:r>
        </a:p>
      </dsp:txBody>
      <dsp:txXfrm>
        <a:off x="4072821" y="3548899"/>
        <a:ext cx="3597542" cy="1124231"/>
      </dsp:txXfrm>
    </dsp:sp>
    <dsp:sp modelId="{3E9544B8-95FD-4A45-AD54-8F97EC32BF46}">
      <dsp:nvSpPr>
        <dsp:cNvPr id="0" name=""/>
        <dsp:cNvSpPr/>
      </dsp:nvSpPr>
      <dsp:spPr>
        <a:xfrm>
          <a:off x="3922924" y="3386510"/>
          <a:ext cx="786962" cy="1180443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 l="-25000" r="-25000"/>
          </a:stretch>
        </a:blip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C8004F-4E02-4594-B5BB-F5CDF4F24D48}">
      <dsp:nvSpPr>
        <dsp:cNvPr id="0" name=""/>
        <dsp:cNvSpPr/>
      </dsp:nvSpPr>
      <dsp:spPr>
        <a:xfrm>
          <a:off x="7989287" y="3548899"/>
          <a:ext cx="3597542" cy="1124231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148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15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ru-RU" sz="1200" kern="1200" dirty="0"/>
            <a:t>Индикация выхода за пределы диапазона целевого химического состава.</a:t>
          </a:r>
        </a:p>
      </dsp:txBody>
      <dsp:txXfrm>
        <a:off x="7989287" y="3548899"/>
        <a:ext cx="3597542" cy="1124231"/>
      </dsp:txXfrm>
    </dsp:sp>
    <dsp:sp modelId="{E884C4C8-493C-4161-A868-24286F650C8D}">
      <dsp:nvSpPr>
        <dsp:cNvPr id="0" name=""/>
        <dsp:cNvSpPr/>
      </dsp:nvSpPr>
      <dsp:spPr>
        <a:xfrm>
          <a:off x="7839389" y="3386510"/>
          <a:ext cx="786962" cy="1180443"/>
        </a:xfrm>
        <a:prstGeom prst="rect">
          <a:avLst/>
        </a:prstGeom>
        <a:blipFill>
          <a:blip xmlns:r="http://schemas.openxmlformats.org/officeDocument/2006/relationships"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>
            <a:fillRect l="-25000" r="-25000"/>
          </a:stretch>
        </a:blip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E2F07D-6343-41B9-BEB1-F5AD180A103F}">
      <dsp:nvSpPr>
        <dsp:cNvPr id="0" name=""/>
        <dsp:cNvSpPr/>
      </dsp:nvSpPr>
      <dsp:spPr>
        <a:xfrm>
          <a:off x="0" y="2085442"/>
          <a:ext cx="11177152" cy="13682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kern="1200" dirty="0"/>
            <a:t>Оценка адекватности модели на предмет минимальной стоимости легирования</a:t>
          </a:r>
        </a:p>
      </dsp:txBody>
      <dsp:txXfrm>
        <a:off x="0" y="2085442"/>
        <a:ext cx="11177152" cy="738869"/>
      </dsp:txXfrm>
    </dsp:sp>
    <dsp:sp modelId="{EB52344F-3579-434B-8B84-CDB172F1CA29}">
      <dsp:nvSpPr>
        <dsp:cNvPr id="0" name=""/>
        <dsp:cNvSpPr/>
      </dsp:nvSpPr>
      <dsp:spPr>
        <a:xfrm>
          <a:off x="1364" y="2796946"/>
          <a:ext cx="532115" cy="62940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 dirty="0"/>
        </a:p>
      </dsp:txBody>
      <dsp:txXfrm>
        <a:off x="1364" y="2796946"/>
        <a:ext cx="532115" cy="629407"/>
      </dsp:txXfrm>
    </dsp:sp>
    <dsp:sp modelId="{508ADB74-D297-4590-9BC4-6285FA85C9C3}">
      <dsp:nvSpPr>
        <dsp:cNvPr id="0" name=""/>
        <dsp:cNvSpPr/>
      </dsp:nvSpPr>
      <dsp:spPr>
        <a:xfrm>
          <a:off x="533479" y="2796946"/>
          <a:ext cx="10642307" cy="62940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Оценка данного показателя проводилась путем сравнения стоимости легирования плавки сталеваром с рекомендацией калькулятора на ту же пробу химического анализа. </a:t>
          </a:r>
        </a:p>
      </dsp:txBody>
      <dsp:txXfrm>
        <a:off x="533479" y="2796946"/>
        <a:ext cx="10642307" cy="629407"/>
      </dsp:txXfrm>
    </dsp:sp>
    <dsp:sp modelId="{E4B54A63-59B2-49F9-BF78-19BA74665D8C}">
      <dsp:nvSpPr>
        <dsp:cNvPr id="0" name=""/>
        <dsp:cNvSpPr/>
      </dsp:nvSpPr>
      <dsp:spPr>
        <a:xfrm rot="10800000">
          <a:off x="0" y="1558"/>
          <a:ext cx="11177152" cy="2104408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kern="1200" dirty="0"/>
            <a:t>Оценка адекватности рекомендации по технологическим требованиям к плавке</a:t>
          </a:r>
        </a:p>
      </dsp:txBody>
      <dsp:txXfrm rot="-10800000">
        <a:off x="0" y="1558"/>
        <a:ext cx="11177152" cy="738647"/>
      </dsp:txXfrm>
    </dsp:sp>
    <dsp:sp modelId="{59939FBF-948D-4BF2-92BB-684BD61D07D8}">
      <dsp:nvSpPr>
        <dsp:cNvPr id="0" name=""/>
        <dsp:cNvSpPr/>
      </dsp:nvSpPr>
      <dsp:spPr>
        <a:xfrm>
          <a:off x="0" y="740205"/>
          <a:ext cx="11177152" cy="62921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Оценка адекватности рекомендации модели по технологическому параметру был рассмотрен ключевой параметр легирования — это попадания прогнозного значения в границы требуемого целевого химического состава плавки по элементам углерод, кремний и марганец. </a:t>
          </a:r>
        </a:p>
      </dsp:txBody>
      <dsp:txXfrm>
        <a:off x="0" y="740205"/>
        <a:ext cx="11177152" cy="6292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PictureStrips">
  <dgm:title val=""/>
  <dgm:desc val=""/>
  <dgm:catLst>
    <dgm:cat type="list" pri="12500"/>
    <dgm:cat type="picture" pri="13000"/>
    <dgm:cat type="pictureconvert" pri="13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  <dgm:cxn modelId="70" srcId="0" destId="40" srcOrd="2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0.1"/>
      <dgm:constr type="h" for="ch" forName="sibTrans" refType="h" refFor="ch" refForName="composite" op="equ" fact="0.1"/>
      <dgm:constr type="w" for="ch" forName="sibTrans" refType="h" refFor="ch" refForName="sibTrans" op="equ"/>
    </dgm:constrLst>
    <dgm:forEach name="nodesForEach" axis="ch" ptType="node">
      <dgm:layoutNode name="composite">
        <dgm:alg type="composite">
          <dgm:param type="ar" val="3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.04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if>
          <dgm:else name="Name6">
            <dgm:constrLst>
              <dgm:constr type="l" for="ch" forName="rect1" refType="w" fact="0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.79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else>
        </dgm:choose>
        <dgm:layoutNode name="rect1" styleLbl="trAlignAcc1">
          <dgm:varLst>
            <dgm:bulletEnabled val="1"/>
          </dgm:varLst>
          <dgm:alg type="tx">
            <dgm:param type="parTxLTRAlign" val="l"/>
          </dgm:alg>
          <dgm:shape xmlns:r="http://schemas.openxmlformats.org/officeDocument/2006/relationships" type="rect" r:blip="">
            <dgm:adjLst/>
          </dgm:shape>
          <dgm:presOf axis="desOrSelf" ptType="node"/>
          <dgm:choose name="Name7">
            <dgm:if name="Name8" func="var" arg="dir" op="equ" val="norm">
              <dgm:constrLst>
                <dgm:constr type="lMarg" refType="w" fact="0.6"/>
                <dgm:constr type="rMarg" refType="primFontSz" fact="0.3"/>
                <dgm:constr type="tMarg" refType="primFontSz" fact="0.3"/>
                <dgm:constr type="bMarg" refType="primFontSz" fact="0.3"/>
              </dgm:constrLst>
            </dgm:if>
            <dgm:else name="Name9">
              <dgm:constrLst>
                <dgm:constr type="lMarg" refType="primFontSz" fact="0.3"/>
                <dgm:constr type="rMarg" refType="w" fact="0.6"/>
                <dgm:constr type="tMarg" refType="primFontSz" fact="0.3"/>
                <dgm:constr type="bMarg" refType="primFontSz" fact="0.3"/>
              </dgm:constrLst>
            </dgm:else>
          </dgm:choose>
          <dgm:ruleLst>
            <dgm:rule type="primFontSz" val="5" fact="NaN" max="NaN"/>
          </dgm:ruleLst>
        </dgm:layoutNode>
        <dgm:layoutNode name="rect2" styleLbl="f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936F22CB-5295-49E4-BC49-2F6DD75BC9A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865A051-9A43-4B10-BF10-E8714F578A4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2367775-8B3F-4E2B-A716-DB83F6E443E7}" type="datetimeFigureOut">
              <a:rPr lang="ru-RU"/>
              <a:pPr>
                <a:defRPr/>
              </a:pPr>
              <a:t>15.06.2023</a:t>
            </a:fld>
            <a:endParaRPr lang="ru-RU"/>
          </a:p>
        </p:txBody>
      </p:sp>
      <p:sp>
        <p:nvSpPr>
          <p:cNvPr id="4" name="Образ слайда 3">
            <a:extLst>
              <a:ext uri="{FF2B5EF4-FFF2-40B4-BE49-F238E27FC236}">
                <a16:creationId xmlns:a16="http://schemas.microsoft.com/office/drawing/2014/main" id="{D3DD6F09-2700-408E-ACB2-F95DAE45FE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>
            <a:extLst>
              <a:ext uri="{FF2B5EF4-FFF2-40B4-BE49-F238E27FC236}">
                <a16:creationId xmlns:a16="http://schemas.microsoft.com/office/drawing/2014/main" id="{F8238FD7-20A8-4982-973E-498D7749D3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AC07878-B9A9-4BA7-89EC-F0F629BE88C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8589A29-DCC3-485F-A53C-3355A5464B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DFA81FEB-69AF-46D6-A073-E8EEE1EE3993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Образ слайда 1">
            <a:extLst>
              <a:ext uri="{FF2B5EF4-FFF2-40B4-BE49-F238E27FC236}">
                <a16:creationId xmlns:a16="http://schemas.microsoft.com/office/drawing/2014/main" id="{1B369B4A-C68F-4FBE-9747-8176EC0DB7C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22275" y="1241425"/>
            <a:ext cx="5953125" cy="33496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Заметки 2">
            <a:extLst>
              <a:ext uri="{FF2B5EF4-FFF2-40B4-BE49-F238E27FC236}">
                <a16:creationId xmlns:a16="http://schemas.microsoft.com/office/drawing/2014/main" id="{5B5C1B91-8E34-4F7D-9E74-567BA4F670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  <p:sp>
        <p:nvSpPr>
          <p:cNvPr id="5124" name="Номер слайда 3">
            <a:extLst>
              <a:ext uri="{FF2B5EF4-FFF2-40B4-BE49-F238E27FC236}">
                <a16:creationId xmlns:a16="http://schemas.microsoft.com/office/drawing/2014/main" id="{598D823B-EB85-4592-A77F-1363F1F6667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61A4BD31-0D75-4860-9AE3-B88C5ED8C738}" type="slidenum">
              <a:rPr lang="ru-RU" altLang="ru-RU"/>
              <a:pPr/>
              <a:t>2</a:t>
            </a:fld>
            <a:endParaRPr lang="ru-RU" alt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FA81FEB-69AF-46D6-A073-E8EEE1EE3993}" type="slidenum">
              <a:rPr lang="ru-RU" altLang="ru-RU" smtClean="0"/>
              <a:pPr>
                <a:defRPr/>
              </a:pPr>
              <a:t>10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336302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ьный слайд (заголовок)">
    <p:bg>
      <p:bgPr>
        <a:blipFill dpi="0" rotWithShape="1">
          <a:blip r:embed="rId2">
            <a:lum/>
          </a:blip>
          <a:srcRect/>
          <a:stretch>
            <a:fillRect r="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881962" y="3937687"/>
            <a:ext cx="6483181" cy="1458826"/>
          </a:xfrm>
        </p:spPr>
        <p:txBody>
          <a:bodyPr anchor="b">
            <a:noAutofit/>
          </a:bodyPr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1961" y="5395786"/>
            <a:ext cx="5368843" cy="1046205"/>
          </a:xfrm>
          <a:prstGeom prst="rect">
            <a:avLst/>
          </a:prstGeom>
          <a:noFill/>
        </p:spPr>
        <p:txBody>
          <a:bodyPr lIns="90000" tIns="46800" rIns="90000" bIns="46800" rtlCol="0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5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rtl="0"/>
            <a:r>
              <a:rPr lang="ru-RU" noProof="0"/>
              <a:t>Образец подзаголовка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803380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BE49053-AE4C-4BE4-9D8F-1222C9257F0E}" type="slidenum">
              <a:rPr lang="ru-RU" altLang="ru-RU" smtClean="0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7" name="Нижний колонтитул 6"/>
          <p:cNvSpPr>
            <a:spLocks noGrp="1"/>
          </p:cNvSpPr>
          <p:nvPr>
            <p:ph type="ftr" sz="quarter" idx="11"/>
          </p:nvPr>
        </p:nvSpPr>
        <p:spPr>
          <a:xfrm>
            <a:off x="527221" y="6356352"/>
            <a:ext cx="5997147" cy="365125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5114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Только заголовок 2">
    <p:bg>
      <p:bgPr>
        <a:blipFill dpi="0" rotWithShape="1">
          <a:blip r:embed="rId2">
            <a:lum/>
          </a:blip>
          <a:srcRect/>
          <a:stretch>
            <a:fillRect l="-2000" t="7000" r="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77B62C5-024A-43E1-98DC-96041F233C42}" type="slidenum">
              <a:rPr lang="ru-RU" altLang="ru-RU" smtClean="0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1980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одержимое 9"/>
          <p:cNvSpPr>
            <a:spLocks noGrp="1"/>
          </p:cNvSpPr>
          <p:nvPr>
            <p:ph sz="quarter" idx="13"/>
          </p:nvPr>
        </p:nvSpPr>
        <p:spPr>
          <a:xfrm>
            <a:off x="527223" y="1598613"/>
            <a:ext cx="11358391" cy="45307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77B62C5-024A-43E1-98DC-96041F233C42}" type="slidenum">
              <a:rPr lang="ru-RU" altLang="ru-RU" smtClean="0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7" name="Нижний колонтитул 6"/>
          <p:cNvSpPr>
            <a:spLocks noGrp="1"/>
          </p:cNvSpPr>
          <p:nvPr>
            <p:ph type="ftr" sz="quarter" idx="11"/>
          </p:nvPr>
        </p:nvSpPr>
        <p:spPr>
          <a:xfrm>
            <a:off x="527221" y="6356352"/>
            <a:ext cx="5997147" cy="365125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4968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объект 2">
    <p:bg>
      <p:bgPr>
        <a:blipFill dpi="0" rotWithShape="1">
          <a:blip r:embed="rId2">
            <a:lum/>
          </a:blip>
          <a:srcRect/>
          <a:stretch>
            <a:fillRect l="-2000" t="7000" r="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77B62C5-024A-43E1-98DC-96041F233C42}" type="slidenum">
              <a:rPr lang="ru-RU" altLang="ru-RU" smtClean="0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527221" y="6356352"/>
            <a:ext cx="5997147" cy="365125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Содержимое 9"/>
          <p:cNvSpPr>
            <a:spLocks noGrp="1"/>
          </p:cNvSpPr>
          <p:nvPr>
            <p:ph sz="quarter" idx="13"/>
          </p:nvPr>
        </p:nvSpPr>
        <p:spPr>
          <a:xfrm>
            <a:off x="527222" y="1598613"/>
            <a:ext cx="11358391" cy="45307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00043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77B62C5-024A-43E1-98DC-96041F233C42}" type="slidenum">
              <a:rPr lang="ru-RU" altLang="ru-RU" smtClean="0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7" name="Нижний колонтитул 6"/>
          <p:cNvSpPr>
            <a:spLocks noGrp="1"/>
          </p:cNvSpPr>
          <p:nvPr>
            <p:ph type="ftr" sz="quarter" idx="11"/>
          </p:nvPr>
        </p:nvSpPr>
        <p:spPr>
          <a:xfrm>
            <a:off x="527221" y="6356352"/>
            <a:ext cx="5997147" cy="365125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8" name="Содержимое 9"/>
          <p:cNvSpPr>
            <a:spLocks noGrp="1"/>
          </p:cNvSpPr>
          <p:nvPr>
            <p:ph sz="quarter" idx="13"/>
          </p:nvPr>
        </p:nvSpPr>
        <p:spPr>
          <a:xfrm>
            <a:off x="527221" y="1594496"/>
            <a:ext cx="5609968" cy="45307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9" name="Содержимое 9"/>
          <p:cNvSpPr>
            <a:spLocks noGrp="1"/>
          </p:cNvSpPr>
          <p:nvPr>
            <p:ph sz="quarter" idx="14"/>
          </p:nvPr>
        </p:nvSpPr>
        <p:spPr>
          <a:xfrm>
            <a:off x="6275645" y="1594496"/>
            <a:ext cx="5609968" cy="45307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4213597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Два объекта 2">
    <p:bg>
      <p:bgPr>
        <a:blipFill dpi="0" rotWithShape="1">
          <a:blip r:embed="rId2">
            <a:lum/>
          </a:blip>
          <a:srcRect/>
          <a:stretch>
            <a:fillRect l="-2000" t="7000" r="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77B62C5-024A-43E1-98DC-96041F233C42}" type="slidenum">
              <a:rPr lang="ru-RU" altLang="ru-RU" smtClean="0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527221" y="6356352"/>
            <a:ext cx="5997147" cy="365125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Содержимое 9"/>
          <p:cNvSpPr>
            <a:spLocks noGrp="1"/>
          </p:cNvSpPr>
          <p:nvPr>
            <p:ph sz="quarter" idx="13"/>
          </p:nvPr>
        </p:nvSpPr>
        <p:spPr>
          <a:xfrm>
            <a:off x="527221" y="1594496"/>
            <a:ext cx="5609968" cy="45307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8" name="Содержимое 9"/>
          <p:cNvSpPr>
            <a:spLocks noGrp="1"/>
          </p:cNvSpPr>
          <p:nvPr>
            <p:ph sz="quarter" idx="14"/>
          </p:nvPr>
        </p:nvSpPr>
        <p:spPr>
          <a:xfrm>
            <a:off x="6275645" y="1594496"/>
            <a:ext cx="5609968" cy="45307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232533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Два объекта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одержимое 9"/>
          <p:cNvSpPr>
            <a:spLocks noGrp="1"/>
          </p:cNvSpPr>
          <p:nvPr>
            <p:ph sz="quarter" idx="16"/>
          </p:nvPr>
        </p:nvSpPr>
        <p:spPr>
          <a:xfrm>
            <a:off x="519114" y="4168347"/>
            <a:ext cx="11366500" cy="1960605"/>
          </a:xfrm>
        </p:spPr>
        <p:txBody>
          <a:bodyPr anchor="ctr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77B62C5-024A-43E1-98DC-96041F233C42}" type="slidenum">
              <a:rPr lang="ru-RU" altLang="ru-RU" smtClean="0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8" name="Текст 8"/>
          <p:cNvSpPr>
            <a:spLocks noGrp="1"/>
          </p:cNvSpPr>
          <p:nvPr>
            <p:ph type="body" sz="quarter" idx="14"/>
          </p:nvPr>
        </p:nvSpPr>
        <p:spPr>
          <a:xfrm>
            <a:off x="527223" y="1598731"/>
            <a:ext cx="11358391" cy="238852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445203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Таблица">
    <p:bg>
      <p:bgPr>
        <a:blipFill dpi="0" rotWithShape="1">
          <a:blip r:embed="rId2">
            <a:lum/>
          </a:blip>
          <a:srcRect/>
          <a:stretch>
            <a:fillRect l="-2000" t="7000" r="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аблица 10"/>
          <p:cNvSpPr>
            <a:spLocks noGrp="1"/>
          </p:cNvSpPr>
          <p:nvPr>
            <p:ph type="tbl" sz="quarter" idx="15"/>
          </p:nvPr>
        </p:nvSpPr>
        <p:spPr>
          <a:xfrm>
            <a:off x="527223" y="2875006"/>
            <a:ext cx="11358391" cy="3254333"/>
          </a:xfrm>
        </p:spPr>
        <p:txBody>
          <a:bodyPr/>
          <a:lstStyle/>
          <a:p>
            <a:r>
              <a:rPr lang="ru-RU"/>
              <a:t>Вставка таблицы</a:t>
            </a: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77B62C5-024A-43E1-98DC-96041F233C42}" type="slidenum">
              <a:rPr lang="ru-RU" altLang="ru-RU" smtClean="0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527221" y="6356352"/>
            <a:ext cx="5997147" cy="365125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Текст 8"/>
          <p:cNvSpPr>
            <a:spLocks noGrp="1"/>
          </p:cNvSpPr>
          <p:nvPr>
            <p:ph type="body" sz="quarter" idx="14"/>
          </p:nvPr>
        </p:nvSpPr>
        <p:spPr>
          <a:xfrm>
            <a:off x="527223" y="1623304"/>
            <a:ext cx="11358391" cy="104603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433227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Иллюстрац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77B62C5-024A-43E1-98DC-96041F233C42}" type="slidenum">
              <a:rPr lang="ru-RU" altLang="ru-RU" smtClean="0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7" name="Нижний колонтитул 6"/>
          <p:cNvSpPr>
            <a:spLocks noGrp="1"/>
          </p:cNvSpPr>
          <p:nvPr>
            <p:ph type="ftr" sz="quarter" idx="11"/>
          </p:nvPr>
        </p:nvSpPr>
        <p:spPr>
          <a:xfrm>
            <a:off x="527221" y="6356352"/>
            <a:ext cx="5997147" cy="365125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Текст 8"/>
          <p:cNvSpPr>
            <a:spLocks noGrp="1"/>
          </p:cNvSpPr>
          <p:nvPr>
            <p:ph type="body" sz="quarter" idx="14"/>
          </p:nvPr>
        </p:nvSpPr>
        <p:spPr>
          <a:xfrm>
            <a:off x="527051" y="1598141"/>
            <a:ext cx="5165725" cy="45470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2" name="Рисунок 11"/>
          <p:cNvSpPr>
            <a:spLocks noGrp="1"/>
          </p:cNvSpPr>
          <p:nvPr>
            <p:ph type="pic" sz="quarter" idx="15"/>
          </p:nvPr>
        </p:nvSpPr>
        <p:spPr>
          <a:xfrm>
            <a:off x="6045887" y="1606550"/>
            <a:ext cx="4548188" cy="4546600"/>
          </a:xfrm>
          <a:prstGeom prst="ellipse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1098456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Два рисун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77B62C5-024A-43E1-98DC-96041F233C42}" type="slidenum">
              <a:rPr lang="ru-RU" altLang="ru-RU" smtClean="0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12" name="Рисунок 11"/>
          <p:cNvSpPr>
            <a:spLocks noGrp="1"/>
          </p:cNvSpPr>
          <p:nvPr>
            <p:ph type="pic" sz="quarter" idx="15"/>
          </p:nvPr>
        </p:nvSpPr>
        <p:spPr>
          <a:xfrm>
            <a:off x="531342" y="1523701"/>
            <a:ext cx="5609967" cy="3419003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ru-RU"/>
              <a:t>Вставка рисунка</a:t>
            </a:r>
          </a:p>
        </p:txBody>
      </p:sp>
      <p:sp>
        <p:nvSpPr>
          <p:cNvPr id="15" name="Текст 14"/>
          <p:cNvSpPr>
            <a:spLocks noGrp="1"/>
          </p:cNvSpPr>
          <p:nvPr>
            <p:ph type="body" sz="quarter" idx="17"/>
          </p:nvPr>
        </p:nvSpPr>
        <p:spPr>
          <a:xfrm>
            <a:off x="539535" y="4962870"/>
            <a:ext cx="5593579" cy="11541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6" name="Рисунок 11"/>
          <p:cNvSpPr>
            <a:spLocks noGrp="1"/>
          </p:cNvSpPr>
          <p:nvPr>
            <p:ph type="pic" sz="quarter" idx="18"/>
          </p:nvPr>
        </p:nvSpPr>
        <p:spPr>
          <a:xfrm>
            <a:off x="6275647" y="1523701"/>
            <a:ext cx="5609967" cy="3419003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ru-RU"/>
              <a:t>Вставка рисунка</a:t>
            </a:r>
          </a:p>
        </p:txBody>
      </p:sp>
      <p:sp>
        <p:nvSpPr>
          <p:cNvPr id="17" name="Текст 14"/>
          <p:cNvSpPr>
            <a:spLocks noGrp="1"/>
          </p:cNvSpPr>
          <p:nvPr>
            <p:ph type="body" sz="quarter" idx="19"/>
          </p:nvPr>
        </p:nvSpPr>
        <p:spPr>
          <a:xfrm>
            <a:off x="6283840" y="4962870"/>
            <a:ext cx="5601773" cy="11541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5603590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0"/>
          </p:nvPr>
        </p:nvSpPr>
        <p:spPr>
          <a:xfrm>
            <a:off x="527221" y="6356352"/>
            <a:ext cx="5997147" cy="365125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77B62C5-024A-43E1-98DC-96041F233C42}" type="slidenum">
              <a:rPr lang="ru-RU" altLang="ru-RU" smtClean="0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5" name="Содержимое 9"/>
          <p:cNvSpPr>
            <a:spLocks noGrp="1"/>
          </p:cNvSpPr>
          <p:nvPr>
            <p:ph sz="quarter" idx="13"/>
          </p:nvPr>
        </p:nvSpPr>
        <p:spPr>
          <a:xfrm>
            <a:off x="527223" y="1553307"/>
            <a:ext cx="3598348" cy="45307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6" name="Содержимое 9"/>
          <p:cNvSpPr>
            <a:spLocks noGrp="1"/>
          </p:cNvSpPr>
          <p:nvPr>
            <p:ph sz="quarter" idx="14"/>
          </p:nvPr>
        </p:nvSpPr>
        <p:spPr>
          <a:xfrm>
            <a:off x="4407243" y="1553307"/>
            <a:ext cx="3598348" cy="45307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7" name="Содержимое 9"/>
          <p:cNvSpPr>
            <a:spLocks noGrp="1"/>
          </p:cNvSpPr>
          <p:nvPr>
            <p:ph sz="quarter" idx="15"/>
          </p:nvPr>
        </p:nvSpPr>
        <p:spPr>
          <a:xfrm>
            <a:off x="8287266" y="1553307"/>
            <a:ext cx="3598348" cy="45307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6995744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Шаги">
    <p:bg>
      <p:bgPr>
        <a:blipFill dpi="0" rotWithShape="1">
          <a:blip r:embed="rId2">
            <a:lum/>
          </a:blip>
          <a:srcRect/>
          <a:stretch>
            <a:fillRect l="-2000" t="7000" r="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77B62C5-024A-43E1-98DC-96041F233C42}" type="slidenum">
              <a:rPr lang="ru-RU" altLang="ru-RU" smtClean="0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527221" y="6356352"/>
            <a:ext cx="5997147" cy="365125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Рисунок 8"/>
          <p:cNvSpPr>
            <a:spLocks noGrp="1"/>
          </p:cNvSpPr>
          <p:nvPr>
            <p:ph type="pic" sz="quarter" idx="14"/>
          </p:nvPr>
        </p:nvSpPr>
        <p:spPr>
          <a:xfrm>
            <a:off x="675502" y="2088399"/>
            <a:ext cx="996951" cy="996950"/>
          </a:xfrm>
          <a:prstGeom prst="ellipse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11" name="Текст 10"/>
          <p:cNvSpPr>
            <a:spLocks noGrp="1"/>
          </p:cNvSpPr>
          <p:nvPr>
            <p:ph type="body" sz="quarter" idx="15"/>
          </p:nvPr>
        </p:nvSpPr>
        <p:spPr>
          <a:xfrm>
            <a:off x="1869817" y="1722480"/>
            <a:ext cx="4119563" cy="1728788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2" name="Рисунок 8"/>
          <p:cNvSpPr>
            <a:spLocks noGrp="1"/>
          </p:cNvSpPr>
          <p:nvPr>
            <p:ph type="pic" sz="quarter" idx="16"/>
          </p:nvPr>
        </p:nvSpPr>
        <p:spPr>
          <a:xfrm>
            <a:off x="6275174" y="2088399"/>
            <a:ext cx="996951" cy="996950"/>
          </a:xfrm>
          <a:prstGeom prst="ellipse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13" name="Текст 10"/>
          <p:cNvSpPr>
            <a:spLocks noGrp="1"/>
          </p:cNvSpPr>
          <p:nvPr>
            <p:ph type="body" sz="quarter" idx="17"/>
          </p:nvPr>
        </p:nvSpPr>
        <p:spPr>
          <a:xfrm>
            <a:off x="7469489" y="1722480"/>
            <a:ext cx="4119563" cy="1728788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4" name="Рисунок 8"/>
          <p:cNvSpPr>
            <a:spLocks noGrp="1"/>
          </p:cNvSpPr>
          <p:nvPr>
            <p:ph type="pic" sz="quarter" idx="18"/>
          </p:nvPr>
        </p:nvSpPr>
        <p:spPr>
          <a:xfrm>
            <a:off x="675502" y="4180809"/>
            <a:ext cx="996951" cy="996950"/>
          </a:xfrm>
          <a:prstGeom prst="ellipse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15" name="Текст 10"/>
          <p:cNvSpPr>
            <a:spLocks noGrp="1"/>
          </p:cNvSpPr>
          <p:nvPr>
            <p:ph type="body" sz="quarter" idx="19"/>
          </p:nvPr>
        </p:nvSpPr>
        <p:spPr>
          <a:xfrm>
            <a:off x="1869817" y="3814890"/>
            <a:ext cx="4119563" cy="1728788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6" name="Рисунок 8"/>
          <p:cNvSpPr>
            <a:spLocks noGrp="1"/>
          </p:cNvSpPr>
          <p:nvPr>
            <p:ph type="pic" sz="quarter" idx="20"/>
          </p:nvPr>
        </p:nvSpPr>
        <p:spPr>
          <a:xfrm>
            <a:off x="6275174" y="4180809"/>
            <a:ext cx="996951" cy="996950"/>
          </a:xfrm>
          <a:prstGeom prst="ellipse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17" name="Текст 10"/>
          <p:cNvSpPr>
            <a:spLocks noGrp="1"/>
          </p:cNvSpPr>
          <p:nvPr>
            <p:ph type="body" sz="quarter" idx="21"/>
          </p:nvPr>
        </p:nvSpPr>
        <p:spPr>
          <a:xfrm>
            <a:off x="7469489" y="3814890"/>
            <a:ext cx="4119563" cy="1728788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7889212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онта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0"/>
          </p:nvPr>
        </p:nvSpPr>
        <p:spPr>
          <a:xfrm>
            <a:off x="527221" y="6356352"/>
            <a:ext cx="5997147" cy="365125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77B62C5-024A-43E1-98DC-96041F233C42}" type="slidenum">
              <a:rPr lang="ru-RU" altLang="ru-RU" smtClean="0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6" name="Рисунок 5"/>
          <p:cNvSpPr>
            <a:spLocks noGrp="1"/>
          </p:cNvSpPr>
          <p:nvPr>
            <p:ph type="pic" sz="quarter" idx="12"/>
          </p:nvPr>
        </p:nvSpPr>
        <p:spPr>
          <a:xfrm>
            <a:off x="738394" y="1839386"/>
            <a:ext cx="2097023" cy="2099074"/>
          </a:xfrm>
          <a:prstGeom prst="ellipse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r>
              <a:rPr lang="ru-RU"/>
              <a:t>Вставка рисунка</a:t>
            </a:r>
          </a:p>
        </p:txBody>
      </p:sp>
      <p:sp>
        <p:nvSpPr>
          <p:cNvPr id="11" name="Текст 10"/>
          <p:cNvSpPr>
            <a:spLocks noGrp="1"/>
          </p:cNvSpPr>
          <p:nvPr>
            <p:ph type="body" sz="quarter" idx="16"/>
          </p:nvPr>
        </p:nvSpPr>
        <p:spPr>
          <a:xfrm>
            <a:off x="527221" y="4020796"/>
            <a:ext cx="2519363" cy="160564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2" name="Текст 10"/>
          <p:cNvSpPr>
            <a:spLocks noGrp="1"/>
          </p:cNvSpPr>
          <p:nvPr>
            <p:ph type="body" sz="quarter" idx="17"/>
          </p:nvPr>
        </p:nvSpPr>
        <p:spPr>
          <a:xfrm>
            <a:off x="3402441" y="4020796"/>
            <a:ext cx="2519363" cy="160564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3" name="Текст 10"/>
          <p:cNvSpPr>
            <a:spLocks noGrp="1"/>
          </p:cNvSpPr>
          <p:nvPr>
            <p:ph type="body" sz="quarter" idx="18"/>
          </p:nvPr>
        </p:nvSpPr>
        <p:spPr>
          <a:xfrm>
            <a:off x="6277661" y="4020796"/>
            <a:ext cx="2519363" cy="160564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4" name="Текст 10"/>
          <p:cNvSpPr>
            <a:spLocks noGrp="1"/>
          </p:cNvSpPr>
          <p:nvPr>
            <p:ph type="body" sz="quarter" idx="19"/>
          </p:nvPr>
        </p:nvSpPr>
        <p:spPr>
          <a:xfrm>
            <a:off x="9152883" y="4020796"/>
            <a:ext cx="2519363" cy="160564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5" name="Рисунок 5"/>
          <p:cNvSpPr>
            <a:spLocks noGrp="1"/>
          </p:cNvSpPr>
          <p:nvPr>
            <p:ph type="pic" sz="quarter" idx="20"/>
          </p:nvPr>
        </p:nvSpPr>
        <p:spPr>
          <a:xfrm>
            <a:off x="3613614" y="1847624"/>
            <a:ext cx="2097023" cy="2099074"/>
          </a:xfrm>
          <a:prstGeom prst="ellipse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r>
              <a:rPr lang="ru-RU"/>
              <a:t>Вставка рисунка</a:t>
            </a:r>
          </a:p>
        </p:txBody>
      </p:sp>
      <p:sp>
        <p:nvSpPr>
          <p:cNvPr id="16" name="Рисунок 5"/>
          <p:cNvSpPr>
            <a:spLocks noGrp="1"/>
          </p:cNvSpPr>
          <p:nvPr>
            <p:ph type="pic" sz="quarter" idx="21"/>
          </p:nvPr>
        </p:nvSpPr>
        <p:spPr>
          <a:xfrm>
            <a:off x="6488834" y="1806435"/>
            <a:ext cx="2097023" cy="2099074"/>
          </a:xfrm>
          <a:prstGeom prst="ellipse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r>
              <a:rPr lang="ru-RU"/>
              <a:t>Вставка рисунка</a:t>
            </a:r>
          </a:p>
        </p:txBody>
      </p:sp>
      <p:sp>
        <p:nvSpPr>
          <p:cNvPr id="17" name="Рисунок 5"/>
          <p:cNvSpPr>
            <a:spLocks noGrp="1"/>
          </p:cNvSpPr>
          <p:nvPr>
            <p:ph type="pic" sz="quarter" idx="22"/>
          </p:nvPr>
        </p:nvSpPr>
        <p:spPr>
          <a:xfrm>
            <a:off x="9364054" y="1798198"/>
            <a:ext cx="2097023" cy="2099074"/>
          </a:xfrm>
          <a:prstGeom prst="ellipse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35590513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36202DB-8EBA-4075-B6A9-C3D29E5A0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2AC2E5-F62B-4B90-98DF-062FC2A89604}" type="datetimeFigureOut">
              <a:rPr lang="ru-RU"/>
              <a:pPr>
                <a:defRPr/>
              </a:pPr>
              <a:t>15.06.2023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2D22791-E353-4EC7-B52E-1455697B8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243D06-60CF-4291-ADE0-4AA06A24C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110F05-0F5F-422E-8C08-358A94CE0F52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2434446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6042E6E1-938D-4A47-A66F-A8B0EAE84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266272-3D93-4665-B16B-74D60F3C4AAB}" type="datetimeFigureOut">
              <a:rPr lang="ru-RU"/>
              <a:pPr>
                <a:defRPr/>
              </a:pPr>
              <a:t>15.06.2023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F07D1610-5654-4402-9FF4-4CB721004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D3F4F06A-212C-45CF-A996-499A22916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6B9B9D-6CD9-402E-A090-EB44CC7FC018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984375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2619632" y="315914"/>
            <a:ext cx="9265981" cy="11017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>
          <a:xfrm>
            <a:off x="527223" y="1600202"/>
            <a:ext cx="11341916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3"/>
          </p:nvPr>
        </p:nvSpPr>
        <p:spPr>
          <a:xfrm>
            <a:off x="527221" y="6356352"/>
            <a:ext cx="59971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4"/>
          </p:nvPr>
        </p:nvSpPr>
        <p:spPr>
          <a:xfrm>
            <a:off x="11005751" y="6356352"/>
            <a:ext cx="8798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77B62C5-024A-43E1-98DC-96041F233C42}" type="slidenum">
              <a:rPr lang="ru-RU" altLang="ru-RU" smtClean="0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335194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100" b="1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381" indent="-2381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None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71463" indent="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None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38163" indent="-1191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None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07244" indent="-20002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None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07269" indent="-20002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None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5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emf"/><Relationship Id="rId3" Type="http://schemas.openxmlformats.org/officeDocument/2006/relationships/image" Target="../media/image25.emf"/><Relationship Id="rId7" Type="http://schemas.openxmlformats.org/officeDocument/2006/relationships/image" Target="../media/image28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6" Type="http://schemas.microsoft.com/office/2007/relationships/hdphoto" Target="../media/hdphoto2.wdp"/><Relationship Id="rId11" Type="http://schemas.openxmlformats.org/officeDocument/2006/relationships/image" Target="../media/image32.emf"/><Relationship Id="rId5" Type="http://schemas.openxmlformats.org/officeDocument/2006/relationships/image" Target="../media/image27.png"/><Relationship Id="rId10" Type="http://schemas.openxmlformats.org/officeDocument/2006/relationships/image" Target="../media/image31.svg"/><Relationship Id="rId4" Type="http://schemas.openxmlformats.org/officeDocument/2006/relationships/image" Target="../media/image26.emf"/><Relationship Id="rId9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40.emf"/><Relationship Id="rId5" Type="http://schemas.openxmlformats.org/officeDocument/2006/relationships/image" Target="../media/image39.emf"/><Relationship Id="rId4" Type="http://schemas.openxmlformats.org/officeDocument/2006/relationships/image" Target="../media/image38.e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.vsdx"/><Relationship Id="rId2" Type="http://schemas.openxmlformats.org/officeDocument/2006/relationships/slideLayout" Target="../slideLayouts/slideLayout16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1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45.jpeg"/><Relationship Id="rId5" Type="http://schemas.microsoft.com/office/2007/relationships/hdphoto" Target="../media/hdphoto4.wdp"/><Relationship Id="rId4" Type="http://schemas.openxmlformats.org/officeDocument/2006/relationships/image" Target="../media/image4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emf"/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54.png"/><Relationship Id="rId5" Type="http://schemas.microsoft.com/office/2007/relationships/hdphoto" Target="../media/hdphoto5.wdp"/><Relationship Id="rId4" Type="http://schemas.openxmlformats.org/officeDocument/2006/relationships/image" Target="../media/image53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6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6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66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C494742-1ACE-46A4-A651-4FAEF95EAF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1951" y="2565401"/>
            <a:ext cx="2519363" cy="2232025"/>
          </a:xfrm>
        </p:spPr>
        <p:txBody>
          <a:bodyPr rtlCol="0">
            <a:normAutofit/>
          </a:bodyPr>
          <a:lstStyle/>
          <a:p>
            <a:pPr algn="l">
              <a:defRPr/>
            </a:pPr>
            <a:br>
              <a:rPr lang="ru-RU" sz="2200" dirty="0"/>
            </a:br>
            <a:endParaRPr lang="ru-RU" sz="2800" dirty="0"/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60C1D48F-B31D-4E72-83B8-B49358CAC5B1}"/>
              </a:ext>
            </a:extLst>
          </p:cNvPr>
          <p:cNvSpPr txBox="1">
            <a:spLocks/>
          </p:cNvSpPr>
          <p:nvPr/>
        </p:nvSpPr>
        <p:spPr>
          <a:xfrm>
            <a:off x="119335" y="4581128"/>
            <a:ext cx="12191999" cy="3429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sz="2200" b="1" dirty="0">
                <a:solidFill>
                  <a:srgbClr val="FF0000"/>
                </a:solidFill>
              </a:rPr>
              <a:t>Магистерская диссертация :</a:t>
            </a:r>
          </a:p>
          <a:p>
            <a:pPr>
              <a:defRPr/>
            </a:pPr>
            <a:r>
              <a:rPr lang="ru-RU" sz="2200" dirty="0">
                <a:solidFill>
                  <a:schemeClr val="tx1"/>
                </a:solidFill>
              </a:rPr>
              <a:t>Краев Алексей Александрович</a:t>
            </a:r>
            <a:r>
              <a:rPr lang="en-US" sz="2200" dirty="0">
                <a:solidFill>
                  <a:schemeClr val="tx1"/>
                </a:solidFill>
              </a:rPr>
              <a:t>,</a:t>
            </a:r>
          </a:p>
          <a:p>
            <a:pPr>
              <a:defRPr/>
            </a:pPr>
            <a:r>
              <a:rPr lang="ru-RU" sz="2200" dirty="0">
                <a:solidFill>
                  <a:schemeClr val="tx1"/>
                </a:solidFill>
              </a:rPr>
              <a:t>09.04.04 Программная инженерия</a:t>
            </a:r>
            <a:r>
              <a:rPr lang="en-US" sz="2200" dirty="0">
                <a:solidFill>
                  <a:schemeClr val="tx1"/>
                </a:solidFill>
              </a:rPr>
              <a:t>, </a:t>
            </a:r>
            <a:r>
              <a:rPr lang="ru-RU" sz="2200" dirty="0">
                <a:solidFill>
                  <a:schemeClr val="tx1"/>
                </a:solidFill>
              </a:rPr>
              <a:t>гр. 1ПИм-02-21оп</a:t>
            </a:r>
            <a:endParaRPr lang="ru-RU" sz="2200" dirty="0"/>
          </a:p>
          <a:p>
            <a:pPr>
              <a:defRPr/>
            </a:pPr>
            <a:r>
              <a:rPr lang="ru-RU" sz="2200" b="1" dirty="0">
                <a:solidFill>
                  <a:srgbClr val="FF0000"/>
                </a:solidFill>
              </a:rPr>
              <a:t>Научный руководитель:</a:t>
            </a:r>
            <a:endParaRPr lang="en-US" sz="2200" b="1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ru-RU" sz="2200" dirty="0">
                <a:solidFill>
                  <a:schemeClr val="tx1"/>
                </a:solidFill>
              </a:rPr>
              <a:t>Ершов Евгений Валентинович, д.т.н., профессор</a:t>
            </a:r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3078" name="Заголовок 1">
            <a:extLst>
              <a:ext uri="{FF2B5EF4-FFF2-40B4-BE49-F238E27FC236}">
                <a16:creationId xmlns:a16="http://schemas.microsoft.com/office/drawing/2014/main" id="{6A5D4D3E-7BCF-41CB-9398-ED9BB8F4E7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4979" y="1556792"/>
            <a:ext cx="10440712" cy="287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ru-RU" b="1" dirty="0">
                <a:solidFill>
                  <a:srgbClr val="FF0000"/>
                </a:solidFill>
              </a:rPr>
              <a:t>Программное обеспечение модели легирования плавок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Заголовок 1">
            <a:extLst>
              <a:ext uri="{FF2B5EF4-FFF2-40B4-BE49-F238E27FC236}">
                <a16:creationId xmlns:a16="http://schemas.microsoft.com/office/drawing/2014/main" id="{961723B9-F3E8-4E88-84FA-8A027085C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8640"/>
            <a:ext cx="12192000" cy="1143000"/>
          </a:xfrm>
        </p:spPr>
        <p:txBody>
          <a:bodyPr/>
          <a:lstStyle/>
          <a:p>
            <a:pPr algn="ctr"/>
            <a:r>
              <a:rPr lang="ru-RU" sz="2800" dirty="0">
                <a:solidFill>
                  <a:srgbClr val="FF0000"/>
                </a:solidFill>
              </a:rPr>
              <a:t>Актуальность темы.</a:t>
            </a:r>
            <a:br>
              <a:rPr lang="ru-RU" sz="2800" dirty="0">
                <a:solidFill>
                  <a:srgbClr val="FF0000"/>
                </a:solidFill>
              </a:rPr>
            </a:br>
            <a:r>
              <a:rPr lang="ru-RU" sz="2800" dirty="0">
                <a:solidFill>
                  <a:srgbClr val="FF0000"/>
                </a:solidFill>
              </a:rPr>
              <a:t>Объект и предмет исследования</a:t>
            </a:r>
            <a:endParaRPr lang="ru-RU" altLang="ru-RU" sz="2800" dirty="0">
              <a:solidFill>
                <a:srgbClr val="FF0000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9D9C505-67AE-4ABB-860C-292FB38972E0}"/>
              </a:ext>
            </a:extLst>
          </p:cNvPr>
          <p:cNvSpPr/>
          <p:nvPr/>
        </p:nvSpPr>
        <p:spPr>
          <a:xfrm>
            <a:off x="10212388" y="469900"/>
            <a:ext cx="1979612" cy="663575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ru-RU" sz="4800" b="1" dirty="0"/>
              <a:t>2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F07B8F7-76FF-48F8-A2B4-8406BB54976C}"/>
              </a:ext>
            </a:extLst>
          </p:cNvPr>
          <p:cNvSpPr/>
          <p:nvPr/>
        </p:nvSpPr>
        <p:spPr>
          <a:xfrm>
            <a:off x="479376" y="1484784"/>
            <a:ext cx="32179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Актуальность темы</a:t>
            </a:r>
          </a:p>
        </p:txBody>
      </p:sp>
      <p:sp>
        <p:nvSpPr>
          <p:cNvPr id="14" name="TextBox 5">
            <a:extLst>
              <a:ext uri="{FF2B5EF4-FFF2-40B4-BE49-F238E27FC236}">
                <a16:creationId xmlns:a16="http://schemas.microsoft.com/office/drawing/2014/main" id="{BAFAC5BB-16B2-472F-9EB4-64D4208AEA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439" y="1988840"/>
            <a:ext cx="11539218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ru-RU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indent="270000" algn="just" eaLnBrk="1" hangingPunct="1">
              <a:defRPr/>
            </a:pPr>
            <a:r>
              <a:rPr lang="ru-RU" altLang="ru-RU" dirty="0">
                <a:latin typeface="+mn-lt"/>
                <a:cs typeface="Times New Roman" panose="02020603050405020304" pitchFamily="18" charset="0"/>
              </a:rPr>
              <a:t>Актуальность настоящей работы обусловлена, потребностью в оптимизации затрат на легирование плавок за счет оптимизации расхода ферросплавов и легированного лома.</a:t>
            </a:r>
          </a:p>
          <a:p>
            <a:pPr indent="270000" algn="just" eaLnBrk="1" hangingPunct="1">
              <a:defRPr/>
            </a:pPr>
            <a:r>
              <a:rPr lang="ru-RU" altLang="ru-RU" dirty="0">
                <a:latin typeface="+mn-lt"/>
                <a:cs typeface="Times New Roman" panose="02020603050405020304" pitchFamily="18" charset="0"/>
              </a:rPr>
              <a:t>Оптимальное распределение легирующих материалов, как по весу, так и по структуре, позволит получать сталь высочайшего качества и экономить ресурсы предприятия.</a:t>
            </a:r>
          </a:p>
        </p:txBody>
      </p:sp>
      <p:sp>
        <p:nvSpPr>
          <p:cNvPr id="17" name="TextBox 10">
            <a:extLst>
              <a:ext uri="{FF2B5EF4-FFF2-40B4-BE49-F238E27FC236}">
                <a16:creationId xmlns:a16="http://schemas.microsoft.com/office/drawing/2014/main" id="{80F6938C-18B8-4F7C-82AD-942A6820DC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376" y="3282718"/>
            <a:ext cx="5282041" cy="462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ru-RU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400" b="1" dirty="0">
                <a:solidFill>
                  <a:srgbClr val="C00000"/>
                </a:solidFill>
                <a:latin typeface="Arial" panose="020B0604020202020204" pitchFamily="34" charset="0"/>
              </a:rPr>
              <a:t>Объект исследования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C3A7D8FA-2D4E-4AC1-9E37-9FA87AD75A93}"/>
              </a:ext>
            </a:extLst>
          </p:cNvPr>
          <p:cNvSpPr/>
          <p:nvPr/>
        </p:nvSpPr>
        <p:spPr>
          <a:xfrm>
            <a:off x="335359" y="3790781"/>
            <a:ext cx="1166529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70000" algn="just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 dirty="0">
                <a:cs typeface="Times New Roman" panose="02020603050405020304" pitchFamily="18" charset="0"/>
              </a:rPr>
              <a:t>Объектом исследования являются модели легирования плавок, использующая алгоритмы машинного обучения и оптимизации.</a:t>
            </a:r>
          </a:p>
        </p:txBody>
      </p:sp>
      <p:sp>
        <p:nvSpPr>
          <p:cNvPr id="22" name="TextBox 10">
            <a:extLst>
              <a:ext uri="{FF2B5EF4-FFF2-40B4-BE49-F238E27FC236}">
                <a16:creationId xmlns:a16="http://schemas.microsoft.com/office/drawing/2014/main" id="{733F6BF3-E9C7-4CDA-B4A7-1C9F195CCE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439" y="4581744"/>
            <a:ext cx="5282041" cy="462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ru-RU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400" b="1" dirty="0">
                <a:solidFill>
                  <a:srgbClr val="C00000"/>
                </a:solidFill>
                <a:latin typeface="Arial" panose="020B0604020202020204" pitchFamily="34" charset="0"/>
              </a:rPr>
              <a:t>Предмет исследования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3F1A370-DC1D-44BA-A9BB-AB1FBFE996FA}"/>
              </a:ext>
            </a:extLst>
          </p:cNvPr>
          <p:cNvSpPr/>
          <p:nvPr/>
        </p:nvSpPr>
        <p:spPr>
          <a:xfrm>
            <a:off x="338762" y="5086925"/>
            <a:ext cx="1152128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70000" algn="just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 dirty="0">
                <a:cs typeface="Times New Roman" panose="02020603050405020304" pitchFamily="18" charset="0"/>
              </a:rPr>
              <a:t>Методы и алгоритмы расчета химического состава плавки и алгоритмы оптимизации линейного программирования и машинного обучения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>
            <a:extLst>
              <a:ext uri="{FF2B5EF4-FFF2-40B4-BE49-F238E27FC236}">
                <a16:creationId xmlns:a16="http://schemas.microsoft.com/office/drawing/2014/main" id="{5B42C2E3-5F4D-4969-A7EE-F6578FFD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6856"/>
            <a:ext cx="12192000" cy="1101725"/>
          </a:xfrm>
        </p:spPr>
        <p:txBody>
          <a:bodyPr/>
          <a:lstStyle/>
          <a:p>
            <a:pPr algn="ctr"/>
            <a:r>
              <a:rPr lang="ru-RU" altLang="ru-RU" sz="2800" dirty="0">
                <a:solidFill>
                  <a:srgbClr val="FF0000"/>
                </a:solidFill>
              </a:rPr>
              <a:t>Цель и задачи работы.</a:t>
            </a:r>
            <a:br>
              <a:rPr lang="ru-RU" altLang="ru-RU" sz="2800" dirty="0">
                <a:solidFill>
                  <a:srgbClr val="FF0000"/>
                </a:solidFill>
              </a:rPr>
            </a:br>
            <a:r>
              <a:rPr lang="ru-RU" altLang="ru-RU" sz="2800" dirty="0">
                <a:solidFill>
                  <a:srgbClr val="FF0000"/>
                </a:solidFill>
              </a:rPr>
              <a:t>Научная новизна исследования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779F9ED-5528-48E1-BC52-3FA37390FC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1384" y="1700808"/>
            <a:ext cx="11161240" cy="4882556"/>
          </a:xfrm>
        </p:spPr>
        <p:txBody>
          <a:bodyPr rtlCol="0">
            <a:normAutofit/>
          </a:bodyPr>
          <a:lstStyle/>
          <a:p>
            <a:pPr marL="0" indent="0" algn="just">
              <a:spcBef>
                <a:spcPts val="50"/>
              </a:spcBef>
              <a:defRPr/>
            </a:pPr>
            <a:endParaRPr lang="ru-RU" sz="20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 algn="just">
              <a:defRPr/>
            </a:pPr>
            <a:endParaRPr lang="ru-RU" sz="2000" u="sng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 algn="just">
              <a:defRPr/>
            </a:pPr>
            <a:endParaRPr lang="ru-RU" sz="2000" dirty="0">
              <a:solidFill>
                <a:schemeClr val="bg1">
                  <a:lumMod val="50000"/>
                </a:schemeClr>
              </a:solidFill>
              <a:cs typeface="Calibri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B06DDFC-A250-40B9-B87A-293250E23B46}"/>
              </a:ext>
            </a:extLst>
          </p:cNvPr>
          <p:cNvSpPr/>
          <p:nvPr/>
        </p:nvSpPr>
        <p:spPr>
          <a:xfrm>
            <a:off x="10212388" y="458788"/>
            <a:ext cx="1979612" cy="677863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ru-RU" sz="4800" b="1" dirty="0"/>
              <a:t>3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7922D75-530D-46F5-A5DC-6841AA3FCA43}"/>
              </a:ext>
            </a:extLst>
          </p:cNvPr>
          <p:cNvSpPr/>
          <p:nvPr/>
        </p:nvSpPr>
        <p:spPr>
          <a:xfrm>
            <a:off x="326390" y="1421548"/>
            <a:ext cx="21973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Цель работы</a:t>
            </a:r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C33FD37A-74D6-4A50-8029-4965413F10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384" y="1878347"/>
            <a:ext cx="11674265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ru-RU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indent="270000" algn="just" eaLnBrk="1" hangingPunct="1">
              <a:defRPr/>
            </a:pPr>
            <a:r>
              <a:rPr lang="ru-RU" altLang="ru-RU" dirty="0">
                <a:latin typeface="+mn-lt"/>
                <a:cs typeface="Times New Roman" panose="02020603050405020304" pitchFamily="18" charset="0"/>
              </a:rPr>
              <a:t>Оптимизация сталеплавильного производства, а именно обеспечение минимальной стоимость легирования плавки за счет минимизации затрат на легирующие материалы при этом удовлетворив ограничения по целевому химическому составу, углеродному эквиваленту и т.д.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551680A-D586-4EE1-9B19-A16E798AE022}"/>
              </a:ext>
            </a:extLst>
          </p:cNvPr>
          <p:cNvSpPr/>
          <p:nvPr/>
        </p:nvSpPr>
        <p:spPr>
          <a:xfrm>
            <a:off x="326390" y="2747853"/>
            <a:ext cx="35496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Задачи исследования</a:t>
            </a: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45EDE5EE-417D-4C81-AF7E-D50B21C379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390" y="3240770"/>
            <a:ext cx="11674265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ru-RU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indent="270000" algn="just" eaLnBrk="1" hangingPunct="1">
              <a:defRPr/>
            </a:pPr>
            <a:r>
              <a:rPr lang="ru-RU" altLang="ru-RU" dirty="0">
                <a:latin typeface="+mn-lt"/>
                <a:cs typeface="Times New Roman" panose="02020603050405020304" pitchFamily="18" charset="0"/>
              </a:rPr>
              <a:t>Для достижения поставленной цели были решены следующие задачи:</a:t>
            </a:r>
          </a:p>
          <a:p>
            <a:pPr marL="742950" lvl="1" indent="-285750" algn="just" defTabSz="360000" eaLnBrk="1" hangingPunct="1">
              <a:buFont typeface="Arial" panose="020B0604020202020204" pitchFamily="34" charset="0"/>
              <a:buChar char="•"/>
              <a:defRPr/>
            </a:pPr>
            <a:r>
              <a:rPr lang="ru-RU" altLang="ru-RU" dirty="0">
                <a:latin typeface="+mn-lt"/>
                <a:cs typeface="Times New Roman" panose="02020603050405020304" pitchFamily="18" charset="0"/>
              </a:rPr>
              <a:t>анализ предметной области легирования стали на сталеплавильном производстве;</a:t>
            </a:r>
          </a:p>
          <a:p>
            <a:pPr marL="742950" lvl="1" indent="-285750" algn="just" defTabSz="360000" eaLnBrk="1" hangingPunct="1">
              <a:buFont typeface="Arial" panose="020B0604020202020204" pitchFamily="34" charset="0"/>
              <a:buChar char="•"/>
              <a:defRPr/>
            </a:pPr>
            <a:r>
              <a:rPr lang="ru-RU" altLang="ru-RU" dirty="0">
                <a:latin typeface="+mn-lt"/>
                <a:cs typeface="Times New Roman" panose="02020603050405020304" pitchFamily="18" charset="0"/>
              </a:rPr>
              <a:t>теоретическое обоснование задачи легирования плавок;</a:t>
            </a:r>
          </a:p>
          <a:p>
            <a:pPr marL="742950" lvl="1" indent="-285750" algn="just" defTabSz="360000" eaLnBrk="1" hangingPunct="1">
              <a:buFont typeface="Arial" panose="020B0604020202020204" pitchFamily="34" charset="0"/>
              <a:buChar char="•"/>
              <a:defRPr/>
            </a:pPr>
            <a:r>
              <a:rPr lang="ru-RU" altLang="ru-RU" dirty="0">
                <a:latin typeface="+mn-lt"/>
                <a:cs typeface="Times New Roman" panose="02020603050405020304" pitchFamily="18" charset="0"/>
              </a:rPr>
              <a:t>проектирование программного обеспечения модели легирования плавок;</a:t>
            </a:r>
          </a:p>
          <a:p>
            <a:pPr marL="742950" lvl="1" indent="-285750" algn="just" defTabSz="360000" eaLnBrk="1" hangingPunct="1">
              <a:buFont typeface="Arial" panose="020B0604020202020204" pitchFamily="34" charset="0"/>
              <a:buChar char="•"/>
              <a:defRPr/>
            </a:pPr>
            <a:r>
              <a:rPr lang="ru-RU" altLang="ru-RU" dirty="0">
                <a:latin typeface="+mn-lt"/>
                <a:cs typeface="Times New Roman" panose="02020603050405020304" pitchFamily="18" charset="0"/>
              </a:rPr>
              <a:t>экспериментальная проверка программного обеспечения модели легирования плавок. 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52DE682-32B4-4AC7-99AB-315D7FAB6297}"/>
              </a:ext>
            </a:extLst>
          </p:cNvPr>
          <p:cNvSpPr/>
          <p:nvPr/>
        </p:nvSpPr>
        <p:spPr>
          <a:xfrm>
            <a:off x="326390" y="4680054"/>
            <a:ext cx="28119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Научная новизна</a:t>
            </a:r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EE52E569-D62C-42F9-B2E3-46C475C669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390" y="5070325"/>
            <a:ext cx="11674265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ru-RU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indent="270000" algn="just" eaLnBrk="1" hangingPunct="1">
              <a:defRPr/>
            </a:pPr>
            <a:r>
              <a:rPr lang="ru-RU" dirty="0"/>
              <a:t>Научная новизна работы заключается в разработке нового алгоритма моделирования процесса легирования плавок, отличающегося сквозным прогнозированием оптимального расхода легирующих материалов на всех технологических этапах обработки стали, позволяющего осуществить поиск оптимального химического состава с учетом технологических требований.</a:t>
            </a:r>
          </a:p>
          <a:p>
            <a:pPr indent="270000" algn="just" eaLnBrk="1" hangingPunct="1">
              <a:defRPr/>
            </a:pPr>
            <a:r>
              <a:rPr lang="ru-RU" dirty="0"/>
              <a:t> </a:t>
            </a:r>
            <a:endParaRPr lang="ru-RU" altLang="ru-RU" dirty="0">
              <a:latin typeface="+mn-lt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B06DDFC-A250-40B9-B87A-293250E23B46}"/>
              </a:ext>
            </a:extLst>
          </p:cNvPr>
          <p:cNvSpPr/>
          <p:nvPr/>
        </p:nvSpPr>
        <p:spPr>
          <a:xfrm>
            <a:off x="10212388" y="479426"/>
            <a:ext cx="1979612" cy="677863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ru-RU" sz="4800" b="1" dirty="0"/>
              <a:t>4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55221A69-D39F-4472-86ED-1F4BE50FA252}"/>
              </a:ext>
            </a:extLst>
          </p:cNvPr>
          <p:cNvSpPr txBox="1">
            <a:spLocks/>
          </p:cNvSpPr>
          <p:nvPr/>
        </p:nvSpPr>
        <p:spPr bwMode="auto">
          <a:xfrm>
            <a:off x="0" y="2564904"/>
            <a:ext cx="12192000" cy="1476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ru-RU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ctr"/>
            <a:r>
              <a:rPr lang="ru-RU" altLang="ru-RU" sz="3600" b="1" dirty="0">
                <a:solidFill>
                  <a:srgbClr val="C00000"/>
                </a:solidFill>
              </a:rPr>
              <a:t>ЗАДАЧА 1. ХАРАКТЕРИСТИКА ПРОБЛЕМЫ</a:t>
            </a:r>
            <a:r>
              <a:rPr lang="en-US" altLang="ru-RU" sz="3600" b="1" dirty="0">
                <a:solidFill>
                  <a:srgbClr val="C00000"/>
                </a:solidFill>
              </a:rPr>
              <a:t> </a:t>
            </a:r>
            <a:r>
              <a:rPr lang="ru-RU" altLang="ru-RU" sz="3600" b="1" dirty="0">
                <a:solidFill>
                  <a:srgbClr val="C00000"/>
                </a:solidFill>
              </a:rPr>
              <a:t>МОДЕЛИРОВАНИЯ ПРОЦЕССА ЛЕГИРОВАНИЯ ПЛАВКИ В</a:t>
            </a:r>
            <a:r>
              <a:rPr lang="en-US" altLang="ru-RU" sz="3600" b="1" dirty="0">
                <a:solidFill>
                  <a:srgbClr val="C00000"/>
                </a:solidFill>
              </a:rPr>
              <a:t> </a:t>
            </a:r>
            <a:r>
              <a:rPr lang="ru-RU" altLang="ru-RU" sz="3600" b="1" dirty="0">
                <a:solidFill>
                  <a:srgbClr val="C00000"/>
                </a:solidFill>
              </a:rPr>
              <a:t>СТАЛЕПЛАВИЛЬНОМ ПРОИЗВОДСТВЕ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F0197DB-FBCD-4280-ACCB-A5AE96D16304}"/>
              </a:ext>
            </a:extLst>
          </p:cNvPr>
          <p:cNvSpPr/>
          <p:nvPr/>
        </p:nvSpPr>
        <p:spPr bwMode="auto">
          <a:xfrm>
            <a:off x="5087888" y="1500188"/>
            <a:ext cx="6840759" cy="4449092"/>
          </a:xfrm>
          <a:prstGeom prst="rect">
            <a:avLst/>
          </a:prstGeom>
          <a:solidFill>
            <a:srgbClr val="F2F2F2"/>
          </a:solidFill>
          <a:ln w="63500" cap="flat">
            <a:solidFill>
              <a:srgbClr val="D9D9D9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8194" name="Заголовок 1">
            <a:extLst>
              <a:ext uri="{FF2B5EF4-FFF2-40B4-BE49-F238E27FC236}">
                <a16:creationId xmlns:a16="http://schemas.microsoft.com/office/drawing/2014/main" id="{5E34B81C-B487-4426-8BFB-BB09D9E20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4" y="186531"/>
            <a:ext cx="12192000" cy="1101725"/>
          </a:xfrm>
        </p:spPr>
        <p:txBody>
          <a:bodyPr/>
          <a:lstStyle/>
          <a:p>
            <a:pPr algn="ctr"/>
            <a:r>
              <a:rPr lang="ru-RU" altLang="ru-RU" sz="2800" dirty="0">
                <a:solidFill>
                  <a:srgbClr val="FF0000"/>
                </a:solidFill>
              </a:rPr>
              <a:t>Характеристика проблемы</a:t>
            </a:r>
            <a:endParaRPr lang="ru-RU" altLang="ru-RU" sz="2800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779F9ED-5528-48E1-BC52-3FA37390FC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3353" y="1484783"/>
            <a:ext cx="4536504" cy="5186685"/>
          </a:xfrm>
        </p:spPr>
        <p:txBody>
          <a:bodyPr rtlCol="0">
            <a:normAutofit lnSpcReduction="10000"/>
          </a:bodyPr>
          <a:lstStyle/>
          <a:p>
            <a:pPr marL="0" indent="270000" algn="just">
              <a:lnSpc>
                <a:spcPct val="100000"/>
              </a:lnSpc>
              <a:spcBef>
                <a:spcPts val="0"/>
              </a:spcBef>
              <a:defRPr/>
            </a:pPr>
            <a:r>
              <a:rPr lang="ru-RU" sz="2000" dirty="0">
                <a:solidFill>
                  <a:schemeClr val="tx1"/>
                </a:solidFill>
              </a:rPr>
              <a:t>	На данный момент на предприятии ПАО «Северсталь» существует проблема в оптимизации затрат на легирование плавок за счет оптимизации расхода ферросплавов и легированного лома.</a:t>
            </a:r>
          </a:p>
          <a:p>
            <a:pPr marL="0" indent="270000" algn="just">
              <a:lnSpc>
                <a:spcPct val="100000"/>
              </a:lnSpc>
              <a:spcBef>
                <a:spcPts val="0"/>
              </a:spcBef>
              <a:defRPr/>
            </a:pPr>
            <a:r>
              <a:rPr lang="ru-RU" sz="2000" dirty="0">
                <a:solidFill>
                  <a:schemeClr val="tx1"/>
                </a:solidFill>
              </a:rPr>
              <a:t>	Сейчас рекомендации по легированию плавки осуществляются только для конкретного агрегата и на конкретном переделе, что не дает представление о краткосрочном планировании легирования плавки в рамках всех переделах и существенно сужает возможность оптимизации данного процесса.</a:t>
            </a:r>
          </a:p>
          <a:p>
            <a:pPr marL="0" indent="0" algn="just">
              <a:defRPr/>
            </a:pPr>
            <a:endParaRPr lang="ru-RU" sz="2000" dirty="0">
              <a:solidFill>
                <a:schemeClr val="tx1"/>
              </a:solidFill>
            </a:endParaRPr>
          </a:p>
          <a:p>
            <a:pPr marL="0" indent="0" algn="just">
              <a:defRPr/>
            </a:pPr>
            <a:endParaRPr lang="ru-RU" sz="2000" dirty="0">
              <a:solidFill>
                <a:schemeClr val="bg1">
                  <a:lumMod val="50000"/>
                </a:schemeClr>
              </a:solidFill>
              <a:cs typeface="Calibri"/>
            </a:endParaRPr>
          </a:p>
          <a:p>
            <a:pPr marL="0" indent="0" algn="just">
              <a:defRPr/>
            </a:pPr>
            <a:endParaRPr lang="ru-RU" sz="2000" dirty="0">
              <a:solidFill>
                <a:schemeClr val="bg1">
                  <a:lumMod val="50000"/>
                </a:schemeClr>
              </a:solidFill>
              <a:cs typeface="Calibri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B06DDFC-A250-40B9-B87A-293250E23B46}"/>
              </a:ext>
            </a:extLst>
          </p:cNvPr>
          <p:cNvSpPr/>
          <p:nvPr/>
        </p:nvSpPr>
        <p:spPr>
          <a:xfrm>
            <a:off x="10212388" y="398463"/>
            <a:ext cx="1979612" cy="677863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ru-RU" sz="4800" b="1" dirty="0"/>
              <a:t>5</a:t>
            </a:r>
          </a:p>
        </p:txBody>
      </p:sp>
      <p:pic>
        <p:nvPicPr>
          <p:cNvPr id="4100" name="Picture 4" descr="https://museynov.oren.muzkult.ru/media/2022/07/12/1300206516/5a.jpg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5046" y="1628800"/>
            <a:ext cx="6579586" cy="4248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Заголовок 1">
            <a:extLst>
              <a:ext uri="{FF2B5EF4-FFF2-40B4-BE49-F238E27FC236}">
                <a16:creationId xmlns:a16="http://schemas.microsoft.com/office/drawing/2014/main" id="{574550AD-5A65-4DB1-805B-33496F66D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5914"/>
            <a:ext cx="12192000" cy="1101725"/>
          </a:xfrm>
        </p:spPr>
        <p:txBody>
          <a:bodyPr/>
          <a:lstStyle/>
          <a:p>
            <a:pPr algn="ctr"/>
            <a:r>
              <a:rPr lang="ru-RU" altLang="ru-RU" sz="2800" dirty="0">
                <a:solidFill>
                  <a:srgbClr val="FF0000"/>
                </a:solidFill>
              </a:rPr>
              <a:t>Анализ алгоритмов и программных средств</a:t>
            </a:r>
          </a:p>
        </p:txBody>
      </p:sp>
      <p:graphicFrame>
        <p:nvGraphicFramePr>
          <p:cNvPr id="19" name="Объект 18">
            <a:extLst>
              <a:ext uri="{FF2B5EF4-FFF2-40B4-BE49-F238E27FC236}">
                <a16:creationId xmlns:a16="http://schemas.microsoft.com/office/drawing/2014/main" id="{BA708DE1-7AFE-4130-99B1-C539AF2B8734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196280249"/>
              </p:ext>
            </p:extLst>
          </p:nvPr>
        </p:nvGraphicFramePr>
        <p:xfrm>
          <a:off x="268441" y="1745673"/>
          <a:ext cx="11804223" cy="34411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B06DDFC-A250-40B9-B87A-293250E23B46}"/>
              </a:ext>
            </a:extLst>
          </p:cNvPr>
          <p:cNvSpPr/>
          <p:nvPr/>
        </p:nvSpPr>
        <p:spPr>
          <a:xfrm>
            <a:off x="10212388" y="458788"/>
            <a:ext cx="1979612" cy="677863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ru-RU" sz="4800" b="1" dirty="0"/>
              <a:t>6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95D15B25-E0D6-4AAA-A111-7349EFD7D76B}"/>
              </a:ext>
            </a:extLst>
          </p:cNvPr>
          <p:cNvSpPr/>
          <p:nvPr/>
        </p:nvSpPr>
        <p:spPr bwMode="auto">
          <a:xfrm>
            <a:off x="263352" y="1348309"/>
            <a:ext cx="11809312" cy="33322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ru-RU" dirty="0"/>
              <a:t>Способы решения:</a:t>
            </a:r>
          </a:p>
          <a:p>
            <a:pPr algn="ctr" rtl="0"/>
            <a:endParaRPr lang="ru-RU" dirty="0"/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2D433E8C-5AFA-4D21-8510-AB0D3A8205A7}"/>
              </a:ext>
            </a:extLst>
          </p:cNvPr>
          <p:cNvSpPr/>
          <p:nvPr/>
        </p:nvSpPr>
        <p:spPr bwMode="auto">
          <a:xfrm>
            <a:off x="263352" y="5250999"/>
            <a:ext cx="11809312" cy="1418361"/>
          </a:xfrm>
          <a:prstGeom prst="roundRect">
            <a:avLst>
              <a:gd name="adj" fmla="val 22225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r>
              <a:rPr lang="ru-RU" b="1" u="sng" dirty="0"/>
              <a:t>Комбинированная модель легирования плавок</a:t>
            </a:r>
          </a:p>
          <a:p>
            <a:pPr algn="ctr"/>
            <a:r>
              <a:rPr lang="ru-RU" dirty="0"/>
              <a:t>	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DDE7017-1EA5-44B9-8637-38E5177D3BA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015" y="5120474"/>
            <a:ext cx="1298918" cy="1679410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CC73A45-26F4-4B39-8AA7-758D49D75D17}"/>
              </a:ext>
            </a:extLst>
          </p:cNvPr>
          <p:cNvSpPr/>
          <p:nvPr/>
        </p:nvSpPr>
        <p:spPr>
          <a:xfrm>
            <a:off x="1583596" y="5657671"/>
            <a:ext cx="984099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/>
              <a:t>Предусматривает комбинирования модели машинного обучения с моделью оптимизации</a:t>
            </a:r>
            <a:r>
              <a:rPr lang="en-US" dirty="0"/>
              <a:t> </a:t>
            </a:r>
            <a:r>
              <a:rPr lang="ru-RU" dirty="0"/>
              <a:t>и делает его более эффективным для сквозного планирования отдач легирующих материалов на плавку, делая разработку </a:t>
            </a:r>
            <a:r>
              <a:rPr lang="ru-RU" b="1" dirty="0"/>
              <a:t>актуальной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F0197DB-FBCD-4280-ACCB-A5AE96D16304}"/>
              </a:ext>
            </a:extLst>
          </p:cNvPr>
          <p:cNvSpPr/>
          <p:nvPr/>
        </p:nvSpPr>
        <p:spPr bwMode="auto">
          <a:xfrm>
            <a:off x="5087888" y="1500188"/>
            <a:ext cx="6840759" cy="4953148"/>
          </a:xfrm>
          <a:prstGeom prst="rect">
            <a:avLst/>
          </a:prstGeom>
          <a:solidFill>
            <a:srgbClr val="F2F2F2"/>
          </a:solidFill>
          <a:ln w="63500" cap="flat">
            <a:solidFill>
              <a:srgbClr val="D9D9D9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8194" name="Заголовок 1">
            <a:extLst>
              <a:ext uri="{FF2B5EF4-FFF2-40B4-BE49-F238E27FC236}">
                <a16:creationId xmlns:a16="http://schemas.microsoft.com/office/drawing/2014/main" id="{5E34B81C-B487-4426-8BFB-BB09D9E20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4" y="186531"/>
            <a:ext cx="12192000" cy="1101725"/>
          </a:xfrm>
        </p:spPr>
        <p:txBody>
          <a:bodyPr/>
          <a:lstStyle/>
          <a:p>
            <a:pPr algn="ctr"/>
            <a:r>
              <a:rPr lang="ru-RU" altLang="ru-RU" sz="2800" dirty="0">
                <a:solidFill>
                  <a:srgbClr val="FF0000"/>
                </a:solidFill>
              </a:rPr>
              <a:t>Описание процесса</a:t>
            </a:r>
            <a:endParaRPr lang="ru-RU" altLang="ru-RU" sz="2800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779F9ED-5528-48E1-BC52-3FA37390FC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9336" y="1484783"/>
            <a:ext cx="4788532" cy="5186685"/>
          </a:xfrm>
        </p:spPr>
        <p:txBody>
          <a:bodyPr rtlCol="0">
            <a:normAutofit fontScale="70000" lnSpcReduction="20000"/>
          </a:bodyPr>
          <a:lstStyle/>
          <a:p>
            <a:pPr marL="0" indent="270000" algn="just">
              <a:lnSpc>
                <a:spcPct val="100000"/>
              </a:lnSpc>
              <a:spcBef>
                <a:spcPts val="0"/>
              </a:spcBef>
              <a:defRPr/>
            </a:pPr>
            <a:r>
              <a:rPr lang="ru-RU" sz="2000" dirty="0">
                <a:solidFill>
                  <a:schemeClr val="tx1"/>
                </a:solidFill>
              </a:rPr>
              <a:t>	</a:t>
            </a:r>
            <a:r>
              <a:rPr lang="ru-RU" sz="2400" dirty="0">
                <a:solidFill>
                  <a:schemeClr val="tx1"/>
                </a:solidFill>
              </a:rPr>
              <a:t>«Идеальный» с экономической точки зрения процесс легирования:</a:t>
            </a:r>
          </a:p>
          <a:p>
            <a:pPr marL="0" indent="270000" algn="just">
              <a:lnSpc>
                <a:spcPct val="100000"/>
              </a:lnSpc>
              <a:spcBef>
                <a:spcPts val="0"/>
              </a:spcBef>
              <a:defRPr/>
            </a:pPr>
            <a:endParaRPr lang="ru-RU" sz="2400" dirty="0">
              <a:solidFill>
                <a:schemeClr val="tx1"/>
              </a:solidFill>
            </a:endParaRPr>
          </a:p>
          <a:p>
            <a:pPr marL="0" indent="270000" algn="just">
              <a:lnSpc>
                <a:spcPct val="100000"/>
              </a:lnSpc>
              <a:spcBef>
                <a:spcPts val="0"/>
              </a:spcBef>
              <a:buAutoNum type="arabicPeriod"/>
              <a:defRPr/>
            </a:pPr>
            <a:r>
              <a:rPr lang="ru-RU" sz="2400" dirty="0">
                <a:solidFill>
                  <a:schemeClr val="tx1"/>
                </a:solidFill>
              </a:rPr>
              <a:t>Добавляем оптимальное количество легированных ломов в конвертор с запасом, чтобы не выйти за границы диапазона целевого ХС.</a:t>
            </a:r>
          </a:p>
          <a:p>
            <a:pPr marL="0" indent="270000" algn="just">
              <a:lnSpc>
                <a:spcPct val="100000"/>
              </a:lnSpc>
              <a:spcBef>
                <a:spcPts val="0"/>
              </a:spcBef>
              <a:defRPr/>
            </a:pPr>
            <a:endParaRPr lang="ru-RU" sz="2400" dirty="0">
              <a:solidFill>
                <a:schemeClr val="tx1"/>
              </a:solidFill>
            </a:endParaRPr>
          </a:p>
          <a:p>
            <a:pPr marL="0" indent="270000" algn="just">
              <a:lnSpc>
                <a:spcPct val="100000"/>
              </a:lnSpc>
              <a:spcBef>
                <a:spcPts val="0"/>
              </a:spcBef>
              <a:buAutoNum type="arabicPeriod" startAt="2"/>
              <a:defRPr/>
            </a:pPr>
            <a:r>
              <a:rPr lang="ru-RU" sz="2400" dirty="0">
                <a:solidFill>
                  <a:schemeClr val="tx1"/>
                </a:solidFill>
              </a:rPr>
              <a:t>При сливе с конвертора, имея данные по текущему химическому составу, добавляем оптимальную навеску ферросплавов.</a:t>
            </a:r>
          </a:p>
          <a:p>
            <a:pPr marL="0" indent="270000" algn="just">
              <a:lnSpc>
                <a:spcPct val="100000"/>
              </a:lnSpc>
              <a:spcBef>
                <a:spcPts val="0"/>
              </a:spcBef>
              <a:defRPr/>
            </a:pPr>
            <a:endParaRPr lang="ru-RU" sz="2400" dirty="0">
              <a:solidFill>
                <a:schemeClr val="tx1"/>
              </a:solidFill>
            </a:endParaRPr>
          </a:p>
          <a:p>
            <a:pPr marL="0" indent="270000" algn="just">
              <a:lnSpc>
                <a:spcPct val="100000"/>
              </a:lnSpc>
              <a:spcBef>
                <a:spcPts val="0"/>
              </a:spcBef>
              <a:buAutoNum type="arabicPeriod" startAt="3"/>
              <a:defRPr/>
            </a:pPr>
            <a:r>
              <a:rPr lang="ru-RU" sz="2400" dirty="0">
                <a:solidFill>
                  <a:schemeClr val="tx1"/>
                </a:solidFill>
              </a:rPr>
              <a:t>На внепечной обработке доводим сталь по тем химическим элементам, где не достигнут целевой ХС, рассчитывая оптимальную навеску ферросплавов.</a:t>
            </a:r>
          </a:p>
          <a:p>
            <a:pPr marL="0" indent="270000" algn="just">
              <a:lnSpc>
                <a:spcPct val="100000"/>
              </a:lnSpc>
              <a:spcBef>
                <a:spcPts val="0"/>
              </a:spcBef>
              <a:defRPr/>
            </a:pPr>
            <a:endParaRPr lang="ru-RU" sz="2400" dirty="0">
              <a:solidFill>
                <a:schemeClr val="tx1"/>
              </a:solidFill>
            </a:endParaRPr>
          </a:p>
          <a:p>
            <a:pPr marL="0" indent="270000" algn="just">
              <a:lnSpc>
                <a:spcPct val="100000"/>
              </a:lnSpc>
              <a:spcBef>
                <a:spcPts val="0"/>
              </a:spcBef>
              <a:defRPr/>
            </a:pPr>
            <a:r>
              <a:rPr lang="ru-RU" sz="2400" dirty="0">
                <a:solidFill>
                  <a:schemeClr val="tx1"/>
                </a:solidFill>
              </a:rPr>
              <a:t>Оптимальная навеска ферросплавов представляет из себя один или несколько легирующих материалов, добавление которого позволит достичь границ целевого ХС и удовлетворит технологическим ограничения плавки, а также будет обладать наименьшей стоимостью.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B06DDFC-A250-40B9-B87A-293250E23B46}"/>
              </a:ext>
            </a:extLst>
          </p:cNvPr>
          <p:cNvSpPr/>
          <p:nvPr/>
        </p:nvSpPr>
        <p:spPr>
          <a:xfrm>
            <a:off x="10212388" y="398463"/>
            <a:ext cx="1979612" cy="677863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ru-RU" sz="4800" b="1" dirty="0"/>
              <a:t>7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62AE1B0-5584-44C5-AD70-A8BF0CA9D0DF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7906" y="1701328"/>
            <a:ext cx="6480721" cy="453598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42869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Заголовок 1">
            <a:extLst>
              <a:ext uri="{FF2B5EF4-FFF2-40B4-BE49-F238E27FC236}">
                <a16:creationId xmlns:a16="http://schemas.microsoft.com/office/drawing/2014/main" id="{E09E99DE-E0AA-4653-A58E-B5C072E10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6090" y="315913"/>
            <a:ext cx="12192000" cy="1101725"/>
          </a:xfrm>
        </p:spPr>
        <p:txBody>
          <a:bodyPr/>
          <a:lstStyle/>
          <a:p>
            <a:pPr algn="ctr"/>
            <a:r>
              <a:rPr lang="ru-RU" altLang="ru-RU" sz="2800" dirty="0">
                <a:solidFill>
                  <a:srgbClr val="FF0000"/>
                </a:solidFill>
              </a:rPr>
              <a:t>Постановка задачи  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B06DDFC-A250-40B9-B87A-293250E23B46}"/>
              </a:ext>
            </a:extLst>
          </p:cNvPr>
          <p:cNvSpPr/>
          <p:nvPr/>
        </p:nvSpPr>
        <p:spPr>
          <a:xfrm>
            <a:off x="10186298" y="475530"/>
            <a:ext cx="1979612" cy="677863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ru-RU" sz="4800" b="1" dirty="0"/>
              <a:t>8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C8FD4FB1-41D0-4A60-999B-8987999D1B0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387309298"/>
              </p:ext>
            </p:extLst>
          </p:nvPr>
        </p:nvGraphicFramePr>
        <p:xfrm>
          <a:off x="335360" y="1313011"/>
          <a:ext cx="11593288" cy="52290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B06DDFC-A250-40B9-B87A-293250E23B46}"/>
              </a:ext>
            </a:extLst>
          </p:cNvPr>
          <p:cNvSpPr/>
          <p:nvPr/>
        </p:nvSpPr>
        <p:spPr>
          <a:xfrm>
            <a:off x="10212388" y="479426"/>
            <a:ext cx="1979612" cy="677863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ru-RU" sz="4800" b="1" dirty="0"/>
              <a:t>9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55221A69-D39F-4472-86ED-1F4BE50FA252}"/>
              </a:ext>
            </a:extLst>
          </p:cNvPr>
          <p:cNvSpPr txBox="1">
            <a:spLocks/>
          </p:cNvSpPr>
          <p:nvPr/>
        </p:nvSpPr>
        <p:spPr bwMode="auto">
          <a:xfrm>
            <a:off x="0" y="2708213"/>
            <a:ext cx="12192000" cy="14415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ru-RU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ctr"/>
            <a:r>
              <a:rPr lang="ru-RU" altLang="ru-RU" sz="3600" b="1" dirty="0">
                <a:solidFill>
                  <a:srgbClr val="C00000"/>
                </a:solidFill>
              </a:rPr>
              <a:t>ЗАДАЧА 2.</a:t>
            </a:r>
            <a:r>
              <a:rPr lang="en-US" altLang="ru-RU" sz="3600" b="1" dirty="0">
                <a:solidFill>
                  <a:srgbClr val="C00000"/>
                </a:solidFill>
              </a:rPr>
              <a:t> </a:t>
            </a:r>
            <a:r>
              <a:rPr lang="ru-RU" altLang="ru-RU" sz="3600" b="1" dirty="0">
                <a:solidFill>
                  <a:srgbClr val="C00000"/>
                </a:solidFill>
              </a:rPr>
              <a:t>МАТЕМАТИЧЕСКОЕ И АЛГОРИТМИЧЕСКОЕ ОБЕСПЕЧЕНИЕ МОДЕЛИ ЛЕГИРОВАНИЯ ПЛАВОК</a:t>
            </a:r>
          </a:p>
        </p:txBody>
      </p:sp>
    </p:spTree>
    <p:extLst>
      <p:ext uri="{BB962C8B-B14F-4D97-AF65-F5344CB8AC3E}">
        <p14:creationId xmlns:p14="http://schemas.microsoft.com/office/powerpoint/2010/main" val="32108530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196E73F3-AFD3-40A1-B330-9778E0D913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464" y="1408354"/>
            <a:ext cx="10752576" cy="4828958"/>
          </a:xfrm>
          <a:prstGeom prst="rect">
            <a:avLst/>
          </a:prstGeom>
        </p:spPr>
      </p:pic>
      <p:sp>
        <p:nvSpPr>
          <p:cNvPr id="11266" name="Заголовок 1">
            <a:extLst>
              <a:ext uri="{FF2B5EF4-FFF2-40B4-BE49-F238E27FC236}">
                <a16:creationId xmlns:a16="http://schemas.microsoft.com/office/drawing/2014/main" id="{364DDBB6-4C98-4EDD-8423-BA7EFDB00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8640"/>
            <a:ext cx="12192000" cy="1101725"/>
          </a:xfrm>
        </p:spPr>
        <p:txBody>
          <a:bodyPr>
            <a:normAutofit/>
          </a:bodyPr>
          <a:lstStyle/>
          <a:p>
            <a:pPr algn="ctr"/>
            <a:r>
              <a:rPr lang="ru-RU" altLang="ru-RU" sz="2800" dirty="0"/>
              <a:t> </a:t>
            </a:r>
            <a:r>
              <a:rPr lang="ru-RU" altLang="ru-RU" sz="2800" dirty="0">
                <a:solidFill>
                  <a:srgbClr val="FF0000"/>
                </a:solidFill>
              </a:rPr>
              <a:t>Функциональная модель</a:t>
            </a:r>
            <a:br>
              <a:rPr lang="ru-RU" altLang="ru-RU" sz="2800" dirty="0">
                <a:solidFill>
                  <a:srgbClr val="FF0000"/>
                </a:solidFill>
              </a:rPr>
            </a:br>
            <a:r>
              <a:rPr lang="ru-RU" altLang="ru-RU" sz="2800" dirty="0">
                <a:solidFill>
                  <a:srgbClr val="FF0000"/>
                </a:solidFill>
              </a:rPr>
              <a:t> легирования плавки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779F9ED-5528-48E1-BC52-3FA37390FC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3392" y="1548606"/>
            <a:ext cx="11089231" cy="5034758"/>
          </a:xfrm>
        </p:spPr>
        <p:txBody>
          <a:bodyPr rtlCol="0">
            <a:normAutofit/>
          </a:bodyPr>
          <a:lstStyle/>
          <a:p>
            <a:pPr marL="0" indent="0">
              <a:spcBef>
                <a:spcPts val="50"/>
              </a:spcBef>
              <a:defRPr/>
            </a:pPr>
            <a:r>
              <a:rPr lang="ru-RU" sz="2000" dirty="0">
                <a:solidFill>
                  <a:schemeClr val="tx1"/>
                </a:solidFill>
              </a:rPr>
              <a:t>   </a:t>
            </a:r>
            <a:endParaRPr lang="ru-RU" sz="1800" dirty="0">
              <a:solidFill>
                <a:schemeClr val="tx1"/>
              </a:solidFill>
              <a:cs typeface="Calibri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B06DDFC-A250-40B9-B87A-293250E23B46}"/>
              </a:ext>
            </a:extLst>
          </p:cNvPr>
          <p:cNvSpPr/>
          <p:nvPr/>
        </p:nvSpPr>
        <p:spPr>
          <a:xfrm>
            <a:off x="10212388" y="446881"/>
            <a:ext cx="1979612" cy="677863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ru-RU" sz="4800" b="1" dirty="0"/>
              <a:t>10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28178B2F-63D1-4518-9464-FF9E13A3BE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5480" y="2366665"/>
            <a:ext cx="1996515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803BA55-A2EA-4016-800E-2C7D28953CE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26577"/>
          <a:stretch/>
        </p:blipFill>
        <p:spPr>
          <a:xfrm>
            <a:off x="4367808" y="1683833"/>
            <a:ext cx="871525" cy="9530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F713E5E-0527-4388-B63B-7499A64116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68208" y="3573016"/>
            <a:ext cx="432048" cy="7686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F84E8E5-BC62-4FA0-BE4C-EB8F683F25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84432" y="3321980"/>
            <a:ext cx="490043" cy="6110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BF7EDC1B-A67C-4F2E-97A9-8506781BC8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44472" y="3247457"/>
            <a:ext cx="423208" cy="6135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Рисунок 3" descr="Попасть в яблочко">
            <a:extLst>
              <a:ext uri="{FF2B5EF4-FFF2-40B4-BE49-F238E27FC236}">
                <a16:creationId xmlns:a16="http://schemas.microsoft.com/office/drawing/2014/main" id="{2162C994-CADD-44DE-9B92-8A2808494D27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65955" y="1700808"/>
            <a:ext cx="438157" cy="4381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Прямоугольник 4"/>
          <p:cNvSpPr/>
          <p:nvPr/>
        </p:nvSpPr>
        <p:spPr bwMode="auto">
          <a:xfrm>
            <a:off x="0" y="3776708"/>
            <a:ext cx="5951984" cy="16739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15" name="Прямоугольник: скругленные углы 12">
            <a:extLst>
              <a:ext uri="{FF2B5EF4-FFF2-40B4-BE49-F238E27FC236}">
                <a16:creationId xmlns:a16="http://schemas.microsoft.com/office/drawing/2014/main" id="{B6B7B16E-8CAE-4EBA-ADD1-8D5F5692D3C8}"/>
              </a:ext>
            </a:extLst>
          </p:cNvPr>
          <p:cNvSpPr/>
          <p:nvPr/>
        </p:nvSpPr>
        <p:spPr bwMode="auto">
          <a:xfrm>
            <a:off x="65186" y="3538087"/>
            <a:ext cx="5886798" cy="3270150"/>
          </a:xfrm>
          <a:prstGeom prst="roundRect">
            <a:avLst>
              <a:gd name="adj" fmla="val 9032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endParaRPr lang="ru-RU" u="sng" dirty="0">
              <a:solidFill>
                <a:srgbClr val="DC3B34"/>
              </a:solidFill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46BD858E-741B-44F8-B0F3-C32E1CB11774}"/>
              </a:ext>
            </a:extLst>
          </p:cNvPr>
          <p:cNvSpPr/>
          <p:nvPr/>
        </p:nvSpPr>
        <p:spPr>
          <a:xfrm>
            <a:off x="311975" y="3429000"/>
            <a:ext cx="54239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ru-RU" sz="1600" u="sng" dirty="0">
                <a:solidFill>
                  <a:srgbClr val="DC3B34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Декомпозиция функции расчета ферросплавов и лома</a:t>
            </a:r>
            <a:endParaRPr lang="ru-RU" sz="1600" u="sng" dirty="0">
              <a:solidFill>
                <a:srgbClr val="DC3B34"/>
              </a:solidFill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4D0BFA4A-0639-4640-9448-836DB145A47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944" y="3821697"/>
            <a:ext cx="5855040" cy="291976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Заголовок 1">
            <a:extLst>
              <a:ext uri="{FF2B5EF4-FFF2-40B4-BE49-F238E27FC236}">
                <a16:creationId xmlns:a16="http://schemas.microsoft.com/office/drawing/2014/main" id="{364DDBB6-4C98-4EDD-8423-BA7EFDB00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35" y="236468"/>
            <a:ext cx="12192000" cy="1101725"/>
          </a:xfrm>
        </p:spPr>
        <p:txBody>
          <a:bodyPr>
            <a:normAutofit/>
          </a:bodyPr>
          <a:lstStyle/>
          <a:p>
            <a:pPr algn="ctr"/>
            <a:r>
              <a:rPr lang="ru-RU" altLang="ru-RU" sz="2800" dirty="0"/>
              <a:t> </a:t>
            </a:r>
            <a:r>
              <a:rPr lang="ru-RU" altLang="ru-RU" sz="2800" dirty="0">
                <a:solidFill>
                  <a:srgbClr val="FF0000"/>
                </a:solidFill>
              </a:rPr>
              <a:t>Математическая модель</a:t>
            </a:r>
            <a:br>
              <a:rPr lang="ru-RU" altLang="ru-RU" sz="2800" dirty="0">
                <a:solidFill>
                  <a:srgbClr val="FF0000"/>
                </a:solidFill>
              </a:rPr>
            </a:br>
            <a:r>
              <a:rPr lang="ru-RU" altLang="ru-RU" sz="2800" dirty="0">
                <a:solidFill>
                  <a:srgbClr val="FF0000"/>
                </a:solidFill>
              </a:rPr>
              <a:t> прогнозирования химического состава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779F9ED-5528-48E1-BC52-3FA37390FC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3392" y="1548606"/>
            <a:ext cx="11089231" cy="5034758"/>
          </a:xfrm>
        </p:spPr>
        <p:txBody>
          <a:bodyPr rtlCol="0">
            <a:normAutofit/>
          </a:bodyPr>
          <a:lstStyle/>
          <a:p>
            <a:pPr marL="0" indent="0">
              <a:spcBef>
                <a:spcPts val="50"/>
              </a:spcBef>
              <a:defRPr/>
            </a:pPr>
            <a:r>
              <a:rPr lang="ru-RU" sz="2000" dirty="0">
                <a:solidFill>
                  <a:schemeClr val="tx1"/>
                </a:solidFill>
              </a:rPr>
              <a:t>   </a:t>
            </a:r>
            <a:endParaRPr lang="ru-RU" sz="1800" dirty="0">
              <a:solidFill>
                <a:schemeClr val="tx1"/>
              </a:solidFill>
              <a:cs typeface="Calibri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B06DDFC-A250-40B9-B87A-293250E23B46}"/>
              </a:ext>
            </a:extLst>
          </p:cNvPr>
          <p:cNvSpPr/>
          <p:nvPr/>
        </p:nvSpPr>
        <p:spPr>
          <a:xfrm>
            <a:off x="10212388" y="446881"/>
            <a:ext cx="1979612" cy="677863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ru-RU" sz="4800" b="1" dirty="0"/>
              <a:t>11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28178B2F-63D1-4518-9464-FF9E13A3BE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5480" y="2366665"/>
            <a:ext cx="1996515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438E7ED-5E61-421B-9CE0-707E6F71F134}"/>
              </a:ext>
            </a:extLst>
          </p:cNvPr>
          <p:cNvSpPr/>
          <p:nvPr/>
        </p:nvSpPr>
        <p:spPr>
          <a:xfrm>
            <a:off x="621514" y="1453697"/>
            <a:ext cx="1116311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9875" algn="just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Математическая модель прогнозирования химического состава (ХС) основывается на данных об используемых </a:t>
            </a:r>
            <a:r>
              <a:rPr lang="ru-RU" dirty="0">
                <a:solidFill>
                  <a:srgbClr val="000000"/>
                </a:solidFill>
                <a:cs typeface="Times New Roman" panose="02020603050405020304" pitchFamily="18" charset="0"/>
              </a:rPr>
              <a:t>легирующих материалах и технологических параметрах обработки плавки, таких как углеродный эквивалент, целевое содержание химических элементов в плавке.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07F73AA-EDC3-465F-A069-76CFFDBF5AF3}"/>
              </a:ext>
            </a:extLst>
          </p:cNvPr>
          <p:cNvSpPr/>
          <p:nvPr/>
        </p:nvSpPr>
        <p:spPr>
          <a:xfrm>
            <a:off x="442432" y="5733256"/>
            <a:ext cx="1152127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9875" algn="just">
              <a:spcAft>
                <a:spcPts val="0"/>
              </a:spcAft>
            </a:pPr>
            <a:r>
              <a:rPr lang="ru-RU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>
                <a:solidFill>
                  <a:srgbClr val="000000"/>
                </a:solidFill>
                <a:cs typeface="Times New Roman" panose="02020603050405020304" pitchFamily="18" charset="0"/>
              </a:rPr>
              <a:t>Модель прогнозного химического состава является многосвязной, в связи с необходимостью обеспечивать управление несколькими входными величинами объекта, используя несколько входов.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8E1E2C27-A104-4539-9448-70A43DCE48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3652" y="3957264"/>
            <a:ext cx="6264696" cy="787327"/>
          </a:xfrm>
          <a:prstGeom prst="rect">
            <a:avLst/>
          </a:prstGeom>
        </p:spPr>
      </p:pic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EAFE799D-5498-41A0-A586-81D9915671F7}"/>
              </a:ext>
            </a:extLst>
          </p:cNvPr>
          <p:cNvSpPr/>
          <p:nvPr/>
        </p:nvSpPr>
        <p:spPr>
          <a:xfrm>
            <a:off x="621514" y="4868372"/>
            <a:ext cx="1116277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9875" algn="just"/>
            <a:r>
              <a:rPr lang="ru-RU" sz="1400" dirty="0">
                <a:solidFill>
                  <a:srgbClr val="000000"/>
                </a:solidFill>
                <a:cs typeface="Times New Roman" panose="02020603050405020304" pitchFamily="18" charset="0"/>
              </a:rPr>
              <a:t>,где множество </a:t>
            </a:r>
            <a:r>
              <a:rPr lang="en-US" sz="1400" dirty="0">
                <a:solidFill>
                  <a:srgbClr val="000000"/>
                </a:solidFill>
                <a:cs typeface="Times New Roman" panose="02020603050405020304" pitchFamily="18" charset="0"/>
              </a:rPr>
              <a:t>Y</a:t>
            </a:r>
            <a:r>
              <a:rPr lang="ru-RU" sz="1400" dirty="0">
                <a:solidFill>
                  <a:srgbClr val="000000"/>
                </a:solidFill>
                <a:cs typeface="Times New Roman" panose="02020603050405020304" pitchFamily="18" charset="0"/>
              </a:rPr>
              <a:t>` = {</a:t>
            </a:r>
            <a:r>
              <a:rPr lang="en-US" sz="1400" dirty="0">
                <a:solidFill>
                  <a:srgbClr val="000000"/>
                </a:solidFill>
                <a:cs typeface="Times New Roman" panose="02020603050405020304" pitchFamily="18" charset="0"/>
              </a:rPr>
              <a:t>y</a:t>
            </a:r>
            <a:r>
              <a:rPr lang="ru-RU" sz="1400" dirty="0">
                <a:solidFill>
                  <a:srgbClr val="000000"/>
                </a:solidFill>
                <a:cs typeface="Times New Roman" panose="02020603050405020304" pitchFamily="18" charset="0"/>
              </a:rPr>
              <a:t>`1…</a:t>
            </a:r>
            <a:r>
              <a:rPr lang="en-US" sz="1400" dirty="0">
                <a:solidFill>
                  <a:srgbClr val="000000"/>
                </a:solidFill>
                <a:cs typeface="Times New Roman" panose="02020603050405020304" pitchFamily="18" charset="0"/>
              </a:rPr>
              <a:t>y</a:t>
            </a:r>
            <a:r>
              <a:rPr lang="ru-RU" sz="1400" dirty="0">
                <a:solidFill>
                  <a:srgbClr val="000000"/>
                </a:solidFill>
                <a:cs typeface="Times New Roman" panose="02020603050405020304" pitchFamily="18" charset="0"/>
              </a:rPr>
              <a:t>`</a:t>
            </a:r>
            <a:r>
              <a:rPr lang="en-US" sz="1400" dirty="0">
                <a:solidFill>
                  <a:srgbClr val="000000"/>
                </a:solidFill>
                <a:cs typeface="Times New Roman" panose="02020603050405020304" pitchFamily="18" charset="0"/>
              </a:rPr>
              <a:t>k</a:t>
            </a:r>
            <a:r>
              <a:rPr lang="ru-RU" sz="1400" dirty="0">
                <a:solidFill>
                  <a:srgbClr val="000000"/>
                </a:solidFill>
                <a:cs typeface="Times New Roman" panose="02020603050405020304" pitchFamily="18" charset="0"/>
              </a:rPr>
              <a:t>}, начальное содержание химического элемента в плавке, до момента отдачи легирующих материалов, </a:t>
            </a:r>
            <a:r>
              <a:rPr lang="en-US" sz="1400" dirty="0">
                <a:solidFill>
                  <a:srgbClr val="000000"/>
                </a:solidFill>
                <a:cs typeface="Times New Roman" panose="02020603050405020304" pitchFamily="18" charset="0"/>
              </a:rPr>
              <a:t>k</a:t>
            </a:r>
            <a:r>
              <a:rPr lang="ru-RU" sz="1400" dirty="0">
                <a:solidFill>
                  <a:srgbClr val="000000"/>
                </a:solidFill>
                <a:cs typeface="Times New Roman" panose="02020603050405020304" pitchFamily="18" charset="0"/>
              </a:rPr>
              <a:t> – количество химических элементов, </a:t>
            </a:r>
            <a:r>
              <a:rPr lang="en-US" sz="1400" dirty="0" err="1">
                <a:solidFill>
                  <a:srgbClr val="000000"/>
                </a:solidFill>
                <a:cs typeface="Times New Roman" panose="02020603050405020304" pitchFamily="18" charset="0"/>
              </a:rPr>
              <a:t>yk</a:t>
            </a:r>
            <a:r>
              <a:rPr lang="ru-RU" sz="1400" dirty="0">
                <a:solidFill>
                  <a:srgbClr val="000000"/>
                </a:solidFill>
                <a:cs typeface="Times New Roman" panose="02020603050405020304" pitchFamily="18" charset="0"/>
              </a:rPr>
              <a:t> – содержание конкретного химического элемента.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26F3E0A4-7552-47D2-8936-01A7BFE1BB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998" y="2665219"/>
            <a:ext cx="7314004" cy="413733"/>
          </a:xfrm>
          <a:prstGeom prst="rect">
            <a:avLst/>
          </a:prstGeom>
        </p:spPr>
      </p:pic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E15DCD77-C26D-4144-B507-AD959C209E4E}"/>
              </a:ext>
            </a:extLst>
          </p:cNvPr>
          <p:cNvSpPr/>
          <p:nvPr/>
        </p:nvSpPr>
        <p:spPr>
          <a:xfrm>
            <a:off x="621514" y="3159352"/>
            <a:ext cx="1116277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9875" algn="just"/>
            <a:r>
              <a:rPr lang="ru-RU" sz="1400" dirty="0">
                <a:solidFill>
                  <a:srgbClr val="000000"/>
                </a:solidFill>
                <a:cs typeface="Times New Roman" panose="02020603050405020304" pitchFamily="18" charset="0"/>
              </a:rPr>
              <a:t>,где S, определяет сколько химического элемента, усвоенного в плавке, </a:t>
            </a:r>
            <a:r>
              <a:rPr lang="en-US" sz="1400" dirty="0">
                <a:solidFill>
                  <a:srgbClr val="000000"/>
                </a:solidFill>
                <a:cs typeface="Times New Roman" panose="02020603050405020304" pitchFamily="18" charset="0"/>
              </a:rPr>
              <a:t>X  </a:t>
            </a:r>
            <a:r>
              <a:rPr lang="ru-RU" sz="1400" dirty="0">
                <a:solidFill>
                  <a:srgbClr val="000000"/>
                </a:solidFill>
                <a:cs typeface="Times New Roman" panose="02020603050405020304" pitchFamily="18" charset="0"/>
              </a:rPr>
              <a:t>определяет </a:t>
            </a:r>
            <a:r>
              <a:rPr lang="ru-RU" sz="1400">
                <a:solidFill>
                  <a:srgbClr val="000000"/>
                </a:solidFill>
                <a:cs typeface="Times New Roman" panose="02020603050405020304" pitchFamily="18" charset="0"/>
              </a:rPr>
              <a:t>количество отданного </a:t>
            </a:r>
            <a:r>
              <a:rPr lang="ru-RU" sz="1400" dirty="0">
                <a:solidFill>
                  <a:srgbClr val="000000"/>
                </a:solidFill>
                <a:cs typeface="Times New Roman" panose="02020603050405020304" pitchFamily="18" charset="0"/>
              </a:rPr>
              <a:t>материала в кг., </a:t>
            </a:r>
            <a:r>
              <a:rPr lang="en-US" sz="1400" dirty="0">
                <a:solidFill>
                  <a:srgbClr val="000000"/>
                </a:solidFill>
                <a:cs typeface="Times New Roman" panose="02020603050405020304" pitchFamily="18" charset="0"/>
              </a:rPr>
              <a:t>A </a:t>
            </a:r>
            <a:r>
              <a:rPr lang="ru-RU" sz="1400" dirty="0">
                <a:solidFill>
                  <a:srgbClr val="000000"/>
                </a:solidFill>
                <a:cs typeface="Times New Roman" panose="02020603050405020304" pitchFamily="18" charset="0"/>
              </a:rPr>
              <a:t>определяет содержания химического элемента в материале, </a:t>
            </a:r>
            <a:r>
              <a:rPr lang="en-US" sz="1400" dirty="0">
                <a:solidFill>
                  <a:srgbClr val="000000"/>
                </a:solidFill>
                <a:cs typeface="Times New Roman" panose="02020603050405020304" pitchFamily="18" charset="0"/>
              </a:rPr>
              <a:t>u – </a:t>
            </a:r>
            <a:r>
              <a:rPr lang="ru-RU" sz="1400" dirty="0">
                <a:solidFill>
                  <a:srgbClr val="000000"/>
                </a:solidFill>
                <a:cs typeface="Times New Roman" panose="02020603050405020304" pitchFamily="18" charset="0"/>
              </a:rPr>
              <a:t>усвоение химического элемента в плавке 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008A8E7F-C4DB-4913-A1C2-F29E80804F50}"/>
              </a:ext>
            </a:extLst>
          </p:cNvPr>
          <p:cNvSpPr/>
          <p:nvPr/>
        </p:nvSpPr>
        <p:spPr bwMode="auto">
          <a:xfrm>
            <a:off x="335360" y="2467522"/>
            <a:ext cx="11628351" cy="3212262"/>
          </a:xfrm>
          <a:prstGeom prst="rect">
            <a:avLst/>
          </a:prstGeom>
          <a:noFill/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17299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Заголовок 1">
            <a:extLst>
              <a:ext uri="{FF2B5EF4-FFF2-40B4-BE49-F238E27FC236}">
                <a16:creationId xmlns:a16="http://schemas.microsoft.com/office/drawing/2014/main" id="{364DDBB6-4C98-4EDD-8423-BA7EFDB00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344" y="234949"/>
            <a:ext cx="12192000" cy="1101725"/>
          </a:xfrm>
        </p:spPr>
        <p:txBody>
          <a:bodyPr>
            <a:normAutofit/>
          </a:bodyPr>
          <a:lstStyle/>
          <a:p>
            <a:pPr algn="ctr"/>
            <a:r>
              <a:rPr lang="ru-RU" altLang="ru-RU" sz="2800" dirty="0"/>
              <a:t> </a:t>
            </a:r>
            <a:r>
              <a:rPr lang="ru-RU" altLang="ru-RU" sz="2800" dirty="0">
                <a:solidFill>
                  <a:srgbClr val="FF0000"/>
                </a:solidFill>
              </a:rPr>
              <a:t>Регрессионная модель прогнозирования </a:t>
            </a:r>
            <a:br>
              <a:rPr lang="ru-RU" altLang="ru-RU" sz="2800" dirty="0">
                <a:solidFill>
                  <a:srgbClr val="FF0000"/>
                </a:solidFill>
              </a:rPr>
            </a:br>
            <a:r>
              <a:rPr lang="ru-RU" altLang="ru-RU" sz="2800" dirty="0">
                <a:solidFill>
                  <a:srgbClr val="FF0000"/>
                </a:solidFill>
              </a:rPr>
              <a:t>усвоения химического элемента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779F9ED-5528-48E1-BC52-3FA37390FC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3392" y="1548606"/>
            <a:ext cx="11089231" cy="5034758"/>
          </a:xfrm>
        </p:spPr>
        <p:txBody>
          <a:bodyPr rtlCol="0">
            <a:normAutofit/>
          </a:bodyPr>
          <a:lstStyle/>
          <a:p>
            <a:pPr marL="0" indent="0">
              <a:spcBef>
                <a:spcPts val="50"/>
              </a:spcBef>
              <a:defRPr/>
            </a:pPr>
            <a:r>
              <a:rPr lang="ru-RU" sz="2000" dirty="0">
                <a:solidFill>
                  <a:schemeClr val="tx1"/>
                </a:solidFill>
              </a:rPr>
              <a:t>   </a:t>
            </a:r>
            <a:endParaRPr lang="ru-RU" sz="1800" dirty="0">
              <a:solidFill>
                <a:schemeClr val="tx1"/>
              </a:solidFill>
              <a:cs typeface="Calibri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B06DDFC-A250-40B9-B87A-293250E23B46}"/>
              </a:ext>
            </a:extLst>
          </p:cNvPr>
          <p:cNvSpPr/>
          <p:nvPr/>
        </p:nvSpPr>
        <p:spPr>
          <a:xfrm>
            <a:off x="10212388" y="446881"/>
            <a:ext cx="1979612" cy="677863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ru-RU" sz="4800" b="1" dirty="0"/>
              <a:t>12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28178B2F-63D1-4518-9464-FF9E13A3BE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5480" y="2366665"/>
            <a:ext cx="1996515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438E7ED-5E61-421B-9CE0-707E6F71F134}"/>
              </a:ext>
            </a:extLst>
          </p:cNvPr>
          <p:cNvSpPr/>
          <p:nvPr/>
        </p:nvSpPr>
        <p:spPr>
          <a:xfrm>
            <a:off x="657953" y="1609196"/>
            <a:ext cx="1116311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9875" algn="just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Модель позволит получить сведения об усвоении химического элемента на основании статистической выборки с агрегата ВОС за краткосрочный период времени. 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008A8E7F-C4DB-4913-A1C2-F29E80804F50}"/>
              </a:ext>
            </a:extLst>
          </p:cNvPr>
          <p:cNvSpPr/>
          <p:nvPr/>
        </p:nvSpPr>
        <p:spPr bwMode="auto">
          <a:xfrm>
            <a:off x="281824" y="2624316"/>
            <a:ext cx="11628351" cy="2271133"/>
          </a:xfrm>
          <a:prstGeom prst="rect">
            <a:avLst/>
          </a:prstGeom>
          <a:noFill/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0D8C89A-A828-4F51-92FA-E09E1E23F7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8206" y="3271937"/>
            <a:ext cx="5942612" cy="733127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09F3439-E947-4131-BF91-6D445B7BE3CE}"/>
              </a:ext>
            </a:extLst>
          </p:cNvPr>
          <p:cNvSpPr/>
          <p:nvPr/>
        </p:nvSpPr>
        <p:spPr>
          <a:xfrm>
            <a:off x="340657" y="4034336"/>
            <a:ext cx="1151068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180340" algn="just" fontAlgn="base">
              <a:spcAft>
                <a:spcPts val="0"/>
              </a:spcAft>
            </a:pPr>
            <a:r>
              <a:rPr lang="ru-RU" sz="1400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где:</a:t>
            </a:r>
            <a:endParaRPr lang="ru-RU" sz="1400" dirty="0">
              <a:solidFill>
                <a:srgbClr val="000000"/>
              </a:solidFill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indent="180340" algn="just" fontAlgn="base"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ru-RU" sz="1400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-количество факторов с линейной зависимостью,</a:t>
            </a:r>
            <a:r>
              <a:rPr lang="en-US" sz="1400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u-RU" sz="1400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- количество факторов с квадратичной зависимостью,</a:t>
            </a:r>
            <a:r>
              <a:rPr lang="ru-RU" sz="1400" dirty="0">
                <a:solidFill>
                  <a:srgbClr val="000000"/>
                </a:solidFill>
                <a:ea typeface="Times New Roman" panose="02020603050405020304" pitchFamily="18" charset="0"/>
                <a:cs typeface="Mangal" panose="02040503050203030202" pitchFamily="18" charset="0"/>
              </a:rPr>
              <a:t> </a:t>
            </a:r>
          </a:p>
          <a:p>
            <a:pPr indent="180340" algn="just" fontAlgn="base">
              <a:spcAft>
                <a:spcPts val="0"/>
              </a:spcAft>
            </a:pPr>
            <a:r>
              <a:rPr lang="en-US" sz="1400" dirty="0">
                <a:ea typeface="Times New Roman" panose="02020603050405020304" pitchFamily="18" charset="0"/>
              </a:rPr>
              <a:t>n</a:t>
            </a:r>
            <a:r>
              <a:rPr lang="ru-RU" sz="1400" dirty="0">
                <a:ea typeface="Times New Roman" panose="02020603050405020304" pitchFamily="18" charset="0"/>
              </a:rPr>
              <a:t> - количество факторов с кубической зависимостью.</a:t>
            </a:r>
            <a:endParaRPr lang="ru-RU" sz="1400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6E25AAF-947B-4AD9-B9A6-02E56AC0F4FC}"/>
              </a:ext>
            </a:extLst>
          </p:cNvPr>
          <p:cNvSpPr/>
          <p:nvPr/>
        </p:nvSpPr>
        <p:spPr>
          <a:xfrm>
            <a:off x="534465" y="2662982"/>
            <a:ext cx="1141009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>
                <a:ea typeface="Times New Roman" panose="02020603050405020304" pitchFamily="18" charset="0"/>
              </a:rPr>
              <a:t>Решение задачи множественной регрессии состоит в выявления произвольного члена и коэффициента, описываемых следующей функцией:</a:t>
            </a:r>
            <a:endParaRPr lang="ru-RU" sz="1400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27D479EF-548C-419C-9E39-BE1364A428F0}"/>
              </a:ext>
            </a:extLst>
          </p:cNvPr>
          <p:cNvSpPr/>
          <p:nvPr/>
        </p:nvSpPr>
        <p:spPr>
          <a:xfrm>
            <a:off x="281824" y="5013176"/>
            <a:ext cx="1162835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ea typeface="Times New Roman" panose="02020603050405020304" pitchFamily="18" charset="0"/>
              </a:rPr>
              <a:t>   Модель комбинируется с уравнением расчета веса химического элемента в зависимости от отдачи легирующих материалов и позволяет рассчитывать усвоения индивидуально для каждой плавки, тем самым увеличивая точность расчета рекомендации по отдаче легирующих материалов на плавку.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155682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Заголовок 1">
            <a:extLst>
              <a:ext uri="{FF2B5EF4-FFF2-40B4-BE49-F238E27FC236}">
                <a16:creationId xmlns:a16="http://schemas.microsoft.com/office/drawing/2014/main" id="{364DDBB6-4C98-4EDD-8423-BA7EFDB00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344" y="234949"/>
            <a:ext cx="12192000" cy="1101725"/>
          </a:xfrm>
        </p:spPr>
        <p:txBody>
          <a:bodyPr>
            <a:normAutofit/>
          </a:bodyPr>
          <a:lstStyle/>
          <a:p>
            <a:pPr algn="ctr"/>
            <a:r>
              <a:rPr lang="ru-RU" altLang="ru-RU" sz="2800" dirty="0"/>
              <a:t> </a:t>
            </a:r>
            <a:r>
              <a:rPr lang="ru-RU" altLang="ru-RU" sz="2800" dirty="0">
                <a:solidFill>
                  <a:srgbClr val="FF0000"/>
                </a:solidFill>
              </a:rPr>
              <a:t>Модель оптимизации легирования плавок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779F9ED-5528-48E1-BC52-3FA37390FC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3392" y="1548606"/>
            <a:ext cx="11089231" cy="5034758"/>
          </a:xfrm>
        </p:spPr>
        <p:txBody>
          <a:bodyPr rtlCol="0">
            <a:normAutofit/>
          </a:bodyPr>
          <a:lstStyle/>
          <a:p>
            <a:pPr marL="0" indent="0">
              <a:spcBef>
                <a:spcPts val="50"/>
              </a:spcBef>
              <a:defRPr/>
            </a:pPr>
            <a:r>
              <a:rPr lang="ru-RU" sz="2000" dirty="0">
                <a:solidFill>
                  <a:schemeClr val="tx1"/>
                </a:solidFill>
              </a:rPr>
              <a:t>   </a:t>
            </a:r>
            <a:endParaRPr lang="ru-RU" sz="1800" dirty="0">
              <a:solidFill>
                <a:schemeClr val="tx1"/>
              </a:solidFill>
              <a:cs typeface="Calibri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B06DDFC-A250-40B9-B87A-293250E23B46}"/>
              </a:ext>
            </a:extLst>
          </p:cNvPr>
          <p:cNvSpPr/>
          <p:nvPr/>
        </p:nvSpPr>
        <p:spPr>
          <a:xfrm>
            <a:off x="10212388" y="446881"/>
            <a:ext cx="1979612" cy="677863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ru-RU" sz="4800" b="1" dirty="0"/>
              <a:t>13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28178B2F-63D1-4518-9464-FF9E13A3BE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5480" y="2366665"/>
            <a:ext cx="1996515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438E7ED-5E61-421B-9CE0-707E6F71F134}"/>
              </a:ext>
            </a:extLst>
          </p:cNvPr>
          <p:cNvSpPr/>
          <p:nvPr/>
        </p:nvSpPr>
        <p:spPr>
          <a:xfrm>
            <a:off x="316208" y="1434514"/>
            <a:ext cx="1162835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9875" algn="just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dirty="0">
                <a:solidFill>
                  <a:srgbClr val="000000"/>
                </a:solidFill>
                <a:ea typeface="Calibri" panose="020F0502020204030204" pitchFamily="34" charset="0"/>
              </a:rPr>
              <a:t>Задача модели - обеспечить минимальную стоимость легирования плавки за счет минимизации затрат на легирующие материалы при этом удовлетворив ограничения по целевому химическому составу, углеродному эквиваленту и т.д. </a:t>
            </a:r>
            <a:endParaRPr lang="ru-RU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008A8E7F-C4DB-4913-A1C2-F29E80804F50}"/>
              </a:ext>
            </a:extLst>
          </p:cNvPr>
          <p:cNvSpPr/>
          <p:nvPr/>
        </p:nvSpPr>
        <p:spPr bwMode="auto">
          <a:xfrm>
            <a:off x="281824" y="2624317"/>
            <a:ext cx="11628351" cy="1381576"/>
          </a:xfrm>
          <a:prstGeom prst="rect">
            <a:avLst/>
          </a:prstGeom>
          <a:noFill/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09F3439-E947-4131-BF91-6D445B7BE3CE}"/>
              </a:ext>
            </a:extLst>
          </p:cNvPr>
          <p:cNvSpPr/>
          <p:nvPr/>
        </p:nvSpPr>
        <p:spPr>
          <a:xfrm>
            <a:off x="340657" y="3343990"/>
            <a:ext cx="1151068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180340" algn="just" fontAlgn="base">
              <a:spcAft>
                <a:spcPts val="0"/>
              </a:spcAft>
            </a:pPr>
            <a:r>
              <a:rPr lang="ru-RU" sz="1400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где:</a:t>
            </a:r>
            <a:endParaRPr lang="ru-RU" sz="1400" dirty="0">
              <a:solidFill>
                <a:srgbClr val="000000"/>
              </a:solidFill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indent="180340" algn="just" fontAlgn="base"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u-RU" sz="1400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–цена легирующего материала,</a:t>
            </a:r>
            <a:r>
              <a:rPr lang="en-US" sz="1400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x – </a:t>
            </a:r>
            <a:r>
              <a:rPr lang="ru-RU" sz="1400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количество рекомендованного материала в кг.</a:t>
            </a:r>
            <a:r>
              <a:rPr lang="ru-RU" sz="1400" dirty="0">
                <a:ea typeface="Times New Roman" panose="02020603050405020304" pitchFamily="18" charset="0"/>
              </a:rPr>
              <a:t>.</a:t>
            </a:r>
            <a:endParaRPr lang="ru-RU" sz="1400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6E25AAF-947B-4AD9-B9A6-02E56AC0F4FC}"/>
              </a:ext>
            </a:extLst>
          </p:cNvPr>
          <p:cNvSpPr/>
          <p:nvPr/>
        </p:nvSpPr>
        <p:spPr>
          <a:xfrm>
            <a:off x="534465" y="2662982"/>
            <a:ext cx="1141009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>
                <a:ea typeface="Times New Roman" panose="02020603050405020304" pitchFamily="18" charset="0"/>
              </a:rPr>
              <a:t>Целевая функция:</a:t>
            </a:r>
            <a:endParaRPr lang="ru-RU" sz="1400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27D479EF-548C-419C-9E39-BE1364A428F0}"/>
              </a:ext>
            </a:extLst>
          </p:cNvPr>
          <p:cNvSpPr/>
          <p:nvPr/>
        </p:nvSpPr>
        <p:spPr>
          <a:xfrm>
            <a:off x="353831" y="4454725"/>
            <a:ext cx="1162835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70000"/>
            <a:r>
              <a:rPr lang="ru-RU" dirty="0">
                <a:solidFill>
                  <a:srgbClr val="000000"/>
                </a:solidFill>
              </a:rPr>
              <a:t>Ограничения и целевая функция этой задачи имеют линейный вид, что позволяет решать её средствами и алгоритмами оптимизации линейного программирования.</a:t>
            </a:r>
          </a:p>
          <a:p>
            <a:pPr indent="270000"/>
            <a:r>
              <a:rPr lang="ru-RU" dirty="0">
                <a:solidFill>
                  <a:srgbClr val="000000"/>
                </a:solidFill>
              </a:rPr>
              <a:t>В качестве оптимального метода был выбран «Симплекс- метод», как алгоритм решения с гарантией нахождения глобального оптимума функции.  </a:t>
            </a:r>
          </a:p>
          <a:p>
            <a:endParaRPr lang="ru-RU" dirty="0"/>
          </a:p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AACB8EF-8547-4C55-B5E8-C524BBC51C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3134" y="3114018"/>
            <a:ext cx="7672756" cy="348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9035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Заголовок 1">
            <a:extLst>
              <a:ext uri="{FF2B5EF4-FFF2-40B4-BE49-F238E27FC236}">
                <a16:creationId xmlns:a16="http://schemas.microsoft.com/office/drawing/2014/main" id="{364DDBB6-4C98-4EDD-8423-BA7EFDB00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3592" y="102706"/>
            <a:ext cx="7788796" cy="1221804"/>
          </a:xfrm>
        </p:spPr>
        <p:txBody>
          <a:bodyPr>
            <a:normAutofit/>
          </a:bodyPr>
          <a:lstStyle/>
          <a:p>
            <a:pPr algn="ctr"/>
            <a:r>
              <a:rPr lang="ru-RU" altLang="ru-RU" sz="2800" dirty="0">
                <a:solidFill>
                  <a:srgbClr val="FF0000"/>
                </a:solidFill>
              </a:rPr>
              <a:t>Алгоритмы работы математических моделей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779F9ED-5528-48E1-BC52-3FA37390FC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3392" y="1548606"/>
            <a:ext cx="11089231" cy="5034758"/>
          </a:xfrm>
        </p:spPr>
        <p:txBody>
          <a:bodyPr rtlCol="0">
            <a:normAutofit/>
          </a:bodyPr>
          <a:lstStyle/>
          <a:p>
            <a:pPr marL="0" indent="0">
              <a:spcBef>
                <a:spcPts val="50"/>
              </a:spcBef>
              <a:defRPr/>
            </a:pPr>
            <a:r>
              <a:rPr lang="ru-RU" sz="2000" dirty="0">
                <a:solidFill>
                  <a:schemeClr val="tx1"/>
                </a:solidFill>
              </a:rPr>
              <a:t>   </a:t>
            </a:r>
            <a:endParaRPr lang="ru-RU" sz="1800" dirty="0">
              <a:solidFill>
                <a:schemeClr val="tx1"/>
              </a:solidFill>
              <a:cs typeface="Calibri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B06DDFC-A250-40B9-B87A-293250E23B46}"/>
              </a:ext>
            </a:extLst>
          </p:cNvPr>
          <p:cNvSpPr/>
          <p:nvPr/>
        </p:nvSpPr>
        <p:spPr>
          <a:xfrm>
            <a:off x="10212388" y="446881"/>
            <a:ext cx="1979612" cy="677863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ru-RU" sz="4800" b="1" dirty="0"/>
              <a:t>14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28178B2F-63D1-4518-9464-FF9E13A3BE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5480" y="2366665"/>
            <a:ext cx="1996515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C812B6-1877-446C-ACD7-FF1382D013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536" y="1846262"/>
            <a:ext cx="23604574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1E09122E-FEAB-4082-B153-D81519EF9C28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3215679" y="1050925"/>
            <a:ext cx="1161643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F1D464-592A-436A-93BC-62F81545BDE5}"/>
              </a:ext>
            </a:extLst>
          </p:cNvPr>
          <p:cNvSpPr txBox="1"/>
          <p:nvPr/>
        </p:nvSpPr>
        <p:spPr>
          <a:xfrm>
            <a:off x="7864825" y="6309995"/>
            <a:ext cx="395735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300" dirty="0"/>
              <a:t>Алгоритм регрессионной модели расчета усвоения химического элемента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77B4051B-A1AB-4413-BA10-66555D94512B}"/>
              </a:ext>
            </a:extLst>
          </p:cNvPr>
          <p:cNvSpPr/>
          <p:nvPr/>
        </p:nvSpPr>
        <p:spPr>
          <a:xfrm>
            <a:off x="3071664" y="6309996"/>
            <a:ext cx="4464496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300" dirty="0"/>
              <a:t>Алгоритм взаимодействия подсистем модели легирования плавок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675E5093-A090-4AE7-8413-49ED46BADE36}"/>
              </a:ext>
            </a:extLst>
          </p:cNvPr>
          <p:cNvSpPr/>
          <p:nvPr/>
        </p:nvSpPr>
        <p:spPr>
          <a:xfrm>
            <a:off x="0" y="6309996"/>
            <a:ext cx="3332281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300" dirty="0"/>
              <a:t>Алгоритм расчета оптимальной навески легирующих материалов</a:t>
            </a: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A7EEE398-DA2C-49E7-8CEB-4F769C694B71}"/>
              </a:ext>
            </a:extLst>
          </p:cNvPr>
          <p:cNvGrpSpPr/>
          <p:nvPr/>
        </p:nvGrpSpPr>
        <p:grpSpPr>
          <a:xfrm>
            <a:off x="5765070" y="1212770"/>
            <a:ext cx="2052947" cy="783787"/>
            <a:chOff x="10091724" y="1184868"/>
            <a:chExt cx="2052947" cy="783787"/>
          </a:xfrm>
        </p:grpSpPr>
        <p:sp>
          <p:nvSpPr>
            <p:cNvPr id="4" name="Прямоугольник: один усеченный угол 3">
              <a:extLst>
                <a:ext uri="{FF2B5EF4-FFF2-40B4-BE49-F238E27FC236}">
                  <a16:creationId xmlns:a16="http://schemas.microsoft.com/office/drawing/2014/main" id="{55C54FA4-69AB-483B-8BD0-4E4323601D20}"/>
                </a:ext>
              </a:extLst>
            </p:cNvPr>
            <p:cNvSpPr/>
            <p:nvPr/>
          </p:nvSpPr>
          <p:spPr bwMode="auto">
            <a:xfrm>
              <a:off x="10666052" y="1184868"/>
              <a:ext cx="1478619" cy="764454"/>
            </a:xfrm>
            <a:prstGeom prst="snip1Rect">
              <a:avLst>
                <a:gd name="adj" fmla="val 27632"/>
              </a:avLst>
            </a:prstGeom>
            <a:solidFill>
              <a:srgbClr val="FFFFFF"/>
            </a:solidFill>
            <a:ln w="63500" cap="flat">
              <a:noFill/>
              <a:prstDash val="solid"/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rtl="0"/>
              <a:r>
                <a:rPr lang="ru-RU" sz="1200" dirty="0">
                  <a:solidFill>
                    <a:srgbClr val="787878"/>
                  </a:solidFill>
                </a:rPr>
                <a:t>ПО проходит стадию регистрации</a:t>
              </a:r>
            </a:p>
          </p:txBody>
        </p:sp>
        <p:pic>
          <p:nvPicPr>
            <p:cNvPr id="2" name="Рисунок 1">
              <a:extLst>
                <a:ext uri="{FF2B5EF4-FFF2-40B4-BE49-F238E27FC236}">
                  <a16:creationId xmlns:a16="http://schemas.microsoft.com/office/drawing/2014/main" id="{FCC95C00-2F6F-4008-BCFA-C804533B31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Glass/>
                      </a14:imgEffect>
                      <a14:imgEffect>
                        <a14:sharpenSoften amount="-5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0091724" y="1277281"/>
              <a:ext cx="483521" cy="691374"/>
            </a:xfrm>
            <a:prstGeom prst="round2DiagRect">
              <a:avLst>
                <a:gd name="adj1" fmla="val 16667"/>
                <a:gd name="adj2" fmla="val 0"/>
              </a:avLst>
            </a:prstGeom>
            <a:ln w="88900" cap="sq">
              <a:solidFill>
                <a:srgbClr val="FFFFFF"/>
              </a:solidFill>
              <a:miter lim="800000"/>
            </a:ln>
            <a:effectLst>
              <a:outerShdw blurRad="254000" algn="tl" rotWithShape="0">
                <a:srgbClr val="000000">
                  <a:alpha val="43000"/>
                </a:srgbClr>
              </a:outerShdw>
            </a:effectLst>
          </p:spPr>
        </p:pic>
      </p:grp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E5FFD2C4-68C0-49E3-9A9F-DD46B5423B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352" y="1305182"/>
            <a:ext cx="2470531" cy="4944963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496D69EF-329D-40B3-AC4A-2A475ED732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5640" y="1208501"/>
            <a:ext cx="4558763" cy="5101494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E977D3AF-E21E-4E7C-A97F-ED67D3F22E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5739" y="1240870"/>
            <a:ext cx="4616925" cy="500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0668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B06DDFC-A250-40B9-B87A-293250E23B46}"/>
              </a:ext>
            </a:extLst>
          </p:cNvPr>
          <p:cNvSpPr/>
          <p:nvPr/>
        </p:nvSpPr>
        <p:spPr>
          <a:xfrm>
            <a:off x="10212388" y="479426"/>
            <a:ext cx="1979612" cy="677863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ru-RU" sz="4800" b="1" dirty="0"/>
              <a:t>15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55221A69-D39F-4472-86ED-1F4BE50FA252}"/>
              </a:ext>
            </a:extLst>
          </p:cNvPr>
          <p:cNvSpPr txBox="1">
            <a:spLocks/>
          </p:cNvSpPr>
          <p:nvPr/>
        </p:nvSpPr>
        <p:spPr bwMode="auto">
          <a:xfrm>
            <a:off x="0" y="2816225"/>
            <a:ext cx="12192000" cy="122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ru-RU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ctr"/>
            <a:r>
              <a:rPr lang="ru-RU" altLang="ru-RU" sz="3600" b="1" dirty="0">
                <a:solidFill>
                  <a:srgbClr val="C00000"/>
                </a:solidFill>
              </a:rPr>
              <a:t>ЗАДАЧА 3.</a:t>
            </a:r>
            <a:r>
              <a:rPr lang="en-US" altLang="ru-RU" sz="3600" b="1" dirty="0">
                <a:solidFill>
                  <a:srgbClr val="C00000"/>
                </a:solidFill>
              </a:rPr>
              <a:t> </a:t>
            </a:r>
            <a:r>
              <a:rPr lang="ru-RU" altLang="ru-RU" sz="3600" b="1" dirty="0">
                <a:solidFill>
                  <a:srgbClr val="C00000"/>
                </a:solidFill>
              </a:rPr>
              <a:t>ПРОЕКТИРОВАНИЕ ИНФОРМАЦИОННОГО И ПРОГРАММНОГО ОБЕСПЕЧЕНИЯ МОДЕЛИ ЛЕГИРОВАНИЯ ПЛАВОК</a:t>
            </a:r>
          </a:p>
        </p:txBody>
      </p:sp>
    </p:spTree>
    <p:extLst>
      <p:ext uri="{BB962C8B-B14F-4D97-AF65-F5344CB8AC3E}">
        <p14:creationId xmlns:p14="http://schemas.microsoft.com/office/powerpoint/2010/main" val="30244356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117A26-B681-4D10-9781-256757387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392" y="473869"/>
            <a:ext cx="11138189" cy="1101725"/>
          </a:xfrm>
        </p:spPr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КОНЦЕПТУАЛЬНОЕ МОДЕЛИРОВАНИЕ</a:t>
            </a:r>
            <a:br>
              <a:rPr lang="ru-RU" dirty="0">
                <a:solidFill>
                  <a:srgbClr val="FF0000"/>
                </a:solidFill>
              </a:rPr>
            </a:br>
            <a:r>
              <a:rPr lang="ru-RU" dirty="0">
                <a:solidFill>
                  <a:srgbClr val="FF0000"/>
                </a:solidFill>
              </a:rPr>
              <a:t> ПРОЕКТИРУЕМОЙ СИСТЕМЫ</a:t>
            </a:r>
            <a:br>
              <a:rPr lang="ru-RU" dirty="0"/>
            </a:br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E190960-E877-4C18-80AD-22A36A0A5EEC}"/>
              </a:ext>
            </a:extLst>
          </p:cNvPr>
          <p:cNvSpPr/>
          <p:nvPr/>
        </p:nvSpPr>
        <p:spPr>
          <a:xfrm>
            <a:off x="10212388" y="479426"/>
            <a:ext cx="1979612" cy="677863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ru-RU" sz="4800" b="1" dirty="0"/>
              <a:t>16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B6B7B16E-8CAE-4EBA-ADD1-8D5F5692D3C8}"/>
              </a:ext>
            </a:extLst>
          </p:cNvPr>
          <p:cNvSpPr/>
          <p:nvPr/>
        </p:nvSpPr>
        <p:spPr bwMode="auto">
          <a:xfrm>
            <a:off x="1872006" y="1916831"/>
            <a:ext cx="8640960" cy="4104453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endParaRPr lang="ru-RU" u="sng" dirty="0">
              <a:solidFill>
                <a:srgbClr val="DC3B34"/>
              </a:solidFill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585B5BA-E431-453D-89C1-46EE457A2C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7218" y="342713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33CCA9C9-B1F2-449B-90EB-18437C8FD4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5284338"/>
              </p:ext>
            </p:extLst>
          </p:nvPr>
        </p:nvGraphicFramePr>
        <p:xfrm>
          <a:off x="2348309" y="2791947"/>
          <a:ext cx="7688353" cy="25041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5" name="Visio" r:id="rId3" imgW="7551464" imgH="2247680" progId="Visio.Drawing.15">
                  <p:embed/>
                </p:oleObj>
              </mc:Choice>
              <mc:Fallback>
                <p:oleObj name="Visio" r:id="rId3" imgW="7551464" imgH="2247680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8309" y="2791947"/>
                        <a:ext cx="7688353" cy="250414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46BD858E-741B-44F8-B0F3-C32E1CB11774}"/>
              </a:ext>
            </a:extLst>
          </p:cNvPr>
          <p:cNvSpPr/>
          <p:nvPr/>
        </p:nvSpPr>
        <p:spPr>
          <a:xfrm>
            <a:off x="4092167" y="1916831"/>
            <a:ext cx="4200638" cy="45653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ru-RU" u="sng" dirty="0">
                <a:solidFill>
                  <a:srgbClr val="DC3B34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Обобщенная модель потоков данных</a:t>
            </a:r>
            <a:endParaRPr lang="ru-RU" u="sng" dirty="0">
              <a:solidFill>
                <a:srgbClr val="DC3B34"/>
              </a:solidFill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62986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117A26-B681-4D10-9781-256757387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392" y="473869"/>
            <a:ext cx="11138189" cy="1101725"/>
          </a:xfrm>
        </p:spPr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ВЫБОР ПОДХОДА К ПРОЕКТИРОВАНИЮ</a:t>
            </a:r>
            <a:br>
              <a:rPr lang="ru-RU" dirty="0">
                <a:solidFill>
                  <a:srgbClr val="FF0000"/>
                </a:solidFill>
              </a:rPr>
            </a:br>
            <a:r>
              <a:rPr lang="ru-RU" dirty="0">
                <a:solidFill>
                  <a:srgbClr val="FF0000"/>
                </a:solidFill>
              </a:rPr>
              <a:t> И ИНСТРУМЕНТАЛЬНЫХ СРЕДСТВ </a:t>
            </a:r>
            <a:br>
              <a:rPr lang="ru-RU" dirty="0">
                <a:solidFill>
                  <a:srgbClr val="FF0000"/>
                </a:solidFill>
              </a:rPr>
            </a:b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E190960-E877-4C18-80AD-22A36A0A5EEC}"/>
              </a:ext>
            </a:extLst>
          </p:cNvPr>
          <p:cNvSpPr/>
          <p:nvPr/>
        </p:nvSpPr>
        <p:spPr>
          <a:xfrm>
            <a:off x="10212388" y="479426"/>
            <a:ext cx="1979612" cy="677863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ru-RU" sz="4800" b="1" dirty="0"/>
              <a:t>17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342DF7B-2CCA-4E59-8A54-9311EC349327}"/>
              </a:ext>
            </a:extLst>
          </p:cNvPr>
          <p:cNvSpPr/>
          <p:nvPr/>
        </p:nvSpPr>
        <p:spPr>
          <a:xfrm>
            <a:off x="623391" y="1674674"/>
            <a:ext cx="11138189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accent1"/>
                </a:solidFill>
              </a:rPr>
              <a:t>Модель жизненного цикла: </a:t>
            </a:r>
            <a:r>
              <a:rPr lang="ru-RU" sz="2000" dirty="0"/>
              <a:t>прототипирования </a:t>
            </a:r>
            <a:endParaRPr lang="en-US" sz="2000" dirty="0">
              <a:solidFill>
                <a:schemeClr val="accent2"/>
              </a:solidFill>
            </a:endParaRPr>
          </a:p>
          <a:p>
            <a:r>
              <a:rPr lang="ru-RU" sz="2000" dirty="0">
                <a:solidFill>
                  <a:schemeClr val="accent1"/>
                </a:solidFill>
              </a:rPr>
              <a:t>Подход к проектированию:</a:t>
            </a:r>
            <a:r>
              <a:rPr lang="ru-RU" sz="2000" dirty="0">
                <a:solidFill>
                  <a:schemeClr val="accent2"/>
                </a:solidFill>
              </a:rPr>
              <a:t> </a:t>
            </a:r>
            <a:r>
              <a:rPr lang="ru-RU" sz="2000" dirty="0"/>
              <a:t>Объектно-ориентированный подход</a:t>
            </a:r>
            <a:endParaRPr lang="en-US" sz="2000" dirty="0"/>
          </a:p>
          <a:p>
            <a:r>
              <a:rPr lang="ru-RU" sz="2000" dirty="0">
                <a:solidFill>
                  <a:schemeClr val="accent1"/>
                </a:solidFill>
              </a:rPr>
              <a:t>Язык программирования: </a:t>
            </a:r>
            <a:r>
              <a:rPr lang="en-US" sz="2000" dirty="0"/>
              <a:t>C#</a:t>
            </a:r>
          </a:p>
          <a:p>
            <a:r>
              <a:rPr lang="ru-RU" altLang="ru-RU" sz="2000" dirty="0">
                <a:solidFill>
                  <a:schemeClr val="accent1"/>
                </a:solidFill>
              </a:rPr>
              <a:t>Среда разработки ПО: </a:t>
            </a:r>
            <a:r>
              <a:rPr lang="en-US" altLang="ru-RU" sz="2000" dirty="0"/>
              <a:t>Visual Studio 20</a:t>
            </a:r>
            <a:r>
              <a:rPr lang="ru-RU" altLang="ru-RU" sz="2000" dirty="0"/>
              <a:t>22</a:t>
            </a:r>
            <a:endParaRPr lang="ru-RU" sz="2000" dirty="0"/>
          </a:p>
          <a:p>
            <a:r>
              <a:rPr lang="ru-RU" sz="2000" dirty="0">
                <a:solidFill>
                  <a:schemeClr val="accent1"/>
                </a:solidFill>
              </a:rPr>
              <a:t>База данных: </a:t>
            </a:r>
            <a:r>
              <a:rPr lang="en-US" sz="2000" dirty="0"/>
              <a:t>Oracle SQL</a:t>
            </a:r>
          </a:p>
          <a:p>
            <a:r>
              <a:rPr lang="ru-RU" sz="2000" dirty="0">
                <a:solidFill>
                  <a:schemeClr val="accent1"/>
                </a:solidFill>
              </a:rPr>
              <a:t>Пользовательский интерфейс: </a:t>
            </a:r>
            <a:r>
              <a:rPr lang="en-US" sz="2000" dirty="0"/>
              <a:t>WPF</a:t>
            </a:r>
            <a:endParaRPr lang="ru-RU" sz="2000" dirty="0"/>
          </a:p>
          <a:p>
            <a:pPr>
              <a:defRPr/>
            </a:pPr>
            <a:r>
              <a:rPr lang="en-US" altLang="ru-RU" sz="2000" dirty="0">
                <a:solidFill>
                  <a:schemeClr val="accent1"/>
                </a:solidFill>
              </a:rPr>
              <a:t>CASE-</a:t>
            </a:r>
            <a:r>
              <a:rPr lang="ru-RU" altLang="ru-RU" sz="2000" dirty="0">
                <a:solidFill>
                  <a:schemeClr val="accent1"/>
                </a:solidFill>
              </a:rPr>
              <a:t>средства:</a:t>
            </a:r>
            <a:r>
              <a:rPr lang="en-US" altLang="ru-RU" sz="2000" dirty="0">
                <a:cs typeface="Arial" charset="0"/>
              </a:rPr>
              <a:t>Rational Rose</a:t>
            </a:r>
            <a:r>
              <a:rPr lang="ru-RU" altLang="ru-RU" sz="2000" dirty="0">
                <a:cs typeface="Arial" charset="0"/>
              </a:rPr>
              <a:t>, </a:t>
            </a:r>
            <a:r>
              <a:rPr lang="en-US" altLang="ru-RU" sz="2000" dirty="0" err="1">
                <a:cs typeface="Arial" charset="0"/>
              </a:rPr>
              <a:t>ERwin</a:t>
            </a:r>
            <a:r>
              <a:rPr lang="en-US" altLang="ru-RU" sz="2000" dirty="0">
                <a:cs typeface="Arial" charset="0"/>
              </a:rPr>
              <a:t> Data Modeler 7.3</a:t>
            </a:r>
            <a:endParaRPr lang="ru-RU" altLang="ru-RU" sz="2000" dirty="0">
              <a:cs typeface="Arial" charset="0"/>
            </a:endParaRPr>
          </a:p>
          <a:p>
            <a:endParaRPr lang="ru-RU" altLang="ru-RU" dirty="0">
              <a:solidFill>
                <a:schemeClr val="accent1"/>
              </a:solidFill>
            </a:endParaRPr>
          </a:p>
          <a:p>
            <a:endParaRPr lang="en-US" dirty="0"/>
          </a:p>
        </p:txBody>
      </p: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2F98E982-0228-48D5-8288-21B4EB699C03}"/>
              </a:ext>
            </a:extLst>
          </p:cNvPr>
          <p:cNvGrpSpPr/>
          <p:nvPr/>
        </p:nvGrpSpPr>
        <p:grpSpPr>
          <a:xfrm>
            <a:off x="1847528" y="4224826"/>
            <a:ext cx="8218047" cy="1872208"/>
            <a:chOff x="1415480" y="4008784"/>
            <a:chExt cx="8218047" cy="1872208"/>
          </a:xfrm>
        </p:grpSpPr>
        <p:sp>
          <p:nvSpPr>
            <p:cNvPr id="13" name="Прямоугольник: скругленные углы 12">
              <a:extLst>
                <a:ext uri="{FF2B5EF4-FFF2-40B4-BE49-F238E27FC236}">
                  <a16:creationId xmlns:a16="http://schemas.microsoft.com/office/drawing/2014/main" id="{B6B7B16E-8CAE-4EBA-ADD1-8D5F5692D3C8}"/>
                </a:ext>
              </a:extLst>
            </p:cNvPr>
            <p:cNvSpPr/>
            <p:nvPr/>
          </p:nvSpPr>
          <p:spPr bwMode="auto">
            <a:xfrm>
              <a:off x="1415480" y="4008784"/>
              <a:ext cx="8218047" cy="1872208"/>
            </a:xfrm>
            <a:prstGeom prst="roundRect">
              <a:avLst/>
            </a:prstGeom>
            <a:ln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rtl="0"/>
              <a:endParaRPr lang="ru-RU" dirty="0"/>
            </a:p>
          </p:txBody>
        </p:sp>
        <p:grpSp>
          <p:nvGrpSpPr>
            <p:cNvPr id="12" name="Группа 11">
              <a:extLst>
                <a:ext uri="{FF2B5EF4-FFF2-40B4-BE49-F238E27FC236}">
                  <a16:creationId xmlns:a16="http://schemas.microsoft.com/office/drawing/2014/main" id="{C6A757D0-056C-4F46-824C-EBAC44F16CC9}"/>
                </a:ext>
              </a:extLst>
            </p:cNvPr>
            <p:cNvGrpSpPr/>
            <p:nvPr/>
          </p:nvGrpSpPr>
          <p:grpSpPr>
            <a:xfrm>
              <a:off x="1991544" y="4226785"/>
              <a:ext cx="6912769" cy="1436205"/>
              <a:chOff x="623391" y="3995363"/>
              <a:chExt cx="7259479" cy="1872044"/>
            </a:xfrm>
          </p:grpSpPr>
          <p:pic>
            <p:nvPicPr>
              <p:cNvPr id="3074" name="Picture 2" descr="https://avatars.mds.yandex.net/i?id=b8fa6533ece962604a9363949bb4ac2c25ad7ac6-7978669-images-thumbs&amp;n=13">
                <a:extLst>
                  <a:ext uri="{FF2B5EF4-FFF2-40B4-BE49-F238E27FC236}">
                    <a16:creationId xmlns:a16="http://schemas.microsoft.com/office/drawing/2014/main" id="{E56EC49A-2ADA-46D8-9105-272DD3F2898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23391" y="4005064"/>
                <a:ext cx="1862342" cy="186234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076" name="Picture 4" descr="https://avatars.mds.yandex.net/i?id=56abe8d00b22368289795081354c8946f84d1fa2-8497871-images-thumbs&amp;n=13">
                <a:extLst>
                  <a:ext uri="{FF2B5EF4-FFF2-40B4-BE49-F238E27FC236}">
                    <a16:creationId xmlns:a16="http://schemas.microsoft.com/office/drawing/2014/main" id="{F7E85D99-FCE6-4C3F-988D-246934624A6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85733" y="3995363"/>
                <a:ext cx="1928696" cy="186234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078" name="Picture 6" descr="https://avatars.mds.yandex.net/i?id=cb8ba16bd65c1fbd484060e1aeb7c5d8de006b9b-8310482-images-thumbs&amp;n=13">
                <a:extLst>
                  <a:ext uri="{FF2B5EF4-FFF2-40B4-BE49-F238E27FC236}">
                    <a16:creationId xmlns:a16="http://schemas.microsoft.com/office/drawing/2014/main" id="{D1C897F8-FE12-4E4C-846C-71567A602B0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0099" t="1892" r="18934" b="3608"/>
              <a:stretch/>
            </p:blipFill>
            <p:spPr bwMode="auto">
              <a:xfrm>
                <a:off x="6276772" y="3995363"/>
                <a:ext cx="1606098" cy="187204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080" name="Picture 8" descr="https://avatars.mds.yandex.net/i?id=bc99ae75d05536ef8c402c8c0818427f2752139b-9065739-images-thumbs&amp;n=13">
                <a:extLst>
                  <a:ext uri="{FF2B5EF4-FFF2-40B4-BE49-F238E27FC236}">
                    <a16:creationId xmlns:a16="http://schemas.microsoft.com/office/drawing/2014/main" id="{8C1898AC-0FE2-4B51-AF2D-6D55BC01D4E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417602" y="4005064"/>
                <a:ext cx="1862343" cy="186234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29479195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117A26-B681-4D10-9781-256757387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391" y="460227"/>
            <a:ext cx="11138189" cy="1101725"/>
          </a:xfrm>
        </p:spPr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ЛОГИЧЕСКОЕ МОДЕЛИРОВАНИЕ</a:t>
            </a:r>
            <a:br>
              <a:rPr lang="ru-RU" dirty="0">
                <a:solidFill>
                  <a:srgbClr val="FF0000"/>
                </a:solidFill>
              </a:rPr>
            </a:br>
            <a:r>
              <a:rPr lang="ru-RU" dirty="0">
                <a:solidFill>
                  <a:srgbClr val="FF0000"/>
                </a:solidFill>
              </a:rPr>
              <a:t> ПРОЕКТИРУЕМОЙ СИСТЕМЫ</a:t>
            </a:r>
            <a:br>
              <a:rPr lang="ru-RU" dirty="0"/>
            </a:br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E190960-E877-4C18-80AD-22A36A0A5EEC}"/>
              </a:ext>
            </a:extLst>
          </p:cNvPr>
          <p:cNvSpPr/>
          <p:nvPr/>
        </p:nvSpPr>
        <p:spPr>
          <a:xfrm>
            <a:off x="10212388" y="479426"/>
            <a:ext cx="1979612" cy="677863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ru-RU" sz="4800" b="1" dirty="0"/>
              <a:t>18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B6B7B16E-8CAE-4EBA-ADD1-8D5F5692D3C8}"/>
              </a:ext>
            </a:extLst>
          </p:cNvPr>
          <p:cNvSpPr/>
          <p:nvPr/>
        </p:nvSpPr>
        <p:spPr bwMode="auto">
          <a:xfrm>
            <a:off x="1739516" y="1584233"/>
            <a:ext cx="8712967" cy="4668115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961C1FA2-8CCC-4EF8-937F-9926804B77EA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307" b="22342"/>
          <a:stretch/>
        </p:blipFill>
        <p:spPr bwMode="auto">
          <a:xfrm>
            <a:off x="2664093" y="1869572"/>
            <a:ext cx="7056783" cy="445259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CC6650C-ED0A-4AF6-8E71-3362DFB5E283}"/>
              </a:ext>
            </a:extLst>
          </p:cNvPr>
          <p:cNvSpPr/>
          <p:nvPr/>
        </p:nvSpPr>
        <p:spPr>
          <a:xfrm>
            <a:off x="4072809" y="1463722"/>
            <a:ext cx="4239367" cy="45653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ru-RU" u="sng" dirty="0">
                <a:solidFill>
                  <a:srgbClr val="DC3B34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Диаграмма вариантов использования</a:t>
            </a:r>
            <a:endParaRPr lang="ru-RU" u="sng" dirty="0">
              <a:solidFill>
                <a:srgbClr val="DC3B34"/>
              </a:solidFill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5030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117A26-B681-4D10-9781-256757387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391" y="460227"/>
            <a:ext cx="11138189" cy="1101725"/>
          </a:xfrm>
        </p:spPr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ЛОГИЧЕСКОЕ МОДЕЛИРОВАНИЕ</a:t>
            </a:r>
            <a:br>
              <a:rPr lang="ru-RU" dirty="0">
                <a:solidFill>
                  <a:srgbClr val="FF0000"/>
                </a:solidFill>
              </a:rPr>
            </a:br>
            <a:r>
              <a:rPr lang="ru-RU" dirty="0">
                <a:solidFill>
                  <a:srgbClr val="FF0000"/>
                </a:solidFill>
              </a:rPr>
              <a:t> ПРОЕКТИРУЕМОЙ СИСТЕМЫ</a:t>
            </a:r>
            <a:br>
              <a:rPr lang="ru-RU" dirty="0"/>
            </a:br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E190960-E877-4C18-80AD-22A36A0A5EEC}"/>
              </a:ext>
            </a:extLst>
          </p:cNvPr>
          <p:cNvSpPr/>
          <p:nvPr/>
        </p:nvSpPr>
        <p:spPr>
          <a:xfrm>
            <a:off x="10212388" y="479426"/>
            <a:ext cx="1979612" cy="677863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ru-RU" sz="4800" b="1" dirty="0"/>
              <a:t>19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B6B7B16E-8CAE-4EBA-ADD1-8D5F5692D3C8}"/>
              </a:ext>
            </a:extLst>
          </p:cNvPr>
          <p:cNvSpPr/>
          <p:nvPr/>
        </p:nvSpPr>
        <p:spPr bwMode="auto">
          <a:xfrm>
            <a:off x="1739516" y="1584233"/>
            <a:ext cx="8712967" cy="4668115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CC6650C-ED0A-4AF6-8E71-3362DFB5E283}"/>
              </a:ext>
            </a:extLst>
          </p:cNvPr>
          <p:cNvSpPr/>
          <p:nvPr/>
        </p:nvSpPr>
        <p:spPr>
          <a:xfrm>
            <a:off x="4356726" y="1463722"/>
            <a:ext cx="3671518" cy="45653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ru-RU" u="sng" dirty="0">
                <a:solidFill>
                  <a:srgbClr val="DC3B34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Контекстная диаграмма классов</a:t>
            </a:r>
            <a:endParaRPr lang="ru-RU" u="sng" dirty="0">
              <a:solidFill>
                <a:srgbClr val="DC3B34"/>
              </a:solidFill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FF1B7C7-8AE7-4DC2-BDCC-085FE0C8BBCB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7" t="2151" r="22138" b="22087"/>
          <a:stretch/>
        </p:blipFill>
        <p:spPr bwMode="auto">
          <a:xfrm>
            <a:off x="2232044" y="2146701"/>
            <a:ext cx="7920881" cy="3879202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5466289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117A26-B681-4D10-9781-256757387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391" y="460227"/>
            <a:ext cx="11138189" cy="1101725"/>
          </a:xfrm>
        </p:spPr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ЛОГИЧЕСКОЕ МОДЕЛИРОВАНИЕ</a:t>
            </a:r>
            <a:br>
              <a:rPr lang="ru-RU" dirty="0">
                <a:solidFill>
                  <a:srgbClr val="FF0000"/>
                </a:solidFill>
              </a:rPr>
            </a:br>
            <a:r>
              <a:rPr lang="ru-RU" dirty="0">
                <a:solidFill>
                  <a:srgbClr val="FF0000"/>
                </a:solidFill>
              </a:rPr>
              <a:t> ПРОЕКТИРУЕМОЙ СИСТЕМЫ</a:t>
            </a:r>
            <a:br>
              <a:rPr lang="ru-RU" dirty="0"/>
            </a:br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E190960-E877-4C18-80AD-22A36A0A5EEC}"/>
              </a:ext>
            </a:extLst>
          </p:cNvPr>
          <p:cNvSpPr/>
          <p:nvPr/>
        </p:nvSpPr>
        <p:spPr>
          <a:xfrm>
            <a:off x="10212388" y="479426"/>
            <a:ext cx="1979612" cy="677863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ru-RU" sz="4800" b="1" dirty="0"/>
              <a:t>20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B6B7B16E-8CAE-4EBA-ADD1-8D5F5692D3C8}"/>
              </a:ext>
            </a:extLst>
          </p:cNvPr>
          <p:cNvSpPr/>
          <p:nvPr/>
        </p:nvSpPr>
        <p:spPr bwMode="auto">
          <a:xfrm>
            <a:off x="1739516" y="1584233"/>
            <a:ext cx="8712967" cy="4668115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CC6650C-ED0A-4AF6-8E71-3362DFB5E283}"/>
              </a:ext>
            </a:extLst>
          </p:cNvPr>
          <p:cNvSpPr/>
          <p:nvPr/>
        </p:nvSpPr>
        <p:spPr>
          <a:xfrm>
            <a:off x="5051631" y="1463722"/>
            <a:ext cx="2281715" cy="45653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ru-RU" u="sng" dirty="0">
                <a:solidFill>
                  <a:srgbClr val="DC3B34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Диаграмма пакетов</a:t>
            </a:r>
            <a:endParaRPr lang="ru-RU" u="sng" dirty="0">
              <a:solidFill>
                <a:srgbClr val="DC3B34"/>
              </a:solidFill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04D44B5-07B8-4459-95CF-2697D797F36B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3" r="20342" b="21603"/>
          <a:stretch/>
        </p:blipFill>
        <p:spPr bwMode="auto">
          <a:xfrm>
            <a:off x="3338385" y="2071592"/>
            <a:ext cx="5708199" cy="369339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845116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117A26-B681-4D10-9781-256757387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391" y="460227"/>
            <a:ext cx="11138189" cy="1101725"/>
          </a:xfrm>
        </p:spPr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ФИЗИЧЕСКОЕ МОДЕЛИРОВАНИЕ</a:t>
            </a:r>
            <a:br>
              <a:rPr lang="ru-RU" dirty="0">
                <a:solidFill>
                  <a:srgbClr val="FF0000"/>
                </a:solidFill>
              </a:rPr>
            </a:br>
            <a:r>
              <a:rPr lang="ru-RU" dirty="0">
                <a:solidFill>
                  <a:srgbClr val="FF0000"/>
                </a:solidFill>
              </a:rPr>
              <a:t> ПРОЕКТИРУЕМОЙ СИСТЕМЫ</a:t>
            </a:r>
            <a:br>
              <a:rPr lang="ru-RU" dirty="0"/>
            </a:br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E190960-E877-4C18-80AD-22A36A0A5EEC}"/>
              </a:ext>
            </a:extLst>
          </p:cNvPr>
          <p:cNvSpPr/>
          <p:nvPr/>
        </p:nvSpPr>
        <p:spPr>
          <a:xfrm>
            <a:off x="10212388" y="479426"/>
            <a:ext cx="1979612" cy="677863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ru-RU" sz="4800" b="1" dirty="0"/>
              <a:t>21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B6B7B16E-8CAE-4EBA-ADD1-8D5F5692D3C8}"/>
              </a:ext>
            </a:extLst>
          </p:cNvPr>
          <p:cNvSpPr/>
          <p:nvPr/>
        </p:nvSpPr>
        <p:spPr bwMode="auto">
          <a:xfrm>
            <a:off x="635952" y="1581151"/>
            <a:ext cx="11138188" cy="4941111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CC6650C-ED0A-4AF6-8E71-3362DFB5E283}"/>
              </a:ext>
            </a:extLst>
          </p:cNvPr>
          <p:cNvSpPr/>
          <p:nvPr/>
        </p:nvSpPr>
        <p:spPr>
          <a:xfrm>
            <a:off x="1631504" y="1584233"/>
            <a:ext cx="2832827" cy="45653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ru-RU" u="sng" dirty="0">
                <a:solidFill>
                  <a:srgbClr val="DC3B34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Диаграмма компонентов</a:t>
            </a:r>
            <a:endParaRPr lang="ru-RU" u="sng" dirty="0">
              <a:solidFill>
                <a:srgbClr val="DC3B34"/>
              </a:solidFill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pic>
        <p:nvPicPr>
          <p:cNvPr id="10" name="Рисунок 9" descr="C:\Users\aa.kraev\AppData\Local\Microsoft\Windows\INetCache\Content.MSO\544FD00.tmp">
            <a:extLst>
              <a:ext uri="{FF2B5EF4-FFF2-40B4-BE49-F238E27FC236}">
                <a16:creationId xmlns:a16="http://schemas.microsoft.com/office/drawing/2014/main" id="{04A5DAAE-A827-4356-A8E3-350C94F4A5C7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58" y="2350027"/>
            <a:ext cx="4255675" cy="3862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18D16F54-8CB8-4845-935F-B228A7AC4ECB}"/>
              </a:ext>
            </a:extLst>
          </p:cNvPr>
          <p:cNvCxnSpPr/>
          <p:nvPr/>
        </p:nvCxnSpPr>
        <p:spPr>
          <a:xfrm>
            <a:off x="5663952" y="1812500"/>
            <a:ext cx="0" cy="45660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Рисунок 10" descr="C:\Users\aa.kraev\AppData\Local\Microsoft\Windows\INetCache\Content.MSO\9D906B0E.tmp">
            <a:extLst>
              <a:ext uri="{FF2B5EF4-FFF2-40B4-BE49-F238E27FC236}">
                <a16:creationId xmlns:a16="http://schemas.microsoft.com/office/drawing/2014/main" id="{40D42351-442E-4918-8A49-731B6E6B024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6234" y="2999785"/>
            <a:ext cx="5503351" cy="219150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4CD8989-BE26-4131-8965-65C772987605}"/>
              </a:ext>
            </a:extLst>
          </p:cNvPr>
          <p:cNvSpPr/>
          <p:nvPr/>
        </p:nvSpPr>
        <p:spPr>
          <a:xfrm>
            <a:off x="7311695" y="1584233"/>
            <a:ext cx="2792431" cy="45653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ru-RU" u="sng" dirty="0">
                <a:solidFill>
                  <a:srgbClr val="DC3B34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Диаграмма размещения</a:t>
            </a:r>
            <a:endParaRPr lang="ru-RU" u="sng" dirty="0">
              <a:solidFill>
                <a:srgbClr val="DC3B34"/>
              </a:solidFill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55334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рапеция 1">
            <a:extLst>
              <a:ext uri="{FF2B5EF4-FFF2-40B4-BE49-F238E27FC236}">
                <a16:creationId xmlns:a16="http://schemas.microsoft.com/office/drawing/2014/main" id="{338987D7-B061-475D-AC23-B13E5F0723FB}"/>
              </a:ext>
            </a:extLst>
          </p:cNvPr>
          <p:cNvSpPr/>
          <p:nvPr/>
        </p:nvSpPr>
        <p:spPr bwMode="auto">
          <a:xfrm>
            <a:off x="0" y="5877273"/>
            <a:ext cx="12072664" cy="980728"/>
          </a:xfrm>
          <a:prstGeom prst="trapezoid">
            <a:avLst/>
          </a:prstGeom>
          <a:gradFill flip="none" rotWithShape="1">
            <a:gsLst>
              <a:gs pos="0">
                <a:srgbClr val="B8B9BD">
                  <a:tint val="66000"/>
                  <a:satMod val="160000"/>
                </a:srgbClr>
              </a:gs>
              <a:gs pos="50000">
                <a:srgbClr val="B8B9BD">
                  <a:tint val="44500"/>
                  <a:satMod val="160000"/>
                </a:srgbClr>
              </a:gs>
              <a:gs pos="100000">
                <a:srgbClr val="B8B9BD">
                  <a:tint val="23500"/>
                  <a:satMod val="160000"/>
                </a:srgbClr>
              </a:gs>
            </a:gsLst>
            <a:lin ang="16200000" scaled="1"/>
            <a:tileRect/>
          </a:gradFill>
          <a:ln w="3175" cap="flat">
            <a:solidFill>
              <a:srgbClr val="AFB0B4"/>
            </a:solidFill>
            <a:prstDash val="solid"/>
            <a:miter lim="800000"/>
            <a:headEnd/>
            <a:tailEnd/>
          </a:ln>
          <a:effectLst>
            <a:innerShdw blurRad="63500" dist="50800">
              <a:prstClr val="black">
                <a:alpha val="50000"/>
              </a:prstClr>
            </a:inn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C8E9AEF-4D75-4919-A031-9AFA3DF20878}"/>
              </a:ext>
            </a:extLst>
          </p:cNvPr>
          <p:cNvPicPr/>
          <p:nvPr/>
        </p:nvPicPr>
        <p:blipFill rotWithShape="1">
          <a:blip r:embed="rId2"/>
          <a:srcRect b="9251"/>
          <a:stretch/>
        </p:blipFill>
        <p:spPr>
          <a:xfrm>
            <a:off x="6693580" y="2204864"/>
            <a:ext cx="4586996" cy="288032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DA38D86-61B1-40AF-B588-7C63F29C2DC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97541" y="2204864"/>
            <a:ext cx="4606372" cy="2880320"/>
          </a:xfrm>
          <a:prstGeom prst="rect">
            <a:avLst/>
          </a:prstGeom>
        </p:spPr>
      </p:pic>
      <p:sp>
        <p:nvSpPr>
          <p:cNvPr id="13314" name="Заголовок 1">
            <a:extLst>
              <a:ext uri="{FF2B5EF4-FFF2-40B4-BE49-F238E27FC236}">
                <a16:creationId xmlns:a16="http://schemas.microsoft.com/office/drawing/2014/main" id="{B468EE62-9F93-4DB6-8287-CB9ED8C2F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5914"/>
            <a:ext cx="11885613" cy="1101725"/>
          </a:xfrm>
        </p:spPr>
        <p:txBody>
          <a:bodyPr/>
          <a:lstStyle/>
          <a:p>
            <a:pPr algn="ctr" eaLnBrk="1" hangingPunct="1"/>
            <a:r>
              <a:rPr lang="ru-RU" altLang="ru-RU" sz="2800" dirty="0">
                <a:solidFill>
                  <a:srgbClr val="FF0000"/>
                </a:solidFill>
              </a:rPr>
              <a:t>РАЗРАБОТКА ИНТЕРФЕЙСА</a:t>
            </a:r>
            <a:r>
              <a:rPr lang="ru-RU" altLang="ru-RU" sz="2800" dirty="0"/>
              <a:t>  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B06DDFC-A250-40B9-B87A-293250E23B46}"/>
              </a:ext>
            </a:extLst>
          </p:cNvPr>
          <p:cNvSpPr/>
          <p:nvPr/>
        </p:nvSpPr>
        <p:spPr>
          <a:xfrm>
            <a:off x="10212388" y="392113"/>
            <a:ext cx="1979612" cy="677863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ru-RU" sz="4800" b="1" dirty="0"/>
              <a:t>22</a:t>
            </a:r>
          </a:p>
        </p:txBody>
      </p:sp>
      <p:pic>
        <p:nvPicPr>
          <p:cNvPr id="4098" name="Picture 2" descr="https://igormakovsky.com/2012/generationcampus/img/empty-monitor@2x.jpg">
            <a:extLst>
              <a:ext uri="{FF2B5EF4-FFF2-40B4-BE49-F238E27FC236}">
                <a16:creationId xmlns:a16="http://schemas.microsoft.com/office/drawing/2014/main" id="{943BC900-B619-4FB3-B816-987F32B38A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816" b="95707" l="2673" r="96924">
                        <a14:foregroundMark x1="4034" y1="16219" x2="4034" y2="16219"/>
                        <a14:foregroundMark x1="4387" y1="21288" x2="4589" y2="26595"/>
                        <a14:foregroundMark x1="4791" y1="4949" x2="2673" y2="11449"/>
                        <a14:foregroundMark x1="2673" y1="11449" x2="2673" y2="12343"/>
                        <a14:foregroundMark x1="5749" y1="4293" x2="11599" y2="4293"/>
                        <a14:foregroundMark x1="94049" y1="7752" x2="95966" y2="13238"/>
                        <a14:foregroundMark x1="91125" y1="5188" x2="94806" y2="5188"/>
                        <a14:foregroundMark x1="96369" y1="13953" x2="96167" y2="24508"/>
                        <a14:foregroundMark x1="3429" y1="23137" x2="4992" y2="75492"/>
                        <a14:foregroundMark x1="4992" y1="75492" x2="23248" y2="78533"/>
                        <a14:foregroundMark x1="23248" y1="78533" x2="26576" y2="77639"/>
                        <a14:foregroundMark x1="20726" y1="75552" x2="61624" y2="77400"/>
                        <a14:foregroundMark x1="61624" y1="77400" x2="77711" y2="76029"/>
                        <a14:foregroundMark x1="96167" y1="38104" x2="96924" y2="52236"/>
                        <a14:foregroundMark x1="96924" y1="52236" x2="94049" y2="74419"/>
                        <a14:foregroundMark x1="94049" y1="74419" x2="92284" y2="76029"/>
                        <a14:foregroundMark x1="80434" y1="76685" x2="86233" y2="75790"/>
                        <a14:foregroundMark x1="86233" y1="75790" x2="86233" y2="75790"/>
                        <a14:foregroundMark x1="47352" y1="84735" x2="51841" y2="85868"/>
                        <a14:foregroundMark x1="44276" y1="91890" x2="55169" y2="85271"/>
                        <a14:foregroundMark x1="55169" y1="85271" x2="55320" y2="84973"/>
                        <a14:foregroundMark x1="40948" y1="96899" x2="46646" y2="93381"/>
                        <a14:foregroundMark x1="46646" y1="93381" x2="49521" y2="86285"/>
                        <a14:foregroundMark x1="49521" y1="86285" x2="49723" y2="84973"/>
                        <a14:foregroundMark x1="53404" y1="95528" x2="46798" y2="95766"/>
                        <a14:foregroundMark x1="95966" y1="22004" x2="95966" y2="28861"/>
                        <a14:foregroundMark x1="17448" y1="4949" x2="39284" y2="6679"/>
                        <a14:foregroundMark x1="39284" y1="6679" x2="43469" y2="6559"/>
                        <a14:foregroundMark x1="84115" y1="4949" x2="64297" y2="4949"/>
                        <a14:foregroundMark x1="81795" y1="3816" x2="89965" y2="3816"/>
                        <a14:foregroundMark x1="37620" y1="94156" x2="37620" y2="94156"/>
                        <a14:backgroundMark x1="23500" y1="79070" x2="23500" y2="79070"/>
                        <a14:backgroundMark x1="22945" y1="78235" x2="22945" y2="7823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68" y="1855232"/>
            <a:ext cx="5259438" cy="44480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https://igormakovsky.com/2012/generationcampus/img/empty-monitor@2x.jpg">
            <a:extLst>
              <a:ext uri="{FF2B5EF4-FFF2-40B4-BE49-F238E27FC236}">
                <a16:creationId xmlns:a16="http://schemas.microsoft.com/office/drawing/2014/main" id="{0606D73D-63CB-4706-880F-DE14CA9E4A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816" b="95707" l="2673" r="96924">
                        <a14:foregroundMark x1="4034" y1="16219" x2="4034" y2="16219"/>
                        <a14:foregroundMark x1="4387" y1="21288" x2="4589" y2="26595"/>
                        <a14:foregroundMark x1="4791" y1="4949" x2="2673" y2="11449"/>
                        <a14:foregroundMark x1="2673" y1="11449" x2="2673" y2="12343"/>
                        <a14:foregroundMark x1="5749" y1="4293" x2="11599" y2="4293"/>
                        <a14:foregroundMark x1="94049" y1="7752" x2="95966" y2="13238"/>
                        <a14:foregroundMark x1="91125" y1="5188" x2="94806" y2="5188"/>
                        <a14:foregroundMark x1="96369" y1="13953" x2="96167" y2="24508"/>
                        <a14:foregroundMark x1="3429" y1="23137" x2="4992" y2="75492"/>
                        <a14:foregroundMark x1="4992" y1="75492" x2="23248" y2="78533"/>
                        <a14:foregroundMark x1="23248" y1="78533" x2="26576" y2="77639"/>
                        <a14:foregroundMark x1="20726" y1="75552" x2="61624" y2="77400"/>
                        <a14:foregroundMark x1="61624" y1="77400" x2="77711" y2="76029"/>
                        <a14:foregroundMark x1="96167" y1="38104" x2="96924" y2="52236"/>
                        <a14:foregroundMark x1="96924" y1="52236" x2="94049" y2="74419"/>
                        <a14:foregroundMark x1="94049" y1="74419" x2="92284" y2="76029"/>
                        <a14:foregroundMark x1="80434" y1="76685" x2="86233" y2="75790"/>
                        <a14:foregroundMark x1="86233" y1="75790" x2="86233" y2="75790"/>
                        <a14:foregroundMark x1="47352" y1="84735" x2="51841" y2="85868"/>
                        <a14:foregroundMark x1="44276" y1="91890" x2="55169" y2="85271"/>
                        <a14:foregroundMark x1="55169" y1="85271" x2="55320" y2="84973"/>
                        <a14:foregroundMark x1="40948" y1="96899" x2="46646" y2="93381"/>
                        <a14:foregroundMark x1="46646" y1="93381" x2="49521" y2="86285"/>
                        <a14:foregroundMark x1="49521" y1="86285" x2="49723" y2="84973"/>
                        <a14:foregroundMark x1="53404" y1="95528" x2="46798" y2="95766"/>
                        <a14:foregroundMark x1="95966" y1="22004" x2="95966" y2="28861"/>
                        <a14:foregroundMark x1="17448" y1="4949" x2="39284" y2="6679"/>
                        <a14:foregroundMark x1="39284" y1="6679" x2="43469" y2="6559"/>
                        <a14:foregroundMark x1="84115" y1="4949" x2="64297" y2="4949"/>
                        <a14:foregroundMark x1="81795" y1="3816" x2="89965" y2="3816"/>
                        <a14:backgroundMark x1="23701" y1="78652" x2="23701" y2="78652"/>
                        <a14:backgroundMark x1="21735" y1="78295" x2="21735" y2="78295"/>
                      </a14:backgroundRemoval>
                    </a14:imgEffect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4032" y="1855232"/>
            <a:ext cx="5259438" cy="44480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B06DDFC-A250-40B9-B87A-293250E23B46}"/>
              </a:ext>
            </a:extLst>
          </p:cNvPr>
          <p:cNvSpPr/>
          <p:nvPr/>
        </p:nvSpPr>
        <p:spPr>
          <a:xfrm>
            <a:off x="10212388" y="479426"/>
            <a:ext cx="1979612" cy="677863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ru-RU" sz="4800" b="1" dirty="0"/>
              <a:t>23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55221A69-D39F-4472-86ED-1F4BE50FA252}"/>
              </a:ext>
            </a:extLst>
          </p:cNvPr>
          <p:cNvSpPr txBox="1">
            <a:spLocks/>
          </p:cNvSpPr>
          <p:nvPr/>
        </p:nvSpPr>
        <p:spPr bwMode="auto">
          <a:xfrm>
            <a:off x="-10244" y="2816225"/>
            <a:ext cx="12192000" cy="122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ru-RU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ctr"/>
            <a:r>
              <a:rPr lang="ru-RU" altLang="ru-RU" sz="3600" b="1" dirty="0">
                <a:solidFill>
                  <a:srgbClr val="C00000"/>
                </a:solidFill>
              </a:rPr>
              <a:t>ЗАДАЧА 4.</a:t>
            </a:r>
            <a:r>
              <a:rPr lang="en-US" altLang="ru-RU" sz="3600" b="1" dirty="0">
                <a:solidFill>
                  <a:srgbClr val="C00000"/>
                </a:solidFill>
              </a:rPr>
              <a:t> </a:t>
            </a:r>
            <a:r>
              <a:rPr lang="ru-RU" altLang="ru-RU" sz="3600" b="1" dirty="0">
                <a:solidFill>
                  <a:srgbClr val="C00000"/>
                </a:solidFill>
              </a:rPr>
              <a:t>РЕЗУЛЬТАТЫ ЭКСПЕРИМЕНТАЛЬНОЙ ПРОВЕРКИ МОДЕЛИ ЛЕГИРОВАНИЯ ПЛАВОК</a:t>
            </a:r>
          </a:p>
        </p:txBody>
      </p:sp>
    </p:spTree>
    <p:extLst>
      <p:ext uri="{BB962C8B-B14F-4D97-AF65-F5344CB8AC3E}">
        <p14:creationId xmlns:p14="http://schemas.microsoft.com/office/powerpoint/2010/main" val="7725249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008A8E7F-C4DB-4913-A1C2-F29E80804F50}"/>
              </a:ext>
            </a:extLst>
          </p:cNvPr>
          <p:cNvSpPr/>
          <p:nvPr/>
        </p:nvSpPr>
        <p:spPr bwMode="auto">
          <a:xfrm>
            <a:off x="523274" y="2717726"/>
            <a:ext cx="11178158" cy="38218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11266" name="Заголовок 1">
            <a:extLst>
              <a:ext uri="{FF2B5EF4-FFF2-40B4-BE49-F238E27FC236}">
                <a16:creationId xmlns:a16="http://schemas.microsoft.com/office/drawing/2014/main" id="{364DDBB6-4C98-4EDD-8423-BA7EFDB00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464" y="234949"/>
            <a:ext cx="11538200" cy="1101725"/>
          </a:xfrm>
        </p:spPr>
        <p:txBody>
          <a:bodyPr>
            <a:normAutofit/>
          </a:bodyPr>
          <a:lstStyle/>
          <a:p>
            <a:pPr algn="ctr"/>
            <a:r>
              <a:rPr lang="ru-RU" altLang="ru-RU" sz="2800" dirty="0"/>
              <a:t> </a:t>
            </a:r>
            <a:r>
              <a:rPr lang="ru-RU" altLang="ru-RU" sz="2800" dirty="0">
                <a:solidFill>
                  <a:srgbClr val="FF0000"/>
                </a:solidFill>
              </a:rPr>
              <a:t>Описание эксперимента и</a:t>
            </a:r>
            <a:br>
              <a:rPr lang="ru-RU" altLang="ru-RU" sz="2800" dirty="0">
                <a:solidFill>
                  <a:srgbClr val="FF0000"/>
                </a:solidFill>
              </a:rPr>
            </a:br>
            <a:r>
              <a:rPr lang="ru-RU" altLang="ru-RU" sz="2800" dirty="0">
                <a:solidFill>
                  <a:srgbClr val="FF0000"/>
                </a:solidFill>
              </a:rPr>
              <a:t> экспериментальных данных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779F9ED-5528-48E1-BC52-3FA37390FC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3392" y="1548606"/>
            <a:ext cx="11089231" cy="5034758"/>
          </a:xfrm>
        </p:spPr>
        <p:txBody>
          <a:bodyPr rtlCol="0">
            <a:normAutofit/>
          </a:bodyPr>
          <a:lstStyle/>
          <a:p>
            <a:pPr marL="0" indent="0">
              <a:spcBef>
                <a:spcPts val="50"/>
              </a:spcBef>
              <a:defRPr/>
            </a:pPr>
            <a:r>
              <a:rPr lang="ru-RU" sz="2000" dirty="0">
                <a:solidFill>
                  <a:schemeClr val="tx1"/>
                </a:solidFill>
              </a:rPr>
              <a:t>   </a:t>
            </a:r>
            <a:endParaRPr lang="ru-RU" sz="1800" dirty="0">
              <a:solidFill>
                <a:schemeClr val="tx1"/>
              </a:solidFill>
              <a:cs typeface="Calibri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B06DDFC-A250-40B9-B87A-293250E23B46}"/>
              </a:ext>
            </a:extLst>
          </p:cNvPr>
          <p:cNvSpPr/>
          <p:nvPr/>
        </p:nvSpPr>
        <p:spPr>
          <a:xfrm>
            <a:off x="10212388" y="446881"/>
            <a:ext cx="1979612" cy="677863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ru-RU" sz="4800" b="1" dirty="0"/>
              <a:t>24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28178B2F-63D1-4518-9464-FF9E13A3BE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5480" y="2366665"/>
            <a:ext cx="1996515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438E7ED-5E61-421B-9CE0-707E6F71F134}"/>
              </a:ext>
            </a:extLst>
          </p:cNvPr>
          <p:cNvSpPr/>
          <p:nvPr/>
        </p:nvSpPr>
        <p:spPr>
          <a:xfrm>
            <a:off x="767408" y="1422515"/>
            <a:ext cx="1162835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9875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</a:rPr>
              <a:t>В качестве экспериментальных данных выступил набор плавок в разрезе «факт к плану (калькулятору)».</a:t>
            </a:r>
          </a:p>
          <a:p>
            <a:pPr indent="269875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</a:rPr>
              <a:t> Данные списки не пересекаются с тренировочными и </a:t>
            </a:r>
            <a:r>
              <a:rPr lang="ru-RU" dirty="0" err="1">
                <a:solidFill>
                  <a:srgbClr val="000000"/>
                </a:solidFill>
              </a:rPr>
              <a:t>валидационными</a:t>
            </a:r>
            <a:r>
              <a:rPr lang="ru-RU" dirty="0">
                <a:solidFill>
                  <a:srgbClr val="000000"/>
                </a:solidFill>
              </a:rPr>
              <a:t> выборками и как следствие являются реальным набором данных для подтверждения работы методов и алгоритмов. 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5DF65B8C-3A00-46F1-AF1A-0378E4819422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020" y="3200252"/>
            <a:ext cx="7526015" cy="3253084"/>
          </a:xfrm>
          <a:prstGeom prst="rect">
            <a:avLst/>
          </a:prstGeom>
          <a:noFill/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C0A4D16-044B-4B41-AFC0-AE3DD575F0A3}"/>
              </a:ext>
            </a:extLst>
          </p:cNvPr>
          <p:cNvSpPr/>
          <p:nvPr/>
        </p:nvSpPr>
        <p:spPr>
          <a:xfrm>
            <a:off x="534464" y="2726024"/>
            <a:ext cx="800242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u="sng" dirty="0">
                <a:solidFill>
                  <a:srgbClr val="FF0000"/>
                </a:solidFill>
                <a:ea typeface="Calibri" panose="020F0502020204030204" pitchFamily="34" charset="0"/>
                <a:cs typeface="Mangal" panose="02040503050203030202" pitchFamily="18" charset="0"/>
              </a:rPr>
              <a:t>Схема структурно-функциональной организации модели легирования плавок</a:t>
            </a:r>
            <a:endParaRPr lang="ru-RU" sz="1600" u="sng" dirty="0">
              <a:solidFill>
                <a:srgbClr val="FF0000"/>
              </a:solidFill>
            </a:endParaRP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29365AB0-2EE2-4C01-A86F-F5D17115B8DC}"/>
              </a:ext>
            </a:extLst>
          </p:cNvPr>
          <p:cNvCxnSpPr>
            <a:cxnSpLocks/>
          </p:cNvCxnSpPr>
          <p:nvPr/>
        </p:nvCxnSpPr>
        <p:spPr>
          <a:xfrm>
            <a:off x="8536886" y="2870884"/>
            <a:ext cx="0" cy="35037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6198643-7E4F-41B7-B180-FE72DD7D4E29}"/>
              </a:ext>
            </a:extLst>
          </p:cNvPr>
          <p:cNvSpPr/>
          <p:nvPr/>
        </p:nvSpPr>
        <p:spPr>
          <a:xfrm>
            <a:off x="8400256" y="2768790"/>
            <a:ext cx="330117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u="sng" dirty="0">
                <a:solidFill>
                  <a:srgbClr val="FF0000"/>
                </a:solidFill>
                <a:ea typeface="Calibri" panose="020F0502020204030204" pitchFamily="34" charset="0"/>
                <a:cs typeface="Mangal" panose="02040503050203030202" pitchFamily="18" charset="0"/>
              </a:rPr>
              <a:t>Критерии</a:t>
            </a:r>
            <a:endParaRPr lang="ru-RU" sz="1600" u="sng" dirty="0">
              <a:solidFill>
                <a:srgbClr val="FF0000"/>
              </a:solidFill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632369D-B382-4D12-AC21-243C797CD6F9}"/>
              </a:ext>
            </a:extLst>
          </p:cNvPr>
          <p:cNvSpPr/>
          <p:nvPr/>
        </p:nvSpPr>
        <p:spPr>
          <a:xfrm>
            <a:off x="8536886" y="3203928"/>
            <a:ext cx="313184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Попадание в границы целевого химического состава – </a:t>
            </a:r>
            <a:r>
              <a:rPr lang="ru-RU" sz="16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00FF00"/>
                </a:highlight>
              </a:rPr>
              <a:t>95%</a:t>
            </a:r>
            <a:r>
              <a:rPr lang="ru-RU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</a:p>
          <a:p>
            <a:pPr>
              <a:spcAft>
                <a:spcPts val="0"/>
              </a:spcAft>
            </a:pPr>
            <a:endParaRPr lang="ru-RU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Минимальная стоимость легирования – </a:t>
            </a:r>
            <a:r>
              <a:rPr lang="ru-RU" sz="16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00FF00"/>
                </a:highlight>
              </a:rPr>
              <a:t>90%</a:t>
            </a:r>
            <a:r>
              <a:rPr lang="ru-RU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929373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Заголовок 1">
            <a:extLst>
              <a:ext uri="{FF2B5EF4-FFF2-40B4-BE49-F238E27FC236}">
                <a16:creationId xmlns:a16="http://schemas.microsoft.com/office/drawing/2014/main" id="{364DDBB6-4C98-4EDD-8423-BA7EFDB00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464" y="234949"/>
            <a:ext cx="11538200" cy="1101725"/>
          </a:xfrm>
        </p:spPr>
        <p:txBody>
          <a:bodyPr>
            <a:normAutofit/>
          </a:bodyPr>
          <a:lstStyle/>
          <a:p>
            <a:pPr algn="ctr"/>
            <a:r>
              <a:rPr lang="ru-RU" altLang="ru-RU" sz="2800" dirty="0"/>
              <a:t> </a:t>
            </a:r>
            <a:r>
              <a:rPr lang="ru-RU" altLang="ru-RU" sz="2800" dirty="0">
                <a:solidFill>
                  <a:srgbClr val="FF0000"/>
                </a:solidFill>
              </a:rPr>
              <a:t>Результаты проверки алгоритма модели расчета</a:t>
            </a:r>
            <a:br>
              <a:rPr lang="ru-RU" altLang="ru-RU" sz="2800" dirty="0">
                <a:solidFill>
                  <a:srgbClr val="FF0000"/>
                </a:solidFill>
              </a:rPr>
            </a:br>
            <a:r>
              <a:rPr lang="ru-RU" altLang="ru-RU" sz="2800" dirty="0">
                <a:solidFill>
                  <a:srgbClr val="FF0000"/>
                </a:solidFill>
              </a:rPr>
              <a:t> усвоения химического элемента в плавке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779F9ED-5528-48E1-BC52-3FA37390FC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3392" y="1548606"/>
            <a:ext cx="11089231" cy="5034758"/>
          </a:xfrm>
        </p:spPr>
        <p:txBody>
          <a:bodyPr rtlCol="0">
            <a:normAutofit/>
          </a:bodyPr>
          <a:lstStyle/>
          <a:p>
            <a:pPr marL="0" indent="0">
              <a:spcBef>
                <a:spcPts val="50"/>
              </a:spcBef>
              <a:defRPr/>
            </a:pPr>
            <a:r>
              <a:rPr lang="ru-RU" sz="2000" dirty="0">
                <a:solidFill>
                  <a:schemeClr val="tx1"/>
                </a:solidFill>
              </a:rPr>
              <a:t>   </a:t>
            </a:r>
            <a:endParaRPr lang="ru-RU" sz="1800" dirty="0">
              <a:solidFill>
                <a:schemeClr val="tx1"/>
              </a:solidFill>
              <a:cs typeface="Calibri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B06DDFC-A250-40B9-B87A-293250E23B46}"/>
              </a:ext>
            </a:extLst>
          </p:cNvPr>
          <p:cNvSpPr/>
          <p:nvPr/>
        </p:nvSpPr>
        <p:spPr>
          <a:xfrm>
            <a:off x="10212388" y="446881"/>
            <a:ext cx="1979612" cy="677863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ru-RU" sz="4800" b="1" dirty="0"/>
              <a:t>25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28178B2F-63D1-4518-9464-FF9E13A3BE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5480" y="2366665"/>
            <a:ext cx="1996515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438E7ED-5E61-421B-9CE0-707E6F71F134}"/>
              </a:ext>
            </a:extLst>
          </p:cNvPr>
          <p:cNvSpPr/>
          <p:nvPr/>
        </p:nvSpPr>
        <p:spPr>
          <a:xfrm>
            <a:off x="316208" y="1434514"/>
            <a:ext cx="116283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9875" algn="just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dirty="0">
                <a:solidFill>
                  <a:srgbClr val="000000"/>
                </a:solidFill>
                <a:ea typeface="Calibri" panose="020F0502020204030204" pitchFamily="34" charset="0"/>
              </a:rPr>
              <a:t>Результаты сравнения прогнозного усвоения и фактического усвоения</a:t>
            </a:r>
            <a:endParaRPr lang="ru-RU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008A8E7F-C4DB-4913-A1C2-F29E80804F50}"/>
              </a:ext>
            </a:extLst>
          </p:cNvPr>
          <p:cNvSpPr/>
          <p:nvPr/>
        </p:nvSpPr>
        <p:spPr bwMode="auto">
          <a:xfrm>
            <a:off x="281824" y="1917940"/>
            <a:ext cx="11628351" cy="3300018"/>
          </a:xfrm>
          <a:prstGeom prst="rect">
            <a:avLst/>
          </a:prstGeom>
          <a:noFill/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27D479EF-548C-419C-9E39-BE1364A428F0}"/>
              </a:ext>
            </a:extLst>
          </p:cNvPr>
          <p:cNvSpPr/>
          <p:nvPr/>
        </p:nvSpPr>
        <p:spPr>
          <a:xfrm>
            <a:off x="281824" y="5316272"/>
            <a:ext cx="1166273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70000"/>
            <a:r>
              <a:rPr lang="ru-RU" dirty="0">
                <a:solidFill>
                  <a:srgbClr val="000000"/>
                </a:solidFill>
              </a:rPr>
              <a:t>Анализируя прогнозные данные усвоения на тестовой выборке, можно сделать следующие выводы: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rgbClr val="000000"/>
                </a:solidFill>
              </a:rPr>
              <a:t>Корреляция прогнозного значение составила 83%.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rgbClr val="000000"/>
                </a:solidFill>
              </a:rPr>
              <a:t>Показатель прогнозного усвоения минимально расходится с фактическими значениями на всем интервале.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rgbClr val="000000"/>
                </a:solidFill>
              </a:rPr>
              <a:t>Основные расхождения наблюдаются в точках экстремума.</a:t>
            </a:r>
          </a:p>
          <a:p>
            <a:pPr indent="270000"/>
            <a:endParaRPr lang="ru-RU" dirty="0"/>
          </a:p>
          <a:p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E7E2831-40D8-45CF-B72D-708E7974888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04413" y="2071659"/>
            <a:ext cx="6046649" cy="28727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FA281D8E-BAA9-4905-8B0F-EFA61DB71E58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8614" y="2071659"/>
            <a:ext cx="5095875" cy="28727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170723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Заголовок 1">
            <a:extLst>
              <a:ext uri="{FF2B5EF4-FFF2-40B4-BE49-F238E27FC236}">
                <a16:creationId xmlns:a16="http://schemas.microsoft.com/office/drawing/2014/main" id="{364DDBB6-4C98-4EDD-8423-BA7EFDB00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464" y="234949"/>
            <a:ext cx="11538200" cy="1101725"/>
          </a:xfrm>
        </p:spPr>
        <p:txBody>
          <a:bodyPr>
            <a:normAutofit/>
          </a:bodyPr>
          <a:lstStyle/>
          <a:p>
            <a:pPr algn="ctr"/>
            <a:r>
              <a:rPr lang="ru-RU" altLang="ru-RU" sz="2800" dirty="0">
                <a:solidFill>
                  <a:srgbClr val="FF0000"/>
                </a:solidFill>
              </a:rPr>
              <a:t> Результаты проверки алгоритма модели </a:t>
            </a:r>
            <a:br>
              <a:rPr lang="ru-RU" altLang="ru-RU" sz="2800" dirty="0">
                <a:solidFill>
                  <a:srgbClr val="FF0000"/>
                </a:solidFill>
              </a:rPr>
            </a:br>
            <a:r>
              <a:rPr lang="ru-RU" altLang="ru-RU" sz="2800" dirty="0">
                <a:solidFill>
                  <a:srgbClr val="FF0000"/>
                </a:solidFill>
              </a:rPr>
              <a:t>прогноза химического состава плавки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779F9ED-5528-48E1-BC52-3FA37390FC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3392" y="1548606"/>
            <a:ext cx="11089231" cy="5034758"/>
          </a:xfrm>
        </p:spPr>
        <p:txBody>
          <a:bodyPr rtlCol="0">
            <a:normAutofit/>
          </a:bodyPr>
          <a:lstStyle/>
          <a:p>
            <a:pPr marL="0" indent="0">
              <a:spcBef>
                <a:spcPts val="50"/>
              </a:spcBef>
              <a:defRPr/>
            </a:pPr>
            <a:r>
              <a:rPr lang="ru-RU" sz="2000" dirty="0">
                <a:solidFill>
                  <a:schemeClr val="tx1"/>
                </a:solidFill>
              </a:rPr>
              <a:t>   </a:t>
            </a:r>
            <a:endParaRPr lang="ru-RU" sz="1800" dirty="0">
              <a:solidFill>
                <a:schemeClr val="tx1"/>
              </a:solidFill>
              <a:cs typeface="Calibri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B06DDFC-A250-40B9-B87A-293250E23B46}"/>
              </a:ext>
            </a:extLst>
          </p:cNvPr>
          <p:cNvSpPr/>
          <p:nvPr/>
        </p:nvSpPr>
        <p:spPr>
          <a:xfrm>
            <a:off x="10212388" y="446881"/>
            <a:ext cx="1979612" cy="677863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ru-RU" sz="4800" b="1" dirty="0"/>
              <a:t>26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28178B2F-63D1-4518-9464-FF9E13A3BE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5480" y="2366665"/>
            <a:ext cx="1996515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438E7ED-5E61-421B-9CE0-707E6F71F134}"/>
              </a:ext>
            </a:extLst>
          </p:cNvPr>
          <p:cNvSpPr/>
          <p:nvPr/>
        </p:nvSpPr>
        <p:spPr>
          <a:xfrm>
            <a:off x="316208" y="1412776"/>
            <a:ext cx="116283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9875" algn="just">
              <a:spcAft>
                <a:spcPts val="0"/>
              </a:spcAft>
            </a:pPr>
            <a:r>
              <a:rPr lang="ru-RU" dirty="0"/>
              <a:t>Результаты корреляции прогнозного и фактического прогноза по приросту содержания хим. элементов:</a:t>
            </a:r>
            <a:endParaRPr lang="ru-RU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008A8E7F-C4DB-4913-A1C2-F29E80804F50}"/>
              </a:ext>
            </a:extLst>
          </p:cNvPr>
          <p:cNvSpPr/>
          <p:nvPr/>
        </p:nvSpPr>
        <p:spPr bwMode="auto">
          <a:xfrm>
            <a:off x="281824" y="1844824"/>
            <a:ext cx="11628351" cy="3300018"/>
          </a:xfrm>
          <a:prstGeom prst="rect">
            <a:avLst/>
          </a:prstGeom>
          <a:noFill/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27D479EF-548C-419C-9E39-BE1364A428F0}"/>
              </a:ext>
            </a:extLst>
          </p:cNvPr>
          <p:cNvSpPr/>
          <p:nvPr/>
        </p:nvSpPr>
        <p:spPr>
          <a:xfrm>
            <a:off x="281824" y="5207558"/>
            <a:ext cx="1162835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ru-RU" dirty="0"/>
              <a:t>В ходе анализа графиков можно сделать следующие выводы</a:t>
            </a:r>
            <a:r>
              <a:rPr lang="en-US" dirty="0"/>
              <a:t>:</a:t>
            </a:r>
          </a:p>
          <a:p>
            <a:pPr indent="-342900" algn="just" fontAlgn="base">
              <a:buFont typeface="+mj-lt"/>
              <a:buAutoNum type="arabicPeriod"/>
            </a:pPr>
            <a:r>
              <a:rPr lang="ru-RU" dirty="0"/>
              <a:t>  Значение прогнозного прироста химического элемента по кремнию, углероду и марганцу </a:t>
            </a:r>
            <a:r>
              <a:rPr lang="ru-RU" b="1" u="sng" dirty="0"/>
              <a:t>хорошо коррелируют</a:t>
            </a:r>
            <a:r>
              <a:rPr lang="ru-RU" dirty="0"/>
              <a:t> с фактическим приростом по данным химическим элементам.</a:t>
            </a:r>
            <a:endParaRPr lang="en-US" dirty="0"/>
          </a:p>
          <a:p>
            <a:pPr indent="-342900" algn="just" fontAlgn="base">
              <a:buFont typeface="+mj-lt"/>
              <a:buAutoNum type="arabicPeriod"/>
            </a:pPr>
            <a:r>
              <a:rPr lang="ru-RU" dirty="0"/>
              <a:t> Среднее значение корреляции составляет </a:t>
            </a:r>
            <a:r>
              <a:rPr lang="ru-RU" b="1" u="sng" dirty="0"/>
              <a:t>99,5 %</a:t>
            </a:r>
            <a:r>
              <a:rPr lang="ru-RU" dirty="0"/>
              <a:t>.</a:t>
            </a:r>
          </a:p>
          <a:p>
            <a:pPr indent="270000" algn="just"/>
            <a:endParaRPr lang="ru-RU" dirty="0"/>
          </a:p>
          <a:p>
            <a:pPr algn="just"/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28FD3CB-9645-49C1-9192-2CC5D358F1D9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840" y="2027224"/>
            <a:ext cx="3635550" cy="29352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CDE76A3F-92C4-409A-B306-FB67AEC6C186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3791" y="2027224"/>
            <a:ext cx="3708305" cy="29352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0605BBB-7458-441E-91CE-8144749A401A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4497" y="2027224"/>
            <a:ext cx="3653278" cy="29492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FE75A2A-F69D-40A3-A413-1D38CFBE5F5C}"/>
              </a:ext>
            </a:extLst>
          </p:cNvPr>
          <p:cNvSpPr/>
          <p:nvPr/>
        </p:nvSpPr>
        <p:spPr>
          <a:xfrm>
            <a:off x="580331" y="2027224"/>
            <a:ext cx="51838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rgbClr val="FF0000"/>
                </a:solidFill>
              </a:rPr>
              <a:t>С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D234581-DF4B-4250-8076-98D515E9DF42}"/>
              </a:ext>
            </a:extLst>
          </p:cNvPr>
          <p:cNvSpPr/>
          <p:nvPr/>
        </p:nvSpPr>
        <p:spPr>
          <a:xfrm>
            <a:off x="4368574" y="2041697"/>
            <a:ext cx="402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Si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2C327CFA-3CDC-4137-AFE5-CCA72F9E0CE5}"/>
              </a:ext>
            </a:extLst>
          </p:cNvPr>
          <p:cNvSpPr/>
          <p:nvPr/>
        </p:nvSpPr>
        <p:spPr>
          <a:xfrm>
            <a:off x="8212422" y="2041697"/>
            <a:ext cx="5180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Mn</a:t>
            </a:r>
            <a:endParaRPr lang="ru-RU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87220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Заголовок 1">
            <a:extLst>
              <a:ext uri="{FF2B5EF4-FFF2-40B4-BE49-F238E27FC236}">
                <a16:creationId xmlns:a16="http://schemas.microsoft.com/office/drawing/2014/main" id="{364DDBB6-4C98-4EDD-8423-BA7EFDB00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824" y="234949"/>
            <a:ext cx="11538200" cy="1101725"/>
          </a:xfrm>
        </p:spPr>
        <p:txBody>
          <a:bodyPr>
            <a:normAutofit/>
          </a:bodyPr>
          <a:lstStyle/>
          <a:p>
            <a:pPr algn="ctr"/>
            <a:r>
              <a:rPr lang="ru-RU" altLang="ru-RU" sz="2800" dirty="0"/>
              <a:t> 	</a:t>
            </a:r>
            <a:r>
              <a:rPr lang="ru-RU" altLang="ru-RU" sz="2800" dirty="0">
                <a:solidFill>
                  <a:srgbClr val="FF0000"/>
                </a:solidFill>
              </a:rPr>
              <a:t>Результаты проверки алгоритма модели</a:t>
            </a:r>
            <a:br>
              <a:rPr lang="ru-RU" altLang="ru-RU" sz="2800" dirty="0">
                <a:solidFill>
                  <a:srgbClr val="FF0000"/>
                </a:solidFill>
              </a:rPr>
            </a:br>
            <a:r>
              <a:rPr lang="ru-RU" altLang="ru-RU" sz="2800" dirty="0">
                <a:solidFill>
                  <a:srgbClr val="FF0000"/>
                </a:solidFill>
              </a:rPr>
              <a:t> оптимизации стоимости легирования плавки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779F9ED-5528-48E1-BC52-3FA37390FC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3392" y="1548606"/>
            <a:ext cx="11089231" cy="5034758"/>
          </a:xfrm>
        </p:spPr>
        <p:txBody>
          <a:bodyPr rtlCol="0">
            <a:normAutofit/>
          </a:bodyPr>
          <a:lstStyle/>
          <a:p>
            <a:pPr marL="0" indent="0">
              <a:spcBef>
                <a:spcPts val="50"/>
              </a:spcBef>
              <a:defRPr/>
            </a:pPr>
            <a:r>
              <a:rPr lang="ru-RU" sz="2000" dirty="0">
                <a:solidFill>
                  <a:schemeClr val="tx1"/>
                </a:solidFill>
              </a:rPr>
              <a:t>   </a:t>
            </a:r>
            <a:endParaRPr lang="ru-RU" sz="1800" dirty="0">
              <a:solidFill>
                <a:schemeClr val="tx1"/>
              </a:solidFill>
              <a:cs typeface="Calibri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B06DDFC-A250-40B9-B87A-293250E23B46}"/>
              </a:ext>
            </a:extLst>
          </p:cNvPr>
          <p:cNvSpPr/>
          <p:nvPr/>
        </p:nvSpPr>
        <p:spPr>
          <a:xfrm>
            <a:off x="10212388" y="446881"/>
            <a:ext cx="1979612" cy="677863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ru-RU" sz="4800" b="1" dirty="0"/>
              <a:t>27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28178B2F-63D1-4518-9464-FF9E13A3BE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5480" y="2366665"/>
            <a:ext cx="1996515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438E7ED-5E61-421B-9CE0-707E6F71F134}"/>
              </a:ext>
            </a:extLst>
          </p:cNvPr>
          <p:cNvSpPr/>
          <p:nvPr/>
        </p:nvSpPr>
        <p:spPr>
          <a:xfrm>
            <a:off x="316208" y="1434514"/>
            <a:ext cx="116283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ru-RU" u="sng" dirty="0"/>
              <a:t>Оценка адекватности модели оптимизации стоимости легирования плавки была проведена в два этапа:</a:t>
            </a:r>
          </a:p>
        </p:txBody>
      </p:sp>
      <p:graphicFrame>
        <p:nvGraphicFramePr>
          <p:cNvPr id="4" name="Схема 3"/>
          <p:cNvGraphicFramePr/>
          <p:nvPr>
            <p:extLst>
              <p:ext uri="{D42A27DB-BD31-4B8C-83A1-F6EECF244321}">
                <p14:modId xmlns:p14="http://schemas.microsoft.com/office/powerpoint/2010/main" val="1083733851"/>
              </p:ext>
            </p:extLst>
          </p:nvPr>
        </p:nvGraphicFramePr>
        <p:xfrm>
          <a:off x="391456" y="1917939"/>
          <a:ext cx="11177152" cy="3455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174041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59" y="4943079"/>
            <a:ext cx="6912769" cy="12942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9" name="Рисунок 18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59" y="3354772"/>
            <a:ext cx="6912769" cy="14066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8" name="Рисунок 17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61" y="1768231"/>
            <a:ext cx="6912767" cy="14048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266" name="Заголовок 1">
            <a:extLst>
              <a:ext uri="{FF2B5EF4-FFF2-40B4-BE49-F238E27FC236}">
                <a16:creationId xmlns:a16="http://schemas.microsoft.com/office/drawing/2014/main" id="{364DDBB6-4C98-4EDD-8423-BA7EFDB00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464" y="234949"/>
            <a:ext cx="11538200" cy="1101725"/>
          </a:xfrm>
        </p:spPr>
        <p:txBody>
          <a:bodyPr>
            <a:normAutofit/>
          </a:bodyPr>
          <a:lstStyle/>
          <a:p>
            <a:pPr algn="ctr"/>
            <a:r>
              <a:rPr lang="ru-RU" altLang="ru-RU" sz="2800" dirty="0"/>
              <a:t> </a:t>
            </a:r>
            <a:r>
              <a:rPr lang="ru-RU" altLang="ru-RU" sz="2800" dirty="0">
                <a:solidFill>
                  <a:srgbClr val="FF0000"/>
                </a:solidFill>
              </a:rPr>
              <a:t>Результаты проверки алгоритма модели</a:t>
            </a:r>
            <a:br>
              <a:rPr lang="ru-RU" altLang="ru-RU" sz="2800" dirty="0">
                <a:solidFill>
                  <a:srgbClr val="FF0000"/>
                </a:solidFill>
              </a:rPr>
            </a:br>
            <a:r>
              <a:rPr lang="ru-RU" altLang="ru-RU" sz="2800" dirty="0">
                <a:solidFill>
                  <a:srgbClr val="FF0000"/>
                </a:solidFill>
              </a:rPr>
              <a:t> оптимизации стоимости легирования плавки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B06DDFC-A250-40B9-B87A-293250E23B46}"/>
              </a:ext>
            </a:extLst>
          </p:cNvPr>
          <p:cNvSpPr/>
          <p:nvPr/>
        </p:nvSpPr>
        <p:spPr>
          <a:xfrm>
            <a:off x="10212388" y="446881"/>
            <a:ext cx="1979612" cy="677863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ru-RU" sz="4800" b="1" dirty="0"/>
              <a:t>28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28178B2F-63D1-4518-9464-FF9E13A3BE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5480" y="2366665"/>
            <a:ext cx="1996515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438E7ED-5E61-421B-9CE0-707E6F71F134}"/>
              </a:ext>
            </a:extLst>
          </p:cNvPr>
          <p:cNvSpPr/>
          <p:nvPr/>
        </p:nvSpPr>
        <p:spPr>
          <a:xfrm>
            <a:off x="191344" y="1309410"/>
            <a:ext cx="116283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9875" algn="just">
              <a:spcAft>
                <a:spcPts val="0"/>
              </a:spcAft>
            </a:pPr>
            <a:r>
              <a:rPr lang="ru-RU" dirty="0"/>
              <a:t>Результаты оценки попадания в границы целевого хим. состава по  хим. элементам:</a:t>
            </a:r>
            <a:endParaRPr lang="ru-RU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008A8E7F-C4DB-4913-A1C2-F29E80804F50}"/>
              </a:ext>
            </a:extLst>
          </p:cNvPr>
          <p:cNvSpPr/>
          <p:nvPr/>
        </p:nvSpPr>
        <p:spPr bwMode="auto">
          <a:xfrm>
            <a:off x="246433" y="1733026"/>
            <a:ext cx="7145711" cy="4648302"/>
          </a:xfrm>
          <a:prstGeom prst="rect">
            <a:avLst/>
          </a:prstGeom>
          <a:noFill/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FE75A2A-F69D-40A3-A413-1D38CFBE5F5C}"/>
              </a:ext>
            </a:extLst>
          </p:cNvPr>
          <p:cNvSpPr/>
          <p:nvPr/>
        </p:nvSpPr>
        <p:spPr>
          <a:xfrm>
            <a:off x="299804" y="1683957"/>
            <a:ext cx="51838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rgbClr val="FF0000"/>
                </a:solidFill>
              </a:rPr>
              <a:t>С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D234581-DF4B-4250-8076-98D515E9DF42}"/>
              </a:ext>
            </a:extLst>
          </p:cNvPr>
          <p:cNvSpPr/>
          <p:nvPr/>
        </p:nvSpPr>
        <p:spPr>
          <a:xfrm>
            <a:off x="335359" y="4905435"/>
            <a:ext cx="402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Si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2C327CFA-3CDC-4137-AFE5-CCA72F9E0CE5}"/>
              </a:ext>
            </a:extLst>
          </p:cNvPr>
          <p:cNvSpPr/>
          <p:nvPr/>
        </p:nvSpPr>
        <p:spPr>
          <a:xfrm>
            <a:off x="340233" y="3354771"/>
            <a:ext cx="5180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Mn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7392144" y="1733026"/>
            <a:ext cx="4705226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dirty="0"/>
              <a:t>В большинстве случаев прогноз находится </a:t>
            </a:r>
            <a:r>
              <a:rPr lang="ru-RU" b="1" u="sng" dirty="0"/>
              <a:t>в границах заданного диапазона</a:t>
            </a:r>
            <a:r>
              <a:rPr lang="ru-RU" dirty="0"/>
              <a:t> (между верхней и нижней границей)</a:t>
            </a:r>
          </a:p>
          <a:p>
            <a:pPr marL="342900" indent="-342900">
              <a:buFont typeface="+mj-lt"/>
              <a:buAutoNum type="arabicPeriod"/>
            </a:pP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Основное количество выбросов за пределы диапазона целевого химического состава приходится на плавки с </a:t>
            </a:r>
            <a:r>
              <a:rPr lang="ru-RU" b="1" u="sng" dirty="0"/>
              <a:t>минимальным</a:t>
            </a:r>
            <a:r>
              <a:rPr lang="ru-RU" dirty="0"/>
              <a:t> интервалом между нижней и верхней границей химического состава.</a:t>
            </a:r>
          </a:p>
        </p:txBody>
      </p:sp>
    </p:spTree>
    <p:extLst>
      <p:ext uri="{BB962C8B-B14F-4D97-AF65-F5344CB8AC3E}">
        <p14:creationId xmlns:p14="http://schemas.microsoft.com/office/powerpoint/2010/main" val="11062009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Заголовок 1">
            <a:extLst>
              <a:ext uri="{FF2B5EF4-FFF2-40B4-BE49-F238E27FC236}">
                <a16:creationId xmlns:a16="http://schemas.microsoft.com/office/drawing/2014/main" id="{364DDBB6-4C98-4EDD-8423-BA7EFDB00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464" y="234949"/>
            <a:ext cx="11538200" cy="1101725"/>
          </a:xfrm>
        </p:spPr>
        <p:txBody>
          <a:bodyPr>
            <a:normAutofit/>
          </a:bodyPr>
          <a:lstStyle/>
          <a:p>
            <a:pPr algn="ctr"/>
            <a:r>
              <a:rPr lang="ru-RU" altLang="ru-RU" sz="2800" dirty="0"/>
              <a:t> </a:t>
            </a:r>
            <a:r>
              <a:rPr lang="ru-RU" altLang="ru-RU" sz="2800" dirty="0">
                <a:solidFill>
                  <a:srgbClr val="FF0000"/>
                </a:solidFill>
              </a:rPr>
              <a:t>Результаты проверки алгоритма модели</a:t>
            </a:r>
            <a:br>
              <a:rPr lang="ru-RU" altLang="ru-RU" sz="2800" dirty="0">
                <a:solidFill>
                  <a:srgbClr val="FF0000"/>
                </a:solidFill>
              </a:rPr>
            </a:br>
            <a:r>
              <a:rPr lang="ru-RU" altLang="ru-RU" sz="2800" dirty="0">
                <a:solidFill>
                  <a:srgbClr val="FF0000"/>
                </a:solidFill>
              </a:rPr>
              <a:t> оптимизации стоимости легирования плавки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779F9ED-5528-48E1-BC52-3FA37390FC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1179" y="1548606"/>
            <a:ext cx="11081444" cy="5034758"/>
          </a:xfrm>
        </p:spPr>
        <p:txBody>
          <a:bodyPr rtlCol="0">
            <a:normAutofit/>
          </a:bodyPr>
          <a:lstStyle/>
          <a:p>
            <a:pPr marL="0" indent="0">
              <a:spcBef>
                <a:spcPts val="50"/>
              </a:spcBef>
              <a:defRPr/>
            </a:pPr>
            <a:r>
              <a:rPr lang="ru-RU" sz="2000" dirty="0">
                <a:solidFill>
                  <a:schemeClr val="tx1"/>
                </a:solidFill>
              </a:rPr>
              <a:t>   </a:t>
            </a:r>
            <a:endParaRPr lang="ru-RU" sz="1800" dirty="0">
              <a:solidFill>
                <a:schemeClr val="tx1"/>
              </a:solidFill>
              <a:cs typeface="Calibri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B06DDFC-A250-40B9-B87A-293250E23B46}"/>
              </a:ext>
            </a:extLst>
          </p:cNvPr>
          <p:cNvSpPr/>
          <p:nvPr/>
        </p:nvSpPr>
        <p:spPr>
          <a:xfrm>
            <a:off x="10212388" y="446881"/>
            <a:ext cx="1979612" cy="677863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ru-RU" sz="4800" b="1" dirty="0"/>
              <a:t>29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28178B2F-63D1-4518-9464-FF9E13A3BE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5480" y="2366665"/>
            <a:ext cx="1996515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438E7ED-5E61-421B-9CE0-707E6F71F134}"/>
              </a:ext>
            </a:extLst>
          </p:cNvPr>
          <p:cNvSpPr/>
          <p:nvPr/>
        </p:nvSpPr>
        <p:spPr>
          <a:xfrm>
            <a:off x="191344" y="1309410"/>
            <a:ext cx="1162835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9875" algn="just"/>
            <a:r>
              <a:rPr lang="ru-RU" dirty="0"/>
              <a:t>Результаты оценки адекватности модели на предмет минимальной стоимости легирования:</a:t>
            </a:r>
          </a:p>
          <a:p>
            <a:pPr indent="269875" algn="just">
              <a:spcAft>
                <a:spcPts val="0"/>
              </a:spcAft>
            </a:pPr>
            <a:r>
              <a:rPr lang="ru-RU" dirty="0"/>
              <a:t>:</a:t>
            </a:r>
            <a:endParaRPr lang="ru-RU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008A8E7F-C4DB-4913-A1C2-F29E80804F50}"/>
              </a:ext>
            </a:extLst>
          </p:cNvPr>
          <p:cNvSpPr/>
          <p:nvPr/>
        </p:nvSpPr>
        <p:spPr bwMode="auto">
          <a:xfrm>
            <a:off x="246433" y="1733026"/>
            <a:ext cx="8009807" cy="4648302"/>
          </a:xfrm>
          <a:prstGeom prst="rect">
            <a:avLst/>
          </a:prstGeom>
          <a:noFill/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8256240" y="1733026"/>
            <a:ext cx="384113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dirty="0"/>
              <a:t>Основная причина отклонения – это </a:t>
            </a:r>
            <a:r>
              <a:rPr lang="ru-RU" b="1" u="sng" dirty="0"/>
              <a:t>превышение верхней границы по марганцу </a:t>
            </a:r>
            <a:r>
              <a:rPr lang="ru-RU" dirty="0"/>
              <a:t>с частотой 1,6% от общего количества данных</a:t>
            </a:r>
          </a:p>
          <a:p>
            <a:pPr marL="342900" indent="-342900">
              <a:buFont typeface="+mj-lt"/>
              <a:buAutoNum type="arabicPeriod"/>
            </a:pP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 В большинстве случаев (91%) прогноз обладает </a:t>
            </a:r>
            <a:r>
              <a:rPr lang="ru-RU" b="1" u="sng" dirty="0"/>
              <a:t>меньшей стоимостью </a:t>
            </a:r>
            <a:r>
              <a:rPr lang="ru-RU" dirty="0"/>
              <a:t>легирования в сравнении с фактической стоимостью легирования сталеваром, что удовлетворяет показатель целевой метрики по минимальной стоимости легирования плавки (91%)</a:t>
            </a:r>
          </a:p>
        </p:txBody>
      </p:sp>
      <p:pic>
        <p:nvPicPr>
          <p:cNvPr id="15" name="Рисунок 1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803" y="1849899"/>
            <a:ext cx="4247387" cy="23032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6" name="Рисунок 15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803" y="4206344"/>
            <a:ext cx="7828847" cy="20509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7" name="Рисунок 16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2088" y="1863049"/>
            <a:ext cx="3523562" cy="22901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658010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Заголовок 1">
            <a:extLst>
              <a:ext uri="{FF2B5EF4-FFF2-40B4-BE49-F238E27FC236}">
                <a16:creationId xmlns:a16="http://schemas.microsoft.com/office/drawing/2014/main" id="{364DDBB6-4C98-4EDD-8423-BA7EFDB00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464" y="234949"/>
            <a:ext cx="11538200" cy="1101725"/>
          </a:xfrm>
        </p:spPr>
        <p:txBody>
          <a:bodyPr>
            <a:normAutofit/>
          </a:bodyPr>
          <a:lstStyle/>
          <a:p>
            <a:pPr algn="ctr"/>
            <a:r>
              <a:rPr lang="ru-RU" altLang="ru-RU" sz="2800" dirty="0"/>
              <a:t> </a:t>
            </a:r>
            <a:r>
              <a:rPr lang="ru-RU" altLang="ru-RU" sz="2800" dirty="0">
                <a:solidFill>
                  <a:srgbClr val="FF0000"/>
                </a:solidFill>
              </a:rPr>
              <a:t>Результаты проверки модулей и</a:t>
            </a:r>
            <a:br>
              <a:rPr lang="ru-RU" altLang="ru-RU" sz="2800" dirty="0">
                <a:solidFill>
                  <a:srgbClr val="FF0000"/>
                </a:solidFill>
              </a:rPr>
            </a:br>
            <a:r>
              <a:rPr lang="ru-RU" altLang="ru-RU" sz="2800" dirty="0">
                <a:solidFill>
                  <a:srgbClr val="FF0000"/>
                </a:solidFill>
              </a:rPr>
              <a:t> классов программного обеспечения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779F9ED-5528-48E1-BC52-3FA37390FC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1179" y="1548606"/>
            <a:ext cx="11081444" cy="5034758"/>
          </a:xfrm>
        </p:spPr>
        <p:txBody>
          <a:bodyPr rtlCol="0">
            <a:normAutofit/>
          </a:bodyPr>
          <a:lstStyle/>
          <a:p>
            <a:pPr marL="0" indent="0">
              <a:spcBef>
                <a:spcPts val="50"/>
              </a:spcBef>
              <a:defRPr/>
            </a:pPr>
            <a:r>
              <a:rPr lang="ru-RU" sz="2000" dirty="0">
                <a:solidFill>
                  <a:schemeClr val="tx1"/>
                </a:solidFill>
              </a:rPr>
              <a:t>   </a:t>
            </a:r>
            <a:endParaRPr lang="ru-RU" sz="1800" dirty="0">
              <a:solidFill>
                <a:schemeClr val="tx1"/>
              </a:solidFill>
              <a:cs typeface="Calibri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B06DDFC-A250-40B9-B87A-293250E23B46}"/>
              </a:ext>
            </a:extLst>
          </p:cNvPr>
          <p:cNvSpPr/>
          <p:nvPr/>
        </p:nvSpPr>
        <p:spPr>
          <a:xfrm>
            <a:off x="10212388" y="446881"/>
            <a:ext cx="1979612" cy="677863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ru-RU" sz="4800" b="1" dirty="0"/>
              <a:t>30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28178B2F-63D1-4518-9464-FF9E13A3BE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5480" y="2366665"/>
            <a:ext cx="1996515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438E7ED-5E61-421B-9CE0-707E6F71F134}"/>
              </a:ext>
            </a:extLst>
          </p:cNvPr>
          <p:cNvSpPr/>
          <p:nvPr/>
        </p:nvSpPr>
        <p:spPr>
          <a:xfrm>
            <a:off x="191344" y="1282144"/>
            <a:ext cx="116283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9875" algn="just"/>
            <a:r>
              <a:rPr lang="ru-RU" dirty="0"/>
              <a:t>Результаты тестирования функциональных характеристик :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2105136"/>
              </p:ext>
            </p:extLst>
          </p:nvPr>
        </p:nvGraphicFramePr>
        <p:xfrm>
          <a:off x="534464" y="1630563"/>
          <a:ext cx="11285232" cy="495280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09242">
                  <a:extLst>
                    <a:ext uri="{9D8B030D-6E8A-4147-A177-3AD203B41FA5}">
                      <a16:colId xmlns:a16="http://schemas.microsoft.com/office/drawing/2014/main" val="1742695351"/>
                    </a:ext>
                  </a:extLst>
                </a:gridCol>
                <a:gridCol w="6214514">
                  <a:extLst>
                    <a:ext uri="{9D8B030D-6E8A-4147-A177-3AD203B41FA5}">
                      <a16:colId xmlns:a16="http://schemas.microsoft.com/office/drawing/2014/main" val="3042057555"/>
                    </a:ext>
                  </a:extLst>
                </a:gridCol>
                <a:gridCol w="1278443">
                  <a:extLst>
                    <a:ext uri="{9D8B030D-6E8A-4147-A177-3AD203B41FA5}">
                      <a16:colId xmlns:a16="http://schemas.microsoft.com/office/drawing/2014/main" val="2988350997"/>
                    </a:ext>
                  </a:extLst>
                </a:gridCol>
                <a:gridCol w="1719970">
                  <a:extLst>
                    <a:ext uri="{9D8B030D-6E8A-4147-A177-3AD203B41FA5}">
                      <a16:colId xmlns:a16="http://schemas.microsoft.com/office/drawing/2014/main" val="2702326840"/>
                    </a:ext>
                  </a:extLst>
                </a:gridCol>
                <a:gridCol w="1263063">
                  <a:extLst>
                    <a:ext uri="{9D8B030D-6E8A-4147-A177-3AD203B41FA5}">
                      <a16:colId xmlns:a16="http://schemas.microsoft.com/office/drawing/2014/main" val="111271505"/>
                    </a:ext>
                  </a:extLst>
                </a:gridCol>
              </a:tblGrid>
              <a:tr h="33018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70510" algn="l"/>
                        </a:tabLst>
                      </a:pPr>
                      <a:r>
                        <a:rPr lang="ru-RU" sz="1000" dirty="0">
                          <a:effectLst/>
                        </a:rPr>
                        <a:t>Дата</a:t>
                      </a:r>
                      <a:endParaRPr lang="ru-RU" sz="1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35392" marR="3539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70510" algn="l"/>
                        </a:tabLst>
                      </a:pPr>
                      <a:r>
                        <a:rPr lang="ru-RU" sz="1000" dirty="0">
                          <a:effectLst/>
                        </a:rPr>
                        <a:t>Тестируемое требование из ТЗ</a:t>
                      </a:r>
                      <a:endParaRPr lang="ru-RU" sz="1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35392" marR="3539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70510" algn="l"/>
                        </a:tabLst>
                      </a:pPr>
                      <a:r>
                        <a:rPr lang="ru-RU" sz="1000" dirty="0">
                          <a:effectLst/>
                        </a:rPr>
                        <a:t>Кто проводил</a:t>
                      </a:r>
                      <a:endParaRPr lang="ru-RU" sz="1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35392" marR="3539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70510" algn="l"/>
                        </a:tabLst>
                      </a:pPr>
                      <a:r>
                        <a:rPr lang="ru-RU" sz="1000" dirty="0">
                          <a:effectLst/>
                        </a:rPr>
                        <a:t>Способ</a:t>
                      </a:r>
                      <a:endParaRPr lang="ru-RU" sz="1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35392" marR="3539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70510" algn="l"/>
                        </a:tabLst>
                      </a:pPr>
                      <a:r>
                        <a:rPr lang="ru-RU" sz="1000" dirty="0">
                          <a:effectLst/>
                        </a:rPr>
                        <a:t>Результат</a:t>
                      </a:r>
                      <a:endParaRPr lang="ru-RU" sz="1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35392" marR="35392" marT="0" marB="0" anchor="ctr"/>
                </a:tc>
                <a:extLst>
                  <a:ext uri="{0D108BD9-81ED-4DB2-BD59-A6C34878D82A}">
                    <a16:rowId xmlns:a16="http://schemas.microsoft.com/office/drawing/2014/main" val="1023472768"/>
                  </a:ext>
                </a:extLst>
              </a:tr>
              <a:tr h="33018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70510" algn="l"/>
                        </a:tabLst>
                      </a:pPr>
                      <a:r>
                        <a:rPr lang="ru-RU" sz="1000" dirty="0">
                          <a:effectLst/>
                        </a:rPr>
                        <a:t>23.05.23</a:t>
                      </a:r>
                      <a:endParaRPr lang="ru-RU" sz="1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35392" marR="3539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Сбор, обработка и хранение данных, полученных от модели и смежных АСУ ТП</a:t>
                      </a:r>
                      <a:endParaRPr lang="ru-RU" sz="1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35392" marR="3539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70510" algn="l"/>
                        </a:tabLst>
                      </a:pPr>
                      <a:r>
                        <a:rPr lang="ru-RU" sz="1000" dirty="0">
                          <a:effectLst/>
                        </a:rPr>
                        <a:t>Разработчик</a:t>
                      </a:r>
                      <a:endParaRPr lang="ru-RU" sz="1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35392" marR="3539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70510" algn="l"/>
                        </a:tabLst>
                      </a:pPr>
                      <a:r>
                        <a:rPr lang="ru-RU" sz="1000" dirty="0">
                          <a:effectLst/>
                        </a:rPr>
                        <a:t>Системное тестирование</a:t>
                      </a:r>
                      <a:endParaRPr lang="ru-RU" sz="1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35392" marR="3539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70510" algn="l"/>
                        </a:tabLst>
                      </a:pPr>
                      <a:r>
                        <a:rPr lang="ru-RU" sz="1000" b="1" dirty="0">
                          <a:solidFill>
                            <a:srgbClr val="00B050"/>
                          </a:solidFill>
                          <a:effectLst/>
                        </a:rPr>
                        <a:t>Успех</a:t>
                      </a:r>
                      <a:endParaRPr lang="ru-RU" sz="1000" b="1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35392" marR="35392" marT="0" marB="0" anchor="ctr"/>
                </a:tc>
                <a:extLst>
                  <a:ext uri="{0D108BD9-81ED-4DB2-BD59-A6C34878D82A}">
                    <a16:rowId xmlns:a16="http://schemas.microsoft.com/office/drawing/2014/main" val="3515211124"/>
                  </a:ext>
                </a:extLst>
              </a:tr>
              <a:tr h="33018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70510" algn="l"/>
                        </a:tabLst>
                      </a:pPr>
                      <a:r>
                        <a:rPr lang="ru-RU" sz="1000" dirty="0">
                          <a:effectLst/>
                        </a:rPr>
                        <a:t>23.05.23</a:t>
                      </a:r>
                      <a:endParaRPr lang="ru-RU" sz="1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35392" marR="3539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Мониторинг целевого химического состава и проб химического состава в режиме реального времени.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 </a:t>
                      </a:r>
                      <a:endParaRPr lang="ru-RU" sz="1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35392" marR="3539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70510" algn="l"/>
                        </a:tabLst>
                      </a:pPr>
                      <a:r>
                        <a:rPr lang="ru-RU" sz="1000" dirty="0">
                          <a:effectLst/>
                        </a:rPr>
                        <a:t>Разработчик</a:t>
                      </a:r>
                      <a:endParaRPr lang="ru-RU" sz="1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35392" marR="3539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70510" algn="l"/>
                        </a:tabLst>
                      </a:pPr>
                      <a:r>
                        <a:rPr lang="ru-RU" sz="1000" dirty="0">
                          <a:effectLst/>
                        </a:rPr>
                        <a:t>Системное тестирование</a:t>
                      </a:r>
                      <a:endParaRPr lang="ru-RU" sz="1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35392" marR="3539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70510" algn="l"/>
                        </a:tabLst>
                      </a:pPr>
                      <a:r>
                        <a:rPr lang="ru-RU" sz="1000" b="1" dirty="0">
                          <a:solidFill>
                            <a:srgbClr val="00B050"/>
                          </a:solidFill>
                          <a:effectLst/>
                        </a:rPr>
                        <a:t>Успех</a:t>
                      </a:r>
                      <a:endParaRPr lang="ru-RU" sz="1000" b="1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35392" marR="35392" marT="0" marB="0" anchor="ctr"/>
                </a:tc>
                <a:extLst>
                  <a:ext uri="{0D108BD9-81ED-4DB2-BD59-A6C34878D82A}">
                    <a16:rowId xmlns:a16="http://schemas.microsoft.com/office/drawing/2014/main" val="2505350900"/>
                  </a:ext>
                </a:extLst>
              </a:tr>
              <a:tr h="33018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70510" algn="l"/>
                        </a:tabLst>
                      </a:pPr>
                      <a:r>
                        <a:rPr lang="ru-RU" sz="1000" dirty="0">
                          <a:effectLst/>
                        </a:rPr>
                        <a:t>23.05.23</a:t>
                      </a:r>
                      <a:endParaRPr lang="ru-RU" sz="1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35392" marR="3539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Расчет навески легирующих материалов на всех переделах плавки</a:t>
                      </a:r>
                      <a:endParaRPr lang="ru-RU" sz="1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35392" marR="3539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70510" algn="l"/>
                        </a:tabLst>
                      </a:pPr>
                      <a:r>
                        <a:rPr lang="ru-RU" sz="1000" dirty="0">
                          <a:effectLst/>
                        </a:rPr>
                        <a:t>Разработчик</a:t>
                      </a:r>
                      <a:endParaRPr lang="ru-RU" sz="1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35392" marR="3539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70510" algn="l"/>
                        </a:tabLst>
                      </a:pPr>
                      <a:r>
                        <a:rPr lang="ru-RU" sz="1000" dirty="0">
                          <a:effectLst/>
                        </a:rPr>
                        <a:t>Системное тестирование</a:t>
                      </a:r>
                      <a:endParaRPr lang="ru-RU" sz="1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35392" marR="3539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70510" algn="l"/>
                        </a:tabLst>
                      </a:pPr>
                      <a:r>
                        <a:rPr lang="ru-RU" sz="1000" b="1" dirty="0">
                          <a:solidFill>
                            <a:srgbClr val="00B050"/>
                          </a:solidFill>
                          <a:effectLst/>
                        </a:rPr>
                        <a:t>Успех</a:t>
                      </a:r>
                      <a:endParaRPr lang="ru-RU" sz="1000" b="1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35392" marR="35392" marT="0" marB="0" anchor="ctr"/>
                </a:tc>
                <a:extLst>
                  <a:ext uri="{0D108BD9-81ED-4DB2-BD59-A6C34878D82A}">
                    <a16:rowId xmlns:a16="http://schemas.microsoft.com/office/drawing/2014/main" val="125495506"/>
                  </a:ext>
                </a:extLst>
              </a:tr>
              <a:tr h="33018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70510" algn="l"/>
                        </a:tabLst>
                      </a:pPr>
                      <a:r>
                        <a:rPr lang="ru-RU" sz="1000" dirty="0">
                          <a:effectLst/>
                        </a:rPr>
                        <a:t>23.05.23</a:t>
                      </a:r>
                      <a:endParaRPr lang="ru-RU" sz="1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35392" marR="3539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Сбор информации о наличии легирующих материалов и их ценах</a:t>
                      </a:r>
                      <a:endParaRPr lang="ru-RU" sz="1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35392" marR="3539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70510" algn="l"/>
                        </a:tabLst>
                      </a:pPr>
                      <a:r>
                        <a:rPr lang="ru-RU" sz="1000" dirty="0">
                          <a:effectLst/>
                        </a:rPr>
                        <a:t>Разработчик</a:t>
                      </a:r>
                      <a:endParaRPr lang="ru-RU" sz="1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35392" marR="3539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70510" algn="l"/>
                        </a:tabLst>
                      </a:pPr>
                      <a:r>
                        <a:rPr lang="ru-RU" sz="1000" dirty="0">
                          <a:effectLst/>
                        </a:rPr>
                        <a:t>Системное тестирование</a:t>
                      </a:r>
                      <a:endParaRPr lang="ru-RU" sz="1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35392" marR="3539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70510" algn="l"/>
                        </a:tabLst>
                      </a:pPr>
                      <a:r>
                        <a:rPr lang="ru-RU" sz="1000" b="1" dirty="0">
                          <a:solidFill>
                            <a:srgbClr val="00B050"/>
                          </a:solidFill>
                          <a:effectLst/>
                        </a:rPr>
                        <a:t>Успех</a:t>
                      </a:r>
                      <a:endParaRPr lang="ru-RU" sz="1000" b="1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35392" marR="35392" marT="0" marB="0" anchor="ctr"/>
                </a:tc>
                <a:extLst>
                  <a:ext uri="{0D108BD9-81ED-4DB2-BD59-A6C34878D82A}">
                    <a16:rowId xmlns:a16="http://schemas.microsoft.com/office/drawing/2014/main" val="3393101878"/>
                  </a:ext>
                </a:extLst>
              </a:tr>
              <a:tr h="33018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70510" algn="l"/>
                        </a:tabLst>
                      </a:pPr>
                      <a:r>
                        <a:rPr lang="ru-RU" sz="1000" dirty="0">
                          <a:effectLst/>
                        </a:rPr>
                        <a:t>23.05.23</a:t>
                      </a:r>
                      <a:endParaRPr lang="ru-RU" sz="1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35392" marR="3539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Сохранение рекомендаций модели и сопутствующих технологических параметрах плавки</a:t>
                      </a:r>
                      <a:endParaRPr lang="ru-RU" sz="1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35392" marR="3539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70510" algn="l"/>
                        </a:tabLst>
                      </a:pPr>
                      <a:r>
                        <a:rPr lang="ru-RU" sz="1000">
                          <a:effectLst/>
                        </a:rPr>
                        <a:t>Разработчик</a:t>
                      </a:r>
                      <a:endParaRPr lang="ru-RU" sz="1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35392" marR="3539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70510" algn="l"/>
                        </a:tabLst>
                      </a:pPr>
                      <a:r>
                        <a:rPr lang="ru-RU" sz="1000" dirty="0">
                          <a:effectLst/>
                        </a:rPr>
                        <a:t>Системное тестирование</a:t>
                      </a:r>
                      <a:endParaRPr lang="ru-RU" sz="1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35392" marR="3539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70510" algn="l"/>
                        </a:tabLst>
                      </a:pPr>
                      <a:r>
                        <a:rPr lang="ru-RU" sz="1000" b="1" dirty="0">
                          <a:solidFill>
                            <a:srgbClr val="00B050"/>
                          </a:solidFill>
                          <a:effectLst/>
                        </a:rPr>
                        <a:t>Успех</a:t>
                      </a:r>
                      <a:endParaRPr lang="ru-RU" sz="1000" b="1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35392" marR="35392" marT="0" marB="0" anchor="ctr"/>
                </a:tc>
                <a:extLst>
                  <a:ext uri="{0D108BD9-81ED-4DB2-BD59-A6C34878D82A}">
                    <a16:rowId xmlns:a16="http://schemas.microsoft.com/office/drawing/2014/main" val="4038239734"/>
                  </a:ext>
                </a:extLst>
              </a:tr>
              <a:tr h="33018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70510" algn="l"/>
                        </a:tabLst>
                      </a:pPr>
                      <a:r>
                        <a:rPr lang="ru-RU" sz="1000" dirty="0">
                          <a:effectLst/>
                        </a:rPr>
                        <a:t>23.05.23</a:t>
                      </a:r>
                      <a:endParaRPr lang="ru-RU" sz="1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35392" marR="3539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Индикация отклонений контролируемых величин сверх допустимого диапазона значений</a:t>
                      </a:r>
                      <a:endParaRPr lang="ru-RU" sz="1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35392" marR="3539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70510" algn="l"/>
                        </a:tabLst>
                      </a:pPr>
                      <a:r>
                        <a:rPr lang="ru-RU" sz="1000">
                          <a:effectLst/>
                        </a:rPr>
                        <a:t>Разработчик</a:t>
                      </a:r>
                      <a:endParaRPr lang="ru-RU" sz="1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35392" marR="3539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70510" algn="l"/>
                        </a:tabLst>
                      </a:pPr>
                      <a:r>
                        <a:rPr lang="ru-RU" sz="1000" dirty="0">
                          <a:effectLst/>
                        </a:rPr>
                        <a:t>Системное тестирование</a:t>
                      </a:r>
                      <a:endParaRPr lang="ru-RU" sz="1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35392" marR="3539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70510" algn="l"/>
                        </a:tabLst>
                      </a:pPr>
                      <a:r>
                        <a:rPr lang="ru-RU" sz="1000" b="1" dirty="0">
                          <a:solidFill>
                            <a:srgbClr val="00B050"/>
                          </a:solidFill>
                          <a:effectLst/>
                        </a:rPr>
                        <a:t>Успех</a:t>
                      </a:r>
                      <a:endParaRPr lang="ru-RU" sz="1000" b="1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35392" marR="35392" marT="0" marB="0" anchor="ctr"/>
                </a:tc>
                <a:extLst>
                  <a:ext uri="{0D108BD9-81ED-4DB2-BD59-A6C34878D82A}">
                    <a16:rowId xmlns:a16="http://schemas.microsoft.com/office/drawing/2014/main" val="3620285144"/>
                  </a:ext>
                </a:extLst>
              </a:tr>
              <a:tr h="33018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70510" algn="l"/>
                        </a:tabLst>
                      </a:pPr>
                      <a:r>
                        <a:rPr lang="ru-RU" sz="1000" dirty="0">
                          <a:effectLst/>
                        </a:rPr>
                        <a:t>23.05.23</a:t>
                      </a:r>
                      <a:endParaRPr lang="ru-RU" sz="1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35392" marR="3539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Расчет навески с учетом особенностей каждого из переделов (завалка легированного лома, выплавка, внепечная обработка стали)</a:t>
                      </a:r>
                      <a:endParaRPr lang="ru-RU" sz="1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35392" marR="3539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70510" algn="l"/>
                        </a:tabLst>
                      </a:pPr>
                      <a:r>
                        <a:rPr lang="ru-RU" sz="1000">
                          <a:effectLst/>
                        </a:rPr>
                        <a:t>Разработчик.</a:t>
                      </a:r>
                      <a:endParaRPr lang="ru-RU" sz="1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35392" marR="3539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70510" algn="l"/>
                        </a:tabLst>
                      </a:pPr>
                      <a:r>
                        <a:rPr lang="ru-RU" sz="1000" dirty="0">
                          <a:effectLst/>
                        </a:rPr>
                        <a:t>Системное тестирование</a:t>
                      </a:r>
                      <a:endParaRPr lang="ru-RU" sz="1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35392" marR="3539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70510" algn="l"/>
                        </a:tabLst>
                      </a:pPr>
                      <a:r>
                        <a:rPr lang="ru-RU" sz="1000" b="1" dirty="0">
                          <a:solidFill>
                            <a:srgbClr val="00B050"/>
                          </a:solidFill>
                          <a:effectLst/>
                        </a:rPr>
                        <a:t>Успех</a:t>
                      </a:r>
                      <a:endParaRPr lang="ru-RU" sz="1000" b="1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35392" marR="35392" marT="0" marB="0" anchor="ctr"/>
                </a:tc>
                <a:extLst>
                  <a:ext uri="{0D108BD9-81ED-4DB2-BD59-A6C34878D82A}">
                    <a16:rowId xmlns:a16="http://schemas.microsoft.com/office/drawing/2014/main" val="2756762932"/>
                  </a:ext>
                </a:extLst>
              </a:tr>
              <a:tr h="33018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70510" algn="l"/>
                        </a:tabLst>
                      </a:pPr>
                      <a:r>
                        <a:rPr lang="ru-RU" sz="1000" dirty="0">
                          <a:effectLst/>
                        </a:rPr>
                        <a:t>23.05.23</a:t>
                      </a:r>
                      <a:endParaRPr lang="ru-RU" sz="1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35392" marR="3539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Отображение данных на рабочие места пользователей в удобном для восприятия виде</a:t>
                      </a:r>
                      <a:endParaRPr lang="ru-RU" sz="1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35392" marR="3539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70510" algn="l"/>
                        </a:tabLst>
                      </a:pPr>
                      <a:r>
                        <a:rPr lang="ru-RU" sz="1000">
                          <a:effectLst/>
                        </a:rPr>
                        <a:t>Разработчик.</a:t>
                      </a:r>
                      <a:endParaRPr lang="ru-RU" sz="1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35392" marR="3539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70510" algn="l"/>
                        </a:tabLst>
                      </a:pPr>
                      <a:r>
                        <a:rPr lang="ru-RU" sz="1000" dirty="0">
                          <a:effectLst/>
                        </a:rPr>
                        <a:t>Системное тестирование</a:t>
                      </a:r>
                      <a:endParaRPr lang="ru-RU" sz="1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35392" marR="3539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70510" algn="l"/>
                        </a:tabLst>
                      </a:pPr>
                      <a:r>
                        <a:rPr lang="ru-RU" sz="1000" b="1" dirty="0">
                          <a:solidFill>
                            <a:srgbClr val="00B050"/>
                          </a:solidFill>
                          <a:effectLst/>
                        </a:rPr>
                        <a:t>Успех</a:t>
                      </a:r>
                      <a:endParaRPr lang="ru-RU" sz="1000" b="1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35392" marR="35392" marT="0" marB="0" anchor="ctr"/>
                </a:tc>
                <a:extLst>
                  <a:ext uri="{0D108BD9-81ED-4DB2-BD59-A6C34878D82A}">
                    <a16:rowId xmlns:a16="http://schemas.microsoft.com/office/drawing/2014/main" val="4041260759"/>
                  </a:ext>
                </a:extLst>
              </a:tr>
              <a:tr h="33018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70510" algn="l"/>
                        </a:tabLst>
                      </a:pPr>
                      <a:r>
                        <a:rPr lang="ru-RU" sz="1000" dirty="0">
                          <a:effectLst/>
                        </a:rPr>
                        <a:t>23.05.23</a:t>
                      </a:r>
                      <a:endParaRPr lang="ru-RU" sz="1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35392" marR="3539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Индикация выхода за пределы диапазона целевого химического состава.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 </a:t>
                      </a:r>
                      <a:endParaRPr lang="ru-RU" sz="1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35392" marR="3539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70510" algn="l"/>
                        </a:tabLst>
                      </a:pPr>
                      <a:r>
                        <a:rPr lang="ru-RU" sz="1000" dirty="0">
                          <a:effectLst/>
                        </a:rPr>
                        <a:t>Разработчик</a:t>
                      </a:r>
                      <a:endParaRPr lang="ru-RU" sz="1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35392" marR="3539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70510" algn="l"/>
                        </a:tabLst>
                      </a:pPr>
                      <a:r>
                        <a:rPr lang="ru-RU" sz="1000" dirty="0">
                          <a:effectLst/>
                        </a:rPr>
                        <a:t>Системное тестирование</a:t>
                      </a:r>
                      <a:endParaRPr lang="ru-RU" sz="1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35392" marR="3539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70510" algn="l"/>
                        </a:tabLst>
                      </a:pPr>
                      <a:r>
                        <a:rPr lang="ru-RU" sz="1000" b="1" dirty="0">
                          <a:solidFill>
                            <a:srgbClr val="00B050"/>
                          </a:solidFill>
                          <a:effectLst/>
                        </a:rPr>
                        <a:t>Успех</a:t>
                      </a:r>
                      <a:endParaRPr lang="ru-RU" sz="1000" b="1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35392" marR="35392" marT="0" marB="0" anchor="ctr"/>
                </a:tc>
                <a:extLst>
                  <a:ext uri="{0D108BD9-81ED-4DB2-BD59-A6C34878D82A}">
                    <a16:rowId xmlns:a16="http://schemas.microsoft.com/office/drawing/2014/main" val="214008197"/>
                  </a:ext>
                </a:extLst>
              </a:tr>
              <a:tr h="330187"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70510" algn="l"/>
                        </a:tabLst>
                      </a:pPr>
                      <a:r>
                        <a:rPr lang="ru-RU" sz="10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20.05.23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70510" algn="l"/>
                        </a:tabLst>
                      </a:pPr>
                      <a:r>
                        <a:rPr lang="ru-RU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Бессбойное функционирование при любых входных данных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70510" algn="l"/>
                        </a:tabLst>
                      </a:pPr>
                      <a:r>
                        <a:rPr lang="ru-RU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Разработчик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70510" algn="l"/>
                        </a:tabLst>
                      </a:pPr>
                      <a:r>
                        <a:rPr lang="ru-RU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Системное тестирование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70510" algn="l"/>
                        </a:tabLst>
                      </a:pPr>
                      <a:r>
                        <a:rPr lang="ru-RU" sz="1000" b="1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Успех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73939626"/>
                  </a:ext>
                </a:extLst>
              </a:tr>
              <a:tr h="330187"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70510" algn="l"/>
                        </a:tabLst>
                      </a:pPr>
                      <a:r>
                        <a:rPr lang="ru-RU" sz="10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20.05.23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70510" algn="l"/>
                        </a:tabLst>
                      </a:pPr>
                      <a:r>
                        <a:rPr lang="ru-RU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Оперативное сохранение информации о результатах работы программы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70510" algn="l"/>
                        </a:tabLst>
                      </a:pPr>
                      <a:r>
                        <a:rPr lang="ru-RU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Разработчик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70510" algn="l"/>
                        </a:tabLst>
                      </a:pPr>
                      <a:r>
                        <a:rPr lang="ru-RU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Системное тестирование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70510" algn="l"/>
                        </a:tabLst>
                      </a:pPr>
                      <a:r>
                        <a:rPr lang="ru-RU" sz="1000" b="1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Успех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29948865"/>
                  </a:ext>
                </a:extLst>
              </a:tr>
              <a:tr h="330187"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70510" algn="l"/>
                        </a:tabLst>
                      </a:pPr>
                      <a:r>
                        <a:rPr lang="ru-RU" sz="10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20.05.23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70510" algn="l"/>
                        </a:tabLst>
                      </a:pPr>
                      <a:r>
                        <a:rPr lang="ru-RU" sz="10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Логирование</a:t>
                      </a:r>
                      <a:r>
                        <a:rPr lang="ru-RU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данных в лог-файл и БД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70510" algn="l"/>
                        </a:tabLst>
                      </a:pPr>
                      <a:r>
                        <a:rPr lang="ru-RU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Разработчик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70510" algn="l"/>
                        </a:tabLst>
                      </a:pPr>
                      <a:r>
                        <a:rPr lang="ru-RU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Системное тестирование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70510" algn="l"/>
                        </a:tabLst>
                      </a:pPr>
                      <a:r>
                        <a:rPr lang="ru-RU" sz="1000" b="1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Успех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63857401"/>
                  </a:ext>
                </a:extLst>
              </a:tr>
              <a:tr h="330187"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70510" algn="l"/>
                        </a:tabLst>
                      </a:pPr>
                      <a:r>
                        <a:rPr lang="ru-RU" sz="10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20.05.23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70510" algn="l"/>
                        </a:tabLst>
                      </a:pPr>
                      <a:r>
                        <a:rPr lang="ru-RU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Корректный вывод данных и результатов на экран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70510" algn="l"/>
                        </a:tabLst>
                      </a:pPr>
                      <a:r>
                        <a:rPr lang="ru-RU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Разработчик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70510" algn="l"/>
                        </a:tabLst>
                      </a:pPr>
                      <a:r>
                        <a:rPr lang="ru-RU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Системное тестирование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70510" algn="l"/>
                        </a:tabLst>
                      </a:pPr>
                      <a:r>
                        <a:rPr lang="ru-RU" sz="1000" b="1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Успех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08292875"/>
                  </a:ext>
                </a:extLst>
              </a:tr>
              <a:tr h="330187"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70510" algn="l"/>
                        </a:tabLst>
                      </a:pPr>
                      <a:r>
                        <a:rPr lang="ru-RU" sz="10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23.05.23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70510" algn="l"/>
                        </a:tabLst>
                      </a:pPr>
                      <a:r>
                        <a:rPr lang="ru-RU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Система должна иметь защиту от некорректных действий оператора и ошибочных исходных данных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70510" algn="l"/>
                        </a:tabLst>
                      </a:pPr>
                      <a:r>
                        <a:rPr lang="ru-RU" sz="10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Разработчик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70510" algn="l"/>
                        </a:tabLst>
                      </a:pPr>
                      <a:r>
                        <a:rPr lang="ru-RU" sz="10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Системное тестирование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70510" algn="l"/>
                        </a:tabLst>
                      </a:pPr>
                      <a:r>
                        <a:rPr lang="ru-RU" sz="1000" b="1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Успех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748669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72859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>
            <a:extLst>
              <a:ext uri="{FF2B5EF4-FFF2-40B4-BE49-F238E27FC236}">
                <a16:creationId xmlns:a16="http://schemas.microsoft.com/office/drawing/2014/main" id="{E7FEC2BA-2498-452C-8770-B54E0CF47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50850"/>
            <a:ext cx="12186809" cy="1101725"/>
          </a:xfrm>
        </p:spPr>
        <p:txBody>
          <a:bodyPr/>
          <a:lstStyle/>
          <a:p>
            <a:pPr algn="ctr"/>
            <a:r>
              <a:rPr lang="ru-RU" altLang="ru-RU" sz="2800" dirty="0">
                <a:solidFill>
                  <a:srgbClr val="FF0000"/>
                </a:solidFill>
              </a:rPr>
              <a:t>Основные результаты работы и выводы</a:t>
            </a:r>
            <a:br>
              <a:rPr lang="ru-RU" altLang="ru-RU" sz="2800" dirty="0"/>
            </a:br>
            <a:r>
              <a:rPr lang="ru-RU" altLang="ru-RU" sz="2800" dirty="0"/>
              <a:t>  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B06DDFC-A250-40B9-B87A-293250E23B46}"/>
              </a:ext>
            </a:extLst>
          </p:cNvPr>
          <p:cNvSpPr/>
          <p:nvPr/>
        </p:nvSpPr>
        <p:spPr>
          <a:xfrm>
            <a:off x="10207197" y="323850"/>
            <a:ext cx="1979612" cy="677863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ru-RU" sz="4800" b="1" dirty="0"/>
              <a:t>31</a:t>
            </a: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8B9E7A8A-9402-4FFE-8BD6-64AEC26343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691" y="1339481"/>
            <a:ext cx="52816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ru-RU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400" b="1">
                <a:solidFill>
                  <a:srgbClr val="C00000"/>
                </a:solidFill>
                <a:latin typeface="Arial" panose="020B0604020202020204" pitchFamily="34" charset="0"/>
              </a:rPr>
              <a:t>ОСНОВНЫЕ РЕЗУЛЬТАТЫ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A20707FF-F6A5-429F-999F-0F9D27F6E2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691" y="4218734"/>
            <a:ext cx="52816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ru-RU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400" b="1" dirty="0">
                <a:solidFill>
                  <a:srgbClr val="C00000"/>
                </a:solidFill>
                <a:latin typeface="Arial" panose="020B0604020202020204" pitchFamily="34" charset="0"/>
              </a:rPr>
              <a:t>АПРОБАЦИЯ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898FEF1-8083-4EB9-BA46-392B6E25CF05}"/>
              </a:ext>
            </a:extLst>
          </p:cNvPr>
          <p:cNvSpPr/>
          <p:nvPr/>
        </p:nvSpPr>
        <p:spPr>
          <a:xfrm>
            <a:off x="332764" y="1767223"/>
            <a:ext cx="11521280" cy="30880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70000" algn="just">
              <a:spcAft>
                <a:spcPts val="0"/>
              </a:spcAft>
            </a:pPr>
            <a:r>
              <a:rPr lang="ru-RU" dirty="0"/>
              <a:t>Обеспечить минимальную стоимость легирования плавки за счет минимизации затрат на легирующие материалы при этом удовлетворив ограничения по целевому химическому составу, углеродному эквиваленту и т.д.</a:t>
            </a:r>
          </a:p>
          <a:p>
            <a:pPr indent="270000"/>
            <a:r>
              <a:rPr lang="ru-RU" dirty="0"/>
              <a:t>Проведена экспериментальная проверка разработанных моделей тестирование адекватности моделей программного обеспечения попадание в границы целевого химического состава и соответствия технологическим требованиям – 97%.</a:t>
            </a:r>
          </a:p>
          <a:p>
            <a:pPr indent="270000" fontAlgn="base"/>
            <a:r>
              <a:rPr lang="ru-RU" dirty="0"/>
              <a:t>Минимальная стоимость легирования в сравнении с идентичной рекомендацией сталевара – 91%.</a:t>
            </a:r>
          </a:p>
          <a:p>
            <a:pPr indent="270000"/>
            <a:r>
              <a:rPr lang="ru-RU" dirty="0"/>
              <a:t>Модель множественной регрессии корреляция прогнозного значение составила 83%.</a:t>
            </a:r>
          </a:p>
          <a:p>
            <a:pPr indent="269875" algn="just">
              <a:lnSpc>
                <a:spcPct val="150000"/>
              </a:lnSpc>
              <a:spcAft>
                <a:spcPts val="0"/>
              </a:spcAft>
            </a:pPr>
            <a:endParaRPr lang="ru-RU" dirty="0"/>
          </a:p>
          <a:p>
            <a:pPr indent="269875" algn="just">
              <a:lnSpc>
                <a:spcPct val="150000"/>
              </a:lnSpc>
              <a:spcAft>
                <a:spcPts val="0"/>
              </a:spcAft>
            </a:pPr>
            <a:endParaRPr lang="ru-RU" dirty="0">
              <a:solidFill>
                <a:srgbClr val="000000"/>
              </a:solidFill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1136ACF-0D8D-4D52-8F4E-AB2B93AB4F2F}"/>
              </a:ext>
            </a:extLst>
          </p:cNvPr>
          <p:cNvSpPr/>
          <p:nvPr/>
        </p:nvSpPr>
        <p:spPr>
          <a:xfrm>
            <a:off x="470691" y="4680696"/>
            <a:ext cx="1144927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ru-RU" dirty="0"/>
              <a:t>Результаты магистерской диссертационной работы обсуждены и получили положительные оценки на: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ru-RU" dirty="0"/>
              <a:t>Студенческая научная конференция СНК-2022 (ЧГУ,).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ru-RU" dirty="0"/>
              <a:t>Студенческая научная конференция «Регион искусственного интеллекта» (Череповец, 6 ноября 2022).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ru-RU" dirty="0"/>
              <a:t>Международная научная конференция «Молодые исследователи – регионам» (18 апреля 2022).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ru-RU" dirty="0"/>
              <a:t>Студенческая научная конференция СНК-2023 (ЧГУ, 25 апреля 2023).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ru-RU" dirty="0"/>
              <a:t>По теме диссертации опубликовано 3 печатные работы, в том числе 1 статья в ведущем рецензируемом научном журнале и издании из перечня ВАК.</a:t>
            </a:r>
          </a:p>
          <a:p>
            <a:pPr fontAlgn="base"/>
            <a:endParaRPr lang="ru-RU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Заголовок 1">
            <a:extLst>
              <a:ext uri="{FF2B5EF4-FFF2-40B4-BE49-F238E27FC236}">
                <a16:creationId xmlns:a16="http://schemas.microsoft.com/office/drawing/2014/main" id="{2A6D6C2A-F1DF-4814-935A-07FD377299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75720" y="2693987"/>
            <a:ext cx="7772400" cy="1470025"/>
          </a:xfrm>
        </p:spPr>
        <p:txBody>
          <a:bodyPr/>
          <a:lstStyle/>
          <a:p>
            <a:pPr eaLnBrk="1" hangingPunct="1"/>
            <a:r>
              <a:rPr lang="ru-RU" altLang="ru-RU" sz="3200" u="sng" dirty="0">
                <a:solidFill>
                  <a:srgbClr val="FF0000"/>
                </a:solidFill>
              </a:rPr>
              <a:t>Спасибо за внимание!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DAF5263-14F1-4D4B-B1A9-2EE6B24792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52588" y="3167064"/>
            <a:ext cx="2520950" cy="2232025"/>
          </a:xfrm>
        </p:spPr>
        <p:txBody>
          <a:bodyPr rtlCol="0">
            <a:normAutofit/>
          </a:bodyPr>
          <a:lstStyle/>
          <a:p>
            <a:pPr algn="l">
              <a:defRPr/>
            </a:pPr>
            <a:br>
              <a:rPr lang="ru-RU" sz="2200" dirty="0"/>
            </a:br>
            <a:endParaRPr lang="ru-RU" sz="2800" dirty="0"/>
          </a:p>
        </p:txBody>
      </p:sp>
      <p:sp>
        <p:nvSpPr>
          <p:cNvPr id="15365" name="Заголовок 1">
            <a:extLst>
              <a:ext uri="{FF2B5EF4-FFF2-40B4-BE49-F238E27FC236}">
                <a16:creationId xmlns:a16="http://schemas.microsoft.com/office/drawing/2014/main" id="{623A1AE0-7DE5-4397-8097-1A3B2CF61AA3}"/>
              </a:ext>
            </a:extLst>
          </p:cNvPr>
          <p:cNvSpPr txBox="1">
            <a:spLocks/>
          </p:cNvSpPr>
          <p:nvPr/>
        </p:nvSpPr>
        <p:spPr bwMode="auto">
          <a:xfrm>
            <a:off x="2084388" y="1598614"/>
            <a:ext cx="7772400" cy="147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ru-RU" alt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f16411253">
  <a:themeElements>
    <a:clrScheme name="ЧГУ">
      <a:dk1>
        <a:srgbClr val="000000"/>
      </a:dk1>
      <a:lt1>
        <a:srgbClr val="FFFFFF"/>
      </a:lt1>
      <a:dk2>
        <a:srgbClr val="121314"/>
      </a:dk2>
      <a:lt2>
        <a:srgbClr val="F5F3F4"/>
      </a:lt2>
      <a:accent1>
        <a:srgbClr val="DA251D"/>
      </a:accent1>
      <a:accent2>
        <a:srgbClr val="A50E13"/>
      </a:accent2>
      <a:accent3>
        <a:srgbClr val="660102"/>
      </a:accent3>
      <a:accent4>
        <a:srgbClr val="E63538"/>
      </a:accent4>
      <a:accent5>
        <a:srgbClr val="B2A8A7"/>
      </a:accent5>
      <a:accent6>
        <a:srgbClr val="D4D4D4"/>
      </a:accent6>
      <a:hlink>
        <a:srgbClr val="DA251D"/>
      </a:hlink>
      <a:folHlink>
        <a:srgbClr val="B2A8A7"/>
      </a:folHlink>
    </a:clrScheme>
    <a:fontScheme name="ЧГУ">
      <a:majorFont>
        <a:latin typeface="Calibri"/>
        <a:ea typeface=""/>
        <a:cs typeface=""/>
      </a:majorFont>
      <a:minorFont>
        <a:latin typeface="Arial"/>
        <a:ea typeface=""/>
        <a:cs typeface=""/>
      </a:minorFont>
    </a:fontScheme>
    <a:fmtScheme name="Кутюр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bg1">
            <a:lumMod val="95000"/>
          </a:schemeClr>
        </a:solidFill>
        <a:ln w="63500" cap="flat">
          <a:noFill/>
          <a:prstDash val="solid"/>
          <a:miter lim="800000"/>
          <a:headEnd/>
          <a:tailEnd/>
        </a:ln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rtl="0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_19716552_TF16411253.potx" id="{484AC4F0-DFB1-44B1-A48A-4A4E5B9BAE55}" vid="{642D7752-446B-4E16-8C1E-EACC99EB30B7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3C87649E7524794AA35A456EA0EAADF8" ma:contentTypeVersion="11" ma:contentTypeDescription="Создание документа." ma:contentTypeScope="" ma:versionID="450e049a2821f5e561430f43a136949b">
  <xsd:schema xmlns:xsd="http://www.w3.org/2001/XMLSchema" xmlns:xs="http://www.w3.org/2001/XMLSchema" xmlns:p="http://schemas.microsoft.com/office/2006/metadata/properties" xmlns:ns2="2b9d9955-93fb-4bd4-bcdb-8e7ddc259c20" xmlns:ns3="4c612441-9502-4d03-96ef-459065c861af" targetNamespace="http://schemas.microsoft.com/office/2006/metadata/properties" ma:root="true" ma:fieldsID="6f3fa32ba0af8c5764b0f70fe76bccd3" ns2:_="" ns3:_="">
    <xsd:import namespace="2b9d9955-93fb-4bd4-bcdb-8e7ddc259c20"/>
    <xsd:import namespace="4c612441-9502-4d03-96ef-459065c861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9d9955-93fb-4bd4-bcdb-8e7ddc259c2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612441-9502-4d03-96ef-459065c861a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0BD8C59-5AB8-4B04-80C4-64D406C5990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B5C6D91-9E43-44F1-AC15-F053C5B672BB}">
  <ds:schemaRefs>
    <ds:schemaRef ds:uri="http://schemas.microsoft.com/office/infopath/2007/PartnerControls"/>
    <ds:schemaRef ds:uri="http://purl.org/dc/elements/1.1/"/>
    <ds:schemaRef ds:uri="http://purl.org/dc/dcmitype/"/>
    <ds:schemaRef ds:uri="http://www.w3.org/XML/1998/namespace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4c612441-9502-4d03-96ef-459065c861af"/>
    <ds:schemaRef ds:uri="2b9d9955-93fb-4bd4-bcdb-8e7ddc259c20"/>
  </ds:schemaRefs>
</ds:datastoreItem>
</file>

<file path=customXml/itemProps3.xml><?xml version="1.0" encoding="utf-8"?>
<ds:datastoreItem xmlns:ds="http://schemas.openxmlformats.org/officeDocument/2006/customXml" ds:itemID="{175F5F89-9615-481A-B0BA-18DE466A4F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b9d9955-93fb-4bd4-bcdb-8e7ddc259c20"/>
    <ds:schemaRef ds:uri="4c612441-9502-4d03-96ef-459065c861a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Shablon_prezentatsiy_v_stile_ChGU_dlya_publichnykh_vystupleniy</Template>
  <TotalTime>2888</TotalTime>
  <Words>1776</Words>
  <Application>Microsoft Office PowerPoint</Application>
  <PresentationFormat>Широкоэкранный</PresentationFormat>
  <Paragraphs>299</Paragraphs>
  <Slides>32</Slides>
  <Notes>2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32</vt:i4>
      </vt:variant>
    </vt:vector>
  </HeadingPairs>
  <TitlesOfParts>
    <vt:vector size="38" baseType="lpstr">
      <vt:lpstr>Arial</vt:lpstr>
      <vt:lpstr>Calibri</vt:lpstr>
      <vt:lpstr>Times New Roman</vt:lpstr>
      <vt:lpstr>Wingdings</vt:lpstr>
      <vt:lpstr>tf16411253</vt:lpstr>
      <vt:lpstr>Visio</vt:lpstr>
      <vt:lpstr>Презентация PowerPoint</vt:lpstr>
      <vt:lpstr>Актуальность темы. Объект и предмет исследования</vt:lpstr>
      <vt:lpstr>Цель и задачи работы. Научная новизна исследования</vt:lpstr>
      <vt:lpstr>Презентация PowerPoint</vt:lpstr>
      <vt:lpstr>Характеристика проблемы</vt:lpstr>
      <vt:lpstr>Анализ алгоритмов и программных средств</vt:lpstr>
      <vt:lpstr>Описание процесса</vt:lpstr>
      <vt:lpstr>Постановка задачи  </vt:lpstr>
      <vt:lpstr>Презентация PowerPoint</vt:lpstr>
      <vt:lpstr> Функциональная модель  легирования плавки</vt:lpstr>
      <vt:lpstr> Математическая модель  прогнозирования химического состава</vt:lpstr>
      <vt:lpstr> Регрессионная модель прогнозирования  усвоения химического элемента</vt:lpstr>
      <vt:lpstr> Модель оптимизации легирования плавок</vt:lpstr>
      <vt:lpstr>Алгоритмы работы математических моделей</vt:lpstr>
      <vt:lpstr>Презентация PowerPoint</vt:lpstr>
      <vt:lpstr>КОНЦЕПТУАЛЬНОЕ МОДЕЛИРОВАНИЕ  ПРОЕКТИРУЕМОЙ СИСТЕМЫ </vt:lpstr>
      <vt:lpstr>ВЫБОР ПОДХОДА К ПРОЕКТИРОВАНИЮ  И ИНСТРУМЕНТАЛЬНЫХ СРЕДСТВ  </vt:lpstr>
      <vt:lpstr>ЛОГИЧЕСКОЕ МОДЕЛИРОВАНИЕ  ПРОЕКТИРУЕМОЙ СИСТЕМЫ </vt:lpstr>
      <vt:lpstr>ЛОГИЧЕСКОЕ МОДЕЛИРОВАНИЕ  ПРОЕКТИРУЕМОЙ СИСТЕМЫ </vt:lpstr>
      <vt:lpstr>ЛОГИЧЕСКОЕ МОДЕЛИРОВАНИЕ  ПРОЕКТИРУЕМОЙ СИСТЕМЫ </vt:lpstr>
      <vt:lpstr>ФИЗИЧЕСКОЕ МОДЕЛИРОВАНИЕ  ПРОЕКТИРУЕМОЙ СИСТЕМЫ </vt:lpstr>
      <vt:lpstr>РАЗРАБОТКА ИНТЕРФЕЙСА  </vt:lpstr>
      <vt:lpstr>Презентация PowerPoint</vt:lpstr>
      <vt:lpstr> Описание эксперимента и  экспериментальных данных</vt:lpstr>
      <vt:lpstr> Результаты проверки алгоритма модели расчета  усвоения химического элемента в плавке</vt:lpstr>
      <vt:lpstr> Результаты проверки алгоритма модели  прогноза химического состава плавки</vt:lpstr>
      <vt:lpstr>  Результаты проверки алгоритма модели  оптимизации стоимости легирования плавки</vt:lpstr>
      <vt:lpstr> Результаты проверки алгоритма модели  оптимизации стоимости легирования плавки</vt:lpstr>
      <vt:lpstr> Результаты проверки алгоритма модели  оптимизации стоимости легирования плавки</vt:lpstr>
      <vt:lpstr> Результаты проверки модулей и  классов программного обеспечения</vt:lpstr>
      <vt:lpstr>Основные результаты работы и выводы   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НАЗВАНИЕ ПРОЕКТА</dc:title>
  <dc:creator>Baranova</dc:creator>
  <cp:lastModifiedBy>Veronika</cp:lastModifiedBy>
  <cp:revision>371</cp:revision>
  <cp:lastPrinted>2019-10-30T05:49:21Z</cp:lastPrinted>
  <dcterms:created xsi:type="dcterms:W3CDTF">2019-04-29T06:51:25Z</dcterms:created>
  <dcterms:modified xsi:type="dcterms:W3CDTF">2023-06-15T17:53:18Z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0x0101003C87649E7524794AA35A456EA0EAADF8</vt:lpwstr>
  </property>
</Properties>
</file>