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64" r:id="rId4"/>
    <p:sldId id="265" r:id="rId5"/>
    <p:sldId id="266" r:id="rId6"/>
    <p:sldId id="267" r:id="rId7"/>
    <p:sldId id="285" r:id="rId8"/>
    <p:sldId id="289" r:id="rId9"/>
    <p:sldId id="268" r:id="rId10"/>
    <p:sldId id="287" r:id="rId11"/>
    <p:sldId id="288" r:id="rId12"/>
    <p:sldId id="271" r:id="rId13"/>
    <p:sldId id="272" r:id="rId14"/>
    <p:sldId id="274" r:id="rId15"/>
    <p:sldId id="275" r:id="rId16"/>
    <p:sldId id="276" r:id="rId17"/>
    <p:sldId id="277" r:id="rId18"/>
    <p:sldId id="278" r:id="rId19"/>
    <p:sldId id="280" r:id="rId20"/>
    <p:sldId id="281" r:id="rId21"/>
    <p:sldId id="282" r:id="rId22"/>
    <p:sldId id="283" r:id="rId23"/>
    <p:sldId id="286" r:id="rId24"/>
    <p:sldId id="290" r:id="rId25"/>
    <p:sldId id="284" r:id="rId26"/>
    <p:sldId id="260" r:id="rId27"/>
  </p:sldIdLst>
  <p:sldSz cx="12190413" cy="6859588"/>
  <p:notesSz cx="6858000" cy="9144000"/>
  <p:defaultTextStyle>
    <a:defPPr>
      <a:defRPr lang="ru-RU"/>
    </a:defPPr>
    <a:lvl1pPr marL="0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86130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72261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58391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344522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930652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516782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102913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689043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">
          <p15:clr>
            <a:srgbClr val="A4A3A4"/>
          </p15:clr>
        </p15:guide>
        <p15:guide id="2" orient="horz" pos="3966">
          <p15:clr>
            <a:srgbClr val="A4A3A4"/>
          </p15:clr>
        </p15:guide>
        <p15:guide id="3" pos="227">
          <p15:clr>
            <a:srgbClr val="A4A3A4"/>
          </p15:clr>
        </p15:guide>
        <p15:guide id="4" pos="74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01" d="100"/>
          <a:sy n="101" d="100"/>
        </p:scale>
        <p:origin x="144" y="270"/>
      </p:cViewPr>
      <p:guideLst>
        <p:guide orient="horz" pos="204"/>
        <p:guide orient="horz" pos="3966"/>
        <p:guide pos="227"/>
        <p:guide pos="745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7" d="100"/>
          <a:sy n="87" d="100"/>
        </p:scale>
        <p:origin x="-3546" y="-72"/>
      </p:cViewPr>
      <p:guideLst>
        <p:guide orient="horz" pos="2880"/>
        <p:guide pos="2160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emik\YandexDisk\&#1052;&#1072;&#1075;&#1080;&#1089;&#1090;&#1088;&#1072;&#1090;&#1091;&#1088;&#1072;\2%20&#1082;&#1091;&#1088;&#1089;\&#1042;&#1050;&#1056;\&#1058;&#1077;&#1089;&#1090;&#1080;&#1088;&#1086;&#1074;&#1072;&#1085;&#1080;&#1077;%20&#1086;&#1089;&#1085;&#1086;&#1074;&#1085;&#1086;&#1089;&#1090;&#1080;%20&#1080;%20&#1079;&#1074;&#1077;&#1089;&#1090;&#1085;&#1103;&#1082;&#107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emik\YandexDisk\&#1052;&#1072;&#1075;&#1080;&#1089;&#1090;&#1088;&#1072;&#1090;&#1091;&#1088;&#1072;\2%20&#1082;&#1091;&#1088;&#1089;\&#1042;&#1050;&#1056;\&#1058;&#1077;&#1089;&#1090;&#1080;&#1088;&#1086;&#1074;&#1072;&#1085;&#1080;&#1077;%20&#1086;&#1089;&#1085;&#1086;&#1074;&#1085;&#1086;&#1089;&#1090;&#1080;%20&#1080;%20&#1079;&#1074;&#1077;&#1089;&#1090;&#1085;&#1103;&#1082;&#1072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Сравнение</a:t>
            </a:r>
            <a:r>
              <a:rPr lang="ru-RU" baseline="0"/>
              <a:t> расчета основности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Лист1!$B$9</c:f>
              <c:strCache>
                <c:ptCount val="1"/>
                <c:pt idx="0">
                  <c:v>Расчет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Лист1!$B$10:$B$14</c:f>
              <c:numCache>
                <c:formatCode>General</c:formatCode>
                <c:ptCount val="5"/>
                <c:pt idx="0">
                  <c:v>1.42</c:v>
                </c:pt>
                <c:pt idx="1">
                  <c:v>1.43</c:v>
                </c:pt>
                <c:pt idx="2">
                  <c:v>1.6</c:v>
                </c:pt>
                <c:pt idx="3">
                  <c:v>1.32</c:v>
                </c:pt>
                <c:pt idx="4">
                  <c:v>1.41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FF-4532-BE8F-A1CE87C20FEC}"/>
            </c:ext>
          </c:extLst>
        </c:ser>
        <c:ser>
          <c:idx val="1"/>
          <c:order val="1"/>
          <c:tx>
            <c:strRef>
              <c:f>Лист1!$C$9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Лист1!$C$10:$C$14</c:f>
              <c:numCache>
                <c:formatCode>General</c:formatCode>
                <c:ptCount val="5"/>
                <c:pt idx="0">
                  <c:v>1.4</c:v>
                </c:pt>
                <c:pt idx="1">
                  <c:v>1.44</c:v>
                </c:pt>
                <c:pt idx="2">
                  <c:v>1.51</c:v>
                </c:pt>
                <c:pt idx="3">
                  <c:v>1.38</c:v>
                </c:pt>
                <c:pt idx="4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FF-4532-BE8F-A1CE87C20F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1922991"/>
        <c:axId val="1494816223"/>
      </c:barChart>
      <c:catAx>
        <c:axId val="145192299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94816223"/>
        <c:crosses val="autoZero"/>
        <c:auto val="1"/>
        <c:lblAlgn val="ctr"/>
        <c:lblOffset val="100"/>
        <c:noMultiLvlLbl val="0"/>
      </c:catAx>
      <c:valAx>
        <c:axId val="1494816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51922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Лист1!$A$1</c:f>
              <c:strCache>
                <c:ptCount val="1"/>
                <c:pt idx="0">
                  <c:v>Факт. Основность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solidFill>
                  <a:srgbClr val="7030A0"/>
                </a:solidFill>
              </a:ln>
              <a:effectLst/>
            </c:spPr>
          </c:marker>
          <c:val>
            <c:numRef>
              <c:f>Лист1!$A$2:$A$24</c:f>
              <c:numCache>
                <c:formatCode>General</c:formatCode>
                <c:ptCount val="23"/>
                <c:pt idx="0">
                  <c:v>1.72</c:v>
                </c:pt>
                <c:pt idx="1">
                  <c:v>1.49</c:v>
                </c:pt>
                <c:pt idx="2">
                  <c:v>1.5</c:v>
                </c:pt>
                <c:pt idx="3">
                  <c:v>1.71</c:v>
                </c:pt>
                <c:pt idx="4">
                  <c:v>1.72</c:v>
                </c:pt>
                <c:pt idx="5">
                  <c:v>1.55</c:v>
                </c:pt>
                <c:pt idx="6">
                  <c:v>1.7</c:v>
                </c:pt>
                <c:pt idx="7">
                  <c:v>1.54</c:v>
                </c:pt>
                <c:pt idx="8">
                  <c:v>1.7</c:v>
                </c:pt>
                <c:pt idx="9">
                  <c:v>1.67</c:v>
                </c:pt>
                <c:pt idx="10">
                  <c:v>1.74</c:v>
                </c:pt>
                <c:pt idx="11">
                  <c:v>1.45</c:v>
                </c:pt>
                <c:pt idx="12">
                  <c:v>1.53</c:v>
                </c:pt>
                <c:pt idx="13">
                  <c:v>1.75</c:v>
                </c:pt>
                <c:pt idx="14">
                  <c:v>1.54</c:v>
                </c:pt>
                <c:pt idx="15">
                  <c:v>1.52</c:v>
                </c:pt>
                <c:pt idx="16">
                  <c:v>1.7</c:v>
                </c:pt>
                <c:pt idx="17">
                  <c:v>1.65</c:v>
                </c:pt>
                <c:pt idx="18">
                  <c:v>1.69</c:v>
                </c:pt>
                <c:pt idx="19">
                  <c:v>1.71</c:v>
                </c:pt>
                <c:pt idx="20">
                  <c:v>1.7</c:v>
                </c:pt>
                <c:pt idx="21">
                  <c:v>1.44</c:v>
                </c:pt>
                <c:pt idx="22">
                  <c:v>1.71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D95-4D7B-A057-6B64E48A48C2}"/>
            </c:ext>
          </c:extLst>
        </c:ser>
        <c:ser>
          <c:idx val="2"/>
          <c:order val="2"/>
          <c:tx>
            <c:strRef>
              <c:f>Лист1!$C$1</c:f>
              <c:strCache>
                <c:ptCount val="1"/>
                <c:pt idx="0">
                  <c:v>Мин. Осн.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9525">
                <a:solidFill>
                  <a:srgbClr val="00B050"/>
                </a:solidFill>
              </a:ln>
              <a:effectLst/>
            </c:spPr>
          </c:marker>
          <c:val>
            <c:numRef>
              <c:f>Лист1!$C$2:$C$24</c:f>
              <c:numCache>
                <c:formatCode>General</c:formatCode>
                <c:ptCount val="23"/>
                <c:pt idx="0">
                  <c:v>1.45</c:v>
                </c:pt>
                <c:pt idx="1">
                  <c:v>1.55</c:v>
                </c:pt>
                <c:pt idx="2">
                  <c:v>1.52</c:v>
                </c:pt>
                <c:pt idx="3">
                  <c:v>1.59</c:v>
                </c:pt>
                <c:pt idx="4">
                  <c:v>1.45</c:v>
                </c:pt>
                <c:pt idx="5">
                  <c:v>1.57</c:v>
                </c:pt>
                <c:pt idx="6">
                  <c:v>1.53</c:v>
                </c:pt>
                <c:pt idx="7">
                  <c:v>1.54</c:v>
                </c:pt>
                <c:pt idx="8">
                  <c:v>1.46</c:v>
                </c:pt>
                <c:pt idx="9">
                  <c:v>1.49</c:v>
                </c:pt>
                <c:pt idx="10">
                  <c:v>1.58</c:v>
                </c:pt>
                <c:pt idx="11">
                  <c:v>1.47</c:v>
                </c:pt>
                <c:pt idx="12">
                  <c:v>1.54</c:v>
                </c:pt>
                <c:pt idx="13">
                  <c:v>1.57</c:v>
                </c:pt>
                <c:pt idx="14">
                  <c:v>1.56</c:v>
                </c:pt>
                <c:pt idx="15">
                  <c:v>1.53</c:v>
                </c:pt>
                <c:pt idx="16">
                  <c:v>1.47</c:v>
                </c:pt>
                <c:pt idx="17">
                  <c:v>1.5</c:v>
                </c:pt>
                <c:pt idx="18">
                  <c:v>1.54</c:v>
                </c:pt>
                <c:pt idx="19">
                  <c:v>1.58</c:v>
                </c:pt>
                <c:pt idx="20">
                  <c:v>1.53</c:v>
                </c:pt>
                <c:pt idx="21">
                  <c:v>1.45</c:v>
                </c:pt>
                <c:pt idx="22">
                  <c:v>1.54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95-4D7B-A057-6B64E48A48C2}"/>
            </c:ext>
          </c:extLst>
        </c:ser>
        <c:ser>
          <c:idx val="3"/>
          <c:order val="3"/>
          <c:tx>
            <c:strRef>
              <c:f>Лист1!$D$1</c:f>
              <c:strCache>
                <c:ptCount val="1"/>
                <c:pt idx="0">
                  <c:v>Макс. Осн.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val>
            <c:numRef>
              <c:f>Лист1!$D$2:$D$24</c:f>
              <c:numCache>
                <c:formatCode>General</c:formatCode>
                <c:ptCount val="23"/>
                <c:pt idx="0">
                  <c:v>1.7</c:v>
                </c:pt>
                <c:pt idx="1">
                  <c:v>1.65</c:v>
                </c:pt>
                <c:pt idx="2">
                  <c:v>1.66</c:v>
                </c:pt>
                <c:pt idx="3">
                  <c:v>1.68</c:v>
                </c:pt>
                <c:pt idx="4">
                  <c:v>1.69</c:v>
                </c:pt>
                <c:pt idx="5">
                  <c:v>1.71</c:v>
                </c:pt>
                <c:pt idx="6">
                  <c:v>1.66</c:v>
                </c:pt>
                <c:pt idx="7">
                  <c:v>1.63</c:v>
                </c:pt>
                <c:pt idx="8">
                  <c:v>1.67</c:v>
                </c:pt>
                <c:pt idx="9">
                  <c:v>1.65</c:v>
                </c:pt>
                <c:pt idx="10">
                  <c:v>1.73</c:v>
                </c:pt>
                <c:pt idx="11">
                  <c:v>1.67</c:v>
                </c:pt>
                <c:pt idx="12">
                  <c:v>1.68</c:v>
                </c:pt>
                <c:pt idx="13">
                  <c:v>1.73</c:v>
                </c:pt>
                <c:pt idx="14">
                  <c:v>1.62</c:v>
                </c:pt>
                <c:pt idx="15">
                  <c:v>1.72</c:v>
                </c:pt>
                <c:pt idx="16">
                  <c:v>1.69</c:v>
                </c:pt>
                <c:pt idx="17">
                  <c:v>1.63</c:v>
                </c:pt>
                <c:pt idx="18">
                  <c:v>1.67</c:v>
                </c:pt>
                <c:pt idx="19">
                  <c:v>1.66</c:v>
                </c:pt>
                <c:pt idx="20">
                  <c:v>1.69</c:v>
                </c:pt>
                <c:pt idx="21">
                  <c:v>1.73</c:v>
                </c:pt>
                <c:pt idx="22">
                  <c:v>1.7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D95-4D7B-A057-6B64E48A48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67868975"/>
        <c:axId val="996267871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Лист1!$B$1</c15:sqref>
                        </c15:formulaRef>
                      </c:ext>
                    </c:extLst>
                    <c:strCache>
                      <c:ptCount val="1"/>
                      <c:pt idx="0">
                        <c:v>Расч. Основность</c:v>
                      </c:pt>
                    </c:strCache>
                  </c:strRef>
                </c:tx>
                <c:spPr>
                  <a:ln w="28575" cap="rnd">
                    <a:solidFill>
                      <a:srgbClr val="92D050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rgbClr val="92D050"/>
                    </a:solidFill>
                    <a:ln w="9525">
                      <a:solidFill>
                        <a:srgbClr val="92D050"/>
                      </a:solidFill>
                    </a:ln>
                    <a:effectLst/>
                  </c:spPr>
                </c:marker>
                <c:val>
                  <c:numRef>
                    <c:extLst>
                      <c:ext uri="{02D57815-91ED-43cb-92C2-25804820EDAC}">
                        <c15:formulaRef>
                          <c15:sqref>Лист1!$B$2:$B$24</c15:sqref>
                        </c15:formulaRef>
                      </c:ext>
                    </c:extLst>
                    <c:numCache>
                      <c:formatCode>General</c:formatCode>
                      <c:ptCount val="23"/>
                      <c:pt idx="0">
                        <c:v>1.68</c:v>
                      </c:pt>
                      <c:pt idx="1">
                        <c:v>1.55</c:v>
                      </c:pt>
                      <c:pt idx="2">
                        <c:v>1.6</c:v>
                      </c:pt>
                      <c:pt idx="3">
                        <c:v>1.67</c:v>
                      </c:pt>
                      <c:pt idx="4">
                        <c:v>1.64</c:v>
                      </c:pt>
                      <c:pt idx="5">
                        <c:v>1.62</c:v>
                      </c:pt>
                      <c:pt idx="6">
                        <c:v>1.64</c:v>
                      </c:pt>
                      <c:pt idx="7">
                        <c:v>1.58</c:v>
                      </c:pt>
                      <c:pt idx="8">
                        <c:v>1.62</c:v>
                      </c:pt>
                      <c:pt idx="9">
                        <c:v>1.59</c:v>
                      </c:pt>
                      <c:pt idx="10">
                        <c:v>1.68</c:v>
                      </c:pt>
                      <c:pt idx="11">
                        <c:v>1.51</c:v>
                      </c:pt>
                      <c:pt idx="12">
                        <c:v>1.58</c:v>
                      </c:pt>
                      <c:pt idx="13">
                        <c:v>1.67</c:v>
                      </c:pt>
                      <c:pt idx="14">
                        <c:v>1.57</c:v>
                      </c:pt>
                      <c:pt idx="15">
                        <c:v>1.58</c:v>
                      </c:pt>
                      <c:pt idx="16">
                        <c:v>1.58</c:v>
                      </c:pt>
                      <c:pt idx="17">
                        <c:v>1.63</c:v>
                      </c:pt>
                      <c:pt idx="18">
                        <c:v>1.63</c:v>
                      </c:pt>
                      <c:pt idx="19">
                        <c:v>1.66</c:v>
                      </c:pt>
                      <c:pt idx="20">
                        <c:v>1.68</c:v>
                      </c:pt>
                      <c:pt idx="21">
                        <c:v>1.54</c:v>
                      </c:pt>
                      <c:pt idx="22">
                        <c:v>1.65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6D95-4D7B-A057-6B64E48A48C2}"/>
                  </c:ext>
                </c:extLst>
              </c15:ser>
            </c15:filteredLineSeries>
          </c:ext>
        </c:extLst>
      </c:lineChart>
      <c:catAx>
        <c:axId val="11678689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Шихта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96267871"/>
        <c:crosses val="autoZero"/>
        <c:auto val="1"/>
        <c:lblAlgn val="ctr"/>
        <c:lblOffset val="100"/>
        <c:noMultiLvlLbl val="0"/>
      </c:catAx>
      <c:valAx>
        <c:axId val="996267871"/>
        <c:scaling>
          <c:orientation val="minMax"/>
          <c:min val="1.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Основность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67868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Лист1!$B$1</c:f>
              <c:strCache>
                <c:ptCount val="1"/>
                <c:pt idx="0">
                  <c:v>Расч. Основность</c:v>
                </c:pt>
              </c:strCache>
              <c:extLst xmlns:c15="http://schemas.microsoft.com/office/drawing/2012/chart"/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2D050"/>
              </a:solidFill>
              <a:ln w="9525">
                <a:solidFill>
                  <a:srgbClr val="92D050"/>
                </a:solidFill>
              </a:ln>
              <a:effectLst/>
            </c:spPr>
          </c:marker>
          <c:val>
            <c:numRef>
              <c:f>Лист1!$B$2:$B$24</c:f>
              <c:numCache>
                <c:formatCode>General</c:formatCode>
                <c:ptCount val="23"/>
                <c:pt idx="0">
                  <c:v>1.68</c:v>
                </c:pt>
                <c:pt idx="1">
                  <c:v>1.55</c:v>
                </c:pt>
                <c:pt idx="2">
                  <c:v>1.6</c:v>
                </c:pt>
                <c:pt idx="3">
                  <c:v>1.67</c:v>
                </c:pt>
                <c:pt idx="4">
                  <c:v>1.64</c:v>
                </c:pt>
                <c:pt idx="5">
                  <c:v>1.62</c:v>
                </c:pt>
                <c:pt idx="6">
                  <c:v>1.64</c:v>
                </c:pt>
                <c:pt idx="7">
                  <c:v>1.58</c:v>
                </c:pt>
                <c:pt idx="8">
                  <c:v>1.62</c:v>
                </c:pt>
                <c:pt idx="9">
                  <c:v>1.59</c:v>
                </c:pt>
                <c:pt idx="10">
                  <c:v>1.68</c:v>
                </c:pt>
                <c:pt idx="11">
                  <c:v>1.51</c:v>
                </c:pt>
                <c:pt idx="12">
                  <c:v>1.58</c:v>
                </c:pt>
                <c:pt idx="13">
                  <c:v>1.67</c:v>
                </c:pt>
                <c:pt idx="14">
                  <c:v>1.57</c:v>
                </c:pt>
                <c:pt idx="15">
                  <c:v>1.58</c:v>
                </c:pt>
                <c:pt idx="16">
                  <c:v>1.58</c:v>
                </c:pt>
                <c:pt idx="17">
                  <c:v>1.63</c:v>
                </c:pt>
                <c:pt idx="18">
                  <c:v>1.63</c:v>
                </c:pt>
                <c:pt idx="19">
                  <c:v>1.66</c:v>
                </c:pt>
                <c:pt idx="20">
                  <c:v>1.68</c:v>
                </c:pt>
                <c:pt idx="21">
                  <c:v>1.54</c:v>
                </c:pt>
                <c:pt idx="22">
                  <c:v>1.65</c:v>
                </c:pt>
              </c:numCache>
              <c:extLst xmlns:c15="http://schemas.microsoft.com/office/drawing/2012/chart"/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0-B15F-4DB0-B3DC-172C2CD8EBAA}"/>
            </c:ext>
          </c:extLst>
        </c:ser>
        <c:ser>
          <c:idx val="2"/>
          <c:order val="2"/>
          <c:tx>
            <c:strRef>
              <c:f>Лист1!$C$1</c:f>
              <c:strCache>
                <c:ptCount val="1"/>
                <c:pt idx="0">
                  <c:v>Мин. Осн.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9525">
                <a:solidFill>
                  <a:srgbClr val="00B050"/>
                </a:solidFill>
              </a:ln>
              <a:effectLst/>
            </c:spPr>
          </c:marker>
          <c:val>
            <c:numRef>
              <c:f>Лист1!$C$2:$C$24</c:f>
              <c:numCache>
                <c:formatCode>General</c:formatCode>
                <c:ptCount val="23"/>
                <c:pt idx="0">
                  <c:v>1.45</c:v>
                </c:pt>
                <c:pt idx="1">
                  <c:v>1.55</c:v>
                </c:pt>
                <c:pt idx="2">
                  <c:v>1.52</c:v>
                </c:pt>
                <c:pt idx="3">
                  <c:v>1.59</c:v>
                </c:pt>
                <c:pt idx="4">
                  <c:v>1.45</c:v>
                </c:pt>
                <c:pt idx="5">
                  <c:v>1.57</c:v>
                </c:pt>
                <c:pt idx="6">
                  <c:v>1.53</c:v>
                </c:pt>
                <c:pt idx="7">
                  <c:v>1.54</c:v>
                </c:pt>
                <c:pt idx="8">
                  <c:v>1.46</c:v>
                </c:pt>
                <c:pt idx="9">
                  <c:v>1.49</c:v>
                </c:pt>
                <c:pt idx="10">
                  <c:v>1.58</c:v>
                </c:pt>
                <c:pt idx="11">
                  <c:v>1.47</c:v>
                </c:pt>
                <c:pt idx="12">
                  <c:v>1.54</c:v>
                </c:pt>
                <c:pt idx="13">
                  <c:v>1.57</c:v>
                </c:pt>
                <c:pt idx="14">
                  <c:v>1.56</c:v>
                </c:pt>
                <c:pt idx="15">
                  <c:v>1.53</c:v>
                </c:pt>
                <c:pt idx="16">
                  <c:v>1.47</c:v>
                </c:pt>
                <c:pt idx="17">
                  <c:v>1.5</c:v>
                </c:pt>
                <c:pt idx="18">
                  <c:v>1.54</c:v>
                </c:pt>
                <c:pt idx="19">
                  <c:v>1.58</c:v>
                </c:pt>
                <c:pt idx="20">
                  <c:v>1.53</c:v>
                </c:pt>
                <c:pt idx="21">
                  <c:v>1.45</c:v>
                </c:pt>
                <c:pt idx="22">
                  <c:v>1.54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15F-4DB0-B3DC-172C2CD8EBAA}"/>
            </c:ext>
          </c:extLst>
        </c:ser>
        <c:ser>
          <c:idx val="3"/>
          <c:order val="3"/>
          <c:tx>
            <c:strRef>
              <c:f>Лист1!$D$1</c:f>
              <c:strCache>
                <c:ptCount val="1"/>
                <c:pt idx="0">
                  <c:v>Макс. Осн.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val>
            <c:numRef>
              <c:f>Лист1!$D$2:$D$24</c:f>
              <c:numCache>
                <c:formatCode>General</c:formatCode>
                <c:ptCount val="23"/>
                <c:pt idx="0">
                  <c:v>1.7</c:v>
                </c:pt>
                <c:pt idx="1">
                  <c:v>1.65</c:v>
                </c:pt>
                <c:pt idx="2">
                  <c:v>1.66</c:v>
                </c:pt>
                <c:pt idx="3">
                  <c:v>1.68</c:v>
                </c:pt>
                <c:pt idx="4">
                  <c:v>1.69</c:v>
                </c:pt>
                <c:pt idx="5">
                  <c:v>1.71</c:v>
                </c:pt>
                <c:pt idx="6">
                  <c:v>1.66</c:v>
                </c:pt>
                <c:pt idx="7">
                  <c:v>1.63</c:v>
                </c:pt>
                <c:pt idx="8">
                  <c:v>1.67</c:v>
                </c:pt>
                <c:pt idx="9">
                  <c:v>1.65</c:v>
                </c:pt>
                <c:pt idx="10">
                  <c:v>1.73</c:v>
                </c:pt>
                <c:pt idx="11">
                  <c:v>1.67</c:v>
                </c:pt>
                <c:pt idx="12">
                  <c:v>1.68</c:v>
                </c:pt>
                <c:pt idx="13">
                  <c:v>1.73</c:v>
                </c:pt>
                <c:pt idx="14">
                  <c:v>1.62</c:v>
                </c:pt>
                <c:pt idx="15">
                  <c:v>1.72</c:v>
                </c:pt>
                <c:pt idx="16">
                  <c:v>1.69</c:v>
                </c:pt>
                <c:pt idx="17">
                  <c:v>1.63</c:v>
                </c:pt>
                <c:pt idx="18">
                  <c:v>1.67</c:v>
                </c:pt>
                <c:pt idx="19">
                  <c:v>1.66</c:v>
                </c:pt>
                <c:pt idx="20">
                  <c:v>1.69</c:v>
                </c:pt>
                <c:pt idx="21">
                  <c:v>1.73</c:v>
                </c:pt>
                <c:pt idx="22">
                  <c:v>1.7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15F-4DB0-B3DC-172C2CD8EB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67868975"/>
        <c:axId val="996267871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Лист1!$A$1</c15:sqref>
                        </c15:formulaRef>
                      </c:ext>
                    </c:extLst>
                    <c:strCache>
                      <c:ptCount val="1"/>
                      <c:pt idx="0">
                        <c:v>Факт. Основность</c:v>
                      </c:pt>
                    </c:strCache>
                  </c:strRef>
                </c:tx>
                <c:spPr>
                  <a:ln w="28575" cap="rnd">
                    <a:solidFill>
                      <a:srgbClr val="7030A0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rgbClr val="7030A0"/>
                    </a:solidFill>
                    <a:ln w="9525">
                      <a:solidFill>
                        <a:srgbClr val="7030A0"/>
                      </a:solidFill>
                    </a:ln>
                    <a:effectLst/>
                  </c:spPr>
                </c:marker>
                <c:val>
                  <c:numRef>
                    <c:extLst>
                      <c:ext uri="{02D57815-91ED-43cb-92C2-25804820EDAC}">
                        <c15:formulaRef>
                          <c15:sqref>Лист1!$A$2:$A$24</c15:sqref>
                        </c15:formulaRef>
                      </c:ext>
                    </c:extLst>
                    <c:numCache>
                      <c:formatCode>General</c:formatCode>
                      <c:ptCount val="23"/>
                      <c:pt idx="0">
                        <c:v>1.72</c:v>
                      </c:pt>
                      <c:pt idx="1">
                        <c:v>1.49</c:v>
                      </c:pt>
                      <c:pt idx="2">
                        <c:v>1.5</c:v>
                      </c:pt>
                      <c:pt idx="3">
                        <c:v>1.71</c:v>
                      </c:pt>
                      <c:pt idx="4">
                        <c:v>1.72</c:v>
                      </c:pt>
                      <c:pt idx="5">
                        <c:v>1.55</c:v>
                      </c:pt>
                      <c:pt idx="6">
                        <c:v>1.7</c:v>
                      </c:pt>
                      <c:pt idx="7">
                        <c:v>1.54</c:v>
                      </c:pt>
                      <c:pt idx="8">
                        <c:v>1.7</c:v>
                      </c:pt>
                      <c:pt idx="9">
                        <c:v>1.67</c:v>
                      </c:pt>
                      <c:pt idx="10">
                        <c:v>1.74</c:v>
                      </c:pt>
                      <c:pt idx="11">
                        <c:v>1.45</c:v>
                      </c:pt>
                      <c:pt idx="12">
                        <c:v>1.53</c:v>
                      </c:pt>
                      <c:pt idx="13">
                        <c:v>1.75</c:v>
                      </c:pt>
                      <c:pt idx="14">
                        <c:v>1.54</c:v>
                      </c:pt>
                      <c:pt idx="15">
                        <c:v>1.52</c:v>
                      </c:pt>
                      <c:pt idx="16">
                        <c:v>1.7</c:v>
                      </c:pt>
                      <c:pt idx="17">
                        <c:v>1.65</c:v>
                      </c:pt>
                      <c:pt idx="18">
                        <c:v>1.69</c:v>
                      </c:pt>
                      <c:pt idx="19">
                        <c:v>1.71</c:v>
                      </c:pt>
                      <c:pt idx="20">
                        <c:v>1.7</c:v>
                      </c:pt>
                      <c:pt idx="21">
                        <c:v>1.44</c:v>
                      </c:pt>
                      <c:pt idx="22">
                        <c:v>1.71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B15F-4DB0-B3DC-172C2CD8EBAA}"/>
                  </c:ext>
                </c:extLst>
              </c15:ser>
            </c15:filteredLineSeries>
          </c:ext>
        </c:extLst>
      </c:lineChart>
      <c:catAx>
        <c:axId val="11678689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Шихта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96267871"/>
        <c:crosses val="autoZero"/>
        <c:auto val="1"/>
        <c:lblAlgn val="ctr"/>
        <c:lblOffset val="100"/>
        <c:noMultiLvlLbl val="0"/>
      </c:catAx>
      <c:valAx>
        <c:axId val="996267871"/>
        <c:scaling>
          <c:orientation val="minMax"/>
          <c:min val="1.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Основность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67868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Причины отклонений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Причины отклонения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Лист1!$A$2:$A$3</c:f>
              <c:strCache>
                <c:ptCount val="2"/>
                <c:pt idx="0">
                  <c:v>Определено верно</c:v>
                </c:pt>
                <c:pt idx="1">
                  <c:v>Определено неверно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87</c:v>
                </c:pt>
                <c:pt idx="1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CD-4E37-9A29-DB7023B4BD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4B8532-AD3E-4745-B545-4CCE72FEEC5E}" type="datetimeFigureOut">
              <a:rPr lang="ru-RU" smtClean="0"/>
              <a:pPr/>
              <a:t>15.06.2023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309A1-F369-4229-82CA-1627D037AB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D4D58-331E-4ADB-A594-70D264931170}" type="datetimeFigureOut">
              <a:rPr lang="ru-RU" smtClean="0"/>
              <a:pPr/>
              <a:t>15.06.2023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CC0EB2-5A57-4F7D-A32C-8BB75DEAB30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86130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72261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58391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344522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930652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516782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102913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689043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359787" y="2"/>
            <a:ext cx="8194703" cy="56021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57561" y="2452750"/>
            <a:ext cx="6923103" cy="1491612"/>
          </a:xfrm>
        </p:spPr>
        <p:txBody>
          <a:bodyPr anchor="b"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57561" y="3944362"/>
            <a:ext cx="6923103" cy="1059358"/>
          </a:xfrm>
        </p:spPr>
        <p:txBody>
          <a:bodyPr>
            <a:noAutofit/>
          </a:bodyPr>
          <a:lstStyle>
            <a:lvl1pPr marL="0" marR="0" indent="0" algn="l" defTabSz="117226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solidFill>
                  <a:schemeClr val="tx1"/>
                </a:solidFill>
              </a:defRPr>
            </a:lvl1pPr>
            <a:lvl2pPr marL="586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2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83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4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306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67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029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90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1032" name="Picture 8" descr="C:\Users\Anastasia\Downloads\ЧГУ_лого_рус_гориз_белый_прозрачный фон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562" y="323926"/>
            <a:ext cx="2666688" cy="782210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83061" y="1336129"/>
            <a:ext cx="11224291" cy="4791453"/>
          </a:xfrm>
        </p:spPr>
        <p:txBody>
          <a:bodyPr/>
          <a:lstStyle>
            <a:lvl1pPr marL="2036" indent="-2036">
              <a:defRPr/>
            </a:lvl1pPr>
            <a:lvl2pPr marL="457915" indent="0">
              <a:defRPr/>
            </a:lvl2pPr>
            <a:lvl3pPr marL="915829" indent="2036">
              <a:tabLst/>
              <a:defRPr/>
            </a:lvl3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2599969" y="323925"/>
            <a:ext cx="9228543" cy="592277"/>
          </a:xfrm>
        </p:spPr>
        <p:txBody>
          <a:bodyPr anchor="ctr">
            <a:noAutofit/>
          </a:bodyPr>
          <a:lstStyle>
            <a:lvl1pPr algn="r"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cxnSp>
        <p:nvCxnSpPr>
          <p:cNvPr id="11" name="Прямая соединительная линия 10"/>
          <p:cNvCxnSpPr/>
          <p:nvPr userDrawn="1"/>
        </p:nvCxnSpPr>
        <p:spPr>
          <a:xfrm>
            <a:off x="359787" y="6295577"/>
            <a:ext cx="11468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одержимое 14"/>
          <p:cNvSpPr>
            <a:spLocks noGrp="1"/>
          </p:cNvSpPr>
          <p:nvPr>
            <p:ph sz="quarter" idx="15"/>
          </p:nvPr>
        </p:nvSpPr>
        <p:spPr>
          <a:xfrm>
            <a:off x="7422186" y="1474811"/>
            <a:ext cx="4270012" cy="4513991"/>
          </a:xfrm>
        </p:spPr>
        <p:txBody>
          <a:bodyPr anchor="ctr"/>
          <a:lstStyle>
            <a:lvl4pPr>
              <a:defRPr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2599969" y="323925"/>
            <a:ext cx="9228543" cy="592277"/>
          </a:xfrm>
        </p:spPr>
        <p:txBody>
          <a:bodyPr anchor="ctr">
            <a:noAutofit/>
          </a:bodyPr>
          <a:lstStyle>
            <a:lvl1pPr algn="r"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3"/>
          </p:nvPr>
        </p:nvSpPr>
        <p:spPr>
          <a:xfrm>
            <a:off x="487616" y="1335398"/>
            <a:ext cx="6688827" cy="479218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cxnSp>
        <p:nvCxnSpPr>
          <p:cNvPr id="16" name="Прямая соединительная линия 15"/>
          <p:cNvCxnSpPr/>
          <p:nvPr userDrawn="1"/>
        </p:nvCxnSpPr>
        <p:spPr>
          <a:xfrm>
            <a:off x="359787" y="6295577"/>
            <a:ext cx="11468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объек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одержимое 14"/>
          <p:cNvSpPr>
            <a:spLocks noGrp="1"/>
          </p:cNvSpPr>
          <p:nvPr>
            <p:ph sz="quarter" idx="15"/>
          </p:nvPr>
        </p:nvSpPr>
        <p:spPr>
          <a:xfrm>
            <a:off x="487617" y="3702984"/>
            <a:ext cx="11193980" cy="2424598"/>
          </a:xfrm>
        </p:spPr>
        <p:txBody>
          <a:bodyPr anchor="ctr"/>
          <a:lstStyle>
            <a:lvl4pPr>
              <a:defRPr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2599969" y="323925"/>
            <a:ext cx="9228543" cy="592277"/>
          </a:xfrm>
        </p:spPr>
        <p:txBody>
          <a:bodyPr anchor="ctr">
            <a:noAutofit/>
          </a:bodyPr>
          <a:lstStyle>
            <a:lvl1pPr algn="r"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3"/>
          </p:nvPr>
        </p:nvSpPr>
        <p:spPr>
          <a:xfrm>
            <a:off x="487617" y="1335399"/>
            <a:ext cx="11193979" cy="22148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cxnSp>
        <p:nvCxnSpPr>
          <p:cNvPr id="9" name="Прямая соединительная линия 8"/>
          <p:cNvCxnSpPr/>
          <p:nvPr userDrawn="1"/>
        </p:nvCxnSpPr>
        <p:spPr>
          <a:xfrm>
            <a:off x="359787" y="6295577"/>
            <a:ext cx="11468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:\Users\Anastasia\Desktop\Рисунок2.png"/>
          <p:cNvPicPr>
            <a:picLocks noChangeAspect="1" noChangeArrowheads="1"/>
          </p:cNvPicPr>
          <p:nvPr userDrawn="1"/>
        </p:nvPicPr>
        <p:blipFill>
          <a:blip r:embed="rId2" cstate="print">
            <a:lum bright="2000"/>
          </a:blip>
          <a:srcRect l="2078" t="1062" r="2324" b="4039"/>
          <a:stretch>
            <a:fillRect/>
          </a:stretch>
        </p:blipFill>
        <p:spPr bwMode="auto">
          <a:xfrm>
            <a:off x="0" y="0"/>
            <a:ext cx="12190413" cy="6859588"/>
          </a:xfrm>
          <a:prstGeom prst="rect">
            <a:avLst/>
          </a:prstGeom>
          <a:noFill/>
        </p:spPr>
      </p:pic>
      <p:sp>
        <p:nvSpPr>
          <p:cNvPr id="8" name="Прямоугольник 7"/>
          <p:cNvSpPr/>
          <p:nvPr userDrawn="1"/>
        </p:nvSpPr>
        <p:spPr>
          <a:xfrm>
            <a:off x="359786" y="2538645"/>
            <a:ext cx="10717589" cy="4320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9" name="Заголовок 1"/>
          <p:cNvSpPr>
            <a:spLocks noGrp="1"/>
          </p:cNvSpPr>
          <p:nvPr>
            <p:ph type="ctrTitle"/>
          </p:nvPr>
        </p:nvSpPr>
        <p:spPr>
          <a:xfrm>
            <a:off x="857561" y="4257914"/>
            <a:ext cx="6923103" cy="1491612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57561" y="3198556"/>
            <a:ext cx="6923103" cy="1059358"/>
          </a:xfrm>
        </p:spPr>
        <p:txBody>
          <a:bodyPr anchor="b">
            <a:noAutofit/>
          </a:bodyPr>
          <a:lstStyle>
            <a:lvl1pPr marL="0" marR="0" indent="0" algn="l" defTabSz="117226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solidFill>
                  <a:schemeClr val="tx1"/>
                </a:solidFill>
              </a:defRPr>
            </a:lvl1pPr>
            <a:lvl2pPr marL="586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2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83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4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306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67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029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90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1" name="Picture 12" descr="C:\Users\Anastasia\Downloads\ЧГУ_лого_рус_гориз_прозрачный фон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563" y="323926"/>
            <a:ext cx="2666688" cy="78221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2599969" y="323925"/>
            <a:ext cx="9228543" cy="592277"/>
          </a:xfrm>
        </p:spPr>
        <p:txBody>
          <a:bodyPr anchor="ctr">
            <a:noAutofit/>
          </a:bodyPr>
          <a:lstStyle>
            <a:lvl1pPr algn="r"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cxnSp>
        <p:nvCxnSpPr>
          <p:cNvPr id="15" name="Прямая соединительная линия 14"/>
          <p:cNvCxnSpPr/>
          <p:nvPr userDrawn="1"/>
        </p:nvCxnSpPr>
        <p:spPr>
          <a:xfrm>
            <a:off x="359787" y="6295577"/>
            <a:ext cx="11468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2599969" y="323925"/>
            <a:ext cx="9228543" cy="592277"/>
          </a:xfrm>
        </p:spPr>
        <p:txBody>
          <a:bodyPr anchor="ctr">
            <a:noAutofit/>
          </a:bodyPr>
          <a:lstStyle>
            <a:lvl1pPr algn="r"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cxnSp>
        <p:nvCxnSpPr>
          <p:cNvPr id="15" name="Прямая соединительная линия 14"/>
          <p:cNvCxnSpPr/>
          <p:nvPr userDrawn="1"/>
        </p:nvCxnSpPr>
        <p:spPr>
          <a:xfrm>
            <a:off x="359787" y="6295577"/>
            <a:ext cx="11468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Содержимое 6"/>
          <p:cNvSpPr>
            <a:spLocks noGrp="1"/>
          </p:cNvSpPr>
          <p:nvPr>
            <p:ph sz="quarter" idx="13"/>
          </p:nvPr>
        </p:nvSpPr>
        <p:spPr>
          <a:xfrm>
            <a:off x="359786" y="1335397"/>
            <a:ext cx="3646488" cy="4712977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Содержимое 6"/>
          <p:cNvSpPr>
            <a:spLocks noGrp="1"/>
          </p:cNvSpPr>
          <p:nvPr>
            <p:ph sz="quarter" idx="14"/>
          </p:nvPr>
        </p:nvSpPr>
        <p:spPr>
          <a:xfrm>
            <a:off x="4270881" y="1335397"/>
            <a:ext cx="3646488" cy="4712977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0" name="Содержимое 6"/>
          <p:cNvSpPr>
            <a:spLocks noGrp="1"/>
          </p:cNvSpPr>
          <p:nvPr>
            <p:ph sz="quarter" idx="15"/>
          </p:nvPr>
        </p:nvSpPr>
        <p:spPr>
          <a:xfrm>
            <a:off x="8181976" y="1335397"/>
            <a:ext cx="3646488" cy="4712977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5" descr="C:\Users\Anastasia\Desktop\Рисунок2.png"/>
          <p:cNvPicPr>
            <a:picLocks noChangeAspect="1" noChangeArrowheads="1"/>
          </p:cNvPicPr>
          <p:nvPr userDrawn="1"/>
        </p:nvPicPr>
        <p:blipFill>
          <a:blip r:embed="rId2" cstate="print">
            <a:lum bright="2000"/>
          </a:blip>
          <a:srcRect l="2078" t="1062" r="2324" b="4039"/>
          <a:stretch>
            <a:fillRect/>
          </a:stretch>
        </p:blipFill>
        <p:spPr bwMode="auto">
          <a:xfrm>
            <a:off x="0" y="0"/>
            <a:ext cx="12190413" cy="6859588"/>
          </a:xfrm>
          <a:prstGeom prst="rect">
            <a:avLst/>
          </a:prstGeom>
          <a:noFill/>
        </p:spPr>
      </p:pic>
      <p:sp>
        <p:nvSpPr>
          <p:cNvPr id="6" name="Прямоугольник 1"/>
          <p:cNvSpPr/>
          <p:nvPr userDrawn="1"/>
        </p:nvSpPr>
        <p:spPr bwMode="auto">
          <a:xfrm>
            <a:off x="10838490" y="4520794"/>
            <a:ext cx="1351923" cy="2338794"/>
          </a:xfrm>
          <a:custGeom>
            <a:avLst/>
            <a:gdLst>
              <a:gd name="connsiteX0" fmla="*/ 0 w 1115683"/>
              <a:gd name="connsiteY0" fmla="*/ 0 h 2803585"/>
              <a:gd name="connsiteX1" fmla="*/ 1115683 w 1115683"/>
              <a:gd name="connsiteY1" fmla="*/ 0 h 2803585"/>
              <a:gd name="connsiteX2" fmla="*/ 1115683 w 1115683"/>
              <a:gd name="connsiteY2" fmla="*/ 2803585 h 2803585"/>
              <a:gd name="connsiteX3" fmla="*/ 0 w 1115683"/>
              <a:gd name="connsiteY3" fmla="*/ 2803585 h 2803585"/>
              <a:gd name="connsiteX4" fmla="*/ 0 w 1115683"/>
              <a:gd name="connsiteY4" fmla="*/ 0 h 2803585"/>
              <a:gd name="connsiteX0" fmla="*/ 0 w 1115683"/>
              <a:gd name="connsiteY0" fmla="*/ 0 h 2803585"/>
              <a:gd name="connsiteX1" fmla="*/ 1115683 w 1115683"/>
              <a:gd name="connsiteY1" fmla="*/ 474453 h 2803585"/>
              <a:gd name="connsiteX2" fmla="*/ 1115683 w 1115683"/>
              <a:gd name="connsiteY2" fmla="*/ 2803585 h 2803585"/>
              <a:gd name="connsiteX3" fmla="*/ 0 w 1115683"/>
              <a:gd name="connsiteY3" fmla="*/ 2803585 h 2803585"/>
              <a:gd name="connsiteX4" fmla="*/ 0 w 1115683"/>
              <a:gd name="connsiteY4" fmla="*/ 0 h 2803585"/>
              <a:gd name="connsiteX0" fmla="*/ 508958 w 1115683"/>
              <a:gd name="connsiteY0" fmla="*/ 0 h 2777706"/>
              <a:gd name="connsiteX1" fmla="*/ 1115683 w 1115683"/>
              <a:gd name="connsiteY1" fmla="*/ 448574 h 2777706"/>
              <a:gd name="connsiteX2" fmla="*/ 1115683 w 1115683"/>
              <a:gd name="connsiteY2" fmla="*/ 2777706 h 2777706"/>
              <a:gd name="connsiteX3" fmla="*/ 0 w 1115683"/>
              <a:gd name="connsiteY3" fmla="*/ 2777706 h 2777706"/>
              <a:gd name="connsiteX4" fmla="*/ 508958 w 1115683"/>
              <a:gd name="connsiteY4" fmla="*/ 0 h 2777706"/>
              <a:gd name="connsiteX0" fmla="*/ 929555 w 1115683"/>
              <a:gd name="connsiteY0" fmla="*/ 0 h 2708400"/>
              <a:gd name="connsiteX1" fmla="*/ 1115683 w 1115683"/>
              <a:gd name="connsiteY1" fmla="*/ 379268 h 2708400"/>
              <a:gd name="connsiteX2" fmla="*/ 1115683 w 1115683"/>
              <a:gd name="connsiteY2" fmla="*/ 2708400 h 2708400"/>
              <a:gd name="connsiteX3" fmla="*/ 0 w 1115683"/>
              <a:gd name="connsiteY3" fmla="*/ 2708400 h 2708400"/>
              <a:gd name="connsiteX4" fmla="*/ 929555 w 1115683"/>
              <a:gd name="connsiteY4" fmla="*/ 0 h 270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683" h="2708400">
                <a:moveTo>
                  <a:pt x="929555" y="0"/>
                </a:moveTo>
                <a:lnTo>
                  <a:pt x="1115683" y="379268"/>
                </a:lnTo>
                <a:lnTo>
                  <a:pt x="1115683" y="2708400"/>
                </a:lnTo>
                <a:lnTo>
                  <a:pt x="0" y="2708400"/>
                </a:lnTo>
                <a:lnTo>
                  <a:pt x="929555" y="0"/>
                </a:lnTo>
                <a:close/>
              </a:path>
            </a:pathLst>
          </a:custGeom>
          <a:solidFill>
            <a:srgbClr val="FF000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234464" tIns="117232" rIns="234464" bIns="117232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7" name="Прямоугольник 1"/>
          <p:cNvSpPr/>
          <p:nvPr userDrawn="1"/>
        </p:nvSpPr>
        <p:spPr bwMode="auto">
          <a:xfrm flipH="1">
            <a:off x="165126" y="6258808"/>
            <a:ext cx="7356841" cy="637549"/>
          </a:xfrm>
          <a:custGeom>
            <a:avLst/>
            <a:gdLst>
              <a:gd name="connsiteX0" fmla="*/ 0 w 1115683"/>
              <a:gd name="connsiteY0" fmla="*/ 0 h 2803585"/>
              <a:gd name="connsiteX1" fmla="*/ 1115683 w 1115683"/>
              <a:gd name="connsiteY1" fmla="*/ 0 h 2803585"/>
              <a:gd name="connsiteX2" fmla="*/ 1115683 w 1115683"/>
              <a:gd name="connsiteY2" fmla="*/ 2803585 h 2803585"/>
              <a:gd name="connsiteX3" fmla="*/ 0 w 1115683"/>
              <a:gd name="connsiteY3" fmla="*/ 2803585 h 2803585"/>
              <a:gd name="connsiteX4" fmla="*/ 0 w 1115683"/>
              <a:gd name="connsiteY4" fmla="*/ 0 h 2803585"/>
              <a:gd name="connsiteX0" fmla="*/ 0 w 1115683"/>
              <a:gd name="connsiteY0" fmla="*/ 0 h 2803585"/>
              <a:gd name="connsiteX1" fmla="*/ 1115683 w 1115683"/>
              <a:gd name="connsiteY1" fmla="*/ 474453 h 2803585"/>
              <a:gd name="connsiteX2" fmla="*/ 1115683 w 1115683"/>
              <a:gd name="connsiteY2" fmla="*/ 2803585 h 2803585"/>
              <a:gd name="connsiteX3" fmla="*/ 0 w 1115683"/>
              <a:gd name="connsiteY3" fmla="*/ 2803585 h 2803585"/>
              <a:gd name="connsiteX4" fmla="*/ 0 w 1115683"/>
              <a:gd name="connsiteY4" fmla="*/ 0 h 2803585"/>
              <a:gd name="connsiteX0" fmla="*/ 508958 w 1115683"/>
              <a:gd name="connsiteY0" fmla="*/ 0 h 2777706"/>
              <a:gd name="connsiteX1" fmla="*/ 1115683 w 1115683"/>
              <a:gd name="connsiteY1" fmla="*/ 448574 h 2777706"/>
              <a:gd name="connsiteX2" fmla="*/ 1115683 w 1115683"/>
              <a:gd name="connsiteY2" fmla="*/ 2777706 h 2777706"/>
              <a:gd name="connsiteX3" fmla="*/ 0 w 1115683"/>
              <a:gd name="connsiteY3" fmla="*/ 2777706 h 2777706"/>
              <a:gd name="connsiteX4" fmla="*/ 508958 w 1115683"/>
              <a:gd name="connsiteY4" fmla="*/ 0 h 2777706"/>
              <a:gd name="connsiteX0" fmla="*/ 4911624 w 5518349"/>
              <a:gd name="connsiteY0" fmla="*/ 0 h 2777706"/>
              <a:gd name="connsiteX1" fmla="*/ 5518349 w 5518349"/>
              <a:gd name="connsiteY1" fmla="*/ 448574 h 2777706"/>
              <a:gd name="connsiteX2" fmla="*/ 5518349 w 5518349"/>
              <a:gd name="connsiteY2" fmla="*/ 2777706 h 2777706"/>
              <a:gd name="connsiteX3" fmla="*/ 0 w 5518349"/>
              <a:gd name="connsiteY3" fmla="*/ 2769240 h 2777706"/>
              <a:gd name="connsiteX4" fmla="*/ 4911624 w 5518349"/>
              <a:gd name="connsiteY4" fmla="*/ 0 h 2777706"/>
              <a:gd name="connsiteX0" fmla="*/ 0 w 5518349"/>
              <a:gd name="connsiteY0" fmla="*/ 2320666 h 2329132"/>
              <a:gd name="connsiteX1" fmla="*/ 5518349 w 5518349"/>
              <a:gd name="connsiteY1" fmla="*/ 0 h 2329132"/>
              <a:gd name="connsiteX2" fmla="*/ 5518349 w 5518349"/>
              <a:gd name="connsiteY2" fmla="*/ 2329132 h 2329132"/>
              <a:gd name="connsiteX3" fmla="*/ 0 w 5518349"/>
              <a:gd name="connsiteY3" fmla="*/ 2320666 h 2329132"/>
              <a:gd name="connsiteX0" fmla="*/ 0 w 5518349"/>
              <a:gd name="connsiteY0" fmla="*/ 796666 h 805132"/>
              <a:gd name="connsiteX1" fmla="*/ 5399816 w 5518349"/>
              <a:gd name="connsiteY1" fmla="*/ 0 h 805132"/>
              <a:gd name="connsiteX2" fmla="*/ 5518349 w 5518349"/>
              <a:gd name="connsiteY2" fmla="*/ 805132 h 805132"/>
              <a:gd name="connsiteX3" fmla="*/ 0 w 5518349"/>
              <a:gd name="connsiteY3" fmla="*/ 796666 h 805132"/>
              <a:gd name="connsiteX0" fmla="*/ 0 w 5518349"/>
              <a:gd name="connsiteY0" fmla="*/ 678132 h 686598"/>
              <a:gd name="connsiteX1" fmla="*/ 5425216 w 5518349"/>
              <a:gd name="connsiteY1" fmla="*/ 0 h 686598"/>
              <a:gd name="connsiteX2" fmla="*/ 5518349 w 5518349"/>
              <a:gd name="connsiteY2" fmla="*/ 686598 h 686598"/>
              <a:gd name="connsiteX3" fmla="*/ 0 w 5518349"/>
              <a:gd name="connsiteY3" fmla="*/ 678132 h 686598"/>
              <a:gd name="connsiteX0" fmla="*/ 0 w 5518349"/>
              <a:gd name="connsiteY0" fmla="*/ 467844 h 476310"/>
              <a:gd name="connsiteX1" fmla="*/ 5443502 w 5518349"/>
              <a:gd name="connsiteY1" fmla="*/ 0 h 476310"/>
              <a:gd name="connsiteX2" fmla="*/ 5518349 w 5518349"/>
              <a:gd name="connsiteY2" fmla="*/ 476310 h 476310"/>
              <a:gd name="connsiteX3" fmla="*/ 0 w 5518349"/>
              <a:gd name="connsiteY3" fmla="*/ 467844 h 476310"/>
              <a:gd name="connsiteX0" fmla="*/ 0 w 5518349"/>
              <a:gd name="connsiteY0" fmla="*/ 522702 h 531168"/>
              <a:gd name="connsiteX1" fmla="*/ 5434358 w 5518349"/>
              <a:gd name="connsiteY1" fmla="*/ 0 h 531168"/>
              <a:gd name="connsiteX2" fmla="*/ 5518349 w 5518349"/>
              <a:gd name="connsiteY2" fmla="*/ 531168 h 531168"/>
              <a:gd name="connsiteX3" fmla="*/ 0 w 5518349"/>
              <a:gd name="connsiteY3" fmla="*/ 522702 h 531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18349" h="531168">
                <a:moveTo>
                  <a:pt x="0" y="522702"/>
                </a:moveTo>
                <a:lnTo>
                  <a:pt x="5434358" y="0"/>
                </a:lnTo>
                <a:lnTo>
                  <a:pt x="5518349" y="531168"/>
                </a:lnTo>
                <a:lnTo>
                  <a:pt x="0" y="522702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234464" tIns="117232" rIns="234464" bIns="117232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8" name="Picture 2" descr="C:\Users\Anastasia\Downloads\ЧГУ_лого_рус_гориз_прозрачный фон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9787" y="323925"/>
            <a:ext cx="1983363" cy="59227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аблица 5"/>
          <p:cNvSpPr>
            <a:spLocks noGrp="1"/>
          </p:cNvSpPr>
          <p:nvPr>
            <p:ph type="tbl" sz="quarter" idx="12"/>
          </p:nvPr>
        </p:nvSpPr>
        <p:spPr>
          <a:xfrm>
            <a:off x="487617" y="1861036"/>
            <a:ext cx="11204580" cy="4275612"/>
          </a:xfrm>
        </p:spPr>
        <p:txBody>
          <a:bodyPr anchor="ctr"/>
          <a:lstStyle/>
          <a:p>
            <a:r>
              <a:rPr lang="ru-RU"/>
              <a:t>Вставка таблицы</a:t>
            </a:r>
          </a:p>
        </p:txBody>
      </p:sp>
      <p:sp>
        <p:nvSpPr>
          <p:cNvPr id="9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87617" y="916202"/>
            <a:ext cx="11204581" cy="944834"/>
          </a:xfrm>
        </p:spPr>
        <p:txBody>
          <a:bodyPr>
            <a:noAutofit/>
          </a:bodyPr>
          <a:lstStyle>
            <a:lvl1pPr marL="0" marR="0" indent="0" algn="ctr" defTabSz="117226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solidFill>
                  <a:schemeClr val="bg1">
                    <a:lumMod val="65000"/>
                  </a:schemeClr>
                </a:solidFill>
              </a:defRPr>
            </a:lvl1pPr>
            <a:lvl2pPr marL="586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2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83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4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306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67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029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90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2599969" y="323925"/>
            <a:ext cx="9228543" cy="592277"/>
          </a:xfrm>
        </p:spPr>
        <p:txBody>
          <a:bodyPr anchor="ctr">
            <a:noAutofit/>
          </a:bodyPr>
          <a:lstStyle>
            <a:lvl1pPr algn="r"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cxnSp>
        <p:nvCxnSpPr>
          <p:cNvPr id="13" name="Прямая соединительная линия 12"/>
          <p:cNvCxnSpPr/>
          <p:nvPr userDrawn="1"/>
        </p:nvCxnSpPr>
        <p:spPr>
          <a:xfrm>
            <a:off x="359787" y="6295577"/>
            <a:ext cx="11468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г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6"/>
          </p:nvPr>
        </p:nvSpPr>
        <p:spPr>
          <a:xfrm>
            <a:off x="2088270" y="1618681"/>
            <a:ext cx="3667505" cy="1421409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2" name="Текст 10"/>
          <p:cNvSpPr>
            <a:spLocks noGrp="1"/>
          </p:cNvSpPr>
          <p:nvPr>
            <p:ph type="body" sz="quarter" idx="17"/>
          </p:nvPr>
        </p:nvSpPr>
        <p:spPr>
          <a:xfrm>
            <a:off x="2088270" y="3876273"/>
            <a:ext cx="3667505" cy="1421409"/>
          </a:xfrm>
        </p:spPr>
        <p:txBody>
          <a:bodyPr>
            <a:no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8" name="Текст 10"/>
          <p:cNvSpPr>
            <a:spLocks noGrp="1"/>
          </p:cNvSpPr>
          <p:nvPr>
            <p:ph type="body" sz="quarter" idx="20"/>
          </p:nvPr>
        </p:nvSpPr>
        <p:spPr>
          <a:xfrm>
            <a:off x="7802084" y="1618681"/>
            <a:ext cx="3667505" cy="1421409"/>
          </a:xfrm>
        </p:spPr>
        <p:txBody>
          <a:bodyPr>
            <a:no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9" name="Текст 10"/>
          <p:cNvSpPr>
            <a:spLocks noGrp="1"/>
          </p:cNvSpPr>
          <p:nvPr>
            <p:ph type="body" sz="quarter" idx="21"/>
          </p:nvPr>
        </p:nvSpPr>
        <p:spPr>
          <a:xfrm>
            <a:off x="7802084" y="3876273"/>
            <a:ext cx="3667505" cy="1421409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21" name="Рисунок 20"/>
          <p:cNvSpPr>
            <a:spLocks noGrp="1"/>
          </p:cNvSpPr>
          <p:nvPr>
            <p:ph type="pic" sz="quarter" idx="22"/>
          </p:nvPr>
        </p:nvSpPr>
        <p:spPr>
          <a:xfrm>
            <a:off x="764019" y="1778585"/>
            <a:ext cx="1102639" cy="1101600"/>
          </a:xfrm>
          <a:prstGeom prst="ellipse">
            <a:avLst/>
          </a:prstGeom>
        </p:spPr>
        <p:txBody>
          <a:bodyPr anchor="ctr">
            <a:normAutofit/>
          </a:bodyPr>
          <a:lstStyle>
            <a:lvl1pPr>
              <a:defRPr sz="1000"/>
            </a:lvl1pPr>
          </a:lstStyle>
          <a:p>
            <a:r>
              <a:rPr lang="ru-RU"/>
              <a:t>Вставка рисунка</a:t>
            </a:r>
          </a:p>
        </p:txBody>
      </p:sp>
      <p:sp>
        <p:nvSpPr>
          <p:cNvPr id="13" name="Рисунок 20"/>
          <p:cNvSpPr>
            <a:spLocks noGrp="1"/>
          </p:cNvSpPr>
          <p:nvPr>
            <p:ph type="pic" sz="quarter" idx="23"/>
          </p:nvPr>
        </p:nvSpPr>
        <p:spPr>
          <a:xfrm>
            <a:off x="6498069" y="1778585"/>
            <a:ext cx="1102639" cy="1101600"/>
          </a:xfrm>
          <a:prstGeom prst="ellipse">
            <a:avLst/>
          </a:prstGeom>
        </p:spPr>
        <p:txBody>
          <a:bodyPr anchor="ctr">
            <a:normAutofit/>
          </a:bodyPr>
          <a:lstStyle>
            <a:lvl1pPr>
              <a:defRPr sz="1000"/>
            </a:lvl1pPr>
          </a:lstStyle>
          <a:p>
            <a:r>
              <a:rPr lang="ru-RU"/>
              <a:t>Вставка рисунка</a:t>
            </a:r>
          </a:p>
        </p:txBody>
      </p:sp>
      <p:sp>
        <p:nvSpPr>
          <p:cNvPr id="14" name="Рисунок 20"/>
          <p:cNvSpPr>
            <a:spLocks noGrp="1"/>
          </p:cNvSpPr>
          <p:nvPr>
            <p:ph type="pic" sz="quarter" idx="24"/>
          </p:nvPr>
        </p:nvSpPr>
        <p:spPr>
          <a:xfrm>
            <a:off x="6498069" y="4036177"/>
            <a:ext cx="1102639" cy="1101600"/>
          </a:xfrm>
          <a:prstGeom prst="ellipse">
            <a:avLst/>
          </a:prstGeom>
        </p:spPr>
        <p:txBody>
          <a:bodyPr anchor="ctr">
            <a:normAutofit/>
          </a:bodyPr>
          <a:lstStyle>
            <a:lvl1pPr>
              <a:defRPr sz="1000"/>
            </a:lvl1pPr>
          </a:lstStyle>
          <a:p>
            <a:r>
              <a:rPr lang="ru-RU"/>
              <a:t>Вставка рисунка</a:t>
            </a:r>
          </a:p>
        </p:txBody>
      </p:sp>
      <p:sp>
        <p:nvSpPr>
          <p:cNvPr id="15" name="Рисунок 20"/>
          <p:cNvSpPr>
            <a:spLocks noGrp="1"/>
          </p:cNvSpPr>
          <p:nvPr>
            <p:ph type="pic" sz="quarter" idx="25"/>
          </p:nvPr>
        </p:nvSpPr>
        <p:spPr>
          <a:xfrm>
            <a:off x="764019" y="4036177"/>
            <a:ext cx="1102639" cy="1101600"/>
          </a:xfrm>
          <a:prstGeom prst="ellipse">
            <a:avLst/>
          </a:prstGeom>
        </p:spPr>
        <p:txBody>
          <a:bodyPr anchor="ctr">
            <a:normAutofit/>
          </a:bodyPr>
          <a:lstStyle>
            <a:lvl1pPr>
              <a:defRPr sz="1000"/>
            </a:lvl1pPr>
          </a:lstStyle>
          <a:p>
            <a:r>
              <a:rPr lang="ru-RU"/>
              <a:t>Вставка рисунка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5" descr="C:\Users\Anastasia\Desktop\Рисунок2.png"/>
          <p:cNvPicPr>
            <a:picLocks noChangeAspect="1" noChangeArrowheads="1"/>
          </p:cNvPicPr>
          <p:nvPr/>
        </p:nvPicPr>
        <p:blipFill>
          <a:blip r:embed="rId12" cstate="print">
            <a:lum bright="2000"/>
          </a:blip>
          <a:srcRect l="2078" t="1062" r="2324" b="4039"/>
          <a:stretch>
            <a:fillRect/>
          </a:stretch>
        </p:blipFill>
        <p:spPr bwMode="auto">
          <a:xfrm>
            <a:off x="0" y="0"/>
            <a:ext cx="12190413" cy="6859588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43150" y="323925"/>
            <a:ext cx="9485361" cy="592277"/>
          </a:xfrm>
          <a:prstGeom prst="rect">
            <a:avLst/>
          </a:prstGeom>
        </p:spPr>
        <p:txBody>
          <a:bodyPr vert="horz" lIns="117226" tIns="58613" rIns="117226" bIns="58613" rtlCol="0" anchor="ctr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59788" y="1087991"/>
            <a:ext cx="11468723" cy="5039591"/>
          </a:xfrm>
          <a:prstGeom prst="rect">
            <a:avLst/>
          </a:prstGeom>
        </p:spPr>
        <p:txBody>
          <a:bodyPr vert="horz" lIns="117226" tIns="58613" rIns="117226" bIns="58613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9786" y="6295578"/>
            <a:ext cx="8194704" cy="365210"/>
          </a:xfrm>
          <a:prstGeom prst="rect">
            <a:avLst/>
          </a:prstGeom>
        </p:spPr>
        <p:txBody>
          <a:bodyPr vert="horz" lIns="117226" tIns="58613" rIns="117226" bIns="5861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077376" y="6295578"/>
            <a:ext cx="751136" cy="365210"/>
          </a:xfrm>
          <a:prstGeom prst="rect">
            <a:avLst/>
          </a:prstGeom>
        </p:spPr>
        <p:txBody>
          <a:bodyPr vert="horz" lIns="117226" tIns="58613" rIns="117226" bIns="58613" rtlCol="0" anchor="ctr"/>
          <a:lstStyle>
            <a:lvl1pPr algn="r"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D7832B6-5904-45E4-8CB6-550B2F57E54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Picture 2" descr="C:\Users\Anastasia\Downloads\ЧГУ_лого_рус_гориз_прозрачный фон.png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59787" y="323925"/>
            <a:ext cx="1983363" cy="592277"/>
          </a:xfrm>
          <a:prstGeom prst="rect">
            <a:avLst/>
          </a:prstGeom>
          <a:noFill/>
        </p:spPr>
      </p:pic>
      <p:cxnSp>
        <p:nvCxnSpPr>
          <p:cNvPr id="18" name="Прямая соединительная линия 17"/>
          <p:cNvCxnSpPr/>
          <p:nvPr/>
        </p:nvCxnSpPr>
        <p:spPr>
          <a:xfrm>
            <a:off x="359787" y="6295577"/>
            <a:ext cx="11468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  <p:sldLayoutId id="2147483660" r:id="rId4"/>
    <p:sldLayoutId id="2147483651" r:id="rId5"/>
    <p:sldLayoutId id="2147483654" r:id="rId6"/>
    <p:sldLayoutId id="2147483662" r:id="rId7"/>
    <p:sldLayoutId id="2147483655" r:id="rId8"/>
    <p:sldLayoutId id="2147483658" r:id="rId9"/>
    <p:sldLayoutId id="2147483661" r:id="rId10"/>
  </p:sldLayoutIdLst>
  <p:txStyles>
    <p:titleStyle>
      <a:lvl1pPr algn="r" defTabSz="1172261" rtl="0" eaLnBrk="1" latinLnBrk="0" hangingPunct="1">
        <a:spcBef>
          <a:spcPct val="0"/>
        </a:spcBef>
        <a:buNone/>
        <a:defRPr sz="3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172261" rtl="0" eaLnBrk="1" latinLnBrk="0" hangingPunct="1">
        <a:spcBef>
          <a:spcPct val="20000"/>
        </a:spcBef>
        <a:buFont typeface="Arial" pitchFamily="34" charset="0"/>
        <a:buNone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457915" indent="0" algn="l" defTabSz="1172261" rtl="0" eaLnBrk="1" latinLnBrk="0" hangingPunct="1">
        <a:spcBef>
          <a:spcPct val="20000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7865" indent="0" algn="l" defTabSz="1172261" rtl="0" eaLnBrk="1" latinLnBrk="0" hangingPunct="1">
        <a:spcBef>
          <a:spcPct val="20000"/>
        </a:spcBef>
        <a:buFont typeface="Arial" pitchFamily="34" charset="0"/>
        <a:buNone/>
        <a:tabLst>
          <a:tab pos="917865" algn="l"/>
        </a:tabLst>
        <a:defRPr sz="1500" kern="1200">
          <a:solidFill>
            <a:schemeClr val="accent5"/>
          </a:solidFill>
          <a:latin typeface="+mn-lt"/>
          <a:ea typeface="+mn-ea"/>
          <a:cs typeface="+mn-cs"/>
        </a:defRPr>
      </a:lvl3pPr>
      <a:lvl4pPr marL="2051456" indent="-293065" algn="l" defTabSz="1172261" rtl="0" eaLnBrk="1" latinLnBrk="0" hangingPunct="1">
        <a:spcBef>
          <a:spcPct val="20000"/>
        </a:spcBef>
        <a:buFont typeface="Arial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37587" indent="-293065" algn="l" defTabSz="1172261" rtl="0" eaLnBrk="1" latinLnBrk="0" hangingPunct="1">
        <a:spcBef>
          <a:spcPct val="20000"/>
        </a:spcBef>
        <a:buFont typeface="Arial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23717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09848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395978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4982108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86130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72261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58391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44522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30652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516782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102913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689043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Программное обеспечение подсистемы анализа и управления составом агломерационной шихты</a:t>
            </a: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Магистерская диссертация</a:t>
            </a:r>
          </a:p>
          <a:p>
            <a:r>
              <a:rPr lang="ru-RU" dirty="0">
                <a:solidFill>
                  <a:schemeClr val="bg1"/>
                </a:solidFill>
                <a:cs typeface="Arial" charset="0"/>
              </a:rPr>
              <a:t>Матевосян Р.А., 09.04.04 Программная инженерия</a:t>
            </a:r>
          </a:p>
          <a:p>
            <a:r>
              <a:rPr lang="ru-RU" dirty="0">
                <a:solidFill>
                  <a:schemeClr val="bg1"/>
                </a:solidFill>
              </a:rPr>
              <a:t>Гр. 1ПИм-02-1оп-21</a:t>
            </a:r>
          </a:p>
          <a:p>
            <a:r>
              <a:rPr lang="ru-RU" dirty="0">
                <a:solidFill>
                  <a:schemeClr val="bg1"/>
                </a:solidFill>
                <a:cs typeface="Arial" charset="0"/>
              </a:rPr>
              <a:t>Научный руководитель: Ершов Е.В., </a:t>
            </a:r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доктор технических наук, профессор</a:t>
            </a:r>
            <a:endParaRPr lang="ru-RU" dirty="0">
              <a:solidFill>
                <a:schemeClr val="bg1"/>
              </a:solidFill>
              <a:cs typeface="Arial" charset="0"/>
            </a:endParaRPr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483061" y="1336129"/>
            <a:ext cx="11224291" cy="4959449"/>
          </a:xfrm>
        </p:spPr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chemeClr val="accent1"/>
                </a:solidFill>
              </a:rPr>
              <a:t>Актуальность темы</a:t>
            </a:r>
          </a:p>
          <a:p>
            <a:pPr algn="just"/>
            <a:r>
              <a:rPr lang="ru-RU" dirty="0"/>
              <a:t>При производства любого материала, важнейшей его частью является правильный химический состав. С помощью химических показателей устанавливают химический состав изделий и их отношение к действию некоторых химических реагентов, связанному с условиями использования этих изделий.</a:t>
            </a:r>
          </a:p>
          <a:p>
            <a:pPr algn="just"/>
            <a:r>
              <a:rPr lang="ru-RU" dirty="0"/>
              <a:t>Но бывают случаи, когда на производстве не удается выдерживать правильный химический состав для продукции. В этих случаях требуется выяснить причины отклонений химического состава получаемого изделия и их корректировать.</a:t>
            </a:r>
          </a:p>
          <a:p>
            <a:pPr algn="just"/>
            <a:r>
              <a:rPr lang="ru-RU" dirty="0">
                <a:solidFill>
                  <a:schemeClr val="accent1"/>
                </a:solidFill>
              </a:rPr>
              <a:t>Объект исследования</a:t>
            </a:r>
          </a:p>
          <a:p>
            <a:pPr algn="just"/>
            <a:r>
              <a:rPr lang="ru-RU" dirty="0"/>
              <a:t>Объектом исследования являются системы анализа и управления составом агломерационной шихты. </a:t>
            </a:r>
          </a:p>
          <a:p>
            <a:pPr algn="just"/>
            <a:r>
              <a:rPr lang="ru-RU" dirty="0">
                <a:solidFill>
                  <a:schemeClr val="accent1"/>
                </a:solidFill>
              </a:rPr>
              <a:t>Предмет исследования</a:t>
            </a:r>
          </a:p>
          <a:p>
            <a:pPr algn="just"/>
            <a:r>
              <a:rPr lang="ru-RU" dirty="0"/>
              <a:t>Предметом исследования являются модели, алгоритмы и методики расчета состава агломерационной шихты, установления причин отклонения основности агломерата, выявления причин отклонения в составе агломерационной шихты и корректировки дозировки материала. 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133601" y="323925"/>
            <a:ext cx="9694912" cy="592277"/>
          </a:xfrm>
        </p:spPr>
        <p:txBody>
          <a:bodyPr/>
          <a:lstStyle/>
          <a:p>
            <a:r>
              <a:rPr lang="ru-RU" dirty="0"/>
              <a:t>Актуальность темы. Объект и предмет исследования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z="2800" b="1" smtClean="0"/>
              <a:pPr/>
              <a:t>2</a:t>
            </a:fld>
            <a:endParaRPr lang="ru-RU" sz="2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583B901B-3BBF-44FD-8D27-762C60C53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60" y="986897"/>
            <a:ext cx="11224291" cy="5308681"/>
          </a:xfrm>
        </p:spPr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chemeClr val="accent1"/>
                </a:solidFill>
              </a:rPr>
              <a:t>Цель работы</a:t>
            </a:r>
          </a:p>
          <a:p>
            <a:pPr algn="just"/>
            <a:r>
              <a:rPr lang="ru-RU" sz="1900" dirty="0"/>
              <a:t>Выявление возможных причин отклонения основности и улучшение качества шихты за счет корректировки ее химического состава на основе отклонений и регулирования подачи известняка, как одного из материалов для производства шихты.</a:t>
            </a:r>
          </a:p>
          <a:p>
            <a:r>
              <a:rPr lang="ru-RU" dirty="0">
                <a:solidFill>
                  <a:schemeClr val="accent1"/>
                </a:solidFill>
              </a:rPr>
              <a:t>Задачи исследования</a:t>
            </a:r>
          </a:p>
          <a:p>
            <a:r>
              <a:rPr lang="ru-RU" sz="1900" dirty="0"/>
              <a:t>Для достижения поставленной цели решены следующие задачи: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900" dirty="0"/>
              <a:t>анализ существующих моделей, методов и средств управления составом агломерационной шихты теоретическое обоснование поставленных задач;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900" dirty="0"/>
              <a:t>разработка алгоритма анализа и управления составом агломерационной шихты;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900" dirty="0"/>
              <a:t>проектирование и реализация подсистемы анализа и управления составом агломерационной шихты;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900" dirty="0"/>
              <a:t>экспериментальная проверка программного обеспечения подсистемы анализа и управления составом агломерационной шихты.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1900" dirty="0"/>
          </a:p>
          <a:p>
            <a:r>
              <a:rPr lang="ru-RU" dirty="0">
                <a:solidFill>
                  <a:schemeClr val="accent1"/>
                </a:solidFill>
              </a:rPr>
              <a:t>Научная новизна</a:t>
            </a:r>
          </a:p>
          <a:p>
            <a:pPr algn="just"/>
            <a:r>
              <a:rPr lang="ru-RU" sz="1900" dirty="0"/>
              <a:t>Заключается в разработке нового алгоритма управления составом агломерационной шихты, отличающегося от имеющихся решений использованием поправочных коэффициентов на основе анализа отклонений в процессе производства шихты, что позволяет скорректировать химический состав материалов и точнее рассчитывать дозировку известняка.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1757910-F796-46F9-99F2-788EE85A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80673" y="323925"/>
            <a:ext cx="13609186" cy="592277"/>
          </a:xfrm>
        </p:spPr>
        <p:txBody>
          <a:bodyPr/>
          <a:lstStyle/>
          <a:p>
            <a:r>
              <a:rPr lang="ru-RU" altLang="ru-RU" sz="3200" dirty="0">
                <a:solidFill>
                  <a:srgbClr val="C00000"/>
                </a:solidFill>
              </a:rPr>
              <a:t>Цель и задачи работы. </a:t>
            </a:r>
            <a:br>
              <a:rPr lang="ru-RU" altLang="ru-RU" sz="3200" dirty="0">
                <a:solidFill>
                  <a:srgbClr val="C00000"/>
                </a:solidFill>
              </a:rPr>
            </a:br>
            <a:r>
              <a:rPr lang="ru-RU" altLang="ru-RU" sz="3200" dirty="0">
                <a:solidFill>
                  <a:srgbClr val="C00000"/>
                </a:solidFill>
              </a:rPr>
              <a:t>Научная новизна исследования</a:t>
            </a:r>
            <a:br>
              <a:rPr lang="ru-RU" altLang="ru-RU" sz="3200" dirty="0">
                <a:solidFill>
                  <a:srgbClr val="C00000"/>
                </a:solidFill>
              </a:rPr>
            </a:br>
            <a:endParaRPr lang="ru-RU" dirty="0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B6F810F7-2795-4843-BA4E-45EC99EDA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7376" y="6295578"/>
            <a:ext cx="751136" cy="365210"/>
          </a:xfrm>
        </p:spPr>
        <p:txBody>
          <a:bodyPr/>
          <a:lstStyle/>
          <a:p>
            <a:fld id="{5D7832B6-5904-45E4-8CB6-550B2F57E544}" type="slidenum">
              <a:rPr lang="ru-RU" sz="2800" b="1" smtClean="0"/>
              <a:pPr/>
              <a:t>3</a:t>
            </a:fld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446837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E1AC9274-CC7C-4A85-A8FA-0E2E1932F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60" y="2802543"/>
            <a:ext cx="11224291" cy="1254501"/>
          </a:xfrm>
        </p:spPr>
        <p:txBody>
          <a:bodyPr>
            <a:normAutofit/>
          </a:bodyPr>
          <a:lstStyle/>
          <a:p>
            <a:pPr algn="ctr"/>
            <a:r>
              <a:rPr lang="ru-RU" altLang="ru-RU" sz="2800" b="1" dirty="0">
                <a:solidFill>
                  <a:srgbClr val="C00000"/>
                </a:solidFill>
              </a:rPr>
              <a:t>ЗАДАЧА 1. ХАРАКТЕРИСТИКА ПРОБЛЕМЫ УПРАВЛЕНИЯ СОСТАВОМ АГЛОМЕРАЦИОННОЙ ШИХТЫ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2674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99B2EA76-AFA5-4570-ACA3-B9934B1EE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222" y="1304924"/>
            <a:ext cx="4145331" cy="4714876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sz="2000" dirty="0"/>
              <a:t>На данный момент на предприятии ПАО «Северсталь» существует проблема выявления отклонений в содержании некоторых материалов при производстве агломерационной шихты на АГЦ-3, что сказывается на качестве производимого агломерата. </a:t>
            </a:r>
          </a:p>
          <a:p>
            <a:pPr algn="just"/>
            <a:r>
              <a:rPr lang="ru-RU" sz="2000" dirty="0"/>
              <a:t>Необходимо своевременно выявлять отклонения в химическом составе шихты и их причины, после чего устранять обнаруженные проблемы.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0D0A0D6-FA2E-43AF-ACC9-2043E7EA3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существующей проблемы</a:t>
            </a:r>
          </a:p>
        </p:txBody>
      </p:sp>
      <p:pic>
        <p:nvPicPr>
          <p:cNvPr id="1026" name="Picture 2" descr="Агломерационная фабрика — Википедия">
            <a:extLst>
              <a:ext uri="{FF2B5EF4-FFF2-40B4-BE49-F238E27FC236}">
                <a16:creationId xmlns:a16="http://schemas.microsoft.com/office/drawing/2014/main" id="{315638EF-5C09-4B95-BBE2-9211567E5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486" y="1304924"/>
            <a:ext cx="6238137" cy="4154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CFD6380F-27AB-43E8-AA74-A1CDB4366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7376" y="6295578"/>
            <a:ext cx="751136" cy="365210"/>
          </a:xfrm>
        </p:spPr>
        <p:txBody>
          <a:bodyPr/>
          <a:lstStyle/>
          <a:p>
            <a:fld id="{5D7832B6-5904-45E4-8CB6-550B2F57E544}" type="slidenum">
              <a:rPr lang="ru-RU" sz="2800" b="1" smtClean="0"/>
              <a:pPr/>
              <a:t>5</a:t>
            </a:fld>
            <a:endParaRPr lang="ru-RU" sz="2800" b="1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AE06DFA-B4FF-4B4C-832D-4D66C3041E10}"/>
              </a:ext>
            </a:extLst>
          </p:cNvPr>
          <p:cNvSpPr/>
          <p:nvPr/>
        </p:nvSpPr>
        <p:spPr>
          <a:xfrm>
            <a:off x="5142367" y="1198485"/>
            <a:ext cx="6443823" cy="435618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184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EACE2CF-6AE0-4AEB-A4DB-E602F8BF9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существующих методов и </a:t>
            </a:r>
            <a:br>
              <a:rPr lang="ru-RU" dirty="0"/>
            </a:br>
            <a:r>
              <a:rPr lang="ru-RU" dirty="0"/>
              <a:t>программных решений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0A67944-08E5-4248-9A21-E1E0C3F81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144321"/>
              </p:ext>
            </p:extLst>
          </p:nvPr>
        </p:nvGraphicFramePr>
        <p:xfrm>
          <a:off x="361901" y="1101906"/>
          <a:ext cx="11523711" cy="37599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8247">
                  <a:extLst>
                    <a:ext uri="{9D8B030D-6E8A-4147-A177-3AD203B41FA5}">
                      <a16:colId xmlns:a16="http://schemas.microsoft.com/office/drawing/2014/main" val="3779023694"/>
                    </a:ext>
                  </a:extLst>
                </a:gridCol>
                <a:gridCol w="4664611">
                  <a:extLst>
                    <a:ext uri="{9D8B030D-6E8A-4147-A177-3AD203B41FA5}">
                      <a16:colId xmlns:a16="http://schemas.microsoft.com/office/drawing/2014/main" val="3340230875"/>
                    </a:ext>
                  </a:extLst>
                </a:gridCol>
                <a:gridCol w="3820853">
                  <a:extLst>
                    <a:ext uri="{9D8B030D-6E8A-4147-A177-3AD203B41FA5}">
                      <a16:colId xmlns:a16="http://schemas.microsoft.com/office/drawing/2014/main" val="1515352254"/>
                    </a:ext>
                  </a:extLst>
                </a:gridCol>
              </a:tblGrid>
              <a:tr h="237447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Название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Преимущества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Недостатки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888753"/>
                  </a:ext>
                </a:extLst>
              </a:tr>
              <a:tr h="985234">
                <a:tc>
                  <a:txBody>
                    <a:bodyPr/>
                    <a:lstStyle/>
                    <a:p>
                      <a:pPr algn="just"/>
                      <a:r>
                        <a:rPr lang="ru-RU" sz="1100" dirty="0"/>
                        <a:t>Метод повышения эффективности </a:t>
                      </a:r>
                      <a:r>
                        <a:rPr lang="ru-RU" sz="1100" dirty="0" err="1"/>
                        <a:t>аглопроцесса</a:t>
                      </a:r>
                      <a:r>
                        <a:rPr lang="ru-RU" sz="1100" dirty="0"/>
                        <a:t> в результате автоматизации режима увлажнения </a:t>
                      </a:r>
                      <a:r>
                        <a:rPr lang="ru-RU" sz="1100" dirty="0" err="1"/>
                        <a:t>аглошихты</a:t>
                      </a:r>
                      <a:r>
                        <a:rPr lang="ru-RU" sz="1100" dirty="0"/>
                        <a:t> при </a:t>
                      </a:r>
                      <a:r>
                        <a:rPr lang="ru-RU" sz="1100" dirty="0" err="1"/>
                        <a:t>окомковании</a:t>
                      </a:r>
                      <a:r>
                        <a:rPr lang="ru-RU" sz="1100" dirty="0"/>
                        <a:t> 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ru-RU" sz="1100" dirty="0"/>
                        <a:t>Несмотря на значительное количество </a:t>
                      </a:r>
                      <a:r>
                        <a:rPr lang="ru-RU" sz="1100" dirty="0" err="1"/>
                        <a:t>комкующих</a:t>
                      </a:r>
                      <a:r>
                        <a:rPr lang="ru-RU" sz="1100" dirty="0"/>
                        <a:t> фракций в исходной шихте, количество мелочи (фракция 0-1 мм) в </a:t>
                      </a:r>
                      <a:r>
                        <a:rPr lang="ru-RU" sz="1100" dirty="0" err="1"/>
                        <a:t>окомкованной</a:t>
                      </a:r>
                      <a:r>
                        <a:rPr lang="ru-RU" sz="1100" dirty="0"/>
                        <a:t> </a:t>
                      </a:r>
                      <a:r>
                        <a:rPr lang="ru-RU" sz="1100" dirty="0" err="1"/>
                        <a:t>шихте,остается</a:t>
                      </a:r>
                      <a:r>
                        <a:rPr lang="ru-RU" sz="1100" dirty="0"/>
                        <a:t> на значительном уровне, снижаясь ниже 10 % только при переувлажнении шихты сверх оптимальной влажности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ru-RU" sz="1100" dirty="0"/>
                        <a:t>В ручном режиме управления режиме невозможно обеспечивать постоянство влажности и результатов </a:t>
                      </a:r>
                      <a:r>
                        <a:rPr lang="ru-RU" sz="1100" dirty="0" err="1"/>
                        <a:t>окомкования</a:t>
                      </a:r>
                      <a:r>
                        <a:rPr lang="ru-RU" sz="1100" dirty="0"/>
                        <a:t>, что проявляется на стабильности показателей спекания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162509"/>
                  </a:ext>
                </a:extLst>
              </a:tr>
              <a:tr h="732951">
                <a:tc>
                  <a:txBody>
                    <a:bodyPr/>
                    <a:lstStyle/>
                    <a:p>
                      <a:pPr algn="just"/>
                      <a:r>
                        <a:rPr lang="ru-RU" sz="1100" dirty="0"/>
                        <a:t>Совершенствование технологии агломерации железорудного сырья введением добавок в виде пульпы при </a:t>
                      </a:r>
                      <a:r>
                        <a:rPr lang="ru-RU" sz="1100" dirty="0" err="1"/>
                        <a:t>окомковании</a:t>
                      </a:r>
                      <a:r>
                        <a:rPr lang="ru-RU" sz="1100" dirty="0"/>
                        <a:t> шихты 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ru-RU" sz="1100" dirty="0"/>
                        <a:t>Получение более однородного гранулометрического состава сырых гранул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ru-RU" sz="1100" dirty="0"/>
                        <a:t>Требуется изменение технологической схемы подготовки шихты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ru-RU" sz="1100" dirty="0"/>
                        <a:t>В сырых гранулах существенно увеличивается содержание фракции +10 мм, которая негативно влияет на процесс спекания агломерата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17208"/>
                  </a:ext>
                </a:extLst>
              </a:tr>
              <a:tr h="783575">
                <a:tc>
                  <a:txBody>
                    <a:bodyPr/>
                    <a:lstStyle/>
                    <a:p>
                      <a:pPr algn="just"/>
                      <a:r>
                        <a:rPr lang="ru-RU" sz="1100" dirty="0"/>
                        <a:t>Система «</a:t>
                      </a:r>
                      <a:r>
                        <a:rPr lang="en-US" sz="1100" dirty="0"/>
                        <a:t>CB Omni» </a:t>
                      </a:r>
                      <a:endParaRPr lang="ru-RU" sz="11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Высокая точность анализа химического состава.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Снижение затрат при производстве агломерата</a:t>
                      </a:r>
                      <a:endParaRPr lang="ru-RU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Для работы системы требуется установка дорогостоящего оборудования американского производства.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Система является дорогостоящей в дальнейшем обслуживании</a:t>
                      </a:r>
                      <a:endParaRPr lang="ru-RU" sz="110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146442"/>
                  </a:ext>
                </a:extLst>
              </a:tr>
              <a:tr h="641107">
                <a:tc>
                  <a:txBody>
                    <a:bodyPr/>
                    <a:lstStyle/>
                    <a:p>
                      <a:r>
                        <a:rPr lang="ru-RU" sz="1100" dirty="0"/>
                        <a:t>Улучшение качества агломерата путем усовершенствования способа подготовки шихты 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Получения качественного агломерата, стабилизированного по крупности и прочности</a:t>
                      </a:r>
                      <a:endParaRPr lang="ru-RU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1722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100" dirty="0"/>
                        <a:t>Требуется изменение технологической схемы подготовки шихты</a:t>
                      </a:r>
                    </a:p>
                    <a:p>
                      <a:pPr marL="171450" marR="0" lvl="0" indent="-171450" algn="l" defTabSz="11722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100" dirty="0"/>
                        <a:t>Требует значительных финансовых вложений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88961"/>
                  </a:ext>
                </a:extLst>
              </a:tr>
            </a:tbl>
          </a:graphicData>
        </a:graphic>
      </p:graphicFrame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5525302-20FB-4F95-9533-50AD8B89F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7376" y="6295578"/>
            <a:ext cx="751136" cy="365210"/>
          </a:xfrm>
        </p:spPr>
        <p:txBody>
          <a:bodyPr/>
          <a:lstStyle/>
          <a:p>
            <a:fld id="{5D7832B6-5904-45E4-8CB6-550B2F57E544}" type="slidenum">
              <a:rPr lang="ru-RU" sz="2800" b="1" smtClean="0"/>
              <a:pPr/>
              <a:t>6</a:t>
            </a:fld>
            <a:endParaRPr lang="ru-RU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0178A7-1B50-4D4C-8224-A8E0CD0988B7}"/>
              </a:ext>
            </a:extLst>
          </p:cNvPr>
          <p:cNvSpPr txBox="1"/>
          <p:nvPr/>
        </p:nvSpPr>
        <p:spPr>
          <a:xfrm>
            <a:off x="361901" y="5007006"/>
            <a:ext cx="115237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800" dirty="0"/>
              <a:t>Представленные выше методы не являются эффективными, т.к. реализация некоторых</a:t>
            </a:r>
            <a:r>
              <a:rPr lang="en-US" sz="1800" dirty="0"/>
              <a:t> </a:t>
            </a:r>
            <a:r>
              <a:rPr lang="ru-RU" sz="1800" dirty="0"/>
              <a:t>из них требует внесение изменений в технологический процесс, что на данный момент не представляется возможным, некоторые системы обладают невысокой точностью работы, часть систем требует больших финансовых затрат на установку и обслуживание оборудования. </a:t>
            </a:r>
          </a:p>
        </p:txBody>
      </p:sp>
    </p:spTree>
    <p:extLst>
      <p:ext uri="{BB962C8B-B14F-4D97-AF65-F5344CB8AC3E}">
        <p14:creationId xmlns:p14="http://schemas.microsoft.com/office/powerpoint/2010/main" val="3225393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3B95F842-6F64-453D-A3D5-D9915E39B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61" y="1336129"/>
            <a:ext cx="5612145" cy="4791453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sz="1600" dirty="0"/>
              <a:t>Агломерат — </a:t>
            </a:r>
            <a:r>
              <a:rPr lang="ru-RU" sz="1600" dirty="0" err="1"/>
              <a:t>окускованный</a:t>
            </a:r>
            <a:r>
              <a:rPr lang="ru-RU" sz="1600" dirty="0"/>
              <a:t> рудный концентрат, полученный в процессе агломерации. Спёкшаяся в куски мелкая (часто пылевидная) руда размерами 5—100 мм с незначительным содержанием мелочи.</a:t>
            </a:r>
          </a:p>
          <a:p>
            <a:pPr algn="just"/>
            <a:r>
              <a:rPr lang="ru-RU" sz="1600" dirty="0"/>
              <a:t>Агломерат производится из агломерационной шихты. Шихта — смесь исходных материалов, а в некоторых случаях (например, при выплавке чугуна в доменной печи) и топлива в определённой пропорции, подлежащая переработке в металлургических, химических и других агрегатах.</a:t>
            </a:r>
          </a:p>
          <a:p>
            <a:pPr algn="just"/>
            <a:r>
              <a:rPr lang="ru-RU" sz="1600" dirty="0"/>
              <a:t>Одним из показателей качества шихты является основность агломерационной шихты. </a:t>
            </a:r>
          </a:p>
          <a:p>
            <a:pPr algn="just"/>
            <a:r>
              <a:rPr lang="ru-RU" sz="1600" dirty="0"/>
              <a:t>Основность — характеристика металлургического сырья, железной руды или металлургического шлака, показывающая соотношение масс основных оксидов к кислотным. Как правило, измеряется в долях единицы.</a:t>
            </a:r>
          </a:p>
          <a:p>
            <a:pPr algn="just"/>
            <a:r>
              <a:rPr lang="ru-RU" sz="1600" dirty="0"/>
              <a:t>Введение в агломерационную шихту известняка существенно изменяет условия формирования агломерата, поэтому управление его дозировкой – важный производственный процесс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6967261-2B97-4FCF-971B-37484BC59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процесса агломерации</a:t>
            </a:r>
          </a:p>
        </p:txBody>
      </p:sp>
      <p:pic>
        <p:nvPicPr>
          <p:cNvPr id="4" name="Рисунок 3" descr="https://upload.wikimedia.org/wikipedia/commons/thumb/7/75/Blast_furnace_ingredients.JPG/220px-Blast_furnace_ingredients.JPG">
            <a:extLst>
              <a:ext uri="{FF2B5EF4-FFF2-40B4-BE49-F238E27FC236}">
                <a16:creationId xmlns:a16="http://schemas.microsoft.com/office/drawing/2014/main" id="{BE598BA4-AC97-42D5-8F71-D88AD27F4EC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164" y="4913867"/>
            <a:ext cx="1449981" cy="1179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Minerals | Free Full-Text | Measurement of Process Conditions Present in  Pilot Scale Iron Ore Sintering">
            <a:extLst>
              <a:ext uri="{FF2B5EF4-FFF2-40B4-BE49-F238E27FC236}">
                <a16:creationId xmlns:a16="http://schemas.microsoft.com/office/drawing/2014/main" id="{DE7D5F7F-6D9C-4DF3-89E9-0BB4751B0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448" y="4913866"/>
            <a:ext cx="2558473" cy="1179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AB09643-931E-42C0-A141-8BC80A48F451}"/>
              </a:ext>
            </a:extLst>
          </p:cNvPr>
          <p:cNvSpPr/>
          <p:nvPr/>
        </p:nvSpPr>
        <p:spPr>
          <a:xfrm>
            <a:off x="483061" y="1198484"/>
            <a:ext cx="5612145" cy="494514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491B7D48-7A1F-4303-B588-306E4336F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7376" y="6295578"/>
            <a:ext cx="751136" cy="365210"/>
          </a:xfrm>
        </p:spPr>
        <p:txBody>
          <a:bodyPr/>
          <a:lstStyle/>
          <a:p>
            <a:fld id="{5D7832B6-5904-45E4-8CB6-550B2F57E544}" type="slidenum">
              <a:rPr lang="ru-RU" sz="2800" b="1" smtClean="0"/>
              <a:pPr/>
              <a:t>7</a:t>
            </a:fld>
            <a:endParaRPr lang="ru-RU" sz="2800" b="1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170C88B-1366-4485-A223-F697333218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080" y="1198484"/>
            <a:ext cx="5469272" cy="348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90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97FC033-7FBA-4CFD-BBB7-E3335013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76D22CA-915B-4B70-9872-EC3E210F9591}"/>
              </a:ext>
            </a:extLst>
          </p:cNvPr>
          <p:cNvSpPr/>
          <p:nvPr/>
        </p:nvSpPr>
        <p:spPr>
          <a:xfrm>
            <a:off x="3565070" y="1300827"/>
            <a:ext cx="5060272" cy="1162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Программное обеспечение подсистемы анализа и управления составом агломерационной шихты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DEE5887-685B-45F5-BC28-D26531F0A8AE}"/>
              </a:ext>
            </a:extLst>
          </p:cNvPr>
          <p:cNvSpPr/>
          <p:nvPr/>
        </p:nvSpPr>
        <p:spPr>
          <a:xfrm>
            <a:off x="352832" y="3083941"/>
            <a:ext cx="3500076" cy="90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Создание алгоритма анализа и управления составом агломерационной шихты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A9F36C6-5AC0-49E5-8A99-201051C8B203}"/>
              </a:ext>
            </a:extLst>
          </p:cNvPr>
          <p:cNvSpPr/>
          <p:nvPr/>
        </p:nvSpPr>
        <p:spPr>
          <a:xfrm>
            <a:off x="8337505" y="3194159"/>
            <a:ext cx="3500076" cy="90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Создание модуля визуализации данных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DD305CF-0236-449A-B5D4-76CA4531B8CC}"/>
              </a:ext>
            </a:extLst>
          </p:cNvPr>
          <p:cNvSpPr/>
          <p:nvPr/>
        </p:nvSpPr>
        <p:spPr>
          <a:xfrm>
            <a:off x="2312183" y="4651652"/>
            <a:ext cx="3500076" cy="9071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Адаптация и тестирование программного обеспечения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FAD3C12-82B1-4FF0-BD46-07EAB2B849C4}"/>
              </a:ext>
            </a:extLst>
          </p:cNvPr>
          <p:cNvSpPr/>
          <p:nvPr/>
        </p:nvSpPr>
        <p:spPr>
          <a:xfrm>
            <a:off x="6378154" y="4651652"/>
            <a:ext cx="3500075" cy="9071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Создание модуля визуализации результатов анализа состава агломерационной шихты</a:t>
            </a:r>
          </a:p>
        </p:txBody>
      </p:sp>
      <p:cxnSp>
        <p:nvCxnSpPr>
          <p:cNvPr id="10" name="Соединитель: изогнутый 9">
            <a:extLst>
              <a:ext uri="{FF2B5EF4-FFF2-40B4-BE49-F238E27FC236}">
                <a16:creationId xmlns:a16="http://schemas.microsoft.com/office/drawing/2014/main" id="{E7C3FAAA-7F4D-480F-B0E8-936E5D63A64D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3788969" y="777703"/>
            <a:ext cx="620139" cy="39923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: изогнутый 11">
            <a:extLst>
              <a:ext uri="{FF2B5EF4-FFF2-40B4-BE49-F238E27FC236}">
                <a16:creationId xmlns:a16="http://schemas.microsoft.com/office/drawing/2014/main" id="{7BE116E2-E24E-45E4-8F69-8FEC9A921F3A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16200000" flipH="1">
            <a:off x="7726196" y="832811"/>
            <a:ext cx="730357" cy="399233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Соединитель: изогнутый 13">
            <a:extLst>
              <a:ext uri="{FF2B5EF4-FFF2-40B4-BE49-F238E27FC236}">
                <a16:creationId xmlns:a16="http://schemas.microsoft.com/office/drawing/2014/main" id="{278FA310-8C7E-4F98-819D-E1CC8A7C12EF}"/>
              </a:ext>
            </a:extLst>
          </p:cNvPr>
          <p:cNvCxnSpPr>
            <a:stCxn id="4" idx="2"/>
            <a:endCxn id="7" idx="0"/>
          </p:cNvCxnSpPr>
          <p:nvPr/>
        </p:nvCxnSpPr>
        <p:spPr>
          <a:xfrm rot="5400000">
            <a:off x="3984789" y="2541235"/>
            <a:ext cx="2187850" cy="203298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04B4AA1D-3089-4A32-9C30-46ADAEF7CD7A}"/>
              </a:ext>
            </a:extLst>
          </p:cNvPr>
          <p:cNvCxnSpPr>
            <a:stCxn id="4" idx="2"/>
            <a:endCxn id="8" idx="0"/>
          </p:cNvCxnSpPr>
          <p:nvPr/>
        </p:nvCxnSpPr>
        <p:spPr>
          <a:xfrm rot="16200000" flipH="1">
            <a:off x="6017774" y="2541234"/>
            <a:ext cx="2187850" cy="203298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0FB4485F-9A98-41B6-9E01-CFEE546CB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7376" y="6295578"/>
            <a:ext cx="751136" cy="365210"/>
          </a:xfrm>
        </p:spPr>
        <p:txBody>
          <a:bodyPr/>
          <a:lstStyle/>
          <a:p>
            <a:fld id="{5D7832B6-5904-45E4-8CB6-550B2F57E544}" type="slidenum">
              <a:rPr lang="ru-RU" sz="2800" b="1" smtClean="0"/>
              <a:pPr/>
              <a:t>8</a:t>
            </a:fld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35781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B7A07E90-1E13-4FF9-8606-8D9575751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61" y="2593996"/>
            <a:ext cx="11224291" cy="1671595"/>
          </a:xfrm>
        </p:spPr>
        <p:txBody>
          <a:bodyPr/>
          <a:lstStyle/>
          <a:p>
            <a:pPr algn="ctr"/>
            <a:r>
              <a:rPr lang="ru-RU" altLang="ru-RU" sz="2800" b="1" dirty="0">
                <a:solidFill>
                  <a:srgbClr val="C00000"/>
                </a:solidFill>
              </a:rPr>
              <a:t>ЗАДАЧА 2. МАТЕМАТИЧЕСКОЕ И АЛГОРИТМИЧЕСКОЕ ОБЕСПЕЧЕНИЕ ПОДСИСТЕМЫ АНАЛИЗА И УПРАВЛЕНИЯ СОСТАВОМ АГЛОМЕРАЦИОННОЙ ШИХТЫ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4836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1">
            <a:extLst>
              <a:ext uri="{FF2B5EF4-FFF2-40B4-BE49-F238E27FC236}">
                <a16:creationId xmlns:a16="http://schemas.microsoft.com/office/drawing/2014/main" id="{53678A77-2942-4D17-BEF5-1DE75A43B02E}"/>
              </a:ext>
            </a:extLst>
          </p:cNvPr>
          <p:cNvSpPr/>
          <p:nvPr/>
        </p:nvSpPr>
        <p:spPr>
          <a:xfrm>
            <a:off x="6150690" y="1138317"/>
            <a:ext cx="5622338" cy="5060271"/>
          </a:xfrm>
          <a:custGeom>
            <a:avLst/>
            <a:gdLst>
              <a:gd name="connsiteX0" fmla="*/ 0 w 5612606"/>
              <a:gd name="connsiteY0" fmla="*/ 841916 h 5051394"/>
              <a:gd name="connsiteX1" fmla="*/ 841916 w 5612606"/>
              <a:gd name="connsiteY1" fmla="*/ 0 h 5051394"/>
              <a:gd name="connsiteX2" fmla="*/ 4770690 w 5612606"/>
              <a:gd name="connsiteY2" fmla="*/ 0 h 5051394"/>
              <a:gd name="connsiteX3" fmla="*/ 5612606 w 5612606"/>
              <a:gd name="connsiteY3" fmla="*/ 841916 h 5051394"/>
              <a:gd name="connsiteX4" fmla="*/ 5612606 w 5612606"/>
              <a:gd name="connsiteY4" fmla="*/ 4209478 h 5051394"/>
              <a:gd name="connsiteX5" fmla="*/ 4770690 w 5612606"/>
              <a:gd name="connsiteY5" fmla="*/ 5051394 h 5051394"/>
              <a:gd name="connsiteX6" fmla="*/ 841916 w 5612606"/>
              <a:gd name="connsiteY6" fmla="*/ 5051394 h 5051394"/>
              <a:gd name="connsiteX7" fmla="*/ 0 w 5612606"/>
              <a:gd name="connsiteY7" fmla="*/ 4209478 h 5051394"/>
              <a:gd name="connsiteX8" fmla="*/ 0 w 5612606"/>
              <a:gd name="connsiteY8" fmla="*/ 841916 h 5051394"/>
              <a:gd name="connsiteX0" fmla="*/ 1 w 5612607"/>
              <a:gd name="connsiteY0" fmla="*/ 841916 h 5051394"/>
              <a:gd name="connsiteX1" fmla="*/ 460177 w 5612607"/>
              <a:gd name="connsiteY1" fmla="*/ 0 h 5051394"/>
              <a:gd name="connsiteX2" fmla="*/ 4770691 w 5612607"/>
              <a:gd name="connsiteY2" fmla="*/ 0 h 5051394"/>
              <a:gd name="connsiteX3" fmla="*/ 5612607 w 5612607"/>
              <a:gd name="connsiteY3" fmla="*/ 841916 h 5051394"/>
              <a:gd name="connsiteX4" fmla="*/ 5612607 w 5612607"/>
              <a:gd name="connsiteY4" fmla="*/ 4209478 h 5051394"/>
              <a:gd name="connsiteX5" fmla="*/ 4770691 w 5612607"/>
              <a:gd name="connsiteY5" fmla="*/ 5051394 h 5051394"/>
              <a:gd name="connsiteX6" fmla="*/ 841917 w 5612607"/>
              <a:gd name="connsiteY6" fmla="*/ 5051394 h 5051394"/>
              <a:gd name="connsiteX7" fmla="*/ 1 w 5612607"/>
              <a:gd name="connsiteY7" fmla="*/ 4209478 h 5051394"/>
              <a:gd name="connsiteX8" fmla="*/ 1 w 5612607"/>
              <a:gd name="connsiteY8" fmla="*/ 841916 h 5051394"/>
              <a:gd name="connsiteX0" fmla="*/ 1 w 5612607"/>
              <a:gd name="connsiteY0" fmla="*/ 841916 h 5051394"/>
              <a:gd name="connsiteX1" fmla="*/ 460177 w 5612607"/>
              <a:gd name="connsiteY1" fmla="*/ 0 h 5051394"/>
              <a:gd name="connsiteX2" fmla="*/ 4770691 w 5612607"/>
              <a:gd name="connsiteY2" fmla="*/ 0 h 5051394"/>
              <a:gd name="connsiteX3" fmla="*/ 5612607 w 5612607"/>
              <a:gd name="connsiteY3" fmla="*/ 841916 h 5051394"/>
              <a:gd name="connsiteX4" fmla="*/ 5612607 w 5612607"/>
              <a:gd name="connsiteY4" fmla="*/ 4209478 h 5051394"/>
              <a:gd name="connsiteX5" fmla="*/ 4770691 w 5612607"/>
              <a:gd name="connsiteY5" fmla="*/ 5051394 h 5051394"/>
              <a:gd name="connsiteX6" fmla="*/ 504566 w 5612607"/>
              <a:gd name="connsiteY6" fmla="*/ 5051394 h 5051394"/>
              <a:gd name="connsiteX7" fmla="*/ 1 w 5612607"/>
              <a:gd name="connsiteY7" fmla="*/ 4209478 h 5051394"/>
              <a:gd name="connsiteX8" fmla="*/ 1 w 5612607"/>
              <a:gd name="connsiteY8" fmla="*/ 841916 h 5051394"/>
              <a:gd name="connsiteX0" fmla="*/ 1 w 5612607"/>
              <a:gd name="connsiteY0" fmla="*/ 841916 h 5060271"/>
              <a:gd name="connsiteX1" fmla="*/ 460177 w 5612607"/>
              <a:gd name="connsiteY1" fmla="*/ 0 h 5060271"/>
              <a:gd name="connsiteX2" fmla="*/ 4770691 w 5612607"/>
              <a:gd name="connsiteY2" fmla="*/ 0 h 5060271"/>
              <a:gd name="connsiteX3" fmla="*/ 5612607 w 5612607"/>
              <a:gd name="connsiteY3" fmla="*/ 841916 h 5060271"/>
              <a:gd name="connsiteX4" fmla="*/ 5612607 w 5612607"/>
              <a:gd name="connsiteY4" fmla="*/ 4209478 h 5060271"/>
              <a:gd name="connsiteX5" fmla="*/ 5116920 w 5612607"/>
              <a:gd name="connsiteY5" fmla="*/ 5060271 h 5060271"/>
              <a:gd name="connsiteX6" fmla="*/ 504566 w 5612607"/>
              <a:gd name="connsiteY6" fmla="*/ 5051394 h 5060271"/>
              <a:gd name="connsiteX7" fmla="*/ 1 w 5612607"/>
              <a:gd name="connsiteY7" fmla="*/ 4209478 h 5060271"/>
              <a:gd name="connsiteX8" fmla="*/ 1 w 5612607"/>
              <a:gd name="connsiteY8" fmla="*/ 841916 h 5060271"/>
              <a:gd name="connsiteX0" fmla="*/ 1 w 5612649"/>
              <a:gd name="connsiteY0" fmla="*/ 841916 h 5060271"/>
              <a:gd name="connsiteX1" fmla="*/ 460177 w 5612649"/>
              <a:gd name="connsiteY1" fmla="*/ 0 h 5060271"/>
              <a:gd name="connsiteX2" fmla="*/ 5161309 w 5612649"/>
              <a:gd name="connsiteY2" fmla="*/ 8878 h 5060271"/>
              <a:gd name="connsiteX3" fmla="*/ 5612607 w 5612649"/>
              <a:gd name="connsiteY3" fmla="*/ 841916 h 5060271"/>
              <a:gd name="connsiteX4" fmla="*/ 5612607 w 5612649"/>
              <a:gd name="connsiteY4" fmla="*/ 4209478 h 5060271"/>
              <a:gd name="connsiteX5" fmla="*/ 5116920 w 5612649"/>
              <a:gd name="connsiteY5" fmla="*/ 5060271 h 5060271"/>
              <a:gd name="connsiteX6" fmla="*/ 504566 w 5612649"/>
              <a:gd name="connsiteY6" fmla="*/ 5051394 h 5060271"/>
              <a:gd name="connsiteX7" fmla="*/ 1 w 5612649"/>
              <a:gd name="connsiteY7" fmla="*/ 4209478 h 5060271"/>
              <a:gd name="connsiteX8" fmla="*/ 1 w 5612649"/>
              <a:gd name="connsiteY8" fmla="*/ 841916 h 5060271"/>
              <a:gd name="connsiteX0" fmla="*/ 1 w 5612649"/>
              <a:gd name="connsiteY0" fmla="*/ 699874 h 5060271"/>
              <a:gd name="connsiteX1" fmla="*/ 460177 w 5612649"/>
              <a:gd name="connsiteY1" fmla="*/ 0 h 5060271"/>
              <a:gd name="connsiteX2" fmla="*/ 5161309 w 5612649"/>
              <a:gd name="connsiteY2" fmla="*/ 8878 h 5060271"/>
              <a:gd name="connsiteX3" fmla="*/ 5612607 w 5612649"/>
              <a:gd name="connsiteY3" fmla="*/ 841916 h 5060271"/>
              <a:gd name="connsiteX4" fmla="*/ 5612607 w 5612649"/>
              <a:gd name="connsiteY4" fmla="*/ 4209478 h 5060271"/>
              <a:gd name="connsiteX5" fmla="*/ 5116920 w 5612649"/>
              <a:gd name="connsiteY5" fmla="*/ 5060271 h 5060271"/>
              <a:gd name="connsiteX6" fmla="*/ 504566 w 5612649"/>
              <a:gd name="connsiteY6" fmla="*/ 5051394 h 5060271"/>
              <a:gd name="connsiteX7" fmla="*/ 1 w 5612649"/>
              <a:gd name="connsiteY7" fmla="*/ 4209478 h 5060271"/>
              <a:gd name="connsiteX8" fmla="*/ 1 w 5612649"/>
              <a:gd name="connsiteY8" fmla="*/ 699874 h 5060271"/>
              <a:gd name="connsiteX0" fmla="*/ 1 w 5612649"/>
              <a:gd name="connsiteY0" fmla="*/ 699874 h 5060271"/>
              <a:gd name="connsiteX1" fmla="*/ 460177 w 5612649"/>
              <a:gd name="connsiteY1" fmla="*/ 0 h 5060271"/>
              <a:gd name="connsiteX2" fmla="*/ 5161309 w 5612649"/>
              <a:gd name="connsiteY2" fmla="*/ 8878 h 5060271"/>
              <a:gd name="connsiteX3" fmla="*/ 5612607 w 5612649"/>
              <a:gd name="connsiteY3" fmla="*/ 841916 h 5060271"/>
              <a:gd name="connsiteX4" fmla="*/ 5612607 w 5612649"/>
              <a:gd name="connsiteY4" fmla="*/ 4209478 h 5060271"/>
              <a:gd name="connsiteX5" fmla="*/ 5116920 w 5612649"/>
              <a:gd name="connsiteY5" fmla="*/ 5060271 h 5060271"/>
              <a:gd name="connsiteX6" fmla="*/ 504566 w 5612649"/>
              <a:gd name="connsiteY6" fmla="*/ 5051394 h 5060271"/>
              <a:gd name="connsiteX7" fmla="*/ 1 w 5612649"/>
              <a:gd name="connsiteY7" fmla="*/ 4440297 h 5060271"/>
              <a:gd name="connsiteX8" fmla="*/ 1 w 5612649"/>
              <a:gd name="connsiteY8" fmla="*/ 699874 h 5060271"/>
              <a:gd name="connsiteX0" fmla="*/ 1 w 5621485"/>
              <a:gd name="connsiteY0" fmla="*/ 699874 h 5060271"/>
              <a:gd name="connsiteX1" fmla="*/ 460177 w 5621485"/>
              <a:gd name="connsiteY1" fmla="*/ 0 h 5060271"/>
              <a:gd name="connsiteX2" fmla="*/ 5161309 w 5621485"/>
              <a:gd name="connsiteY2" fmla="*/ 8878 h 5060271"/>
              <a:gd name="connsiteX3" fmla="*/ 5612607 w 5621485"/>
              <a:gd name="connsiteY3" fmla="*/ 841916 h 5060271"/>
              <a:gd name="connsiteX4" fmla="*/ 5621485 w 5621485"/>
              <a:gd name="connsiteY4" fmla="*/ 4537951 h 5060271"/>
              <a:gd name="connsiteX5" fmla="*/ 5116920 w 5621485"/>
              <a:gd name="connsiteY5" fmla="*/ 5060271 h 5060271"/>
              <a:gd name="connsiteX6" fmla="*/ 504566 w 5621485"/>
              <a:gd name="connsiteY6" fmla="*/ 5051394 h 5060271"/>
              <a:gd name="connsiteX7" fmla="*/ 1 w 5621485"/>
              <a:gd name="connsiteY7" fmla="*/ 4440297 h 5060271"/>
              <a:gd name="connsiteX8" fmla="*/ 1 w 5621485"/>
              <a:gd name="connsiteY8" fmla="*/ 699874 h 5060271"/>
              <a:gd name="connsiteX0" fmla="*/ 1 w 5621485"/>
              <a:gd name="connsiteY0" fmla="*/ 699874 h 5060271"/>
              <a:gd name="connsiteX1" fmla="*/ 460177 w 5621485"/>
              <a:gd name="connsiteY1" fmla="*/ 0 h 5060271"/>
              <a:gd name="connsiteX2" fmla="*/ 5205698 w 5621485"/>
              <a:gd name="connsiteY2" fmla="*/ 8878 h 5060271"/>
              <a:gd name="connsiteX3" fmla="*/ 5612607 w 5621485"/>
              <a:gd name="connsiteY3" fmla="*/ 841916 h 5060271"/>
              <a:gd name="connsiteX4" fmla="*/ 5621485 w 5621485"/>
              <a:gd name="connsiteY4" fmla="*/ 4537951 h 5060271"/>
              <a:gd name="connsiteX5" fmla="*/ 5116920 w 5621485"/>
              <a:gd name="connsiteY5" fmla="*/ 5060271 h 5060271"/>
              <a:gd name="connsiteX6" fmla="*/ 504566 w 5621485"/>
              <a:gd name="connsiteY6" fmla="*/ 5051394 h 5060271"/>
              <a:gd name="connsiteX7" fmla="*/ 1 w 5621485"/>
              <a:gd name="connsiteY7" fmla="*/ 4440297 h 5060271"/>
              <a:gd name="connsiteX8" fmla="*/ 1 w 5621485"/>
              <a:gd name="connsiteY8" fmla="*/ 699874 h 5060271"/>
              <a:gd name="connsiteX0" fmla="*/ 1 w 5621485"/>
              <a:gd name="connsiteY0" fmla="*/ 699874 h 5060271"/>
              <a:gd name="connsiteX1" fmla="*/ 460177 w 5621485"/>
              <a:gd name="connsiteY1" fmla="*/ 0 h 5060271"/>
              <a:gd name="connsiteX2" fmla="*/ 5143555 w 5621485"/>
              <a:gd name="connsiteY2" fmla="*/ 0 h 5060271"/>
              <a:gd name="connsiteX3" fmla="*/ 5612607 w 5621485"/>
              <a:gd name="connsiteY3" fmla="*/ 841916 h 5060271"/>
              <a:gd name="connsiteX4" fmla="*/ 5621485 w 5621485"/>
              <a:gd name="connsiteY4" fmla="*/ 4537951 h 5060271"/>
              <a:gd name="connsiteX5" fmla="*/ 5116920 w 5621485"/>
              <a:gd name="connsiteY5" fmla="*/ 5060271 h 5060271"/>
              <a:gd name="connsiteX6" fmla="*/ 504566 w 5621485"/>
              <a:gd name="connsiteY6" fmla="*/ 5051394 h 5060271"/>
              <a:gd name="connsiteX7" fmla="*/ 1 w 5621485"/>
              <a:gd name="connsiteY7" fmla="*/ 4440297 h 5060271"/>
              <a:gd name="connsiteX8" fmla="*/ 1 w 5621485"/>
              <a:gd name="connsiteY8" fmla="*/ 699874 h 5060271"/>
              <a:gd name="connsiteX0" fmla="*/ 1 w 5622338"/>
              <a:gd name="connsiteY0" fmla="*/ 699874 h 5060271"/>
              <a:gd name="connsiteX1" fmla="*/ 460177 w 5622338"/>
              <a:gd name="connsiteY1" fmla="*/ 0 h 5060271"/>
              <a:gd name="connsiteX2" fmla="*/ 5143555 w 5622338"/>
              <a:gd name="connsiteY2" fmla="*/ 0 h 5060271"/>
              <a:gd name="connsiteX3" fmla="*/ 5621484 w 5622338"/>
              <a:gd name="connsiteY3" fmla="*/ 628852 h 5060271"/>
              <a:gd name="connsiteX4" fmla="*/ 5621485 w 5622338"/>
              <a:gd name="connsiteY4" fmla="*/ 4537951 h 5060271"/>
              <a:gd name="connsiteX5" fmla="*/ 5116920 w 5622338"/>
              <a:gd name="connsiteY5" fmla="*/ 5060271 h 5060271"/>
              <a:gd name="connsiteX6" fmla="*/ 504566 w 5622338"/>
              <a:gd name="connsiteY6" fmla="*/ 5051394 h 5060271"/>
              <a:gd name="connsiteX7" fmla="*/ 1 w 5622338"/>
              <a:gd name="connsiteY7" fmla="*/ 4440297 h 5060271"/>
              <a:gd name="connsiteX8" fmla="*/ 1 w 5622338"/>
              <a:gd name="connsiteY8" fmla="*/ 699874 h 506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22338" h="5060271">
                <a:moveTo>
                  <a:pt x="1" y="699874"/>
                </a:moveTo>
                <a:cubicBezTo>
                  <a:pt x="1" y="234897"/>
                  <a:pt x="-4800" y="0"/>
                  <a:pt x="460177" y="0"/>
                </a:cubicBezTo>
                <a:lnTo>
                  <a:pt x="5143555" y="0"/>
                </a:lnTo>
                <a:cubicBezTo>
                  <a:pt x="5608532" y="0"/>
                  <a:pt x="5621484" y="163875"/>
                  <a:pt x="5621484" y="628852"/>
                </a:cubicBezTo>
                <a:cubicBezTo>
                  <a:pt x="5624443" y="1860864"/>
                  <a:pt x="5618526" y="3305939"/>
                  <a:pt x="5621485" y="4537951"/>
                </a:cubicBezTo>
                <a:cubicBezTo>
                  <a:pt x="5621485" y="5002928"/>
                  <a:pt x="5581897" y="5060271"/>
                  <a:pt x="5116920" y="5060271"/>
                </a:cubicBezTo>
                <a:lnTo>
                  <a:pt x="504566" y="5051394"/>
                </a:lnTo>
                <a:cubicBezTo>
                  <a:pt x="39589" y="5051394"/>
                  <a:pt x="1" y="4905274"/>
                  <a:pt x="1" y="4440297"/>
                </a:cubicBezTo>
                <a:lnTo>
                  <a:pt x="1" y="699874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4A6869F-DA46-4F42-A229-C4208DABEAEE}"/>
              </a:ext>
            </a:extLst>
          </p:cNvPr>
          <p:cNvSpPr/>
          <p:nvPr/>
        </p:nvSpPr>
        <p:spPr>
          <a:xfrm>
            <a:off x="482600" y="1127464"/>
            <a:ext cx="5557123" cy="5060271"/>
          </a:xfrm>
          <a:custGeom>
            <a:avLst/>
            <a:gdLst>
              <a:gd name="connsiteX0" fmla="*/ 0 w 5612606"/>
              <a:gd name="connsiteY0" fmla="*/ 841916 h 5051394"/>
              <a:gd name="connsiteX1" fmla="*/ 841916 w 5612606"/>
              <a:gd name="connsiteY1" fmla="*/ 0 h 5051394"/>
              <a:gd name="connsiteX2" fmla="*/ 4770690 w 5612606"/>
              <a:gd name="connsiteY2" fmla="*/ 0 h 5051394"/>
              <a:gd name="connsiteX3" fmla="*/ 5612606 w 5612606"/>
              <a:gd name="connsiteY3" fmla="*/ 841916 h 5051394"/>
              <a:gd name="connsiteX4" fmla="*/ 5612606 w 5612606"/>
              <a:gd name="connsiteY4" fmla="*/ 4209478 h 5051394"/>
              <a:gd name="connsiteX5" fmla="*/ 4770690 w 5612606"/>
              <a:gd name="connsiteY5" fmla="*/ 5051394 h 5051394"/>
              <a:gd name="connsiteX6" fmla="*/ 841916 w 5612606"/>
              <a:gd name="connsiteY6" fmla="*/ 5051394 h 5051394"/>
              <a:gd name="connsiteX7" fmla="*/ 0 w 5612606"/>
              <a:gd name="connsiteY7" fmla="*/ 4209478 h 5051394"/>
              <a:gd name="connsiteX8" fmla="*/ 0 w 5612606"/>
              <a:gd name="connsiteY8" fmla="*/ 841916 h 5051394"/>
              <a:gd name="connsiteX0" fmla="*/ 1 w 5612607"/>
              <a:gd name="connsiteY0" fmla="*/ 841916 h 5051394"/>
              <a:gd name="connsiteX1" fmla="*/ 460177 w 5612607"/>
              <a:gd name="connsiteY1" fmla="*/ 0 h 5051394"/>
              <a:gd name="connsiteX2" fmla="*/ 4770691 w 5612607"/>
              <a:gd name="connsiteY2" fmla="*/ 0 h 5051394"/>
              <a:gd name="connsiteX3" fmla="*/ 5612607 w 5612607"/>
              <a:gd name="connsiteY3" fmla="*/ 841916 h 5051394"/>
              <a:gd name="connsiteX4" fmla="*/ 5612607 w 5612607"/>
              <a:gd name="connsiteY4" fmla="*/ 4209478 h 5051394"/>
              <a:gd name="connsiteX5" fmla="*/ 4770691 w 5612607"/>
              <a:gd name="connsiteY5" fmla="*/ 5051394 h 5051394"/>
              <a:gd name="connsiteX6" fmla="*/ 841917 w 5612607"/>
              <a:gd name="connsiteY6" fmla="*/ 5051394 h 5051394"/>
              <a:gd name="connsiteX7" fmla="*/ 1 w 5612607"/>
              <a:gd name="connsiteY7" fmla="*/ 4209478 h 5051394"/>
              <a:gd name="connsiteX8" fmla="*/ 1 w 5612607"/>
              <a:gd name="connsiteY8" fmla="*/ 841916 h 5051394"/>
              <a:gd name="connsiteX0" fmla="*/ 1 w 5612607"/>
              <a:gd name="connsiteY0" fmla="*/ 841916 h 5051394"/>
              <a:gd name="connsiteX1" fmla="*/ 460177 w 5612607"/>
              <a:gd name="connsiteY1" fmla="*/ 0 h 5051394"/>
              <a:gd name="connsiteX2" fmla="*/ 4770691 w 5612607"/>
              <a:gd name="connsiteY2" fmla="*/ 0 h 5051394"/>
              <a:gd name="connsiteX3" fmla="*/ 5612607 w 5612607"/>
              <a:gd name="connsiteY3" fmla="*/ 841916 h 5051394"/>
              <a:gd name="connsiteX4" fmla="*/ 5612607 w 5612607"/>
              <a:gd name="connsiteY4" fmla="*/ 4209478 h 5051394"/>
              <a:gd name="connsiteX5" fmla="*/ 4770691 w 5612607"/>
              <a:gd name="connsiteY5" fmla="*/ 5051394 h 5051394"/>
              <a:gd name="connsiteX6" fmla="*/ 504566 w 5612607"/>
              <a:gd name="connsiteY6" fmla="*/ 5051394 h 5051394"/>
              <a:gd name="connsiteX7" fmla="*/ 1 w 5612607"/>
              <a:gd name="connsiteY7" fmla="*/ 4209478 h 5051394"/>
              <a:gd name="connsiteX8" fmla="*/ 1 w 5612607"/>
              <a:gd name="connsiteY8" fmla="*/ 841916 h 5051394"/>
              <a:gd name="connsiteX0" fmla="*/ 1 w 5612607"/>
              <a:gd name="connsiteY0" fmla="*/ 841916 h 5060271"/>
              <a:gd name="connsiteX1" fmla="*/ 460177 w 5612607"/>
              <a:gd name="connsiteY1" fmla="*/ 0 h 5060271"/>
              <a:gd name="connsiteX2" fmla="*/ 4770691 w 5612607"/>
              <a:gd name="connsiteY2" fmla="*/ 0 h 5060271"/>
              <a:gd name="connsiteX3" fmla="*/ 5612607 w 5612607"/>
              <a:gd name="connsiteY3" fmla="*/ 841916 h 5060271"/>
              <a:gd name="connsiteX4" fmla="*/ 5612607 w 5612607"/>
              <a:gd name="connsiteY4" fmla="*/ 4209478 h 5060271"/>
              <a:gd name="connsiteX5" fmla="*/ 5116920 w 5612607"/>
              <a:gd name="connsiteY5" fmla="*/ 5060271 h 5060271"/>
              <a:gd name="connsiteX6" fmla="*/ 504566 w 5612607"/>
              <a:gd name="connsiteY6" fmla="*/ 5051394 h 5060271"/>
              <a:gd name="connsiteX7" fmla="*/ 1 w 5612607"/>
              <a:gd name="connsiteY7" fmla="*/ 4209478 h 5060271"/>
              <a:gd name="connsiteX8" fmla="*/ 1 w 5612607"/>
              <a:gd name="connsiteY8" fmla="*/ 841916 h 5060271"/>
              <a:gd name="connsiteX0" fmla="*/ 1 w 5612649"/>
              <a:gd name="connsiteY0" fmla="*/ 841916 h 5060271"/>
              <a:gd name="connsiteX1" fmla="*/ 460177 w 5612649"/>
              <a:gd name="connsiteY1" fmla="*/ 0 h 5060271"/>
              <a:gd name="connsiteX2" fmla="*/ 5161309 w 5612649"/>
              <a:gd name="connsiteY2" fmla="*/ 8878 h 5060271"/>
              <a:gd name="connsiteX3" fmla="*/ 5612607 w 5612649"/>
              <a:gd name="connsiteY3" fmla="*/ 841916 h 5060271"/>
              <a:gd name="connsiteX4" fmla="*/ 5612607 w 5612649"/>
              <a:gd name="connsiteY4" fmla="*/ 4209478 h 5060271"/>
              <a:gd name="connsiteX5" fmla="*/ 5116920 w 5612649"/>
              <a:gd name="connsiteY5" fmla="*/ 5060271 h 5060271"/>
              <a:gd name="connsiteX6" fmla="*/ 504566 w 5612649"/>
              <a:gd name="connsiteY6" fmla="*/ 5051394 h 5060271"/>
              <a:gd name="connsiteX7" fmla="*/ 1 w 5612649"/>
              <a:gd name="connsiteY7" fmla="*/ 4209478 h 5060271"/>
              <a:gd name="connsiteX8" fmla="*/ 1 w 5612649"/>
              <a:gd name="connsiteY8" fmla="*/ 841916 h 5060271"/>
              <a:gd name="connsiteX0" fmla="*/ 1 w 5612649"/>
              <a:gd name="connsiteY0" fmla="*/ 699874 h 5060271"/>
              <a:gd name="connsiteX1" fmla="*/ 460177 w 5612649"/>
              <a:gd name="connsiteY1" fmla="*/ 0 h 5060271"/>
              <a:gd name="connsiteX2" fmla="*/ 5161309 w 5612649"/>
              <a:gd name="connsiteY2" fmla="*/ 8878 h 5060271"/>
              <a:gd name="connsiteX3" fmla="*/ 5612607 w 5612649"/>
              <a:gd name="connsiteY3" fmla="*/ 841916 h 5060271"/>
              <a:gd name="connsiteX4" fmla="*/ 5612607 w 5612649"/>
              <a:gd name="connsiteY4" fmla="*/ 4209478 h 5060271"/>
              <a:gd name="connsiteX5" fmla="*/ 5116920 w 5612649"/>
              <a:gd name="connsiteY5" fmla="*/ 5060271 h 5060271"/>
              <a:gd name="connsiteX6" fmla="*/ 504566 w 5612649"/>
              <a:gd name="connsiteY6" fmla="*/ 5051394 h 5060271"/>
              <a:gd name="connsiteX7" fmla="*/ 1 w 5612649"/>
              <a:gd name="connsiteY7" fmla="*/ 4209478 h 5060271"/>
              <a:gd name="connsiteX8" fmla="*/ 1 w 5612649"/>
              <a:gd name="connsiteY8" fmla="*/ 699874 h 5060271"/>
              <a:gd name="connsiteX0" fmla="*/ 1 w 5612649"/>
              <a:gd name="connsiteY0" fmla="*/ 699874 h 5060271"/>
              <a:gd name="connsiteX1" fmla="*/ 460177 w 5612649"/>
              <a:gd name="connsiteY1" fmla="*/ 0 h 5060271"/>
              <a:gd name="connsiteX2" fmla="*/ 5161309 w 5612649"/>
              <a:gd name="connsiteY2" fmla="*/ 8878 h 5060271"/>
              <a:gd name="connsiteX3" fmla="*/ 5612607 w 5612649"/>
              <a:gd name="connsiteY3" fmla="*/ 841916 h 5060271"/>
              <a:gd name="connsiteX4" fmla="*/ 5612607 w 5612649"/>
              <a:gd name="connsiteY4" fmla="*/ 4209478 h 5060271"/>
              <a:gd name="connsiteX5" fmla="*/ 5116920 w 5612649"/>
              <a:gd name="connsiteY5" fmla="*/ 5060271 h 5060271"/>
              <a:gd name="connsiteX6" fmla="*/ 504566 w 5612649"/>
              <a:gd name="connsiteY6" fmla="*/ 5051394 h 5060271"/>
              <a:gd name="connsiteX7" fmla="*/ 1 w 5612649"/>
              <a:gd name="connsiteY7" fmla="*/ 4440297 h 5060271"/>
              <a:gd name="connsiteX8" fmla="*/ 1 w 5612649"/>
              <a:gd name="connsiteY8" fmla="*/ 699874 h 5060271"/>
              <a:gd name="connsiteX0" fmla="*/ 1 w 5621485"/>
              <a:gd name="connsiteY0" fmla="*/ 699874 h 5060271"/>
              <a:gd name="connsiteX1" fmla="*/ 460177 w 5621485"/>
              <a:gd name="connsiteY1" fmla="*/ 0 h 5060271"/>
              <a:gd name="connsiteX2" fmla="*/ 5161309 w 5621485"/>
              <a:gd name="connsiteY2" fmla="*/ 8878 h 5060271"/>
              <a:gd name="connsiteX3" fmla="*/ 5612607 w 5621485"/>
              <a:gd name="connsiteY3" fmla="*/ 841916 h 5060271"/>
              <a:gd name="connsiteX4" fmla="*/ 5621485 w 5621485"/>
              <a:gd name="connsiteY4" fmla="*/ 4537951 h 5060271"/>
              <a:gd name="connsiteX5" fmla="*/ 5116920 w 5621485"/>
              <a:gd name="connsiteY5" fmla="*/ 5060271 h 5060271"/>
              <a:gd name="connsiteX6" fmla="*/ 504566 w 5621485"/>
              <a:gd name="connsiteY6" fmla="*/ 5051394 h 5060271"/>
              <a:gd name="connsiteX7" fmla="*/ 1 w 5621485"/>
              <a:gd name="connsiteY7" fmla="*/ 4440297 h 5060271"/>
              <a:gd name="connsiteX8" fmla="*/ 1 w 5621485"/>
              <a:gd name="connsiteY8" fmla="*/ 699874 h 5060271"/>
              <a:gd name="connsiteX0" fmla="*/ 1 w 5621485"/>
              <a:gd name="connsiteY0" fmla="*/ 699874 h 5060271"/>
              <a:gd name="connsiteX1" fmla="*/ 460177 w 5621485"/>
              <a:gd name="connsiteY1" fmla="*/ 0 h 5060271"/>
              <a:gd name="connsiteX2" fmla="*/ 5205698 w 5621485"/>
              <a:gd name="connsiteY2" fmla="*/ 8878 h 5060271"/>
              <a:gd name="connsiteX3" fmla="*/ 5612607 w 5621485"/>
              <a:gd name="connsiteY3" fmla="*/ 841916 h 5060271"/>
              <a:gd name="connsiteX4" fmla="*/ 5621485 w 5621485"/>
              <a:gd name="connsiteY4" fmla="*/ 4537951 h 5060271"/>
              <a:gd name="connsiteX5" fmla="*/ 5116920 w 5621485"/>
              <a:gd name="connsiteY5" fmla="*/ 5060271 h 5060271"/>
              <a:gd name="connsiteX6" fmla="*/ 504566 w 5621485"/>
              <a:gd name="connsiteY6" fmla="*/ 5051394 h 5060271"/>
              <a:gd name="connsiteX7" fmla="*/ 1 w 5621485"/>
              <a:gd name="connsiteY7" fmla="*/ 4440297 h 5060271"/>
              <a:gd name="connsiteX8" fmla="*/ 1 w 5621485"/>
              <a:gd name="connsiteY8" fmla="*/ 699874 h 5060271"/>
              <a:gd name="connsiteX0" fmla="*/ 1 w 5621485"/>
              <a:gd name="connsiteY0" fmla="*/ 699874 h 5060271"/>
              <a:gd name="connsiteX1" fmla="*/ 460177 w 5621485"/>
              <a:gd name="connsiteY1" fmla="*/ 0 h 5060271"/>
              <a:gd name="connsiteX2" fmla="*/ 5143555 w 5621485"/>
              <a:gd name="connsiteY2" fmla="*/ 0 h 5060271"/>
              <a:gd name="connsiteX3" fmla="*/ 5612607 w 5621485"/>
              <a:gd name="connsiteY3" fmla="*/ 841916 h 5060271"/>
              <a:gd name="connsiteX4" fmla="*/ 5621485 w 5621485"/>
              <a:gd name="connsiteY4" fmla="*/ 4537951 h 5060271"/>
              <a:gd name="connsiteX5" fmla="*/ 5116920 w 5621485"/>
              <a:gd name="connsiteY5" fmla="*/ 5060271 h 5060271"/>
              <a:gd name="connsiteX6" fmla="*/ 504566 w 5621485"/>
              <a:gd name="connsiteY6" fmla="*/ 5051394 h 5060271"/>
              <a:gd name="connsiteX7" fmla="*/ 1 w 5621485"/>
              <a:gd name="connsiteY7" fmla="*/ 4440297 h 5060271"/>
              <a:gd name="connsiteX8" fmla="*/ 1 w 5621485"/>
              <a:gd name="connsiteY8" fmla="*/ 699874 h 5060271"/>
              <a:gd name="connsiteX0" fmla="*/ 1 w 5622338"/>
              <a:gd name="connsiteY0" fmla="*/ 699874 h 5060271"/>
              <a:gd name="connsiteX1" fmla="*/ 460177 w 5622338"/>
              <a:gd name="connsiteY1" fmla="*/ 0 h 5060271"/>
              <a:gd name="connsiteX2" fmla="*/ 5143555 w 5622338"/>
              <a:gd name="connsiteY2" fmla="*/ 0 h 5060271"/>
              <a:gd name="connsiteX3" fmla="*/ 5621484 w 5622338"/>
              <a:gd name="connsiteY3" fmla="*/ 628852 h 5060271"/>
              <a:gd name="connsiteX4" fmla="*/ 5621485 w 5622338"/>
              <a:gd name="connsiteY4" fmla="*/ 4537951 h 5060271"/>
              <a:gd name="connsiteX5" fmla="*/ 5116920 w 5622338"/>
              <a:gd name="connsiteY5" fmla="*/ 5060271 h 5060271"/>
              <a:gd name="connsiteX6" fmla="*/ 504566 w 5622338"/>
              <a:gd name="connsiteY6" fmla="*/ 5051394 h 5060271"/>
              <a:gd name="connsiteX7" fmla="*/ 1 w 5622338"/>
              <a:gd name="connsiteY7" fmla="*/ 4440297 h 5060271"/>
              <a:gd name="connsiteX8" fmla="*/ 1 w 5622338"/>
              <a:gd name="connsiteY8" fmla="*/ 699874 h 506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22338" h="5060271">
                <a:moveTo>
                  <a:pt x="1" y="699874"/>
                </a:moveTo>
                <a:cubicBezTo>
                  <a:pt x="1" y="234897"/>
                  <a:pt x="-4800" y="0"/>
                  <a:pt x="460177" y="0"/>
                </a:cubicBezTo>
                <a:lnTo>
                  <a:pt x="5143555" y="0"/>
                </a:lnTo>
                <a:cubicBezTo>
                  <a:pt x="5608532" y="0"/>
                  <a:pt x="5621484" y="163875"/>
                  <a:pt x="5621484" y="628852"/>
                </a:cubicBezTo>
                <a:cubicBezTo>
                  <a:pt x="5624443" y="1860864"/>
                  <a:pt x="5618526" y="3305939"/>
                  <a:pt x="5621485" y="4537951"/>
                </a:cubicBezTo>
                <a:cubicBezTo>
                  <a:pt x="5621485" y="5002928"/>
                  <a:pt x="5581897" y="5060271"/>
                  <a:pt x="5116920" y="5060271"/>
                </a:cubicBezTo>
                <a:lnTo>
                  <a:pt x="504566" y="5051394"/>
                </a:lnTo>
                <a:cubicBezTo>
                  <a:pt x="39589" y="5051394"/>
                  <a:pt x="1" y="4905274"/>
                  <a:pt x="1" y="4440297"/>
                </a:cubicBezTo>
                <a:lnTo>
                  <a:pt x="1" y="699874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2EB5BA6-F4DC-4593-BC68-8708C55AA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основности шихты и расчет расхода известняка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4934862-F957-437D-B38B-B359DB3D3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1336676"/>
            <a:ext cx="5483194" cy="421104"/>
          </a:xfrm>
        </p:spPr>
        <p:txBody>
          <a:bodyPr>
            <a:noAutofit/>
          </a:bodyPr>
          <a:lstStyle/>
          <a:p>
            <a:pPr algn="just"/>
            <a:r>
              <a:rPr lang="ru-RU" sz="1600" dirty="0"/>
              <a:t>Основность шихты рассчитывается следующим образом: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29AAE5-8DD0-46BA-84C5-77D901E8A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803" y="2178254"/>
            <a:ext cx="2014789" cy="968649"/>
          </a:xfrm>
          <a:prstGeom prst="rect">
            <a:avLst/>
          </a:prstGeom>
        </p:spPr>
      </p:pic>
      <p:sp>
        <p:nvSpPr>
          <p:cNvPr id="6" name="Объект 3">
            <a:extLst>
              <a:ext uri="{FF2B5EF4-FFF2-40B4-BE49-F238E27FC236}">
                <a16:creationId xmlns:a16="http://schemas.microsoft.com/office/drawing/2014/main" id="{7AE94CCB-F5CA-4069-8590-0982EF49A842}"/>
              </a:ext>
            </a:extLst>
          </p:cNvPr>
          <p:cNvSpPr txBox="1">
            <a:spLocks/>
          </p:cNvSpPr>
          <p:nvPr/>
        </p:nvSpPr>
        <p:spPr>
          <a:xfrm>
            <a:off x="482601" y="3228361"/>
            <a:ext cx="5612606" cy="968650"/>
          </a:xfrm>
          <a:prstGeom prst="rect">
            <a:avLst/>
          </a:prstGeom>
        </p:spPr>
        <p:txBody>
          <a:bodyPr vert="horz" lIns="117226" tIns="58613" rIns="117226" bIns="58613" rtlCol="0">
            <a:normAutofit/>
          </a:bodyPr>
          <a:lstStyle>
            <a:lvl1pPr marL="2036" indent="-2036" algn="l" defTabSz="1172261" rtl="0" eaLnBrk="1" latinLnBrk="0" hangingPunct="1">
              <a:spcBef>
                <a:spcPct val="20000"/>
              </a:spcBef>
              <a:buFont typeface="Arial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1985" indent="-4070" algn="l" defTabSz="1172261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3744" indent="2036" algn="l" defTabSz="1172261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051456" indent="-293065" algn="l" defTabSz="1172261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7587" indent="-293065" algn="l" defTabSz="1172261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23717" indent="-293065" algn="l" defTabSz="11722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09848" indent="-293065" algn="l" defTabSz="11722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95978" indent="-293065" algn="l" defTabSz="11722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982108" indent="-293065" algn="l" defTabSz="11722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где:</a:t>
            </a:r>
          </a:p>
          <a:p>
            <a:r>
              <a:rPr lang="en-US" sz="1600" dirty="0" err="1"/>
              <a:t>K</a:t>
            </a:r>
            <a:r>
              <a:rPr lang="en-US" sz="1600" baseline="-25000" dirty="0" err="1"/>
              <a:t>CaO</a:t>
            </a:r>
            <a:r>
              <a:rPr lang="en-US" sz="1600" baseline="-25000" dirty="0"/>
              <a:t> </a:t>
            </a:r>
            <a:r>
              <a:rPr lang="ru-RU" sz="1600" dirty="0"/>
              <a:t>– содержание </a:t>
            </a:r>
            <a:r>
              <a:rPr lang="en-US" sz="1600" dirty="0" err="1"/>
              <a:t>CaO</a:t>
            </a:r>
            <a:r>
              <a:rPr lang="en-US" sz="1600" dirty="0"/>
              <a:t> </a:t>
            </a:r>
            <a:r>
              <a:rPr lang="ru-RU" sz="1600" dirty="0"/>
              <a:t>в шихте,</a:t>
            </a:r>
          </a:p>
          <a:p>
            <a:r>
              <a:rPr lang="en-US" sz="1600" dirty="0" err="1"/>
              <a:t>K</a:t>
            </a:r>
            <a:r>
              <a:rPr lang="en-US" sz="1600" baseline="-25000" dirty="0" err="1"/>
              <a:t>SiO</a:t>
            </a:r>
            <a:r>
              <a:rPr lang="ru-RU" sz="1600" baseline="-25000" dirty="0"/>
              <a:t>2 </a:t>
            </a:r>
            <a:r>
              <a:rPr lang="ru-RU" sz="1600" dirty="0"/>
              <a:t> – содержание </a:t>
            </a:r>
            <a:r>
              <a:rPr lang="en-US" sz="1600" dirty="0" err="1"/>
              <a:t>SiO</a:t>
            </a:r>
            <a:r>
              <a:rPr lang="ru-RU" sz="1600" baseline="-25000" dirty="0"/>
              <a:t>2</a:t>
            </a:r>
            <a:r>
              <a:rPr lang="ru-RU" sz="1600" dirty="0"/>
              <a:t> в шихте</a:t>
            </a:r>
          </a:p>
        </p:txBody>
      </p:sp>
      <p:sp>
        <p:nvSpPr>
          <p:cNvPr id="10" name="Объект 3">
            <a:extLst>
              <a:ext uri="{FF2B5EF4-FFF2-40B4-BE49-F238E27FC236}">
                <a16:creationId xmlns:a16="http://schemas.microsoft.com/office/drawing/2014/main" id="{884E2D26-FAD0-406E-900C-1E83B7CDA252}"/>
              </a:ext>
            </a:extLst>
          </p:cNvPr>
          <p:cNvSpPr txBox="1">
            <a:spLocks/>
          </p:cNvSpPr>
          <p:nvPr/>
        </p:nvSpPr>
        <p:spPr>
          <a:xfrm>
            <a:off x="6095207" y="1336677"/>
            <a:ext cx="5733305" cy="592278"/>
          </a:xfrm>
          <a:prstGeom prst="rect">
            <a:avLst/>
          </a:prstGeom>
        </p:spPr>
        <p:txBody>
          <a:bodyPr vert="horz" lIns="117226" tIns="58613" rIns="117226" bIns="58613" rtlCol="0">
            <a:normAutofit lnSpcReduction="10000"/>
          </a:bodyPr>
          <a:lstStyle>
            <a:lvl1pPr marL="2036" indent="-2036" algn="l" defTabSz="1172261" rtl="0" eaLnBrk="1" latinLnBrk="0" hangingPunct="1">
              <a:spcBef>
                <a:spcPct val="20000"/>
              </a:spcBef>
              <a:buFont typeface="Arial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915" indent="0" algn="l" defTabSz="1172261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5829" indent="2036" algn="l" defTabSz="1172261" rtl="0" eaLnBrk="1" latinLnBrk="0" hangingPunct="1">
              <a:spcBef>
                <a:spcPct val="20000"/>
              </a:spcBef>
              <a:buFont typeface="Arial" pitchFamily="34" charset="0"/>
              <a:buNone/>
              <a:tabLst/>
              <a:defRPr sz="15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2051456" indent="-293065" algn="l" defTabSz="1172261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7587" indent="-293065" algn="l" defTabSz="1172261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23717" indent="-293065" algn="l" defTabSz="11722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09848" indent="-293065" algn="l" defTabSz="11722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95978" indent="-293065" algn="l" defTabSz="11722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982108" indent="-293065" algn="l" defTabSz="11722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600" dirty="0"/>
              <a:t>Рекомендуемый расчетный расход известняка рассчитывается по следующей формуле: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57E5EA3-35F9-44B8-A7FF-31305E97D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412" y="1935514"/>
            <a:ext cx="3046894" cy="703129"/>
          </a:xfrm>
          <a:prstGeom prst="rect">
            <a:avLst/>
          </a:prstGeom>
        </p:spPr>
      </p:pic>
      <p:sp>
        <p:nvSpPr>
          <p:cNvPr id="14" name="Объект 3">
            <a:extLst>
              <a:ext uri="{FF2B5EF4-FFF2-40B4-BE49-F238E27FC236}">
                <a16:creationId xmlns:a16="http://schemas.microsoft.com/office/drawing/2014/main" id="{33CD9A6B-B786-436B-9B12-D721B49DCA2C}"/>
              </a:ext>
            </a:extLst>
          </p:cNvPr>
          <p:cNvSpPr txBox="1">
            <a:spLocks/>
          </p:cNvSpPr>
          <p:nvPr/>
        </p:nvSpPr>
        <p:spPr>
          <a:xfrm>
            <a:off x="6267242" y="2537292"/>
            <a:ext cx="5440570" cy="1881323"/>
          </a:xfrm>
          <a:prstGeom prst="rect">
            <a:avLst/>
          </a:prstGeom>
        </p:spPr>
        <p:txBody>
          <a:bodyPr vert="horz" lIns="117226" tIns="58613" rIns="117226" bIns="58613" rtlCol="0">
            <a:normAutofit/>
          </a:bodyPr>
          <a:lstStyle>
            <a:lvl1pPr marL="2036" indent="-2036" algn="l" defTabSz="1172261" rtl="0" eaLnBrk="1" latinLnBrk="0" hangingPunct="1">
              <a:spcBef>
                <a:spcPct val="20000"/>
              </a:spcBef>
              <a:buFont typeface="Arial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1985" indent="-4070" algn="l" defTabSz="1172261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3744" indent="2036" algn="l" defTabSz="1172261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051456" indent="-293065" algn="l" defTabSz="1172261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7587" indent="-293065" algn="l" defTabSz="1172261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23717" indent="-293065" algn="l" defTabSz="11722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09848" indent="-293065" algn="l" defTabSz="11722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95978" indent="-293065" algn="l" defTabSz="11722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982108" indent="-293065" algn="l" defTabSz="117226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600" dirty="0"/>
              <a:t>, где</a:t>
            </a:r>
          </a:p>
          <a:p>
            <a:pPr algn="just"/>
            <a:r>
              <a:rPr lang="ru-RU" sz="1600" dirty="0" err="1"/>
              <a:t>ИК</a:t>
            </a:r>
            <a:r>
              <a:rPr lang="ru-RU" sz="1600" baseline="-25000" dirty="0" err="1"/>
              <a:t>ф</a:t>
            </a:r>
            <a:r>
              <a:rPr lang="ru-RU" sz="1600" baseline="-25000" dirty="0"/>
              <a:t> </a:t>
            </a:r>
            <a:r>
              <a:rPr lang="ru-RU" sz="1600" dirty="0"/>
              <a:t>- расход известняка фактический</a:t>
            </a:r>
          </a:p>
          <a:p>
            <a:pPr algn="just"/>
            <a:r>
              <a:rPr lang="ru-RU" sz="1600" dirty="0" err="1"/>
              <a:t>ИК</a:t>
            </a:r>
            <a:r>
              <a:rPr lang="ru-RU" sz="1600" baseline="-25000" dirty="0" err="1"/>
              <a:t>корр</a:t>
            </a:r>
            <a:r>
              <a:rPr lang="ru-RU" sz="1600" dirty="0"/>
              <a:t> – требуемая корректировка известняка</a:t>
            </a:r>
          </a:p>
          <a:p>
            <a:pPr algn="just"/>
            <a:r>
              <a:rPr lang="ru-RU" sz="1600" dirty="0"/>
              <a:t>Требуемая корректировка известняка рассчитывается по следующей формуле:</a:t>
            </a:r>
            <a:endParaRPr lang="ru-RU" dirty="0"/>
          </a:p>
          <a:p>
            <a:pPr algn="just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D2BBC54-0BE2-45C3-9C9E-8794EF9EB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131" y="4300601"/>
            <a:ext cx="4043455" cy="1008000"/>
          </a:xfrm>
          <a:prstGeom prst="rect">
            <a:avLst/>
          </a:prstGeom>
        </p:spPr>
      </p:pic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F916D603-C095-4594-92DC-DF90C43AC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7376" y="6295578"/>
            <a:ext cx="751136" cy="365210"/>
          </a:xfrm>
        </p:spPr>
        <p:txBody>
          <a:bodyPr/>
          <a:lstStyle/>
          <a:p>
            <a:fld id="{5D7832B6-5904-45E4-8CB6-550B2F57E544}" type="slidenum">
              <a:rPr lang="ru-RU" sz="2800" b="1" smtClean="0"/>
              <a:pPr/>
              <a:t>10</a:t>
            </a:fld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251374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028DB7F-E635-43AB-A7EA-5E965E392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причин отклонения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A312CD7-9CF6-4754-82F3-29562C264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336675"/>
            <a:ext cx="11225213" cy="4791075"/>
          </a:xfrm>
        </p:spPr>
        <p:txBody>
          <a:bodyPr>
            <a:normAutofit/>
          </a:bodyPr>
          <a:lstStyle/>
          <a:p>
            <a:pPr algn="just"/>
            <a:r>
              <a:rPr lang="ru-RU" sz="1600" dirty="0"/>
              <a:t>Причины отклонений основности агломерационной шихты бывают трех видов: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ru-RU" sz="1600" dirty="0"/>
              <a:t>отклонение дозы компонента шихты;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ru-RU" sz="1600" dirty="0"/>
              <a:t>отклонение за счет поступления смеси материалов;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ru-RU" sz="1600" dirty="0"/>
              <a:t>отклонение за счет изменения хим. состава компонента шихты.</a:t>
            </a:r>
          </a:p>
          <a:p>
            <a:pPr algn="just"/>
            <a:r>
              <a:rPr lang="ru-RU" sz="1600" dirty="0"/>
              <a:t>Основными обозначениями для данной математической модели являются:</a:t>
            </a:r>
          </a:p>
          <a:p>
            <a:pPr algn="just"/>
            <a:r>
              <a:rPr lang="en-US" sz="1600" dirty="0"/>
              <a:t>L</a:t>
            </a:r>
            <a:r>
              <a:rPr lang="ru-RU" sz="1600" baseline="-25000" dirty="0"/>
              <a:t>б</a:t>
            </a:r>
            <a:r>
              <a:rPr lang="ru-RU" sz="1600" dirty="0"/>
              <a:t> – содержание элемента в базовом агломерате, %;</a:t>
            </a:r>
          </a:p>
          <a:p>
            <a:pPr algn="just"/>
            <a:r>
              <a:rPr lang="en-US" sz="1600" dirty="0"/>
              <a:t>L</a:t>
            </a:r>
            <a:r>
              <a:rPr lang="ru-RU" sz="1600" baseline="-25000" dirty="0"/>
              <a:t>х</a:t>
            </a:r>
            <a:r>
              <a:rPr lang="ru-RU" sz="1600" dirty="0"/>
              <a:t> – содержание элемента в подбираемом материале, %;</a:t>
            </a:r>
          </a:p>
          <a:p>
            <a:pPr algn="just"/>
            <a:r>
              <a:rPr lang="en-US" sz="1600" dirty="0"/>
              <a:t>L</a:t>
            </a:r>
            <a:r>
              <a:rPr lang="ru-RU" sz="1600" baseline="-25000" dirty="0" err="1"/>
              <a:t>бр</a:t>
            </a:r>
            <a:r>
              <a:rPr lang="ru-RU" sz="1600" dirty="0"/>
              <a:t> – содержание элемента в бракованном агломерате, %;</a:t>
            </a:r>
          </a:p>
          <a:p>
            <a:pPr algn="just"/>
            <a:r>
              <a:rPr lang="en-US" sz="1600" dirty="0"/>
              <a:t>a</a:t>
            </a:r>
            <a:r>
              <a:rPr lang="en-US" sz="1600" baseline="-25000" dirty="0"/>
              <a:t>x</a:t>
            </a:r>
            <a:r>
              <a:rPr lang="ru-RU" sz="1600" dirty="0"/>
              <a:t> – коэффициент перехода подбираемого материала </a:t>
            </a:r>
            <a:r>
              <a:rPr lang="en-US" sz="1600" dirty="0"/>
              <a:t>X</a:t>
            </a:r>
            <a:r>
              <a:rPr lang="ru-RU" sz="1600" dirty="0"/>
              <a:t> в агломерат (принимается за 1) 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11EFA9-F603-4663-A6CE-AADE5724D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209" y="4530836"/>
            <a:ext cx="5277994" cy="1403865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30D3C9-AAA1-43E3-9949-124E6D29B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7376" y="6295578"/>
            <a:ext cx="751136" cy="365210"/>
          </a:xfrm>
        </p:spPr>
        <p:txBody>
          <a:bodyPr/>
          <a:lstStyle/>
          <a:p>
            <a:fld id="{5D7832B6-5904-45E4-8CB6-550B2F57E544}" type="slidenum">
              <a:rPr lang="ru-RU" sz="2800" b="1" smtClean="0"/>
              <a:pPr/>
              <a:t>11</a:t>
            </a:fld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1719201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E54862-960C-44C1-A7C3-B20F48C5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управления составом агломерационной шихты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061FAEAE-084B-443F-B2E7-6933FE73C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7376" y="6295578"/>
            <a:ext cx="751136" cy="365210"/>
          </a:xfrm>
        </p:spPr>
        <p:txBody>
          <a:bodyPr/>
          <a:lstStyle/>
          <a:p>
            <a:fld id="{5D7832B6-5904-45E4-8CB6-550B2F57E544}" type="slidenum">
              <a:rPr lang="ru-RU" sz="2800" b="1" smtClean="0"/>
              <a:pPr/>
              <a:t>12</a:t>
            </a:fld>
            <a:endParaRPr lang="ru-RU"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583DDF-B31E-4EDC-AA88-D59FE40536D6}"/>
              </a:ext>
            </a:extLst>
          </p:cNvPr>
          <p:cNvSpPr txBox="1"/>
          <p:nvPr/>
        </p:nvSpPr>
        <p:spPr>
          <a:xfrm>
            <a:off x="1021733" y="6304830"/>
            <a:ext cx="3870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Алгоритм анализа и управления составом агломерационной шихты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150C93-0650-46B0-AAAE-A1A8F936CB7B}"/>
              </a:ext>
            </a:extLst>
          </p:cNvPr>
          <p:cNvSpPr txBox="1"/>
          <p:nvPr/>
        </p:nvSpPr>
        <p:spPr>
          <a:xfrm>
            <a:off x="6589864" y="6339683"/>
            <a:ext cx="3870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Алгоритм расчета влияния причины отклонения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4AB530A-8BC1-4388-8769-6FEBB0049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55" y="1170283"/>
            <a:ext cx="4386370" cy="513454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D09C3BA-4AD8-4394-ABD9-CEFDB40C76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138" y="1420428"/>
            <a:ext cx="5491048" cy="467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681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DA371763-E3A4-4045-A18B-D44313C2F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60" y="2980614"/>
            <a:ext cx="11224291" cy="898359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ru-RU" altLang="ru-RU" sz="2800" b="1" dirty="0">
                <a:solidFill>
                  <a:srgbClr val="C00000"/>
                </a:solidFill>
              </a:rPr>
              <a:t>ЗАДАЧА 3. ПРОЕКТИРОВАНИЕ ПРОГРАММНОГО ОБЕСПЕЧЕНИЯ АНАЛИЗА И УПРАВЛЕНИЯ СОСТАВОМ АГЛОМЕРАЦИОННОЙ ШИХТЫ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37002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DA86D028-D842-4A27-AB8E-4BB75B221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62" y="1336129"/>
            <a:ext cx="9228544" cy="4791453"/>
          </a:xfrm>
        </p:spPr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Модель жизненного цикла: </a:t>
            </a:r>
            <a:r>
              <a:rPr lang="en-US" dirty="0"/>
              <a:t>Agile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ru-RU" dirty="0">
                <a:solidFill>
                  <a:schemeClr val="accent2"/>
                </a:solidFill>
              </a:rPr>
              <a:t>Подход к проектированию: </a:t>
            </a:r>
            <a:r>
              <a:rPr lang="ru-RU" dirty="0"/>
              <a:t>Объектно-ориентированный подход</a:t>
            </a:r>
            <a:endParaRPr lang="en-US" dirty="0"/>
          </a:p>
          <a:p>
            <a:r>
              <a:rPr lang="ru-RU" dirty="0">
                <a:solidFill>
                  <a:schemeClr val="accent2"/>
                </a:solidFill>
              </a:rPr>
              <a:t>Язык программирования: </a:t>
            </a:r>
            <a:r>
              <a:rPr lang="en-US" dirty="0"/>
              <a:t>C#</a:t>
            </a:r>
            <a:endParaRPr lang="ru-RU" dirty="0"/>
          </a:p>
          <a:p>
            <a:r>
              <a:rPr lang="ru-RU" dirty="0">
                <a:solidFill>
                  <a:schemeClr val="accent2"/>
                </a:solidFill>
              </a:rPr>
              <a:t>База данных: </a:t>
            </a:r>
            <a:r>
              <a:rPr lang="en-US" dirty="0"/>
              <a:t>Oracle SQL</a:t>
            </a:r>
          </a:p>
          <a:p>
            <a:r>
              <a:rPr lang="ru-RU" dirty="0">
                <a:solidFill>
                  <a:schemeClr val="accent2"/>
                </a:solidFill>
              </a:rPr>
              <a:t>Пользовательский интерфейс: </a:t>
            </a:r>
            <a:r>
              <a:rPr lang="en-US" dirty="0"/>
              <a:t>WPF</a:t>
            </a:r>
          </a:p>
          <a:p>
            <a:endParaRPr lang="en-US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8F6C0D6-72B9-4A48-9C8C-C62280F6E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dirty="0">
                <a:solidFill>
                  <a:srgbClr val="C00000"/>
                </a:solidFill>
              </a:rPr>
              <a:t>Выбор подхода к проектированию и инструментальных средств </a:t>
            </a:r>
            <a:br>
              <a:rPr lang="ru-RU" altLang="ru-RU" sz="3200" dirty="0">
                <a:solidFill>
                  <a:srgbClr val="C00000"/>
                </a:solidFill>
              </a:rPr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BC65A8D-D47A-43E8-BBBF-5BD043FF1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69" y="4308046"/>
            <a:ext cx="2444507" cy="181953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80F31A-3823-43A5-BDEF-B3BDF6904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583" y="4308046"/>
            <a:ext cx="1797972" cy="1722736"/>
          </a:xfrm>
          <a:prstGeom prst="rect">
            <a:avLst/>
          </a:prstGeom>
        </p:spPr>
      </p:pic>
      <p:pic>
        <p:nvPicPr>
          <p:cNvPr id="2050" name="Picture 2" descr="C# | Викии Вики | Fandom">
            <a:extLst>
              <a:ext uri="{FF2B5EF4-FFF2-40B4-BE49-F238E27FC236}">
                <a16:creationId xmlns:a16="http://schemas.microsoft.com/office/drawing/2014/main" id="{6516893A-BDD7-409F-BD97-78CDA03F9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859" y="4318828"/>
            <a:ext cx="1797972" cy="1797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AD0CE7B-C9AB-4FAA-A9D6-BF39806D43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5679" y="4319169"/>
            <a:ext cx="3042868" cy="1711613"/>
          </a:xfrm>
          <a:prstGeom prst="rect">
            <a:avLst/>
          </a:prstGeom>
        </p:spPr>
      </p:pic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0A1A974B-9751-459E-96CA-BE865F4F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7376" y="6295578"/>
            <a:ext cx="751136" cy="365210"/>
          </a:xfrm>
        </p:spPr>
        <p:txBody>
          <a:bodyPr/>
          <a:lstStyle/>
          <a:p>
            <a:fld id="{5D7832B6-5904-45E4-8CB6-550B2F57E544}" type="slidenum">
              <a:rPr lang="ru-RU" sz="2800" b="1" smtClean="0"/>
              <a:pPr/>
              <a:t>14</a:t>
            </a:fld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3996764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9ED615D-7760-4EDE-ADB5-FC98C58F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вариантов использования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1BDCC6C7-5A0C-4818-9033-E27446AEF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7376" y="6295578"/>
            <a:ext cx="751136" cy="365210"/>
          </a:xfrm>
        </p:spPr>
        <p:txBody>
          <a:bodyPr/>
          <a:lstStyle/>
          <a:p>
            <a:fld id="{5D7832B6-5904-45E4-8CB6-550B2F57E544}" type="slidenum">
              <a:rPr lang="ru-RU" sz="2800" b="1" smtClean="0"/>
              <a:pPr/>
              <a:t>15</a:t>
            </a:fld>
            <a:endParaRPr lang="ru-RU" sz="2800" b="1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DFA470B-8EEE-4DD4-8297-96E13DA87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969" y="916202"/>
            <a:ext cx="7208890" cy="53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456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5C9562C-0E7E-4A78-AB74-0540E2640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200" dirty="0">
                <a:solidFill>
                  <a:srgbClr val="C00000"/>
                </a:solidFill>
              </a:rPr>
              <a:t>Контекстная диаграмма классов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D2EAEB-FFF9-41AB-B728-8D14A5794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618" y="1456975"/>
            <a:ext cx="8221176" cy="3945637"/>
          </a:xfrm>
          <a:prstGeom prst="rect">
            <a:avLst/>
          </a:prstGeom>
        </p:spPr>
      </p:pic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C8B1C2BF-3944-42FC-B396-E30AE444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7376" y="6295578"/>
            <a:ext cx="751136" cy="365210"/>
          </a:xfrm>
        </p:spPr>
        <p:txBody>
          <a:bodyPr/>
          <a:lstStyle/>
          <a:p>
            <a:fld id="{5D7832B6-5904-45E4-8CB6-550B2F57E544}" type="slidenum">
              <a:rPr lang="ru-RU" sz="2800" b="1" smtClean="0"/>
              <a:pPr/>
              <a:t>16</a:t>
            </a:fld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732124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9382E16-557F-4C37-BF44-CD544141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200" dirty="0">
                <a:solidFill>
                  <a:srgbClr val="C00000"/>
                </a:solidFill>
              </a:rPr>
              <a:t>Диаграмма пакетов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C5B8098-0AAE-4E97-AB22-C7F5CA64D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171" y="2072651"/>
            <a:ext cx="7804070" cy="3558656"/>
          </a:xfrm>
          <a:prstGeom prst="rect">
            <a:avLst/>
          </a:prstGeom>
        </p:spPr>
      </p:pic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6DFBAC13-9DD1-4B1C-B524-4903B7E78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7376" y="6295578"/>
            <a:ext cx="751136" cy="365210"/>
          </a:xfrm>
        </p:spPr>
        <p:txBody>
          <a:bodyPr/>
          <a:lstStyle/>
          <a:p>
            <a:fld id="{5D7832B6-5904-45E4-8CB6-550B2F57E544}" type="slidenum">
              <a:rPr lang="ru-RU" sz="2800" b="1" smtClean="0"/>
              <a:pPr/>
              <a:t>17</a:t>
            </a:fld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3426807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DE9297-A307-4C11-8BA3-15FA65C27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компонентов и диаграмма размещения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8F58D6-6335-4D8F-BCC4-DB923D473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037" y="1683563"/>
            <a:ext cx="4590720" cy="3492461"/>
          </a:xfrm>
          <a:prstGeom prst="rect">
            <a:avLst/>
          </a:prstGeom>
        </p:spPr>
      </p:pic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168ACEC-AD9A-4939-A5E3-075BDC51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7376" y="6295578"/>
            <a:ext cx="751136" cy="365210"/>
          </a:xfrm>
        </p:spPr>
        <p:txBody>
          <a:bodyPr/>
          <a:lstStyle/>
          <a:p>
            <a:fld id="{5D7832B6-5904-45E4-8CB6-550B2F57E544}" type="slidenum">
              <a:rPr lang="ru-RU" sz="2800" b="1" smtClean="0"/>
              <a:pPr/>
              <a:t>18</a:t>
            </a:fld>
            <a:endParaRPr lang="ru-RU" sz="2800" b="1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4AEE6CB-6296-4EBA-9E35-F5E22F3F2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907" y="1319924"/>
            <a:ext cx="4159469" cy="42197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D0586E-F67B-473D-AE58-7E42477F2057}"/>
              </a:ext>
            </a:extLst>
          </p:cNvPr>
          <p:cNvSpPr txBox="1"/>
          <p:nvPr/>
        </p:nvSpPr>
        <p:spPr>
          <a:xfrm>
            <a:off x="1624896" y="5681343"/>
            <a:ext cx="3567002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Диаграмма компонентов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FA527C-10DD-4F3B-8712-E4D86E83FC40}"/>
              </a:ext>
            </a:extLst>
          </p:cNvPr>
          <p:cNvSpPr txBox="1"/>
          <p:nvPr/>
        </p:nvSpPr>
        <p:spPr>
          <a:xfrm>
            <a:off x="7355305" y="5694482"/>
            <a:ext cx="3517053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Диаграмма размещения</a:t>
            </a:r>
          </a:p>
        </p:txBody>
      </p:sp>
    </p:spTree>
    <p:extLst>
      <p:ext uri="{BB962C8B-B14F-4D97-AF65-F5344CB8AC3E}">
        <p14:creationId xmlns:p14="http://schemas.microsoft.com/office/powerpoint/2010/main" val="3627771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7C5604C-4BEE-4CB1-8DD5-90A647CF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200" dirty="0">
                <a:solidFill>
                  <a:srgbClr val="C00000"/>
                </a:solidFill>
              </a:rPr>
              <a:t>Разработка интерфейса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DF84D96-B1FD-4C36-B998-7172EC415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53" y="1401614"/>
            <a:ext cx="5938019" cy="315800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EE4CF0-99CC-4BBA-ADB4-850D0741E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101" y="2123509"/>
            <a:ext cx="5938019" cy="31580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4E53D40-E445-4DE9-BA50-7AEDBB86360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34319" y="3267463"/>
            <a:ext cx="5940425" cy="3221355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6C2363-0549-4442-B632-8BAC0F035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7376" y="6295578"/>
            <a:ext cx="751136" cy="365210"/>
          </a:xfrm>
        </p:spPr>
        <p:txBody>
          <a:bodyPr/>
          <a:lstStyle/>
          <a:p>
            <a:fld id="{5D7832B6-5904-45E4-8CB6-550B2F57E544}" type="slidenum">
              <a:rPr lang="ru-RU" sz="2800" b="1" smtClean="0"/>
              <a:pPr/>
              <a:t>19</a:t>
            </a:fld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4226159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77B37A50-4733-4BD3-81DC-15F4DBAD8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61" y="2730354"/>
            <a:ext cx="11224291" cy="1398880"/>
          </a:xfrm>
        </p:spPr>
        <p:txBody>
          <a:bodyPr>
            <a:normAutofit/>
          </a:bodyPr>
          <a:lstStyle/>
          <a:p>
            <a:pPr algn="ctr"/>
            <a:r>
              <a:rPr lang="ru-RU" altLang="ru-RU" sz="2800" b="1" dirty="0">
                <a:solidFill>
                  <a:srgbClr val="C00000"/>
                </a:solidFill>
              </a:rPr>
              <a:t>ЗАДАЧА 4. ЭКСПЕРИМЕНТАЛЬНАЯ ПРОВЕРКА ПРОГРАММНОГО ОБЕСПЕЧЕНИЯ АНАЛИЗА И УПРАВЛЕНИЯ СОСТАВОМ АГЛОМЕРАЦИОННОЙ ШИХТЫ</a:t>
            </a:r>
          </a:p>
        </p:txBody>
      </p:sp>
    </p:spTree>
    <p:extLst>
      <p:ext uri="{BB962C8B-B14F-4D97-AF65-F5344CB8AC3E}">
        <p14:creationId xmlns:p14="http://schemas.microsoft.com/office/powerpoint/2010/main" val="970970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B8C48AB9-AC6B-454C-BFBF-9432EF574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выполнения экспериментальной проверки были выполнены следующие операции: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Были сформированы наборы тестовых данных по химическому составу агломерата, агломерационной шихты, материалов, используемых агломерационной машиной, фактической основности агломерата и агломерационной шихты.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Проведено тестирование правильности вычисления основности агломерационной шихты.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Проведено тестирование модели определения причин отклонения.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Проведено тестирование модели корректировки дозы известняка.</a:t>
            </a:r>
          </a:p>
          <a:p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05BA056-015A-4024-B6EC-2CD944ADC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Подготовка экспериментальных </a:t>
            </a:r>
            <a:br>
              <a:rPr lang="ru-RU" dirty="0"/>
            </a:br>
            <a:r>
              <a:rPr lang="ru-RU" dirty="0"/>
              <a:t>данных проверки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D78FF211-D680-4088-AF74-95F267CF3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7376" y="6295578"/>
            <a:ext cx="751136" cy="365210"/>
          </a:xfrm>
        </p:spPr>
        <p:txBody>
          <a:bodyPr/>
          <a:lstStyle/>
          <a:p>
            <a:fld id="{5D7832B6-5904-45E4-8CB6-550B2F57E544}" type="slidenum">
              <a:rPr lang="ru-RU" sz="2800" b="1" smtClean="0"/>
              <a:pPr/>
              <a:t>21</a:t>
            </a:fld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3617622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AE9A593-F76B-4CAA-9541-C6AD87F4C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проверки алгоритма анализа и управления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0A7D986E-2416-4516-A321-C3E63C6FD6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8436761"/>
              </p:ext>
            </p:extLst>
          </p:nvPr>
        </p:nvGraphicFramePr>
        <p:xfrm>
          <a:off x="607473" y="3449638"/>
          <a:ext cx="5143501" cy="2783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>
                <a:extLst>
                  <a:ext uri="{FF2B5EF4-FFF2-40B4-BE49-F238E27FC236}">
                    <a16:creationId xmlns:a16="http://schemas.microsoft.com/office/drawing/2014/main" id="{1346D50E-D358-41FE-B35A-10F1EEFAF560}"/>
                  </a:ext>
                </a:extLst>
              </p:cNvPr>
              <p:cNvSpPr/>
              <p:nvPr/>
            </p:nvSpPr>
            <p:spPr>
              <a:xfrm>
                <a:off x="4532566" y="2089232"/>
                <a:ext cx="3125279" cy="11380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ср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" name="Прямоугольник 1">
                <a:extLst>
                  <a:ext uri="{FF2B5EF4-FFF2-40B4-BE49-F238E27FC236}">
                    <a16:creationId xmlns:a16="http://schemas.microsoft.com/office/drawing/2014/main" id="{1346D50E-D358-41FE-B35A-10F1EEFAF5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566" y="2089232"/>
                <a:ext cx="3125279" cy="11380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0ED892B-63E2-4CDF-9545-5C113AC8E3BE}"/>
              </a:ext>
            </a:extLst>
          </p:cNvPr>
          <p:cNvSpPr txBox="1"/>
          <p:nvPr/>
        </p:nvSpPr>
        <p:spPr>
          <a:xfrm>
            <a:off x="607473" y="1239422"/>
            <a:ext cx="1122103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Экспериментальная проверка расчета основности проводилась путем расчета среднеквадратичного (стандартного) отклонения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0000000-0008-0000-0A00-00000400000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087" y="3429794"/>
            <a:ext cx="5770513" cy="1390154"/>
          </a:xfrm>
          <a:prstGeom prst="rect">
            <a:avLst/>
          </a:prstGeom>
          <a:noFill/>
          <a:ln>
            <a:noFill/>
          </a:ln>
          <a:effectLst/>
          <a:extLst/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00000000-0008-0000-0A00-000003000000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087" y="4854693"/>
            <a:ext cx="5770513" cy="1378669"/>
          </a:xfrm>
          <a:prstGeom prst="rect">
            <a:avLst/>
          </a:prstGeom>
          <a:noFill/>
          <a:ln>
            <a:noFill/>
          </a:ln>
          <a:effectLst/>
          <a:extLst/>
        </p:spPr>
      </p:pic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8BF6C2BC-2673-4D6C-872B-15DAF35A8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7376" y="6295578"/>
            <a:ext cx="751136" cy="365210"/>
          </a:xfrm>
        </p:spPr>
        <p:txBody>
          <a:bodyPr/>
          <a:lstStyle/>
          <a:p>
            <a:fld id="{5D7832B6-5904-45E4-8CB6-550B2F57E544}" type="slidenum">
              <a:rPr lang="ru-RU" sz="2800" b="1" smtClean="0"/>
              <a:pPr/>
              <a:t>22</a:t>
            </a:fld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2830885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3137A84-56E7-4FAA-B393-DA1C608C8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Результаты проверки алгоритма анализа и управления</a:t>
            </a:r>
            <a:endParaRPr lang="ru-RU" dirty="0"/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433D62A6-C2DD-4E72-9035-E1F199B6F5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8027343"/>
              </p:ext>
            </p:extLst>
          </p:nvPr>
        </p:nvGraphicFramePr>
        <p:xfrm>
          <a:off x="876297" y="1312524"/>
          <a:ext cx="5023269" cy="25623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B9891924-3BCE-477D-8A41-C816722D1E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4982184"/>
              </p:ext>
            </p:extLst>
          </p:nvPr>
        </p:nvGraphicFramePr>
        <p:xfrm>
          <a:off x="876296" y="3874872"/>
          <a:ext cx="5023269" cy="2744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B49085F-A74F-4778-BD63-8B0884EB93ED}"/>
              </a:ext>
            </a:extLst>
          </p:cNvPr>
          <p:cNvSpPr txBox="1"/>
          <p:nvPr/>
        </p:nvSpPr>
        <p:spPr>
          <a:xfrm>
            <a:off x="687593" y="6400833"/>
            <a:ext cx="540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Основность шихты на основе расхода известняка, рекомендуемого моделью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1D272-FE82-4AA6-9673-00D8EBA9504B}"/>
              </a:ext>
            </a:extLst>
          </p:cNvPr>
          <p:cNvSpPr txBox="1"/>
          <p:nvPr/>
        </p:nvSpPr>
        <p:spPr>
          <a:xfrm>
            <a:off x="521277" y="3646100"/>
            <a:ext cx="57333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Основность шихты на основе фактического расхода известняка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334082A4-3870-4629-AC5F-BBE3512BA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7376" y="6295578"/>
            <a:ext cx="751136" cy="365210"/>
          </a:xfrm>
        </p:spPr>
        <p:txBody>
          <a:bodyPr/>
          <a:lstStyle/>
          <a:p>
            <a:fld id="{5D7832B6-5904-45E4-8CB6-550B2F57E544}" type="slidenum">
              <a:rPr lang="ru-RU" sz="2800" b="1" smtClean="0"/>
              <a:pPr/>
              <a:t>23</a:t>
            </a:fld>
            <a:endParaRPr lang="ru-RU" sz="2800" b="1" dirty="0"/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27489CDD-2337-4A0F-869F-57987167BB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9520196"/>
              </p:ext>
            </p:extLst>
          </p:nvPr>
        </p:nvGraphicFramePr>
        <p:xfrm>
          <a:off x="6254584" y="1578120"/>
          <a:ext cx="5644868" cy="4412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57929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E3E7DDF-CEA5-46F7-A05C-A9B9A42E1F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2307060"/>
              </p:ext>
            </p:extLst>
          </p:nvPr>
        </p:nvGraphicFramePr>
        <p:xfrm>
          <a:off x="390617" y="1336676"/>
          <a:ext cx="11437893" cy="47031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97384">
                  <a:extLst>
                    <a:ext uri="{9D8B030D-6E8A-4147-A177-3AD203B41FA5}">
                      <a16:colId xmlns:a16="http://schemas.microsoft.com/office/drawing/2014/main" val="465795551"/>
                    </a:ext>
                  </a:extLst>
                </a:gridCol>
                <a:gridCol w="2983002">
                  <a:extLst>
                    <a:ext uri="{9D8B030D-6E8A-4147-A177-3AD203B41FA5}">
                      <a16:colId xmlns:a16="http://schemas.microsoft.com/office/drawing/2014/main" val="159343393"/>
                    </a:ext>
                  </a:extLst>
                </a:gridCol>
                <a:gridCol w="2978427">
                  <a:extLst>
                    <a:ext uri="{9D8B030D-6E8A-4147-A177-3AD203B41FA5}">
                      <a16:colId xmlns:a16="http://schemas.microsoft.com/office/drawing/2014/main" val="2309884525"/>
                    </a:ext>
                  </a:extLst>
                </a:gridCol>
                <a:gridCol w="2083985">
                  <a:extLst>
                    <a:ext uri="{9D8B030D-6E8A-4147-A177-3AD203B41FA5}">
                      <a16:colId xmlns:a16="http://schemas.microsoft.com/office/drawing/2014/main" val="1171348803"/>
                    </a:ext>
                  </a:extLst>
                </a:gridCol>
                <a:gridCol w="1695095">
                  <a:extLst>
                    <a:ext uri="{9D8B030D-6E8A-4147-A177-3AD203B41FA5}">
                      <a16:colId xmlns:a16="http://schemas.microsoft.com/office/drawing/2014/main" val="472259855"/>
                    </a:ext>
                  </a:extLst>
                </a:gridCol>
              </a:tblGrid>
              <a:tr h="30466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Дата и время тестирования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Тестируемый модуль и подсистемы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Кто проводил тестирование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Способ тестирования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Результаты тестирования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extLst>
                  <a:ext uri="{0D108BD9-81ED-4DB2-BD59-A6C34878D82A}">
                    <a16:rowId xmlns:a16="http://schemas.microsoft.com/office/drawing/2014/main" val="111581079"/>
                  </a:ext>
                </a:extLst>
              </a:tr>
              <a:tr h="4688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18.05.2023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14:55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Класс </a:t>
                      </a:r>
                      <a:r>
                        <a:rPr lang="en-US" sz="1200">
                          <a:effectLst/>
                        </a:rPr>
                        <a:t>ChemicalAnalysisBatchAndAglo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Разработчик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Функциональное тестирование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Успех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extLst>
                  <a:ext uri="{0D108BD9-81ED-4DB2-BD59-A6C34878D82A}">
                    <a16:rowId xmlns:a16="http://schemas.microsoft.com/office/drawing/2014/main" val="268470363"/>
                  </a:ext>
                </a:extLst>
              </a:tr>
              <a:tr h="4688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18.05. 2023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14:59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Класс </a:t>
                      </a:r>
                      <a:r>
                        <a:rPr lang="en-US" sz="1200">
                          <a:effectLst/>
                        </a:rPr>
                        <a:t>BasicCalculation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Разработчик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Функциональное тестирование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Успех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extLst>
                  <a:ext uri="{0D108BD9-81ED-4DB2-BD59-A6C34878D82A}">
                    <a16:rowId xmlns:a16="http://schemas.microsoft.com/office/drawing/2014/main" val="838206143"/>
                  </a:ext>
                </a:extLst>
              </a:tr>
              <a:tr h="5319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18.05. 2023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17:04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Класс </a:t>
                      </a:r>
                      <a:r>
                        <a:rPr lang="en-US" sz="1200" dirty="0" err="1">
                          <a:effectLst/>
                        </a:rPr>
                        <a:t>BatchChangeChemicalComposition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Разработчик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Функциональное тестирование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Успех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extLst>
                  <a:ext uri="{0D108BD9-81ED-4DB2-BD59-A6C34878D82A}">
                    <a16:rowId xmlns:a16="http://schemas.microsoft.com/office/drawing/2014/main" val="2269758853"/>
                  </a:ext>
                </a:extLst>
              </a:tr>
              <a:tr h="5232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18.05. 2023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17:10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Класс </a:t>
                      </a:r>
                      <a:r>
                        <a:rPr lang="en-US" sz="1200">
                          <a:effectLst/>
                        </a:rPr>
                        <a:t>BatchComponentDoseDeviation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Разработчик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Функциональное тестирование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Успех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extLst>
                  <a:ext uri="{0D108BD9-81ED-4DB2-BD59-A6C34878D82A}">
                    <a16:rowId xmlns:a16="http://schemas.microsoft.com/office/drawing/2014/main" val="1663867521"/>
                  </a:ext>
                </a:extLst>
              </a:tr>
              <a:tr h="4688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18.05. 2023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17:10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Класс </a:t>
                      </a:r>
                      <a:r>
                        <a:rPr lang="en-US" sz="1200">
                          <a:effectLst/>
                        </a:rPr>
                        <a:t>BatchMaterialMixInflow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Разработчик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Функциональное тестирование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Успех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extLst>
                  <a:ext uri="{0D108BD9-81ED-4DB2-BD59-A6C34878D82A}">
                    <a16:rowId xmlns:a16="http://schemas.microsoft.com/office/drawing/2014/main" val="821151684"/>
                  </a:ext>
                </a:extLst>
              </a:tr>
              <a:tr h="4688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18.05. 2023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17:11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Класс </a:t>
                      </a:r>
                      <a:r>
                        <a:rPr lang="en-US" sz="1200">
                          <a:effectLst/>
                        </a:rPr>
                        <a:t>AgloMaterialForShiht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Разработчик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Функциональное тестирование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Успех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extLst>
                  <a:ext uri="{0D108BD9-81ED-4DB2-BD59-A6C34878D82A}">
                    <a16:rowId xmlns:a16="http://schemas.microsoft.com/office/drawing/2014/main" val="3743167597"/>
                  </a:ext>
                </a:extLst>
              </a:tr>
              <a:tr h="5442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18.05. 2023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17:23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Класс </a:t>
                      </a:r>
                      <a:r>
                        <a:rPr lang="en-US" sz="1200">
                          <a:effectLst/>
                        </a:rPr>
                        <a:t>Aglospec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Разработчик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Функциональное тестирование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Успех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extLst>
                  <a:ext uri="{0D108BD9-81ED-4DB2-BD59-A6C34878D82A}">
                    <a16:rowId xmlns:a16="http://schemas.microsoft.com/office/drawing/2014/main" val="3116097184"/>
                  </a:ext>
                </a:extLst>
              </a:tr>
              <a:tr h="5259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18.05. 2023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17:33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Класс </a:t>
                      </a:r>
                      <a:r>
                        <a:rPr lang="en-US" sz="1200">
                          <a:effectLst/>
                        </a:rPr>
                        <a:t>ChemicalCompositionBase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Разработчик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Функциональное тестирование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Успех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12" marR="40512" marT="0" marB="0"/>
                </a:tc>
                <a:extLst>
                  <a:ext uri="{0D108BD9-81ED-4DB2-BD59-A6C34878D82A}">
                    <a16:rowId xmlns:a16="http://schemas.microsoft.com/office/drawing/2014/main" val="84846274"/>
                  </a:ext>
                </a:extLst>
              </a:tr>
            </a:tbl>
          </a:graphicData>
        </a:graphic>
      </p:graphicFrame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FCADF91-D5E8-4546-944A-D19F01BEA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ПО</a:t>
            </a:r>
          </a:p>
        </p:txBody>
      </p:sp>
    </p:spTree>
    <p:extLst>
      <p:ext uri="{BB962C8B-B14F-4D97-AF65-F5344CB8AC3E}">
        <p14:creationId xmlns:p14="http://schemas.microsoft.com/office/powerpoint/2010/main" val="4022656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45E73188-C929-4298-823B-03215B214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61" y="1624614"/>
            <a:ext cx="11224291" cy="2547892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sz="1800" dirty="0"/>
              <a:t>Результатом выполнения магистерской диссертационной работы является разработанное программное обеспечение подсистемы анализа и управления составом агломерационной шихты.</a:t>
            </a:r>
          </a:p>
          <a:p>
            <a:pPr algn="just"/>
            <a:r>
              <a:rPr lang="ru-RU" sz="1800" dirty="0"/>
              <a:t>Экспериментальная проверка разработанного алгоритма показала, что причины отклонений основности определяются с точностью 87%, что выше целевых показателей в 80%. Также удалось снизить расход известняка на 0.86 кг/т не потеряв в качестве производства. Стандартное отклонение основности агломерационной шихты получилось меньше заявленных 0,05, а именно, 0,0104. Используя рекомендуемый моделью расход известняка попадание в границы целевой основности составляет 91%. Получившиеся значения позволяют нам сказать, что химический состав и основность агломерационной шихты рассчитываются с большой точностью. 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CB7529B-B2BA-4F16-B884-8BCA9FCF7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работы и выводы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91CB0CEB-17FF-41B7-AE9A-DF71FC406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7376" y="6295578"/>
            <a:ext cx="751136" cy="365210"/>
          </a:xfrm>
        </p:spPr>
        <p:txBody>
          <a:bodyPr/>
          <a:lstStyle/>
          <a:p>
            <a:fld id="{5D7832B6-5904-45E4-8CB6-550B2F57E544}" type="slidenum">
              <a:rPr lang="ru-RU" sz="2800" b="1" smtClean="0"/>
              <a:pPr/>
              <a:t>25</a:t>
            </a:fld>
            <a:endParaRPr lang="ru-RU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6451C1-FF32-4AD9-9E77-6A9A3FDF109E}"/>
              </a:ext>
            </a:extLst>
          </p:cNvPr>
          <p:cNvSpPr txBox="1"/>
          <p:nvPr/>
        </p:nvSpPr>
        <p:spPr>
          <a:xfrm>
            <a:off x="483061" y="1126268"/>
            <a:ext cx="4018472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accent1"/>
                </a:solidFill>
              </a:rPr>
              <a:t>ОСНОВНЫЕ РЕЗУЛЬТАТЫ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F15636-572F-4924-9F90-62BA1CEC038B}"/>
              </a:ext>
            </a:extLst>
          </p:cNvPr>
          <p:cNvSpPr txBox="1"/>
          <p:nvPr/>
        </p:nvSpPr>
        <p:spPr>
          <a:xfrm>
            <a:off x="483061" y="4001438"/>
            <a:ext cx="2079608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accent1"/>
                </a:solidFill>
              </a:rPr>
              <a:t>АПРОБАЦИЯ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EB3CB29-C269-49C0-BEE7-6E0F40D8793D}"/>
              </a:ext>
            </a:extLst>
          </p:cNvPr>
          <p:cNvSpPr/>
          <p:nvPr/>
        </p:nvSpPr>
        <p:spPr>
          <a:xfrm>
            <a:off x="483061" y="4352464"/>
            <a:ext cx="114492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ru-RU" sz="1800" dirty="0"/>
              <a:t>Результаты магистерской диссертационной работы получили положительные оценки на: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ru-RU" sz="1800" dirty="0"/>
              <a:t>Студенческая научная конференция СНК-2022 (ЧГУ, 2022).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ru-RU" sz="1800" dirty="0"/>
              <a:t>Студенческая научная конференция «Регион искусственного интеллекта» (Череповец, 6 ноября 2022).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ru-RU" sz="1800" dirty="0"/>
              <a:t>Международная научная конференция «Молодые исследователи – регионам» (18 апреля 2022).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ru-RU" sz="1800" dirty="0"/>
              <a:t>Студенческая научная конференция СНК-2023 (ЧГУ, 25 апреля 2023).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ru-RU" sz="1800" dirty="0"/>
              <a:t>По теме диссертации опубликовано 3 печатные работы, в том числе 1 статья в рецензируемом научном журнале и издании из перечня ВАК.</a:t>
            </a:r>
          </a:p>
          <a:p>
            <a:pPr algn="just" fontAlgn="base"/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425446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ии ЧГУ">
  <a:themeElements>
    <a:clrScheme name="ЧГУ">
      <a:dk1>
        <a:srgbClr val="000000"/>
      </a:dk1>
      <a:lt1>
        <a:srgbClr val="FFFFFF"/>
      </a:lt1>
      <a:dk2>
        <a:srgbClr val="121314"/>
      </a:dk2>
      <a:lt2>
        <a:srgbClr val="F5F3F4"/>
      </a:lt2>
      <a:accent1>
        <a:srgbClr val="DA251D"/>
      </a:accent1>
      <a:accent2>
        <a:srgbClr val="A50E13"/>
      </a:accent2>
      <a:accent3>
        <a:srgbClr val="660102"/>
      </a:accent3>
      <a:accent4>
        <a:srgbClr val="E63538"/>
      </a:accent4>
      <a:accent5>
        <a:srgbClr val="B2A8A7"/>
      </a:accent5>
      <a:accent6>
        <a:srgbClr val="D4D4D4"/>
      </a:accent6>
      <a:hlink>
        <a:srgbClr val="DA251D"/>
      </a:hlink>
      <a:folHlink>
        <a:srgbClr val="B2A8A7"/>
      </a:folHlink>
    </a:clrScheme>
    <a:fontScheme name="ЧГУ">
      <a:majorFont>
        <a:latin typeface="Calibri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 Презентации ЧГУ</Template>
  <TotalTime>720</TotalTime>
  <Words>1417</Words>
  <Application>Microsoft Office PowerPoint</Application>
  <PresentationFormat>Произвольный</PresentationFormat>
  <Paragraphs>204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 Math</vt:lpstr>
      <vt:lpstr>Times New Roman</vt:lpstr>
      <vt:lpstr>Шаблон Презентации ЧГУ</vt:lpstr>
      <vt:lpstr>Программное обеспечение подсистемы анализа и управления составом агломерационной шихты</vt:lpstr>
      <vt:lpstr>Актуальность темы. Объект и предмет исследования</vt:lpstr>
      <vt:lpstr>Цель и задачи работы.  Научная новизна исследования </vt:lpstr>
      <vt:lpstr>Презентация PowerPoint</vt:lpstr>
      <vt:lpstr>Анализ существующей проблемы</vt:lpstr>
      <vt:lpstr>Анализ существующих методов и  программных решений</vt:lpstr>
      <vt:lpstr>Описание процесса агломерации</vt:lpstr>
      <vt:lpstr>Постановка задачи</vt:lpstr>
      <vt:lpstr>Презентация PowerPoint</vt:lpstr>
      <vt:lpstr>Расчет основности шихты и расчет расхода известняка</vt:lpstr>
      <vt:lpstr>Определение причин отклонения</vt:lpstr>
      <vt:lpstr>Алгоритм управления составом агломерационной шихты</vt:lpstr>
      <vt:lpstr>Презентация PowerPoint</vt:lpstr>
      <vt:lpstr>Выбор подхода к проектированию и инструментальных средств  </vt:lpstr>
      <vt:lpstr>Диаграмма вариантов использования</vt:lpstr>
      <vt:lpstr>Контекстная диаграмма классов</vt:lpstr>
      <vt:lpstr>Диаграмма пакетов</vt:lpstr>
      <vt:lpstr>Диаграмма компонентов и диаграмма размещения</vt:lpstr>
      <vt:lpstr>Разработка интерфейса</vt:lpstr>
      <vt:lpstr>Презентация PowerPoint</vt:lpstr>
      <vt:lpstr>Подготовка экспериментальных  данных проверки</vt:lpstr>
      <vt:lpstr>Результаты проверки алгоритма анализа и управления</vt:lpstr>
      <vt:lpstr>Результаты проверки алгоритма анализа и управления</vt:lpstr>
      <vt:lpstr>Тестирование ПО</vt:lpstr>
      <vt:lpstr>Результаты работы и выводы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Anastasia</dc:creator>
  <cp:lastModifiedBy>Матевосян Ремик Артурович</cp:lastModifiedBy>
  <cp:revision>57</cp:revision>
  <dcterms:created xsi:type="dcterms:W3CDTF">2022-05-25T06:56:38Z</dcterms:created>
  <dcterms:modified xsi:type="dcterms:W3CDTF">2023-06-15T21:07:21Z</dcterms:modified>
</cp:coreProperties>
</file>