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42"/>
  </p:notesMasterIdLst>
  <p:sldIdLst>
    <p:sldId id="256" r:id="rId5"/>
    <p:sldId id="320" r:id="rId6"/>
    <p:sldId id="281" r:id="rId7"/>
    <p:sldId id="282" r:id="rId8"/>
    <p:sldId id="278" r:id="rId9"/>
    <p:sldId id="349" r:id="rId10"/>
    <p:sldId id="321" r:id="rId11"/>
    <p:sldId id="287" r:id="rId12"/>
    <p:sldId id="285" r:id="rId13"/>
    <p:sldId id="324" r:id="rId14"/>
    <p:sldId id="323" r:id="rId15"/>
    <p:sldId id="322" r:id="rId16"/>
    <p:sldId id="292" r:id="rId17"/>
    <p:sldId id="328" r:id="rId18"/>
    <p:sldId id="333" r:id="rId19"/>
    <p:sldId id="334" r:id="rId20"/>
    <p:sldId id="332" r:id="rId21"/>
    <p:sldId id="335" r:id="rId22"/>
    <p:sldId id="336" r:id="rId23"/>
    <p:sldId id="337" r:id="rId24"/>
    <p:sldId id="338" r:id="rId25"/>
    <p:sldId id="339" r:id="rId26"/>
    <p:sldId id="327" r:id="rId27"/>
    <p:sldId id="298" r:id="rId28"/>
    <p:sldId id="299" r:id="rId29"/>
    <p:sldId id="340" r:id="rId30"/>
    <p:sldId id="341" r:id="rId31"/>
    <p:sldId id="305" r:id="rId32"/>
    <p:sldId id="342" r:id="rId33"/>
    <p:sldId id="343" r:id="rId34"/>
    <p:sldId id="345" r:id="rId35"/>
    <p:sldId id="347" r:id="rId36"/>
    <p:sldId id="346" r:id="rId37"/>
    <p:sldId id="348" r:id="rId38"/>
    <p:sldId id="307" r:id="rId39"/>
    <p:sldId id="344" r:id="rId40"/>
    <p:sldId id="276" r:id="rId4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3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98C24E-E469-3D81-8637-A8E4AF6A4E15}" name="dan adamow" initials="da" userId="b897b5aa5d18d7c8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gdan Zhakun" initials="BZ" lastIdx="1" clrIdx="0">
    <p:extLst>
      <p:ext uri="{19B8F6BF-5375-455C-9EA6-DF929625EA0E}">
        <p15:presenceInfo xmlns:p15="http://schemas.microsoft.com/office/powerpoint/2012/main" userId="b27303acc5b6fed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4C51"/>
    <a:srgbClr val="383838"/>
    <a:srgbClr val="008A75"/>
    <a:srgbClr val="E6E7E8"/>
    <a:srgbClr val="54BA96"/>
    <a:srgbClr val="A5DBC8"/>
    <a:srgbClr val="A8FED5"/>
    <a:srgbClr val="00E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5165" autoAdjust="0"/>
  </p:normalViewPr>
  <p:slideViewPr>
    <p:cSldViewPr snapToGrid="0">
      <p:cViewPr varScale="1">
        <p:scale>
          <a:sx n="80" d="100"/>
          <a:sy n="80" d="100"/>
        </p:scale>
        <p:origin x="936" y="86"/>
      </p:cViewPr>
      <p:guideLst>
        <p:guide orient="horz" pos="2160"/>
        <p:guide pos="3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commentAuthors" Target="commentAuthors.xml"/><Relationship Id="rId48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20:14:16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0 454 24575,'81'-3'0,"123"-19"0,75-32 0,-212 40 0,28-6 0,205-37 0,-231 48 0,0 2 0,100 5 0,-142 3 0,-1-1 0,1-1 0,0-1 0,-1-2 0,1 0 0,-1-2 0,34-11 0,61-33 0,-36 21 0,-62 22 0,0 0 0,34-17 0,-13 2 0,1 3 0,54-17 0,-75 32 0,-21 4 0,1-1 0,-1 1 0,1-1 0,-1 1 0,1-1 0,-1 0 0,1-1 0,-1 1 0,1 0 0,-1-1 0,0 0 0,5-3 0,-8 4 0,0 1 0,0 0 0,0-1 0,0 1 0,0 0 0,0-1 0,0 1 0,0 0 0,0-1 0,0 1 0,0 0 0,0-1 0,0 1 0,-1 0 0,1-1 0,0 1 0,0 0 0,0 0 0,0-1 0,-1 1 0,1 0 0,0-1 0,0 1 0,-1 0 0,1 0 0,0 0 0,0-1 0,-1 1 0,1 0 0,0 0 0,-1 0 0,1 0 0,0-1 0,-1 1 0,1 0 0,0 0 0,-1 0 0,1 0 0,0 0 0,-1 0 0,1 0 0,0 0 0,-1 0 0,1 0 0,-1 0 0,-17-3 0,-65-2 0,-91 6 0,54 2 0,41-3 0,49 0 0,26 0 0,11 0 0,606 0 0,-607-1 0,0 2 0,-1-1 0,1 0 0,0 1 0,-1 0 0,1 1 0,6 2 0,-11-4 0,0 0 0,0 1 0,0-1 0,0 1 0,-1 0 0,1-1 0,0 1 0,0-1 0,-1 1 0,1 0 0,0 0 0,-1-1 0,1 1 0,-1 0 0,1 0 0,-1 0 0,1 0 0,-1 0 0,1 1 0,-1 0 0,0 0 0,0-1 0,0 1 0,0 0 0,-1-1 0,1 1 0,0 0 0,-1-1 0,1 1 0,-1-1 0,0 1 0,0-1 0,1 1 0,-1-1 0,-2 3 0,-8 9 0,-1 0 0,0 0 0,0-1 0,-2-1 0,1-1 0,-1 1 0,-21 10 0,-40 31 0,70-48 6,-2 0 0,1-1 0,0 1 0,-1-1 0,0 0 0,1-1 0,-1 0 0,0 0-1,0 0 1,-1-1 0,1 0 0,0 0 0,0-1 0,-9 0 0,-47 6-1460,46-1-5372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3T20:14:16.9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24575,'4'1'0,"0"0"0,0 0 0,0 1 0,-1-1 0,1 1 0,0 0 0,-1 0 0,1 0 0,-1 0 0,0 1 0,6 4 0,0 0 0,48 39 0,36 26 0,399 256 0,216 138 0,-641-425 0,603 401 0,-536-325 0,-34-27 0,-100-90 0,1 1 0,0 0 0,0 0 0,0 0 0,0-1 0,0 1 0,0-1 0,0 1 0,0 0 0,0-1 0,0 0 0,0 1 0,0-1 0,1 0 0,-1 1 0,0-1 0,0 0 0,2 0 0,-2 0 0,-1-1 0,0 1 0,1 0 0,-1-1 0,1 1 0,-1-1 0,1 1 0,-1-1 0,0 1 0,1-1 0,-1 1 0,0-1 0,0 1 0,1-1 0,-1 1 0,0-1 0,0 1 0,0-1 0,1 1 0,-1-1 0,0 0 0,0 1 0,0-1 0,0 1 0,0-2 0,-1-6 0,0 1 0,0-1 0,0 0 0,-4-9 0,-9-28 0,-3 0 0,-2 2 0,-1 0 0,-2 0 0,-3 2 0,-1 1 0,-1 2 0,-63-68 0,65 76 0,20 22 0,0 1 0,-1 0 0,0 0 0,-1 1 0,0-1 0,0 1 0,-11-7 0,17 12 0,1 1 0,-1 0 0,1 0 0,0 0 0,-1 0 0,1-1 0,-1 1 0,1 0 0,0 0 0,-1 0 0,1 0 0,-1 0 0,1 0 0,-1 0 0,1 0 0,0 0 0,-1 0 0,1 0 0,-1 1 0,1-1 0,0 0 0,-1 0 0,1 0 0,-1 0 0,1 1 0,0-1 0,-1 0 0,1 0 0,0 1 0,-1-1 0,1 0 0,0 1 0,-1-1 0,1 0 0,0 1 0,0-1 0,0 0 0,-1 1 0,1-1 0,0 1 0,0-1 0,0 1 0,-4 20 0,4-7 0,1 0 0,0 0 0,1 0 0,1-1 0,0 1 0,1-1 0,0 0 0,1 0 0,12 24 0,10 10 0,39 53 0,-42-66 0,65 87 0,30 46 0,-109-151 0,-2 0 0,0 1 0,-1 0 0,-1 0 0,0 1 0,-1-1 0,-1 1 0,2 24 0,-6-40 0,1 0 0,-2 0 0,1 0 0,0 1 0,0-1 0,-1 0 0,1 0 0,-1 0 0,1 0 0,-1 0 0,0 0 0,0 0 0,0 0 0,0 0 0,0-1 0,0 1 0,-1 0 0,1-1 0,-1 1 0,1-1 0,-1 1 0,1-1 0,-1 0 0,0 1 0,0-1 0,1 0 0,-1 0 0,0 0 0,0-1 0,0 1 0,0 0 0,0-1 0,-3 1 0,-7 1 0,-1 0 0,1 0 0,-1-2 0,-17 0 0,20 0 0,-53-2 0,0-3 0,1-3 0,-104-25 0,63 7-1365,66 17-5461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490217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indent="457200"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indent="914400"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indent="1371600"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indent="1828800"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indent="2286000"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indent="2743200"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indent="3200400"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indent="3657600"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Текст заголовка</a:t>
            </a:r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21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Текст заголовка</a:t>
            </a:r>
          </a:p>
        </p:txBody>
      </p:sp>
      <p:sp>
        <p:nvSpPr>
          <p:cNvPr id="3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39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4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Прямоугольник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Текст заголовка</a:t>
            </a:r>
          </a:p>
        </p:txBody>
      </p:sp>
      <p:sp>
        <p:nvSpPr>
          <p:cNvPr id="74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Изображение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Текст заголовка</a:t>
            </a:r>
          </a:p>
        </p:txBody>
      </p:sp>
      <p:sp>
        <p:nvSpPr>
          <p:cNvPr id="8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0083800" y="5779760"/>
            <a:ext cx="1270000" cy="24830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1pPr>
      <a:lvl2pPr marL="0" marR="0" indent="4572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2pPr>
      <a:lvl3pPr marL="0" marR="0" indent="9144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3pPr>
      <a:lvl4pPr marL="0" marR="0" indent="13716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4pPr>
      <a:lvl5pPr marL="0" marR="0" indent="18288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5pPr>
      <a:lvl6pPr marL="0" marR="0" indent="22860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6pPr>
      <a:lvl7pPr marL="0" marR="0" indent="27432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7pPr>
      <a:lvl8pPr marL="0" marR="0" indent="32004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8pPr>
      <a:lvl9pPr marL="0" marR="0" indent="365760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5.png"/><Relationship Id="rId7" Type="http://schemas.openxmlformats.org/officeDocument/2006/relationships/image" Target="../media/image20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23.png"/><Relationship Id="rId10" Type="http://schemas.openxmlformats.org/officeDocument/2006/relationships/image" Target="../media/image24.png"/><Relationship Id="rId4" Type="http://schemas.openxmlformats.org/officeDocument/2006/relationships/image" Target="../media/image22.png"/><Relationship Id="rId9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jpeg"/><Relationship Id="rId4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Rectángulo"/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sp>
        <p:nvSpPr>
          <p:cNvPr id="96" name="Разработка цифровой облачной платформы видеоаналитики как экосистемы готовых решений и инструментов их разработки для мобильных комплексов"/>
          <p:cNvSpPr txBox="1"/>
          <p:nvPr/>
        </p:nvSpPr>
        <p:spPr>
          <a:xfrm>
            <a:off x="697577" y="2054898"/>
            <a:ext cx="6819753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>
                <a:solidFill>
                  <a:srgbClr val="008A75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ru-RU" sz="3200" dirty="0">
                <a:solidFill>
                  <a:srgbClr val="FF0000"/>
                </a:solidFill>
              </a:rPr>
              <a:t>Программное обеспечение генератора </a:t>
            </a:r>
            <a:r>
              <a:rPr lang="en-US" sz="3200" dirty="0">
                <a:solidFill>
                  <a:srgbClr val="FF0000"/>
                </a:solidFill>
              </a:rPr>
              <a:t>HTML</a:t>
            </a:r>
            <a:r>
              <a:rPr lang="ru-RU" sz="3200" dirty="0">
                <a:solidFill>
                  <a:srgbClr val="FF0000"/>
                </a:solidFill>
              </a:rPr>
              <a:t>-шаблонов по рукописным рисункам-макетам</a:t>
            </a:r>
          </a:p>
        </p:txBody>
      </p:sp>
      <p:sp>
        <p:nvSpPr>
          <p:cNvPr id="3" name="AutoShape 3" descr="data:image/png;base64,%20iVBORw0KGgoAAAANSUhEUgAAAqMAAAL0CAYAAAA4FD4nAAAAAXNSR0IArs4c6QAAAARnQU1BAACxjwv8YQUAAAAJcEhZcwAADsMAAA7DAcdvqGQAAP+lSURBVHhe7J0HgF3FdffPzNzy+jatOggBoopeTTEdYxsbB1NsMMaVL3GJHTuJnc+xBYm/fPmcxC1OXDHuBXCJG802vVeDCiqo911tf+WWmfnOmftWCEwRQmXf7vmtZt979937JL2555z/tDMCGIZhGIZhmDHLyD5zjoi93D0qjkpb6nUQQoAf+KB8D7QxYIx150kpweKPsRYkjDWJR/8m/LdJD0ycAgz0g7/fbPDn7Dfm/qXMnsZaMQ+y++JqfIU3fHaHvwwWr7v66qv3yP2Efy/9G8Udd9whsyNjj3K5zLb2IgwPD2+9x1rxe8rlciIIAhHHsW00Gu7/MnrMnbANo+ds+38+/fTTDd7D7vk111xDx7e+R8ybN0/SPb69ttiq7AkfQn8f+o2Wts0Xsplt7y/i+ec8//1dCf3dy5cvF/vuu+9z7vttjx9zzDF0fPQ9iXWiwjAUM2fOhLVr18KkSZPMunXrNNqKHu92MAr+J1FuZt/J2ne8/6RkyeJ32ZUrr8xZCBIlQXkeCk9BQdqJ0VGoom3zQhajTMtCAeEGuoeRBfjyGiGevctfAgqYhx566B67n7q7u8WMGTNU8+WYw/d9sWXLljErlvcUJM4o0NAjibfe3l75QiJurDL670bxKdM0tbVazdlLoVCQGExlZ2fn1sDZ19cntNa2UqloFKRb7YqCbE9Pjzvv4osvNs8LtuL666+XCxYssChUt8sWW5U94UPw+5ZLly5tabt8vs2M2lTzpWNb/9PV1WWSJNn2HtuljP77Jk+eTA2xF7T1bf9NQ0NDCm3JI/tRSjmbQfvSGzduTFCkxuPdDp7Phu99r5h8/6ffDvsGLtm0aBHkgwCKlbITo/jduEJfCPWUEhjDM0WKr1mMMq0NClL3+MpboHvqfkL7a/6bxyi7u8enlaBev+bTlv2e8N/9go8vBL2H5Tm21RSg9H9/IZt7sePjkd1a/y5wtzh4L/3Zd/b8++v55zz//V3Jtn/3tn/vtsepEUIdCvScGmbYSLA33HCDwEfAR2o00HXjfnTg+fR+56czYO2a94x879tX+GvWzImKbRDm8+DR0DyKUBTtbniehurd8Dzez3ScrEjg67H3bbEYZRiG2ZWQL51QgZJhdgAx2gB4/gjAvHnznB6ZaD2fLwZ+T+HAR//+9Y0HH7ymvmzhQbJWC4Ku6SA9D98zKDqNmxdKSJUNCtJ3a4xxvaQkRvGAOz52YDHKMAyzq5gwQ+kM82rYdirGC0xJYbah9uvfn1r9ypeuaNzyu/fLSh7i9g7Ie0UwKEKpR9QJThSh9DgqQunRHW+WUeE/dmAxyjAMsyvhnlGG2QYUQuKGG27I1h88t6E2qjvYXp4HfiEoIbPvZe3sg79mRobea4a2eF5bO4hiGYUoYNFOZCoUoqM9oiROR4UoHSdGe0jHFi8uRnlBBcMwzKuHAysz4SDBiUVef/31ino9m6+3KiASoVSeN0eVnrO9vAAkRIfeftWkTae//oNp76bz2oYGPFFuBxkUrbJZLyjQXFCXvikTnFTctfgezRsdewJ0+2jNfzXDMAzDMHsUEqH4oI488kgxZ86clBYbEZdccol2T5hXzMYTz7o8iOo/SJcvgmqtbnPTZwuB+t5aDdZ7dkh+dFieGBWho0KUjlMZe8KUh+kZhmEYhnnluN5OWt3efL3tfE+3IIlWxlPv5zbih3s+txP8ouhbc9/Xio9/+i/lw/e/O//4I8eDkKBzBStzZaFRwmkUo8bSXFF32VZGRSjVw6hAJXFKw/WjvaZjBxajDMMwDMNsJyRAm0+fn56JHiZcmqVdCX7Xqv9b/33o0E9/+x9y9aqzzcql4Ld3gCxUQGgBCXigSa/a2IlRgUKVGK2UbcXo6OvRVE9jCxajDMMwDMNsByREX2TxEbML2PLTHxymn1x0Ze0b33570Nc/vTG5E4VoCFIokBGAtr7baUnKxInRURlqaQvQbQTntr2kVOj52ILFKMMwDMMwz8WlJdt3332d8Pz1r3+tR4UnCVJ6bAoa7gXdReD33Lbx4re/s37v4/8gh3un+koIXWkH4YdObNo4QhFqQCgSmWpUh2a0XK28uBjl1fQMwzAMM3F4zor3F2BUhI4OxbMQ3UUYa/JDf/uPb9ELVl5Y2LBxWs5TwpZLFpQHoAXIVIASCoREUSqaa8JGa2Sc1cpL3ZAMwzAMw4wjRhPPX3LJJdQDykJzD4ENAhl/91tzez77ne8X+7ccPjiyGYKuPNhCDmKDAjQW4GObIfAkNGQMqdXgGRSpLQ0P0zMMwzDMuId6PR999FFveHjY3nHHHeYF5nu6FfDNXk9mN4JfOE16cN/75iuuOM1sGbw6vm/+ybmo5jc6ffCVdHlEEyyQYqGUTlKgUMP6GnOLkXYEHqZnGIZhmHEH9XRSab50HHPMMc1nLwivhN9DjApRs3Btl163+fzi2nWnB6bu10NsQRRCFGkSjCHhaUAKgxVlIQHtRKm041uucc8owzAMw7QojzzyiJ/L5cTcuXPj5iFmDGPnfaU0JOt/P/LbX12UPvTAwWLGFIBiASAxkLrUTBYUKjNlSJ5J0NQzikKUEt8DCdOWhntGGYZhGKaloSH4Zi/o1o6kY445Rh966KEY2ZmxDtZfobFX8YT+H//wdfGKZQfbthKkgQ9GC1AxVakCKzysXAUpvjTSQg6fKxSixo7v7FosRhmGYRhm7DC62n2r4NwWWnxEcz5HEULQbkjjW6mME4Y++x9HDv3PTZfaZ5YcUhweAtHeDhrFp8WmBO097xkFfvPRYPVTpTqRRvU9LuaMvjgveLMzDMMwDLP7ae737uAV7+MHbEDkVsw+4h+9DRs/lQ9isPk8xPkS1FGGeUJBUfggYg1AW3oqC5HUKEZpWNstX3I3AQ1xtzY8TM8wDMMwY4ptht23Qvu+065H9IgvWYi2MFh5rsNv/iEXByvPveCfZaN6RTEaAp0PwYYFG2gagqcdljTEmrb6xCqXFmKUoUoL8DXeGnjIPWxtooxPWIwyDMMwzB6A9nxv7vW+FVrpTumYeMV764NKFNsb1qtMrp2hV676y26b7N3Ie7aRy4FWvlCaZokSKcQ2glQkkEoNCQpSGqZ3C5dc3ygxvm8HHqZnGIZhGIbZBfS+/wPvSdZt+MTI7bfvl5egxORJUBcSvAQgl1pIAwOJZ0ALA35sQFoPrAohon3mUX/msEhNq+jxHNnqko2H6RmGGSfMs1bS8GbzJcMwzJgDfZSq3nP7sfGSJeeK+U8dUPQ9BYUyis4c+Fo58ZVStyi6MmVQnLpxeNphidI4WfCsAVrGRH2klG90vHeTsxhlGKbluJpHdRiGGcMMfvWrs0Z++qt3JGvXHm9Wrwa/WARVLIFNUWi64XnaXYn6CgUILUGhMpXgo2ejgwZ8Y1CgGvecUo6alu8VfWlYjDIM01JcI4Sh0nzJMHsUa+2f7YDETGzwnphi1607bct1P77I9PTPTqZPh8hToE2MYjOGxLNut88/59n+z/HeE/p82IAYhmEYZjug6SEvIDzt1VdfPdG0A/MSbHjL284d+Z/b/jJfHZ4RWgPWD8BSj6dA0SU1pDYFPc6T2L9SWIwyDMMwzHZAq98p6XzzpYNWvfPKd4ageaKNL35xTvTQny7uWLn2+EIpBJP3rTRZvlBBgpQUqdVZYbYyvichMAzDMAzD7AbWnHD2HKnkjXLZssPllh5o7NUJUnngJQKklZBaCwkYkDQ1lNZguv3nJxK8mp5hGIZhGGanYbfp0Bv89lfnyMnlK721aw4vpnWIKoHVKgANHpZsByU6nfad91xue+5M3xYWowzDMAzDMK8QGnCnR2ut37j/sXfCyNB7qxtWmz5TB91ZEUIrsLEAraUTpCAFSFJdNELPo/TPgcUowzAMwzDMDmBX2PaR62+52Nz74Bn24YemNrqKMm0vg6IfVFi+wUftodpSYIQBY2PQlnpKWX5tC38bDMMwDMMwrxBK69X7g38/cvNXv3mFXt9zeK4RgQryYL0cvitRiFI+0Www3whJ54MwBiyqVKvG+WbzrxAWowzDMAzDMK+UtU/NbTzy6Buqd999XhDFZdPRBaEJXAJ7MBKUJiGqwSiNkhSfG4FiFIuH6pS16HNgMcowDMMwDPMKWXnhx9+TPPHkB9tgGBqFEOqlDvB9HwqJhLBuIdEppF4KEGJJExDgg/SLADrC143mpzAEi1GGYRiGYZjtZGDevM7Nl7/rPbBuxRsn9fUWvHIRTC5njVudRGuaaE956zI3NVc4uWNAe8wLGrNvnsZshcUowzAMwzDMdlJ9bP6pyYZNXy7EQ/sP1gfAtE0C5YfCSyIwOoVEaUgCVJtKgjBYUiy0t7xIUZfSlqCUaBQLsxUWowzDMMyYg7bepAUi9Ng8xDB7iq334JZvf/MNsUwvH3rysWJiFcju6SCEBmHT5hnMjsBilGEYhhlzCCFo+83mK4bZo7hB9b57/zAr+fUtF8Ky5WfagT4wfgiiVMY3aYES7zX/amAxyjAMw4xF7DXXXGN433dmLNA3/5G94dGn3pjcc/+plYVLu8qVdvDCAKw1QIvmeUOlVweLUYZhWoLRYVt8wsO2DMPsVvRH/+nI2r999aNQq+5vigUICx1gBQrRtA5SSxDompgdh789hmEYhmGY57K10bv+Ax94bfTM0rcV16ybk5NKRuWKTfwAUjzFaguKktk3z2V2DBajDMO0BDRci8Xgk5cdELPWqvuMyT9ibdsKa3O8CIZhmFeI8zNPHH54Mbnr/n8pJ9HbR2QKjbAASZgXVZNCYn10RwEoQbKUN5t/NbCDZhhm3DHf2iC/ePHxYv7iv1Zp8nQ+bdzfGKq2mWq9qGu1PCSpb1KtqD1uPaFN6Md+PleXhbChSp01M3X6cDxjal/1kDn9AwADZwiBDwzDjHdQgVImUCdEN37w7w8zG9f/dXTPHZdWatVyvZCHOMgDqBx4wofUWBA2hpyogbEKDG+r9DLQjvwWjPTAxCl61n7w95sN/pz9WIwyDNOaXG+tOnf1YGXgllva1ZNPVfTypUVdHSmInCp4yi+KadNeE06e/OF6f+8quXHNvQnITmmgZLUtCGt9LMqgCzTCGqFEA0tdSFkHIat4YFBI6MW3t6Dr7PMHar1+lAyKcqUBsyaPNObOGUmPOHQkPvHM2kEgaoJyuzAMM27oNb2V6K0f/JBZv+Gf7MKF6CvQg0yfCjoyANiO9RSKUksr6COUr3V8jkKUCvMSsBhlGGYcMc9a+c7ly2cGDzx+HCxffYJZvupYvW7twdDXM0kMDWo5UgdVj6SMEj/VdaNtg7ZEEdIKkKgcs/lJmfvL9kqh/hBaEIu/TGqtTsALclbm8hZyBZCFCsj29gQmdQ2lMyYvTveZ+qSeM2uB2W/vZerAvZfP7jh4pfswhmFantX/8R/5MAjeF//0xrfDPfe/Bjo6IO0og835kBuJAd0D1FUA7ehCpExhQKTgWQmKFzG9DCxGGYZpYW63Njf16U1z4Le3Hl554FdH2HVrpseDtYKo6ymeMVOVNZM9YUueNZDqFAR1WCQGdD0hBQrCQ5GJh2jmqHukD3W/Be3Q5ybPkzN01zl5qkEqBaA8vMYDD50nyABSfF0XYiTxxBYRels8Xw35+WK/nbzvenXQwQvtG1/z+NrTTn7kWCEwXDEM04qs/P1dhwR//b++aHr6T7d17duOEoCPPkAb8GmPT3QaWhpQKeUXVZB4AR6iIfvMszAvBotRhmHGIOS/RaYT/4xN1pb03362Sy9aMFV0lGYZER5h640T5eZnTm4f7A+jnn4wfUMgooZb05SGHhYfdBCC8H0UoT5I2iGF9ouW+JfgX+T2isZCcnMU11s6KkhNdtzg59E5xhgwiQaBQUfGWCKNIpcWK+D5+PeFhRyotjaoTZoGelLHUxi07rQDA3d64K/29tpvsHb56zbPOuWUge1ZdLUt8+bNk1dffTUt2HpF1zEM8+rY/O/fOCD+481vM7f95qMlGXQMd08DEUoQGu2/gW1MD/2Kj+1UbG9G6BOMxcaqlydvgf6ME9+/NCxGGYYZY1g7D/Xfoai3LnHzLWnF+x0A4RlCNOj1qttuPxt+detl4qmF56uly/J+7yZPpJEayec84wfCQ5GpPOq9zMSmE5p0IeE8W+behPt55eC/p/ls208i0JniexaFqws9SQzByBCYKE6N8lO/fZKR++7fD4ce+lR0yrHf2fLuy/94tBA97tLtgITo5Zdf7s+ZMyfluagMs3vp7ZzxURtFXxhG36LDAIIgAKUUWn1m8wStcMq8QvaaXAW1qpmXg8UowzBjDOoVJee0be/fuvvuOtl88wfHiQcfn2ui+izQ9pCCtdNlVAed1CHVCaQQoACl3gkPhI9BAsUoiUISiKPBwTk2fEoBhJ7viBx9jhilQONK8wC+53pNMThZnYKKY/C0AQ/PCfHfluRy0PDDIYxeT6q2tjVy+sy18ObX39r/V+958GAhhukjaOoBCW/8e7xH8ZNHh/abaahczyjtQETHGIbZNaCVk2WTtcue40//ZGPlqnfmB/oPrLaVweRCG0iaZU4Tyi1otHmCDHRUfI76iexldox5MViMMgwzhqAFSNdQzlBkxYO3T01/ckvJX71iluxoe6Nauuotk9dumF1buwoaKEKTfAimvYyPOdBSQSEC8PFKS0PvkobcMyE6OvROQcI5NnpJgaIZNF4pfyZGnwe9Tz0l9O8wgQcKz1FpCqZaA1sdAVWvQ0kEUJgyHQb3ngm12Xv/MOmq/MZbNP/J+J8+FZmTzxw8SIheFKXejKVL1QEHHID/M4Zhdjdoy2rT6eedYdes+1m5Xq+srg7ZfKkk/CDYKpKyxielOUb/0vQHL+cjmOfDYpRhmDHC9fZ6tS9cHB4rRA1FZLj+R19/T/yruy8yTzx9vL96pQziOMzlfZW2+5AGCrRB92U80AIdGJYcBgCa3zkqPkmIuh4LChL42gWF0eckGPHx2ZDxynnJgINvWYl/v0pA4T9BaYkBC8WpL0EoFM0ROtyhKkS1OkReUJdTJhl/9owBdeZp/1X+9Lwb2oVY1vwkhmH2EL3vvOrdtmfTp6K779pHWK3izk7waM55M+8G+QASovQ4KkapbOsbmO2BxSjDMGOI+dZ2hh/+8Fne4wvPCUb6D09H6odXGkk+GRoCK1BAhiEkeQ9Sj+ZqCRR60i1GIokp3CKBTIpSMHDFfWomFiUFiuwFnZCdR69fBaNB6PnQ30T/3hQS95yCl7EoRCUWPN9L8e9vNMA06iAxmKHIBlvOQ0Pkn5Sd3Y/ow2fPN2974//MOuei5c2PpL9LXI0fjYUXMDHMLgRtTcJDTxze+4n//fdqxfK3N/o2QxoqMG1lUCnlDc1sftTPELQgctQXjB5jthcWowzDjAGW/O53of+nxdP8ni1z4ycf/+Tknp6TowULIUaBmVTKAOWSWwlPPl7HJpsHqgT4tFiJPkDjMfdDQvC5wYACBB0jMbotdMauChn0d9I/gTpm3bQBD1/gAYkiVGl6HwW0W2SF/6YERWltEOzICOQjDHhTpkJyxP4bTUf7F5M5c36pDj54896XXTZAAhShLhkWowyzC+n/6lf3EYtXfrj+25sukEuX7Bd3d4IpBuhE0HZRjFpaFdn0HqMC1GXnaMJi9JXy4mL02W+VYRhmJ0Fiys778wzQfl/fmf6Cxf+S//oPv+rfcf+JPc88A8NdXRBPnwG2rR2MH6LeRFGHYo4EaFEpqKCbClCsWhNDYqNMilJgQPFHPZAUHGi1K4nQrUIUg8SuChT0uaOfTY8kgXM2B6HxwUf/SrlOlaQ8pahGTYIiNAGRGBAqBFHqAts9HaozJkGcDoF/5z3d6re3z/N+8fvrxGDjsuUjdjJ9LgY+Mxr8aKcpmmPrXjAMs1MYsXZqdeOa0zdd+62LYP36/WDyVIgLlKJJQZBKENQrSn/QDkcL+ZpR+x8dth8tzKuj6bkZhmF2HuieUVE6R+689MrPfnaa/4cHrpTVvjPFlr4j8xu3dEfowOu50KpiUVhPutRMGo9JjeEAr6KV6e6TrMbj1BeK76Ek0xgsrMBggUdcyf4eUoau0F/o/lKExOm2r7cXCi7uM1+A5wQePIXylFIibC0MFnwPRTLlLaWrXfonfKLx3yuFwn85/uD5kYwBojqEw3UogAf9hZy1U7ofMnvPuE/vM+uWOf/1pVuyvyBb7MVD9gyzc1nx1ovfrp9Z/tdy/sITy/kyJJ3YQBToXdBmPSwpmlumRzM/MOoPthWg2/qIF/MXzLZwzyjDMLsRdOCW5j2us7bw+OOPt4u7H7kgqA3/30nLnznHX/5090AxhUZ3OwTtnSJAEedpFGdYRBqDNCkKNto1nuZiGqij/KRhfPpUHwXd6KICgnShU2ijAcI9pUf8ISHaLLsMjFbUU5vKGgrOCP9WDVbj32lovhkWD0WqZyFRKf4fEjBag8D3pUaXHJYgmjId+ot5K4cGRfjUn07wVq/5G2/t2o8vP/aMA+3tt3u00p6yDrAQZZidA/oH2fdvX5mV3vfwW7tWrD2xUCxBjDZICX19tEuJrUe3rQX6jecL0VHIxxB0fLQwrw7+BhmG2SWQkOoGu0/lpPP/0a5cdpHsW1tUbT6YQgFsEqADzzUd+YjzRNRmplxNEoWc2+MZhadGPZfgU5dSBQOAwkI9jS4UmGZAwDI6PO/EKD2hl3SMhvJdp2p27s7EBST6I1H4eho8I8GnRQ/476Ie0lTR8aYwpmP4f9LCx/N9CBOLwhr/bShWTURCPMJ/LorwkTr+u/04mTZjkzn2yH8b+cG11811XxDDMDuD9Ue9ZpZV6kazcvUxqr9f2O5OkD5t54kNR0Cfg/ZshH52dAPtfFux+UJClI6NHmdeCu4ZZRhmNzJgbecBn/mXMwpHn/JRWL74zd21kSKgw4/9itVeG+rMonNLNCyvIcTHAAWnh1eSABUQ4dNI0lZ71GtqwUMhJ/D8hBw/BYDsr2lqzuwVPZIopR8KCzTERmvu6efV8FJBhv5q+ndZ+vdb3w3HG9qthQqKaUpJJbSP/34fcvh/y+P/NjB1kJJSimY9wYp2kMrl3Dam1heQt1EwaaBvL3Pfw+/Jnf6mvxp88LYD8N/AvpphdgC03lF3AXbevIOCSe1/JTduOLYtTYQu5NEfYQNZYiOSPIdN0W5TtOHM5rdHYNI51FhmXh3s4BiG2WlQb+jKhXdOq1//89fY+x98Z2HR0g+GPes6ek3dyikzwFMdQtbI+WPLmEayMUxYUUAhl0eHHqBU8yCVEmLPohhNIcXgQHtCq6azNzRplATntgWPjz7HX1tDDwUJiiUvH052jNG/j35kqvDfLyDGQwnNf0UxKgQq6tR3YlTh/y3E/1sRhXU5icATCf6/Y7AoRskLCwyGRgtIO9ug2lGELVs2QduqtUfahYv/d+OnN70luvO3B+L/p/k/Yxhme0GjcS7Azr8+GFy2/CqIog9HmzbZQZ0AdLYJS4uS8Cy3k5vbBM0N0uOx7fMco2J0e4Qr8+Kwc2MYZodBB4xS6moUXtm2lfX+X+wz/MenLxv8vz97s1q45rBSYgq1SXmIiyjGUKmFlMAevc6Ib8F3CwWoFzNz/c73U+RoTo8k506t5dFVrXS0ecoL0vyUrYw+f7Hzdy5Zbyz9rU6kZk/dMXo1Wqiv1ilkd37z/04j+/hAW4tKhQUDm2ykoKIUooTmmqa9xROP+8W0r37hhzDn4Lvw80f/awzDbAebb/r8NG/TwFUD37j1Un/BmoMLaIZROYSo4EMQ08iLQBu0UKUsGGifgfNTmcVuD+Srtto98xLwMD3DMDsRS5LR9dQ9K0Q3WVva9O93nlr//h8vUms2ndAWpwVbyIHN5UCi85EaRZbReL5B/UUJVFCHOWFGSwfw0WksdOrNp6Pr5elvoXeIl3L3o+eMkl29u9gqLfEp/kvc/ys7Ro/0o12hVff4vycNj/8xCniUS9U2swW4B/xmBA3b530beADtUTwpXbz8/N6/+dQV9a98/UT83nN0FsMwLw/aiwof3nxU9Wf3vjVdteEAXa0BoF8yge9sj+aVUwOYpgSRx3C5gWkE5hXAQvTVw2KUYZhXzjz02jeQXrzaacAV112Xi39+/WnmwSVvhpsfP6owGEFcLoKt5N2cz7Cegu96Hyg4AAQoxtTWlUgTw5HT/zIrmTil3hT3ZdB34AqKV1qURUERCwZEQUI+aW+D3KbN0wb/eNfbRp5acNnQjb88Gs9mGGY7sI/fd3T81OpzopseO6SwcUhBqQBRTmHDEO0sxSYiitEUDZOEaYg+SQkJ2kNpxAJzt8LfNsMwO0TWMwriTwD5jnvuOch+4CP/pNZuPjscjgJAEaoLIRjaeYhOcr/Q6aepW1nuqWzxEgUASlg/4ci+OvfHbX9KS61Qh1KiKHonW4iFjyRSqcNmqB+iRh0axa6B4Ihjfj77a1/6Nhw462EhRIzvMgzzXMh8yHpg+bGv+Q+1qe+vCms256FShLizCJqybCQ0Hx2Ny/eyHlJjIBQK0ENBbDUoSWMz9DHMzoOH6RmG2cnQ3EUsJv/Rq+ek1/z7VWr12te2N6pB3FGABIWoRSFK0YCKRp+e0FBYprTw2maSexqtpg+baOB3kHnfbGifgh69HP1NWQBIg2oaxsfvMakUrSgXoDLU324WL3z9+o994h3RtT+YjacwDPPn2P4rr2xfd+Z5701Xb3hTe/9wXpSLkFbyVgfUEKYpQ6hDKUsHNo6dDaL4pBzG1AB0jcAJ6Zj2HCxGGYZ5VYif3nBG8fH5VxUajdJAQUF1SgniEMWmzRYg0VxJ6mlIKeE7OnvP84B2XKI922l7PQoEE40s1jUjHn5Pbp7sNj90mL4/Cpq0E4wpFITt7ADdFkBl07ppI7fcctngXXecaa2Z4T6QYZjnMDx/0emit+dbbXE6pzeNoTGlDI2iJ6I0BYOFzEyozP/QSAT5ImocAx7zXDaMieiZ9hwsRhmGeUU43ZQ9yvVnX/CVfF590g70QK2Sg6RcBL8agx8ZcKn6XLoUfDQWAk09EaS9LDRS2o2IzpmYDp+2OKV0MC4/oROjmXB3ARAF+2hxC5zw67b4fcoGQJjvBNuWBy+MKkO33PaPq487/Ur8PoPsUxlm4jLql4h1n/nM5UF75cP5Z54BaRJQbRVLU4Qg0eCRX5ICYk9Aw89GbehiGqZvoGiNTAopK6PdDn/lDMO8OHZ01fyz4AtL23yue/cH32A3rL1selqbnOTBxnlaNR9AjlKluIU46OjRwVOvn4euxsMr6YNo1SoVej66c9KEg4Jf9ss9jH4Lz34b9AyL+34EBlTrFnwJFUJaKltVzkN3/8B0vW7dpSvf+1fvWPT//l/ZXcYwExS0FHRVVgzeeOMc+9AjF6XrN5zeSCJIAx/8XCC8xICXUqPvWSvDNmCTbEEhFZoeQ2WCtpP3GCxGGYZ5Ueahj7/hBfyE/tT/eZ2No3+AVctyW/rWgJzeLjwRgh9J8GnelaRhegNpnLgeUp92JPKk64WgAODLbIjezZ2cgJAIp1W7WU8ohcIMCoZbI6R7C3/wtVT4nfoKUp2C8XLCFDphSGsoxrXD6488+AXz058ekl3EMBOXodtu2z9Ztuwy/ejDR6oli2U8ZSqYchE8tKEcOh/yTYLmrGPjzk8NhChOqad0VIT6HgpX9FXk8KgRzew+WIwyDPOiXIN++uKso8BBOyw9ae2+/kMPnxr8/o7jjPLySbECfiIhNMrtkDTsGbedJ6BTJ9FJq1JJhNZtCjENOmMwCBSegAHADZ1NQNwcNRKk+N2QIH0232hWqFtG0PwG6g3F56k20DAJGN+Axre1CcFMnWoNHgtWLa+UZ0z9u02fveZ1zY/ftrOVYcY9aDM0glM21/74tbUvXXtlEkd7xx0VbMAVyONASnPWaZthYSDBRjI1BENQkEMJRAuZaLoMzc9WaIeUAF+RkTG7FRajDMO8ONmKefTz2d7oB33/+2Hh7z/5Vr1m5Vm5TWt9mctBWmhDUek50UTdCbRgiVw5+nUnibJhLxJZ9AkIiS98Qb0TFAgmJPT/pzL6Ekv2PdFzPEpqEovE71RSTlY8l3Zmcgss8DnlbpWFgtAo6oNaZM36TW9qPPHEW+0z90+hwJx9AsOMb8hM6JF8VM/H/+G86lNPXZLfsG523gulLne47k6alu2yUqDtUIOPCq2cp7ZeSq/pE/B91yjEDyTfxNaz+2ExyjDMS0LiBh+orxOi798w2f/1ze/PDw8c3lfyAcIQrMzBiAwgoq30IIW8FhCk6M111gtBK+nJwVMOPx8Lefw4SZwQDfEKF00mGBYj5J/tZ41fBL0aPYLh0TloysKax1LAolGNUtqZgkhBNWrghyXId0wX8PiCIHriyeOT+566BB65ayqeyjDjnqbJwBLYP+z/4fUfzG/ceG6SDwBy7eiwciKNa6hH0dFI5Rq/1OPp4UtKdF/DZvOQTSBBA5O+57J8UA9qgue7Rh+zW+GvnGGYl4R6HbDEK//5X0/yOgr/kNu4ZqZXHwYxaRJGgjx4Mf5OUVwKFFfUJ4chgoblDT6nvH00Z9Tl7XNQjyC+xuPU10qrVre+NYGg78kVeo4l+9ayoXuaRotfOb6fFdozO24WWoBBSzAaysNQqtzQYxJiS8EPwe9P5/Z88YZ3b/7fX5lCfwfDjFfQZshkHKvOOPeY/HFTri+NbDle1gfBdHaAkSGIBO3FbT1Mm/CSwMx6PymDhxuVIVtTmQSijTioZFY4+pvZnbAYZRhmu7DzF50B63sug6iea1iUQmEBg4IH0ggI8RkNO9O4GPWj0tAXPTqHT659VHE2H+k4iTE3RDYRwf87ldGvhaCvYrRk0PeZ/SToqRMMprTYgobuUxTz5L4NBttUYbAtFW1HZJVesvqoeGTotEGzsCv7DIYZf6CNONPZ+MUvTtG1+PL2av3NJQX5hi+tzqM3QocjrEGxqdzIAj134ztoc+6BxCg+c4sI6ZPc0LybIIOFpeiegMUowzAvyRJrwgWblxwll6w4NPfE4qIulkScL4KtRqg6NVjfAx2GQHs9G3zN7HwErfD1fRTxEjxjINApPmKDAAOopB6fnBJ1iEE3hq0t+R8c+vhXr2peyjDjkifOeUcR/rTwX00Sv2vl4qUwVGwD290tbFwHQUl5A2oU51BkZg1mZmzDYpRhmJfEvOnN5fBvrvlbGOg514z0oZMvYEExaqln04Cm3jnX00e9Ddv29TE7C0O9oTTXzfXg0FaGND8XhT/1RtOh0AObVxDKRAQLF8+xtz94JJ7b0bycYcYVZmioe/YZh12YPPTwSaW1azqKxRykuSIk0gdlUmwUY8PMNYx9N0iPR7ILmTELi1GGYV6SQqFySLhw2QWT4mpXg8bjFSW3z6H3oB2CUIxSn6gb9sJD3AGxS0D9SZ3QGFRRfOJ3DqOFlKhGWapQjBZ8kHkBuXVrwK5ac2Dfv//7OYMPPsjD9cy4Y/jf/vXE+iMPv0OvWjVTDA1CvqMtcz6pRvmJnsiNumfz06lTlOaLMmMbFqMMw7woy++6/wTZNeUt+aefsY2RIdAzJtFAMUgURsKjRUgGhZIGi0HAzQ6l1fLMTofmitIq4FRaSOmFj0FW0ZxTrAMUoymW2AsgLedghPZcDdUhtfse+szIl7/KyfCZcQMKTA/LQSO3/fF1jd/+9lz0OYV6RxdEQQAiqYOXxKBkCJ7Mo2WgLzJRluSe8hozYxoWowzDvCjh5798onzsiUt0qvN1dOhpEEKCAtTYFAWpBmlRDolmjygtj8/SkTI7GUrEHaC7NhhfU2VBCyw0TYICrqANtj2sEw8SFKRxWwm8NPH1Y08daPoGZzc/gmFaFmxeZV2bCxbI1Sed/4F05boLC3EDvFwRrF8AHWfbDqPyhBTtwWgUoAatQ2GrWadgExqyZ8YyHDkYhnlBFi5c2CUXLjh+8urVM3QhVI2wYG1Kzp6WKqXo7DUoQ+vpLVCGFIuBINtxntnZUGosSpFFHptSPWlsBNAmMQa/c8BGgrQKGwdUCShOyxUQKdbNqpWeqNaO67nnnmO3BnOGaUHw5rX29hW5tVd+9Oxk0YLLOquNaWm5bEUun62I1zRtxQOtfEio0YZ+iVbQKzQaEqVuwjUzpmExyjDMn7HiK9dNzf36tx9ET37UyKa1EJdo0VJBeBGJIpScKEhdfwVCg8WUy4+EKA3WMzsf2uefFmTQd009QKN5EakGrJRulb1Pmw3ElGYrB1IFtJgYZBS9vf6tH15xNYtRpgXZthG1+R8/9D4vjX7m1wa7+mlq0KSpwioaG0gg8D0weM+n1kchihcJPC4NeEKAR5kosDBjGxajDMP8Gf7ix6b5t9/7JluvzYl9hYKH9phX6NwlKPT25DgEvqb+hq3CyGbiiNn5UI5EKsqi8MQfmp9L+9pLp0xpf/8URWrWU03nCD8AkQuhsLm3yzy58KCPPfggr6xnWg667e1VX/ejj11zcVLtf1th45pcvuCDKrdZStvkxmhsA0vsfBJJTlo77ynSsAIaddpPCYWOz1JnrMM1xDDMc1hibUX3jxwm5i+YW2pEXlKpOEchKaWQ62Cg5ND44/Z3pgRDwvVGuPmj9Daz03E7W0mUoKhIBW2yja9JjGIzAYSO8TcWgaIUxSltM6o9BbqUB7tpI8DaNd3yTwuOMNaWmx/HMC3DgLfw0JGVy/4uGR44adPm1WDKOfCLRSFiGjGw6H8omweKUSwK7YDEKC1aMtgoq6doC24kh5vJYx2OHQzDPAf7zevPSrW80GxerxpRHUyxhA6e5l4l6PQTiDzXD0e/3BCxVpkopdXevmGnvyugXlHaXhXjKtYBBmDqAcXXPhj83iPUqShGAw1paKEuE6j5AFExB9W0ilenM+qLVr1z6MvfPSD7NIZpDezNNx9vlH332ttv3l9sXi9K06ZCwxPQSBogNd734EEoc1CivefTYTB6GBvMBhKNRSiQhRLaDjbQ0qj5icxYhcUowzDPIffLG44Kli4+XQrrpTTXCp067elM233SOLywWWp7g79dbygdp/G0ZmF2FZnQzxYzUc8P9QqhQKV0WpTFAI/RGfQ+DeRTN3bi5/CY7TZPPnxWfMv/THUfwDAtgLW20vPV755dve3eCwrD9XZPemBQXCb4mKLApLRy7o6n+94qfMAWmMCWMtkCQq6IRutpNGH0GDN24RpiGGYri3pM2XvyiYMmr1rZ5pWKwoR5GgvL3qRVq9QXYegRxRCqHhq6py0pKSjQYm7NYnQXQXWABYMw9Yh6WA+0mp56qA0GZ7eKnr5800wDZQQomixXqEDBSuEvWzRTP7Nwsvsohhnj9D/+ePvwN649c+ixJ88Nn146qytfFl6pDWggHu9sbBxLvO/pTOsaZTEJTpnH43kUpuif0EakQLGqE+erOP/x2IfFKMMwjpU/u2la7gffeG89LB3UN1iFJB+CDUjoNMUo0zK4pWTYWKBVxpT4oNY/AvHUmfuMWDvNUrRmmDGMvuGXB2383H/+sx4eOq2Wz0NaroDxsAkWR1CMUwgpldOf0WywMS0JOyWGYRzyp9d1qTtvu0jVo/0T64EJcmAxADCtB4VkmkahmvWXViOqy8MGf/qjEx79xje4m4gZU+D9unVMpeei950Z33LHR/Mb189toz3m2/OWMnrQSaHGexqFqJsyxIwrWIwyDOPwli/aSzzx8AmT6rW8yhfBSh/9P4+7tyLUM0qJ8S3tRiAkSAziopEcDY88flLX+vUsRpkxBXoZpy7nXz8vaDz11Pu6e/ouDetVSHxjVSkUCc2ORhEa0PxQmo3CbmncwWKUYSY4NGy76qY7To1nH3SB7dkojGmAX8wDRBps8kLDYcyYB0M75X1NwbhsB4HKQ9tQbZZ86ukjg9/8hv0+M+ZY8uH3zSzdtPIbJho4e2j9KjBdHSDKZUE7KQkbQ4I/DRShqfKwocztqfEGOyWGmUCgQBFUmi8dQgjj//znp6ueLa+3aSoiacDSwlSNDoK1aEsisIZpoRM2J5wYlbkQSkMjAGvWdxTmzqXNmRhmzDBgbUeuZs/TT85/cxAPddfzAqJcDrQIQKIfojyh1MuvUYhqlC3Pc2HMOIDFKMNMLMTzt4acZ60UDzxw1JT1m/ZWYVFGvnS9EIqSrJOqYVoOynfgSUqJTz1JAmwhgMbQACSbN0O8/6Fd2VkMs+ehkZnoC194M/T2vt0+9kRFRDWAaV3QwLs3pZEZrUBIH6SHhXpFaaie8xmPO1iMMswEAqWlvcYN4mb0WFt+969/eUY62DM1WrcOZK4drB+CFhgEaNEAzTlkWhBsSNDEOqxp4wlIQwmNRg2SJC5BKUe7MbEgZfY4KESLcM9TZ6Xf/f5F6R13n6rauxQEbeBF1LNvwFBBmeLLPPgam1iNKGtJS/ZL4w2uUYaZSNB41zZ748X/8R8zwrvuv8Qk8d7Vag0FaA6El43iGouBgFettia0eImGN5tbIWrPQqxpD3tZ9voHjhq56aYp2YkMs+cY/Py3Dt34hf+80qxae1L74KAflLAx7BXApgJ8yqkraSmeBZPg7xRdF97XlNOYCjO+YDHKMBOY8M4H9pJ/eupCH9SMRpADLSUI2loPXUOapmBp03mm5aA2BA1lKiyS9u4WGjC+g1JeSfb0Hg5PLepunsowewRr7ezaQ/e8bvD3f7gsV487daWC4jPAe1VBinetZyX46IkEGIgaDWxMGbABHUlRlGJLixlXsBhlmAkKBgO/FtX3Gnr0iQ4vMuB1dEEiLWjaaUl4bicf2lqSaT0ohHugMJhTUMcD1MtNx63NpVu2zLarV7e5ExlmN4K34tZJ6GtOf9P7Go8/+ZGgulE0igWod3QDSk6Umig2sVGsNDaR8aZV2JASOWxShQoS9E1AU4ioMOMKFqMMM0Hp+9rnzxGNkXNlX48ytCAgX0Anj7GCclKir5eoRLcZ0WdaCFpsTNuzUmPCo7rEYrOUOKHu692rvm5tpXkqw+w28La06+bNK6z/i4vOs8uX/cXUvp4ukZeQFnJWByEY1+NJ80tIuNIvalbh/avwEN7P2aA9yRY6yownWIwyzATk9tNO8xq3/vHKfKN6adnPQSIFJNaCbyV4NDeLhug9jQKGxWgrYrARESmsQ6xTlQrXyw1BDjzaUnF4sD3p2VhsnsowuxXz5IIzTL3+3bC+5eChgU0QTJoMvucLL2q4nnzKBGHBQKqMa1DR6nmpDXg6xfuYxCplieA8o+MNFqMMMwE59tprO6Nn1nf7m/ohzfkAoe9SObn+BilRhAowxjgxw7Qm5NxJg7qd6GkusMIAjvWpaw1IRkbcOQyzq0EPsrUbs/+GH58udPI2+9iTk62REHd1o+gk6Uld982TmAkJi1GGmWAMPfZY98iNvzjT9gx0Rz39YPI5EIGXDcmjWLG0gpVyU6KK4eTSrQnVWtbDJEALfKScsQqPYBUnKEbTKOWuJWa3QO0heqzdeOOs2v/cdGmycs1Zcc8miFUIttwBxrWYshOZiQuLUYaZYDR++NOD7aKnP6BSPVtHMaiw4HY3cfO1aPW8Gwqj+aIBxgfWLK0JRnYSofiINep6SKVS2YK0Wp0yJuTcaQyzG7BPPD1br1p/UePWO84RCxdNS7rbAPIheAY9jCE/w1JkosN3AMNMMKIHH56sH3r86Lw2RVksuXQqtG1kaikPpQVrKKWTRi2jsLCLaE2wHi0Nf1LBNgYWt0IZH2WUgO+HBWNtEc/h/ihml7P5M1cfM/iVr71PjQzMDkIfCkEFpBSgdQw6xXuUblBmQsORhmEmCHbePIniY5pXrc/1V64oKpKgpSLpFrCUw89iRKAV9CRdMDpkM0hZq7Qy1BFKcR6rF59nNapSDcr3qGeUFjFxBTO7lC1/+w8nN5587C/CFc8cVPKklJV264vQTRmhPMZuYwZ3pzITGRajDDNx8Or/+l+Xee1t58f1Iaj5GqK8glhrEBgUPBIrCgstdsEfMypQmdaDAr2lqRZUk5LSjDbDvQVpUIwKSdtshVhYjDK7AndfLcF7rPajG/6lMDRw2VCoQVfaQRYqIqGNGIzC+9CDwMd70s0fYSYyLEYZZvyTCY5rrkkH/+fmE+N1m48WpTxoJSFBlRKjAMWwAL6lPlFULXi2pHyjlHuUY0TrgnXnxKigdDnk6qn/KZuGgSogQLVKvaMsRpmdBt1yo083v+6So0snnPVtOzJwQi5pQLmzCyJsIFXjGO8/H1LluelBXhq5BhLfihMbFqMMM/5xknLwbz81u7540f5tW/qE6GjHgOABaA3Gk6AkylErwWBQcLMIqXeUY0NLQ9VHYpQaFvRDf9wcUqpjrPV4ZMTPzmSYnQPeYs7XbNiwoRgN97+9u16/LAQdDnvS+uV2vPcs6CRB/6LAuPsR70UefWEQFqMMMwEwf7jnQFkqv0PaWle1NggiXwFP+uBjHPCdWKE0TnieMVmHKB1D78CCtHVxvaKUZBRbF1SN1MjIFjRhAyRLIOuEA8PsTNZddVXBfuGr/2jj6gUb5j8KUSEPUdckMYAN34LyoU0FAKkBmdbx/tSggzwYiQ1jvh0nNCxGGWYCsOmrN+4/8tDCtyuhpyaQgI7J+JUTol6K4kRb2hEaBWhTfVJnhdsKlANESzLaiEDNSVuB0pQ8t7cN1S/Vq3L936NnMcxOod/adtj/2NfBrb9+nVizag4UyiD9At5uPthUQANFZ0NZsLIBRbw381ZBhA0mzbfihIfFKMNMAPSKxQfmlz5zYEFJ34SB1RGlccqGcCWJUWtAk05pLl4iDcpStHUhvSlQb1I/6OjuNi7rKMV8RV3e1gSlgCbqMcxOI/5/Xz0BHn3gMv00+puBAZCdk0BKH1RsQaGDifAubFDLSCQQUEMYG8RuJMZ11DMTGRajDDOOsfPnB/bxFWfkS+kx0fKHIRYoNitdwvNQpqD/T62EVKFCUQYUKhipPbxIuSFdTrnSutDwvNISNNZr7KeQYt0ayh9Lw6Kej89lQ4iwhqdyBTOvGhSTyli7F/zoa6+HX/7oraZQKYx0doPWCaQmcVNDaMV8iI8h9dSjn6mhGK1LAz4KUd5ag2ExyjDjmS9/2Rv69rUXxtX6aQ0doygh4YmCk3rIEFYi4xOqXrdhAdW36yalo1mqJykx9Ce6gQdYjDI7hd5rry2sOfHMDzXW974ll1oh/ACs71Nq24zmIwmO7FYUKEuzOcyCe0UZhMUow4xjNvbUStVHHj61OFydERcqYFCIUE5RZnyTzQilZWno5PHF6A9NwqCFa7IRkxAdolOxMMwOY60Nkm//8NR4/vz/VWnoWcNtk6z1aACe2j5411GDqMnozUYpxmg+s3toHmMmNixGGWYcI085flqy8DE/Xb8OgnInuB4LmkPIjHuonmmHGwr6ThAY7RYyeTIPom9kCI8lWFgLMK8YvGm2Ksz1J539l2Zo6Me5qNrWsBH6mbxQnsrmo8vnSgyaG/r8+aHbilVm4sJilGHGKSNf/ckR/sJn3gFRdVISjYAMcuj4FXdFTAAo4OtmzxMtZMKKdzll6bUXFlAoBLSCjWF2CLyb7Px584KeD3/iAjHcf2l37+aKLOZAl/KWXMzzBebzBegoLESZUViMMsw4xdx9z7GwduO7ZT7sTnzh8oa6+YPMuIdqmebj0Xi9S+mEP1bTAiY8ViyDbOtgFcC8KiavWj9Xr1l1tamOvGbTpvWQtJfBlkrCplnvJ92D7rEpROmRxOe2hWFGYTHKMOOU6PHHuuSTT3V50hOmWAJpU14sMFHAOO8aH1hoAwN6auIEUI5CSrtvTenmuRrMK2Wreqz96qbXSKXeH91xy76iv1eYGTNBqAAbPAJSk22gQb9GhSjDvBwsRhlmnGF+97vQ/M9vT9YiOirZvBblhw8iLICVGBy4Z3RC4FQD/nK1Tb9o6mgSQ81oG3e2bbRTpw7TWwzzCkBtiV7E2Bn1677zpuSB+8+39VqFthOGfB7vMYXFw0YQ7aZEd+Cf+5rni1N6zYKVIViMMsw4Y/iuu0qNO+96hwnFKYN6BLREMapCFqITkEyHYsDXFkSagjZJVU/uXCj2ndWbncEw24+99b5Jw1/+zpvSRx87L7/gyZmqvR1MqQwy0Xh/SXBz0j2aNEpnv/BQ/KgAHRWhLEgZgsUow4wz1P33+/U77zrOH+yfqcsFML6Pzh6dfkq/micx4x5qe2CYp2gPwljw8akAOyInd84XR+zHYpR5xWy67luzez77mQ8nPVuOSortoMIcCNq6LbIQ4IOBFOo6AkP3XPOal4PnjzIEi1GGGUdgEAiHjz32kOHVK6b5w0MQtFVQjConRj0jef3SRALjO4lRqnIpFARSgSds3e/uWBYcdthAdhLDvDiu/dJk0wVvPSl5+IG/9Ho3HxJIA7X2kk08H0/wwKOFclajf0nwNaWzZ0fDvDJYjDLMOGLo1lvnplq/sTY8kKvW6pDLlcF62aaenvUwUPAGnxMB6miiFKK0eIn0hEJXHwQheFI1/DBc1X7QQYPZmQzz4rj2DGIvvljVHnrsI53DI+9S+QBGyiFExUBEeGfRHFEfG7wahaik7T5RVVCO0ZfzM6M9otwryhAsRhlmHBH9n8+d4N17/3uKBa8DvABMXYKnNQaMFBrKgiGR0jyXGcfQMCmqAWUD8DVAEPWDKPrQCMMq9PY+gQKgv3kmw/wZeOtsdRP24CPnJMvW/s5q/aaeegNkpQNyYRnyqQIVU7qwFLQCt9Wwppy2BmXFNkp0W9G5bWGYbWExyjDjBGutr3v7D+zY0NMeer4wYc5al8CHesjwNweACQMtWkoNDZuiGNApJNEQ2EoJVPfk+tPXXtvTPI1hXhByF/S46kc/mt4zfdrbzPDwuWVj8w2lrMjTpgkeyMSCh40e2ukrRUeT5QojScF+hnnlsBhlmHHAukceKQzcdd+piRfs3bt5C1RtADoIhPQxUEgaMpPgG4HihAPFeIdqmIRBnElS0GkEw3EEI+U2qMye0/+aI4/km4B5WbBxK/w77//wMMBfLV6/3g6lCVRKJdepmWIDh4rysqk/mnb3QrjXk9lRWIwyzDjA/8LX29JvX3eVTOqnpmkK4BXcPvQgm7vuYKyQ9MiMe6iWpVTgByGKBZIKKEgp4X25tEAeccTDdvY5mXJgmBdhcOHCrt5rv/EOe9/9Z4aPPzmtEIYiLBXBC3wg/7Kt+Bx99FCYSmr4sp9hdgAWowwzDhDD/ZV04aITK/V6l8znQKkcGrdEYaJBUNywAigDS3P0jRnnkARVQlGfFSgw4AkfjJUPemedcfudFx7OYpR5Seo/vu7I5Fe/eYddu/aQ/OAQFIpFUD7eQ8Y4sUniUyrK0vGsP8mEKYpRwz6GeeWwGGWYcYAt5qc2Fi4KzOAAeB0VCFCIKCdCR1M6CUjdDkzZ+cw4hwRBnIKJ6rTeGXKFTvDW9T5cee1J955xxhlp8yyGeQ40ND9kGgfHjzx5Tv03vz0njOol3d0Ffhi43tA4jkFKCR4KU+l5TpyOClT3iIVdDLMjsBhlmBZnw3/91xkNMO/ScaMSpQnY0EcNmmBkoQUsHooRlCMYIWipAfdZTAxIECiNAmGohnWvIL/vvuB3dlWzdxnmRQmHDjvt/fbhBe/Kq0AkxRxEoYIoSVCMGpr/AQIL+RGD4nRrLykeI7E6+pphXiksRhmmxUnuvPtovXHjm6Xv51PlYaCQkIoEaH2rBI/Gz5w4kfias4yOf6iGybHTDuGyHsGIsUmyz16LvQP2512XmBdl8F/+s2vz+ZdeYlasuLB7oDrFlDogzuVsIi1oyszQFJ1OiDZ7RAk6RoXYdtieYV4JLEYZpsWJ7rp3Snnxss58oShVrgQisRArWkWPOtSi/KSeCkFpWLIeM2b8Q1WuaJtwrPHYwip16nHfkP/rHU8332aYP2Pg2m+d1Zg//7qcTmYNkKPIteN95Atl0HdgI9fzaYESNnSbC5hGe0FHC71HjyxImR2BxSjDtCh2/u2lLd/99uu8Qv5I29sHEAYgMGBgpGjmFMXAoAUYi6+pV5T3Ap0QkCAwOoW4UYOws53mE/fqSZ2/bn/ta1c2T2EY6uHc2jbteeu7PyhD75P5zeskhD6Izg4rAuUWwUkjXS/otiJUYUuHVs8TdIzKtsKUYV4pLEYZpkVZ//2bO+OHH3+np4Ijkli7nlBNvaEYZmimqLQKhFvZavCgde+xHJ0AoBjQSQJRbQTiyZ0Q7jV9w+T3vGcpigSqflYKjANvBNSVVvS8733HxOvXfLgriY+qJQ2I8gE2YEJBu7YJSxLBcwLUUGJ7GprHC4VsDtnj8W0Lw+woLEYZpkVJb/5jOb730TPb6mayypchoZ12IAXrSwjBhxADCc0T9SlQYACJKQcgS5EJAFZyivdCvQFieveqKaefsIj2Fm++yYqB2Ur/P33mtSgx/3lk2ZPTe9augmDGLNChD3FSBZs20J9YSClFmJKgPAWKhuqVQlGKx/EeIwFKopR6SlmQMq8GFqMM04Kg02/LHX7I0Y01q9p0dQigiPJTYqBw/aIYEDAopMK4uaMGRaiyCjyDQYXVaEtCIZ4K6gL8RWl0AJQI3DAqZU2g/cGpB5wcukyqNm805L0ywEj8k9wbjv8eXH99ttqEYZrYJx89XP9pwVviP9x9SqERlUU+gNgNzXvYgEVxib6EGrPZwke6ICvbehBeuMTsLFiMMkwLUr3ueyfq1J6XDg2KWlwFVB5OjCoKHRgYaJ5oKjQkJEZpHhced/lGnxNKmNYBGxkU+FGIZmE/WyxCTQ9KbJ9NxaDT8Fd1WLgNDqbNGKitHbpVnHLp4uYQPcM4hr/3s8kD1/70Ur109Xn+ihXlIPBBtJXdqnnPUg4Omg9K95fGOw3vr6YQpUbuqCDddn4oidFtXzPMK4XFKMO0IH2/vvW0eO2Gt3q5XGgwkFB0oJ3ISYhmw2XZeVvFZ/N4FlGYlsNDV61QFsQGBPWKegIiU4fIRk6kKotiQviQ4GnpcA0aYdBTftO5N0/6qyu3ND+BYRw0qmKGe07Y8p2f/4VdvOog29EOQ+0FaHgKwghPMOhHsO3i2i+jhWF2MSxGGabFwGASwDMrplfWbAwDPxAQhq73k8ZhR/vNMp7tpaCjTqRmL5kWQ1NPt0mxEmk/JSr4VGrnwWkfehq/N4kG24ihXKqAkWpVcMB+Xy9+8mPPZJ/AMBn9b3v36dWvffdvzMiWOUKkYMtFN+XD1x744EGC4jOi3dqUAInCVFCye4bZxbAYZZgWYoPZUOy58ScnmN7e6WbderegQASBm9VFPaOZ2Hy2N5TIXjVlKKvRlsQaDQbFqJKUORSFJ9bt6IpmmoIBKB5EHAOMNKDePRlkZ8eT+Q//1R1CiBGs8mdbJcyEBRujKvreT+Y2HvvTJZUVK84o5MFrtIfYtA3ASxX4Cd4m2KilSR+0dbBWeF9ZEqTZ9QyzK2ExyjAthPnbf9sr/uMdHwFfHNVI6iCaw7cG48hozyflGKXno9C8wmzfFKZVkVifPtakr7IdtVKNksFgraJQSHWKdZ6CHzdAjdS1f9ABt7S/94o/NC8lJcqVP4EZbYwsP/bYUs9/fuNrMDxwWX+1B2R3BfyONqETA0YbSKyGhokhxHNDbPDE5DloUSQWhtnVsBhlmBbCf+KJgnxywQlB2piU5D03X9BS0MCIQ4+jP6OMPsvUyGhYYloNiQKUFtJbFJ5uKT26bkFi1CrXKy7jui1IC6pYUKhMb277yMducxcyE5ZRa8df1rzv7w/taJv+mXjN8hPCpAqmq9M1b2iSMWUlNq5BS1kZErzXsPFK/iSlxi2+71I4MMyuhcUow7QQZnBkL7tkaXcYNQAqJTyCQcRg0KDII2iFNQ3bNiEFimXrXFJeiNCyUJ1SD7dNE6xQyu3oYXWSSCDtie9Va0L7+HrGlL54/tIHhRA97kJmwkIilB6ttd7IupXvCuq1j0H/Jq/fJCAmTxU2Rt9Rxyas8EFR+jdqzIB2i5eogaM0NmtpyOVZj8IwuwwWowzTImz57o1vgFn7vi0Z6Fep0eAXS06IOCWKbJtWhSTp1lf4Pp2RbRHKtCJUxTSUKi0WrEY3V5QEKb3Ae8EO1aGey6/Lv/HMX5Tfe0lv8zJmgtP3r//aNvSZqz8ztGHp+YOP3Qf5cgXCYifoGspNEeL9E+DNBVDQFkr46CkJdRSlEd5XAb4n8bhNKYctw+xaWIwyTItgbrn1JNjce462UqWgMJhQ7xiKESyZ9MTfGFDE88TptvNHmdaFer1diicUC5YS3QOWJAIbRRCUuyD28styrznuu5VP/+P65iXMBAbtvs0bqZ8V3XbHBXrTxgNS2t4zXwDhBW6FvKKpH+gbRJKANWlzAST5EMrWIIF2AhVC43Na0sQwuxYWowzTAmBgUfaJxw/q3LCpSxZKIvVDsBpFJq12df2gWEiUOjHavAhhQTo+cPUrFWgPC1aw1QkYEaMQrQJUI0inzYSkNGlx4eK3342iFQ8yE52h//76a6OlK98ePfz4QYXBESmnTIHE81BwGvAE9YxSMnua9pFCjIIzwmM0PO9bDzwUpJpee3iOYjHK7HpYjDLMGMdYWx64/abTayObpwyvXw1BpR1ELg/a0FZ9TqZQP6lbdEDi1Bo6RgLmWegt6vlgWhNFNYwCYYS2eMWaVChIRWAg0DEEjUTDvrMXtp1z5oLm6cwEhuaINqw5ZODab/9F7dc3XVBQhcDmJ2PjpQwJ0H7ydfQPEdRFBEloQeU99DEoPGnuuUKxahTgiSASA4lKIPZ5mJ7Z9bAYZZgxTvzpT88UN/7qnTKJ9280GiBUHpREeeL2I0eBST1lzR+nQLFsKzvdID4e21acMq0F9WZZ6s3SKEJRlEoUp7JRgxzVdT5vVS64sfKm83kFPQP2+9/ca/j8C95nV604u1Dr89OOHBi8R7zEwwYrCk1BK+jpnmr+OJ+RLYbLXmRD8zQ/mTZZcMcZZhfDYpRhxjjVhx6aZZ5adHEJxNQ0CMFo6RYWUFIfi0KUBtfoh55TIavOgk0TJ0SzH6Y10VKjPEghxLr3LS06wcbI4DBY34N42uTBkcce+0Xu9GMWNU9nJijW2o6+X/z+9MZdD3ygXB/Za6QzhFqbD8azwk800B5LlEXU0F5LNvMjJqUhe88V/AB8TFGvUkEZanw8B+83htnFsBhlmDFOQ+U7R1asC9NIAxTyGCwSN28wpW0gmQmBS88lKel9CJSDXEMEciiCRqHcmzvz5D/mLnr9YHYmM9HARufWVub6I8+6aviJxZ8biWphrVSGXOd08Ecw0Md4B6GmNDZGvcnD7szYg8Uow4xhqrfccgJYcVLc0wexESAKBZCSdtyxKEjZfCcMo93cWOXGoKBI6pAPiqhCwgX5k47/nv+/Lt7SPIOZYKAStevOv6qw5twL36p71l82ZbBvklfIgQmKVpocCKNc7lBNC5EsFrdpAsOMLTiaMcwYZd68eTL+7e3ny0b0JhM3RKoUiDz1jNLqVlqOxMPuEwWafUHJ7mmo3tAK+qgBonsaiFQ80Xnle38z6YATh7IzmYmIrfeeJKr1H5XS2uF9g5ugraMDQpETSRUbrqEHaWAhpt2VNKVz4rDPjD34rmSYMco111xj6rffM8dbs25vVcwJG9JcQQuG9iWneV6U2omZEFD6LhIRtIhJ1quQ1mtp9dADF/mvfx3PE52AbDs0v/Gz//cCL6c+4i9cFGCjFeSkTmu1zKZ2kMsIUohFDA2TgpJ58CTtPs8wYwsWowwzBrHW+sPf+9bcaNO6vfzeHlDlAggfxUiaogilnrIspRMzMaDalihGRRpBgFLECj+GKZNvzL3z7fc2T2EmEDQ0j6ihH3/zYPvQw5eaVSvPjkcGIPYUQKEkkpSm8RiwPhaa1oHSVNDIytYV8wwztmAxyjBjkKH/+cG+0br1lxuRzKjWhsAroBilsVoUI9RLJhUKE8VBZaIgBOUZFSBqVfByBYCO7qHo1lt/Uj75+PnNU5gJxpbv/fcByTOrPigef+JUf8H8nJ5cBl0sgkmFS2BPYlRYDSZKwEOfEfohGEP5RGmaD8OMLViMMswYpP6tn85s3Hnf2wXYvY3ng28or2g2Nke9ZFoKSNh6Jwy0k5a1FhoDgzBQLo3kTjnpcfWaU3me6ATFWNsd3/PoGdVv/PgCMzAw05RzIDzP9X5abKhadBYeCs8wBVAiBJlgY6auQUgUom53DIYZW3A4Y5gxiO4b3jdctmpWmdL+FQpWJnjQoiBBEepWxtLcUSwcViYGtHc46ATFhAdJPj8/d9prfjHzojfwtp8TEGyUFHo+/qk32oeevjBYvW4myk+I2kqWtotFb+Hyg9Kmn27fecrAga+UxsYs6lBDC+DcAkiGGVuwGGWYMQQGGhltWnOEKBYPqS5fCxpFiCzmhE41ClABWkpIBAYUnYJIOUXLhIB6RaMG2CSCYOo0SCw81PnBD35XXH55f/MMZoKA/iFXu++mQ9Prf3tVccnqs3S+ALVSAdIgFDSVwzVOUYQGTngCRBTh8bmHQtXzPZeNQVN6J4YZY7AYZZgxxNUoPDb/59fPi6PamdrUIRUWrK/AoKVaDCjGk5D6GgIMPHnju2F7pvUYrbfn9mzTq+f1dbt5GQJMfQTiqGrFfvsMdM49ZBUqjzg7gRnv4B2x1czXn/emQ/o//H/+Dfo2HJOmVWhMagM/V4a89sFgKyXCRmsDz9NhiD7Da+43byFWKTRoZyX0G9Jt/ckwexZ0a8+BxSjDjCE+8vWvl/XDfzpB9A4cTj0ZNP+LejhojijtH017ktPAG80hlC7p/fMsmmkJaPdvkp00lOpyxmI1WvDwKC01oRdZr7egnJBWg0e94ImtFadN+0338cc+7t5kJgTu1kD6PvDxWbBizWWVtWtOK9g4GC76NimWQEgfPOrsJOFJBc82ktKANX2DzFbWp3ifuawM9IkMsweg2JVB9yneqO7OzmAxyjBjBDROP9irvK96/OmZnWs2QaGjDIoEaWIwzlCyaoAgleDFASRoxXXfTSTNLmZaigTFgkb36xuUpTTtgnrATYh1nAPPYp2bJEvfhUXEVcj7BfTknf21LdEX/Y9//PbmxzATBHvaaV7j6UXfKir4+ODm1VCv5EFOniwA/UGsU4hEAjRlNIcCNIeCVMZ0/1A6J5KytJhJQEB5avGzeHIPsyehjhS6EUmMbhu9WIwyzBhh87037T08f8U5qTaTo0YDEs8DgxGGjJdiinS9aNYFGCmpj4NpVWhBc1Z/lLJJgkABQT2gMYrQBGVq6PlgPQkNfK37B6HW2W4rJx69wiu2r3eXMeMavBu2dl82PjbvgN6p+32uvnL18bp3C7ZJJoPIBaDw3ghQdEpDu7ExzNiH5CelFyOcKG3euW6kzz1jGGaPU7/x1lnxk4vfgPqkq+5SN9Ge0jQsryhVNbYkaaBNA43c0lCbMlvjFdNiKGtcTzdNvQBLBetSxKAlik/aZUl62dCqiUA2NPiVytPlM46/Kzj8oCj7BGY8g3eDi9K0YGl49fI3pevWfUBs2VIZHKmDbO/GW8YDkUSQ04m7l9wVDDPWwbvaDc8jmRjNbnQ6xmKUYcYI+pY7p9tHnjqtoHUJCjnQQYDCkxYpUWiinVRS0CZBgYonGwsizYyaaT2oJ1TQMJVzyChG6VGh6PTxwVPQ0AZM0oAA67wQtoGOzb3+R9/7vbarPzacfQIz3rFf/7rf/5Uvv7fes+7C+n13h0U090p7F3ho97EGSNEv+Hjr0HRy9gRMS4D36qgIJSTNbUY/mKQpi1GG2dOgMUpj7WS/rXBQYd168Gi+YC4EA7QaVmSLEijcCEo6iheQQbsfplWhfeZpTiht0+h6BrAytTLOIePN4IbrYWgQVBRDcsB+IKZNXSnbJi9BR04ThZlxDvqEclXkzhz57o8uTJcsOlrl8V7JBWA8Dxuo1JChIK7cxhfUOGVfwLQCLm5REMM/JEJpyJ7uXaVocS7DMHuUpV/+sj/83W+f63neccnwFtD4A4GPUUa51QYuuT0JUbRWIZ+VoVtXyzItB82QonqkvI9GoiDFenU93tqC1FjpNoWgVgcRJRHM2edxceicxdmVzERg5ItfO6Z+171vTxcsOj7ftyUH3W2gsYFKqd5icgqubSrwNS1KYj/AtA4kRulnqxiVEnyfsogwDLNH2f83v/HS39x5EQxVz06FgdhHQ0UDVSmtpibjxV9SNxcuYfDBWOQyudBxpiUhMep6Q7FeDVaymzKqJRiNdY+CtIgHKioAvB16gv1m/Uf3l//9rualzDiGRkmwzBy4/qdvGPrFL9/hW68UldshUT545BfQ5kdi9BEkSDF607xxdgNMK0EilCBRSs+pT0UpFqMMs8fpf91bOhtPLJxV7u2XtlIEEwZA07k9FCQKCxkthp5MgDoFQwZtUIzSUaYVcQ0MrGXq6aLtGWn+qKfRIaNTJuzgCMiublBz9h9U5cJDUojN7g1mXGM3/im/5OzzPlRfteriUr2u8oUSeLmyxVYLxCbGEwwUIcBGaQ59gsIGa4r3DvsBpjVwE85opM+JUAFhGEKapDA4MMBilGH2JGiU7SIePCJZs7YYb+kDUSmD9UN8g9bQY4uReswyE862A8Uis06RpqBhWhGsTaxiLDTEitVIdUrzSKWiuYAaomoN+tvbh8Xhhy/ovespFqITAPQFheXv+szpyfwF7+uoVfeJijkrCgUIvJxQTozS/aKhSFt72gBFKGXaSOnK7AMYpkWgqWdCSCjkCxDHMWzatInFKMPsSfo//7kj7Jo17/QD0a3BgPRzGFso7yQJTgwygoJN2swlSMrUc/tM+1KCR+MbTEtiZIrVTH1btHuOB5KG6EmX6girO4IYPGj4wa86rrjiK/tedXG9eRkzjnn69De+N12z4cel/t6uRoL3QUeXcNsBowgNvBDtPYeC1aAoHQIvicHHG0b76CVoOT3DtAhuARNGM8qVHeZCJ0Z7t/SyGGWYPUn9lrtmRvMXnwHKtunAQxOlhUtolihGqTeUJoQJVKaU8J6G6DX1nlFeShKnhoQq04rQrD/q5fIsilETYB17oJWAtDoMXppA++y9QRVLi/3zzrpPXHIJ70M/jpl/8bxgzcXve7+/efN7pvRsKufCPHiFkvWUggbafx3t36AI9dEv0HbAsbKQ+jW8X+qgDfoMmrrDMC3A6J3qFjFhwbDmeklpIROLUYbZg0RLnpnpL1sxKaRMP/l8NjGUCgYfWqzgBCmasFt9TU/RcJ0Bo/FqLCRZmVYic8eU0J7mTSk9Oi8Ya5IWMo1UIU6xkTF77/727vYV6LDpbmDGMZVkwZFmw9p/mVQdPnKodwOYSjt4pYrw8D5I0OgjvFdSm4Ki0RJsiGoUqWkQgZYRGE3TOjiMM63BaLTKekfRD2rKlgvg+z6LUYbZE5glS8Lk3jvPlFNKR1d71uCREDy/7BYjCIliRGq30pp6Qo318LkPlP4+sBoSlYCRKE7x2LNtTaY1yNyxhSLWaw5vhBirsApS1MBLIwg0io/YrJJHHjkv9+GP3e1OZsYVeAdsNdp1n//cubKU+6Rd8GC5OrgR9PSpTmzS/NAYRWiAJ+dM1mBJJDZAsXhGgZ/kUZyGIPE1jZwwTGtAtz41oLJXlB3GCVM8wGKUYfYE1/xnOPzjX14sEzhFU5JzJTEIZeZIC5aybtAMmitKOUWbZpz9uHC2NaYxLYbCBoYQKDqwPaGp2mmP8eowtLW1gz9pSs0/4shbCmedvCo7mxlPuNBrrTK/vfWw+I/3vjV67MmzvIYJwAtBFXLO1l1u4exct5CRHjPLz567xUs0XWcbP8EwrcSoIB0NYyxGGWYP0DewoRw9/OQ5k6rpdFFog8QDSNxipZeGQ8/4QNF2oOh9k1CAFqhII6zZ4WHQ3V2Q3292T+P//fP65qnMOKTxn/+598i997/XPL30XLXw6UpQmCy8Uhd4JtuRZlte2ObpKHsDZhzQvI1ZjDLMbsZaK7zjD5uuFy+R8cYesKUSCE+5RUrMxIAyJ2iTgqD5oahKyRGLuAG1jtKd/ptf98PJF1/Mi5bGKcbaGbW1G84d+Oa1b8lv2LxPWOmEKO9BSkOVEXd2MhMTFqMMs5vZePOvDmls7nu9rQ4XG/UqQBCAEm5PnuYZzHiHFqfR7lp+guIkabix2LDcAUbIeysf/5vfwNVXc6qEcQgNz2+6/Ipzhm+++fK0f/MsT+CxchmEMpRAg/IrsBdgJiQsRhlmN2N/9cdj9PoNl9uc3xFTVnvI5oO6uaLMhEBi44M2wAu0AlMbgUhqiPbaB0x/dQG+t17wqpRxBwrRML7llrm1W2+/NL9g4am25EG1rQAm8MGnhYto/4lS+Pv5A/UMM/5hMcowu5n03vsny4VLDvACz6cFCyGGnxTjT0KrCpkJgbC0BSg98UFWR6Bu037/Na/5RfiWC5dnZzDjjRXHnbzPpvd+6KuBbpxlKyGIchso3welKY+oB8paCGzEjVJmQsJilGF2EzREt7a2di/ZaMwprN8InheAzOfd8LxGHcoJJScQkiQH1ntioBDmQHpyk3/EUT/o/OynljbPYFoclJRbW5fRBe8/LN9f/atgy+bXVGzqm3zOehLtn1K34fsppcewBjxLeRdZjDITDxajDLObWP2jr1bk9392qSyHx0TDg2CkBzYIQdN2ftYlcGqeyYx7PIEixEDaaEDQ1Q1BpbLumb9+/6+lFFuaZzAtDlm1e4KmXV22+DPdRnykltZgEEWnFIEIY3wbW6A0IkLbfmrXVc4+gJmYsBhlmN1E/nv/kwtuvvstslo/JkEBSkPzFI9iY93e85Tuh5kYkBA1cR2SkWHonzZzrX/aWY8cC8CLlsYBaMVbe0RXvuMds59586U/GhnYcM7IxjWQa58KstwF1gsh53nga3IACYBvIAkUNFRA2rV5NcNMHFiMMsxuIu2aOt0sWn5A+wiKkErB9YhaQ5HLAw9jEs0ZYyYIKECCNAHP0yDyuVu9887/rZ3Hm4yPB0Z7RBd+beE022cv9deseJsXV9sGhAW/2A7CK2Krw4NYKTCK8s1SGwQLVr+xLEaZiQmLUYbZDWy2dpqZMfmI+JnVdnhwEHRnyc0bpG3+fJGlduL1SxOAZiWragNCbHz4k4rgL37yt5P/4k13i2t4Bf14gfZIC5+8+SNQjT5s//SwjUwCMH06ykwMufg0TgQMoGRthBZkaEAkKagIwE9VU4pyw5SZWLAYZZjdgPj3fz3WX7/hL8BGJWNSCCTtNG9AQwSJiMCgIAWgwrQiQtBCFEE6A7TM0vMImnqBmkLiexaPJVhSSt2DjRAxMgh1Tybq6OPneyee3pN9CjMeGHrkkUkDX/jyu/N3/eyc3IJHp8uObqFyRZA6hRh/rEzBkwZ8SnJPe8EaSvLlgaDEs5LuIBKi3DJlJhYsRhlmN2AeWXiQXrf5tSb08hoFiXLD8xYDkwGDwcmgKWJoap7NtBokH9wsCxppd73clDs2e07HaToGvU0vaH6wZyxoL9gojz7h5vAtF2+mt5jW5xFr/dpPf3pS4/a73glrnjnIH9gCUOkA4YcgtIbUpniLoLWj8KT09tLgPYJilBozlOvLbseWwAwzHuHoxzC7gfqC5dPC1ZsrNp8TSS4EkxoXgJREYUqBiIKU5eROrQiJzJQWoaH4RMmBjxrr1oJQ+AzFqKaFaTQMi2LET2Lw6hF4xQ7Qfm5V++lH/6TyjgtWZZ/EtDJ23jy53xMPnBwvWvwXtd/d8lqbQKHeOQnFJrVEshkYroHSxDVOHM8+ozMYZiLCYpRhdiHr1q0rbHn4rpOljvfTGzeCyYeg8/ksPlFosiheKMlo1q2WXcS0FCQwpFBuOJ5EqNEJCtAEDNYnHfNco0OACvD9tA56uA+GZ8206tC5K/xDj1wshGg0P4ppYQY++Zezalf+3ZXi/ifeHCq8FQr4C5842LQZ5iVhMcowuxD/uuvazK9ue6uw8dyoNgTg+SC8AIylYXmUMShKJXWauCE6jlitCkpRVB8AhirUakrclIlRql+qVhqF9VCQ6hRMo2blpEkPeMcdfa+YMmUk+wSmlal/+cuz03d87BLz9NLXt/cNd9r2djBFFKOKh90ZZntgMcowuxD5x4c64J5HLynHyb46RMliBBYJktI6WZQrBiWpRv2CIsY61cK0IlSHRhvQKEQ9mU2/sNRTmqIadccNpCZ1UzIEhEZV69+fds0//qR5OdPiNL7wzbPgpj/8S2CiKQPlEojyZNCBhFRGzTN4+J1hXgoWowyzCzHt7ZP0kpUVVR0G2xY6YSJRoJAkcUN31CvahLaHZFqQZrW5+hPWraB3PaX4Q72jqUIh6hlIegfR44bgHTTHhMVgpRACDzCtCNV08ylsOOL4vxsZGfgb0ahKVS6DqJRsI42wcYJv2uYw/ehNwjDMC8JilGF2EbW+vlnge0clGzaaeqMKUEIx6tK5UMofkQ3fUkhzupR+bY1vTCsxWnU0FE+igxYzaRSlRkCKlZz6+L40IAZqULWqoQ4/8HE1Yyqnc2phqMrtVY/4/YeefLrevPmjnSY9ZEvOh7hUwvaGjxVfB0iwQaI5XRvDbA8sRhlmF1H7/FfO0lH98kjqQt2iGJE+aCWA0v4EKFTckC2+Nh4N2bMYbWWMhwJF0kp6CZpWp6EYpcZGirpEezR31EAeJYwx4onCBed9rvJ/PrG8eSnTQmzbI9p45DOXSyFvNgO90zc0hsCfOhVitGkbxVBGu/YEzQ1nMcow2wOLUYbZRZgH75+jV688RgS+b3wMSig2MVah1TUXK9GiJXxt8DXJGFpZz7QeNDxvTLZoiaSKlJQ30qlTt92jaTRAjtShY+be4HVP3pK/7L13yL3n9jUvZ1oEslhqMtLz6IMff1tVD70n3LA69HMBqErF0i5qPjY6aLODGG8Fyugl6QqGYV4WFqMMswsw1pbj5ctntq9fK8MwBxDk8RhJToNC1ABtvEKC1C1cwmM0x1Dib6b1cHKDVtBjoWmCUvr4y6Pdxp2D9esoRodrMDRjCvj77bMKBcoWuoRpLUaFaP+VHziyunzl35r64Knr+tdBWiqCX6oI2tJT4j1AJ6WGJmzQhHBeTc8w2wOLUYbZyfQaW9l0y0OnpVbPqPdsAM8PQIYFMMJz80VpFX0sMVRZLBpFjNFOiCrBYrQVITEaKHSl+CSi/lFsdCSoSGKsX19IaMM6z8X1xN9n0s/Dy15/a3YV04oM/N/Pn422e83m+++dU1+/EsK9JkPq+ZAk1Ki0UFPYIPEASioAT6IwFbS9J8MwLweLUYbZyXgf+tjk3M+vu8KCnDsMHhi0MoxPbp4oDcVTzwkFrizpvXTpnoxIsfAOTK2G6ypDfGxU0Bav0mJNS6xwEqdIOlRFQRqA6pgqZZre1PG2d97p3mBajujeh+YOP/DABSP333+Gl0QV5YfY0CxgnaMd05g8QvPBacQjpTniWRPTHWcY5qVhMcowOxm9bMFku/BPry+C6I4KFTckr4yGQFPAIpMjEeqkKAYyEqMSUvrhfalbkmwFfeoyJChsdlBPKelRiaJED41AIygAzJrTCws3PYJiZSC7imkltvzXt/ca/NWvL4uWLTtXLX66XMznwS+3g0jJfsmq0Z5RiLrax9shspQ8mCbfUDOUYZiXg8Uow+xkhlXY2b9klbTDVcgXCqAUJUBHkYpRiobmCQpczy9M60G1RjMDE0+CxiJoNXWKNZ1EIHQDComFpFxeD2ced5O4+JwhdxHTUlhrZ5qe3jds+fb3LpUrVx3gdbSBCANX+bSZgcFCVu1suGnG9IDXucIwzMvDYpRhdiJ9Dzx2hCyVTkr6+z0bxxDmQpfyx80Ppd5QFp3jDpIbsaD6RYdKL6ie0xg8FKTFfAnf9xbJ4476XvSBize7C5iWAcWkt+Wy95wT3XjDu72BLfvmabFhoQjgKXz2bONyWzILx9/Ne4FhmJeHxSjD7ETkr24+2a9F5ylD2SVt1iuKx10PSVOMjgpS7jkZP9AMDKpKN/1CCZAoRlUUgZnUCUb6izre9o7bp0yZy/vQtxBmtcn3XfeT42v33ffW0tOLTsiHEkypAMLzUIhKV+euT3Qbm3bGjriX7lDzOMMwLwmLUYbZiZjf/+Gwwoo1R4X5nDKB74bxRgVnNoyXlecLUUEx7dmXTAuBUgR8ypSA9UeZEsD3QCQJJPW6ru2/9xr12hNWNk9lWogtV39g79onPvXFdPOmNwx6aMftbQDFPFBG2RQLTbtxJktTM55j09gIRWN2OUZZizLMdsFilGF2EptWrJgab1i/V2HzRlD5HJjAg1RrtyNPFrSaYvR58NB960Orpmk3elQjIFMNoZFgrEpsR/nnwdkn3908jRnDoI1uNcTec99yfHL3PX/nD20+rt0aYQplq7wcnpD1iGbtyMye3WiHO+YOug8imUoNk20bnAzDvDgsRhlmJzD09NOT7B13n5Wk9clDfT0AuQAsDee9gBAdDVAUxKSkRS9bYyDTglDPqEvvQ6IEDMBIHSQKF2jrGvbr8Q2TLr30oeapzBgGrdAZpr3qKj9a9PSHu0dq7xUigXo+tEGxQ3gpnpFkc4Pd2a75gSF0G705OrpB59AmCJZW1TMM87KwGGWYnUD9K1+fYe+8751WigMjGqpF05IiW109KjafHcbLeL4I5V6U1oR6wRLqBUNvKoSBZHAQRtrabOk1J65W7R287efYZ6shrj333L3WLl16U5yMXNzb2wOicy/wKp1oqhoitM8UTZSG313Do3kVLWKytA0ovkfHXQMTixu6Hz2JYZiXhMUow+wE0lVrJtslTx8TWlMx+RwGJw9VCgpSmQWnl4OFaGtDqbuoV1Sa1AkTEwaLwqOP/E3n4cfw1p9jGNKP2QMK0Q9+8ACIGx/IrV9/VjFJwqEgsGmYRzP2neCMFIpRMmWqbHcZFvqAbWx3tIHp3mUhyjDbDYtRhnmVYKAKRTIyPV22pC1IIpDlCsYoDwXmNsGoGZie3ztKsBBtdZo9ZUkKECegyiWIBTxauvqT3xN/+1fcMzqGQat0xmfnzZOwbs3fqUb0yZGlS2EwSUB0d4tEJ5Dic9pPKfWwkSFt1gNK0zLIvrHQFA0asH8h8cmClGG2DxajDPMqGX54/jG22H5C3L9ZmjgGFeRAKx9otpi2tPaWBnKteyRR6oQLFhKhNKeUCsGBq5URkFRrkEYNKO83AwpT23qxPpdj4W21xiBkic2nYP5u3vTGhk2ft4uWvc4sWgZeRxcUK2Uo0Yp4mvONZ9KwewFrknZRIxGazRZtFiHxkX6yhuWoTZPKpWsZhsnIzMG1/9xz9xp/kZ2wGGWYV4n9wbWvVVt6z1SpBwkN6Xm0KSAJTDS6zO7c46jxoRTNDjV7REfFKTM2QLkBhub6Up25OmrWJVYRzQGk9+gcOpwtWMGmhkhAxBEkjTSuTe1+rHDA7MfoHWZsQlVJj9Xf/8eM3v5ll/Q9vfhtsndoL1uNQZYq4PkhCk8DyolRFJhYlBGuZJWeFdoK1t0Lox/YtOmttu1+M8z4JLMC+nkh6O4fLZlp0MI+N2qIx8imUop7eMzHRh6LUYZ5ldiH7jxxcu/mA3O5yTIOyhCjVSkbgWd1togJjS0zyaZR0g9a5qgIZSE6tiDBqYUC4cQH9XBpPKbReQJopUBLLJTKSWNrHg/SoiWwNQipGk0waA6Y+1+Vr3/r99mnMWMVtEGRPrz6/Y2Bvo9sevRPk00jhbBrMtazgjTFWk8wQDYbIxqNWGP9GrRtJ05Hf/C5xfqnu4TOxJvB2bNbxOT+EvrFMOMTuutdvl1nB2Qbzq6c8HxWiNIoIBV6T+L5KEapQY/XpHQQhaiH9sZilGFeBb1LlsysbxgoRRu3gC54IBQGITQu7UswyoUjpsWgWiMRQsLDoKhQ6DhJiRqNksN5WYtSFJ2nxDMDdLISxehQ1RYq7SBm7a2iDT1PoCDZ6D6MGZNgPZbTn//8TcM/e/BMfff8ffJYmbatAGkxgBQbIAkGysQXkHgoLukewJJ6GEipzhmGcYw2vDKhaV3HC70m30h5dt10FTxOnTK0G6HC48LE4ON7BXSbpSiCuFGHTVGdxSjD7CjDTzwxOb355tOTeto1PDgMOq/cPvQSRYshY+Qez9bEOdWs14vqEd0ovkYnSs1+RJrsfeoRNYp6xTTI4UgMFIraP3j/+bBhwwZ3IjMmweAoe//pM8du/v6PrhBPr51b2jQEQaEAJu9Dopr1S73jKERjSb2gNESP12H1N28BhmEQ6v9H7+ga8Ggmz4PsqPmMek7dCQY89JegY4yTCYRBCHJqN1QPnMVilGF2lOGf/WyWXrjwbdjo2yehBNcBGiXtS+46z9wvdx7TWmAzAsWmdsNPNDRL2z3S/kpUyPkKEivY4jcSz7Ep2DQFlaBjLpUeyF10/o8qH35vLfskZqxBq+bjnpVHjDz8xAUDv77praWRWkdQbgdF23xSwIxTyGOlBxQaMZLSOnqjNYhEu6FERZPeGIbJoIY72oQTpGgv1As6uoAv6zXF4zSwhP7UZaYw6Cs9BWlSh1paB2jvhPSIQyE++6RM0DIM88p55sRjz5bg/yRcub7L1GqQdLVBYH1Q2kIsYjyDWozc3ms1SIySk42dEBUQkqs17qibemFQfJJY9T2AVDdcSqdy4sNAV9d/77XkT5/GywbQERv3YcyYomrtzIFjjvvHZNW6C+3gUHeprRNMqQhVhcGTtnFFwZkzEhKs54jqFwWqj3UfUM84Xk+bMFEjhWEYxI0iWZCKJi6hf2xuf+2mtqDoJP9JeZdp6gudJyQ26X0fxOZ1kKTJlr1f/5YbHz/l2IFHJ4UhR0qG2UFkPdlLrFjRFdDuO8UiWJ2iQaJJoiF6tDqQ5UhLQrKDpvs654jVqdGJ0lHqFXV1Sj1o5Gex1a9qMZjIwNCM6YlXKS+SQvSREMUrSLswY4i+L35x7/6LLnlbuuSZC7oGB7tlpQL1Sg4iGtHQBjysW6pjjRWv0aYBA6gvspRNhqZl4CNXKsM8j+bclay5Tk/wtTOWZk8p2RI+eihYPfSZSaMOBRGA8gvD+uQTflz7m7/5UW7u8bexGGWYVwgN9Q3+aeGJaur04+LNmyEmERoGgM0/SoDvVl3TEAXZJNOa0DaulKCLplyQGKV5gw6jwSlVH10nVrBXx7pPbDU85rA/5C46f0V2kvPFzQuYscLwF649M7n1ns95jXjqQD4Ev70NK0lgYyKGEI2WgqUJPGj4AlKsY2p+UEL7BEVpTSdQd7ODuVoZZhSyEvKVFpvfGgutk6AeUeoppaF6TbERfaZEd+mjbfkW/WffZgjauyC39wHV6L+uXXSftX3+ur4Ci1GGeaVccw3Uvv7N88VI/TwfjQ9tzgUtX9LMGUp1gUaoJIpSVqOtCPVuU4veQzHiCeUcLE3AR6/qWvhuFT3WdFJP0BH7EAtv2La1/7Tzkx9+NPsEZiyANbbVAJcdfNLfi1r1E+2NuhDlMui2dkuNDFqY5FvKGwtOdCYYOKm+BQZU4dHx5qfgazdFw9U9wzAOshXyj2hH1EPqUpqROKUGPNoShUBq5AUYG9M4BT1ShVK9CkM576HglFO/Wlre0RfeeaenagOkVxmGeUV8/eu5dMHC48pDw7P9QtENy9PArOf5Lm7RsAQl8+XV9K0JCRPqAaMhW1q05Jr17rhxaZyowSFSFC7VBOJyCcyUrp6GSe4WosTpnMYQaH3WfPhL4cbDTjtb9m3668k6OagWSNClkhVhXphU4xkkNp8dmqfeHOoNH12ESCMdFGB9j3Ijom27u4NhmG2hEYZsNJC8IzXm0VKwUEo0T1GzHht7tRrU4xiiSpvxJrf/ru2r//ojAXemk9YuL4CuKxajDPMKaUxtnyKeeabobdoMstQG0g+cQDFesxeNhizoNRam9aBGfkKPWI/UnJBYp6PJzymVE03IFw1s5dcSqE+dXMuffMTyJOkfxhOYscHWVuDAg7deihb5u3C4d8b6ai80OtqpcSE8FKLU1KCk27Gg3lA87Oa0YfMD6x2SFEycokI1bsQjkJ577grDMBnNBhs6SWyoCxfzXKMOj5EwzbbKxXPSBGy1ClEQNNSZZzwhDjnkT/h+f/Mj/BQLi1GGeQWMbBqZWl87dDI0hrvioX5IUIha33PDd7HraQHwyAAt9attjYlMK0ENCprzhPVHDQsnRFGAUvMiVVTFeCwx4KFWCcuVpzvPOP7e/c48kdM5jQGwpsjo8AHg6Qsu+cBwteejxfWr/cBHodletDJ0s0TdxhSKptZgqAwMPlLaJrzG4K+GwppWAgK04wCPU1onTUOO1EPOw/QMsxUyNGrIOTGKDzQqSO7SraYnH6o1RFEMcZxAp+dB3theUS5/zr/wrLvoekJqbO4bGtxnGGa7aVz7zVlm/qI3YUDrrusYEqlQkHouH6UlMUq9aShmskTAHLhaEao3yirqhmVF1svtqhLrlZ5YdKyUZ9QvFsEPwyeL77rwj3Dx6ZTLi9nDkBkiat35F5/ib978yUpt6Kje/nWQFvPglzuE57bVwhOxSmmHbA+feljRNHeUpgXTW5TOiaZmuJ1k8D3aecvlGqX7gkMmw2zF+Ui0I/KMZFTUK0qyVDV7Rd2C3iQGSn3YKJUg39n1xNTvf//69vMu7XOXIFKERhhFlskwzPZibvndbPPEYxd6UnVFuRyQBSUUAdH4Cq4XDQMXyhcpKHhhUGNaDtpvPsBKpcx5KaqUuk+78Sh8jT+xBDFUx7Ow4XHYVBgWjQVCzHpUiLksRvcgzeaCo++KD12stP2Ov3DRtJFNqwBmtEOSy0OahCAaRbAm78QmiBgbkRqwSt22nyREPazWHE0gRVuOUZTGNMfUDSBicKWGJhaGYTJotMigDXloFjSykCqMfXhUphgF4xQ89JsFYSA/0g96n1l/gI/+7Y0L5l3vZ1dnyBx6XE8kZGUMw2wnjTjpEhs3e7TlpwpCS70qNOTnltRTOhgKifiSppbRikKm9aCWfoJik1Zbu04yiw0LrGNKfE8O14sSiLWumf33ucc78uD52VXMHoTMzhnbus997tyBjWvflixZsV8Yp54X5kDkChBhcEwT7YYOLdpporCOsbgdtpBtLXU0KNIx6vlhGOaFQROCEGOdmyuKDTZlAvSRzVEFFKJ6aAAMzb+edQBAufNO/aF3/+7Qqy9Om5c74hgbhfjIYpRhtgN7/fWqsXbtAbFSs/s397gdJXw/FD5GM9omkHpMtCQxKlC8kBgVYDiStRxUYwZb8glt9YmvaB+lME1B0pxR1zOmIfQ8EMrvLR591A+n/NMnF2ZXMnsQpyU3fPzjc/VTT30w3bDujMbKlWADFKLlDhSUIVi0UTBYjyoFKxNIJYpTSX3ff26j7sMYhnlJyE5o3jXNuaa5osZK8EwOrEW7QmUpMBCKoSGoJToyBxz2mMlV7psuRA/GSBqE2EoQBO6RxSjDbA8LFvj1637wlkDIM011BIUntvww2PlGgo/NOtrqLEX5QkMUlMjC4vuc2qn1IAfrGhSezCbh44FQGxQx0u1drqsNCDvbwXZUhmuPPvmbQmHG6uxKZk/S993vniLq0cfim249qbx8WaW9rQC6kIO69LFhqKAY5iHvK9BJHayOgEY2JAZNmgfKMMwrxzXcUUHGbuUfLYkX4KNNxUJCQ6cAjSqUZAgG/GX+a0/+h+m//M5D7sIXgcUow2wHS6+5xqYPPHy86u8/PPA8AN9HwUl7lmfikyZsa6vRJp2cQUHDga5VoTwIHmVDcNVn3RxSGto1WL+UtHlLZ/uIf+Thj8/84Q83uwuYPYa1Vtg1a+Y0fnXLmxu33/0Gb2RwUuCj0CyHoEMUomSDMc3lRmvEaGdcnljjGhmexmM8esEwO0xqDZpXCpZGi7ABDzYBX3mg0hQa/X3QP2N6LTzy6EfVP/7NA1KIl0x/x2KUYbaD0kXvrqRPL9qne2BA5coF2tsMxSe4eYW0Iw+tHKQkvy61BZ4vnaThQNeKUL3R8BOg+Mx24FFuTpOluaMpCp2OjvvyF7zhlpXXXcf+cw+z5bvfnT547fcvSp5a9PrcoiVTwjCAtK0MUYB1RnO4DdpignaJwTGlxRYe1qtE28T6RV3q5gQzDLMj0BJdmitKdkX2huIUIvCNhhzZXJKC2nf2PYWLL76t62WEKMHOlGFeBmtte/jaE46Pe3uLtf4tAOW82+4zQeGZ0iIItCKBglRJ1UwFpF2gY+NqTWjhGaXysToBi2rGYMPDxDG29g0U2rrArt/yh44rr/zpPu96V9S8hNkDYD11pMuXv3bjF770XrVm1VzV0QHQNhnqMg8jjcQtOgvxvBDrUGNdphgkjfKw+Gi/CmKJ9cxqlGF2EAue9CD0c2hfMTRsHRKVQDzQY3PaQPde+0PQN/Czzr9+7w+oad+86EXheMkwL0Pvf183J3166VtMmnbV4wZo33O7TVC3ilEkPWl4nsSo7+aJUq41mkbD/aKtCXnNbDGacUO7JFzMSB3FjIVkv1nV3JTJK4UQCRZWMnsIY23XmrddfmH1x794n1+r7pdDg9PFvNWygDaYQ9tDG6V5azYBhQ1Gj+YA0+gFCtTRDSmwOl8+QjIM86LQAkCamWZNDJ7VkMPIF44MiyGTVPUBB/0+nDnr4eapxEuGRBajDPMy6HvuO0CvWPlG4amu2FOQulCGxkNjgK7XBcUoBTmBYpSMk36TkMkuZ1oMGqGnHbVoARPVIe2+o+oxihc1Eh5x6IP+KSf2ZmcyewK76smOkR994/T0wYffU1n6zJmFUgmitjKgbYo0pSkW1FsTuGkVGq3VolClveVptyWRYEMRzdalZHNRtPmhDMO8YmjL5DSl2KchtAbCGCBQHohCuKD4wfd8qf1/fryyeSrxktbGYpRhXga5Ymm3t2zptLwfSChVwGoJ0tAePdTUw8hGw7poZjSH1K3Eph5TNE5KEcS0ItScoLm/EkxqwFSHAOselBesUQfM/u/2T131ZPNEZg8w/IUfzx365L9dLTZvPCkKLfj5MsiggPYGoKQGSQsqTOry/hqaToPXpLQXPRooZUF0CbrRYH23op7VKMPsKJRTNKCh+lwedBzDUO8WiOccmBYPP/bpYMqUuzAeuv3ntwcWowzzIlxvrVpj7cwojfbyN64DoRSIXIn20s1SwxhK5aTBay5gipqBjUbwNQZFt/iFaTmob9tzC9E8MAlK0moNKu0dEHZNGgmOOeB+UZnBPaN7iOUXXvG6Lb+99YPehsG5FRqKb6tYQztk4XvUIBQQYYBsoNhM0A7RENEuKcWoxjepRin/YSKtyzNK87x5+IJhto8XMhW3zpPCXAMbdzFZWAKmrfKb0jFH3yhPPHEoO2v7YDHKMC/CzOuvD5Ibrz/JeHBQY7gPUopdKgBF27agGKVdlyivqI8ilXacoET4ZJgU5Fzgwx+m9aBNCzxSNih2SOV4jQYkXW2QnzWzZ90HvrYlO4vZnVhsGJrf/GZW+sjDf13ZuPnSBM2vXmgHWekUMTb8EhSftPAMIMb6y+avZSMX1LRAe6S53FhSjHh0vlu8pMigXyjEMgzzfF4omlGMo2lMtr8BAgOk7izW6lC7zv+Xeb9unvKy0A5MBItRhnkRZnzve7nc9TdepkaiMxNVBE3NQKDhP5qHJsFImpcWQmwNis8E8i7s4XEawjc0J40D3ViAaoGKax7gk2zxGf5BQaNQbNIuWr6laRfZIhfq747xBOvhcbzGpBEMdRX+EJ9/2o1z/uU9z9nKjtk9bL7iirnr/u7TPyr29Zxj6j0QT1agi5Tnl1Kq+VhbZG9Zb3YqfCzYkMA6pRyxbn4o3QC0IwyeQ/vPe9SWxEPcXGSYZ3G5lNEyhPTRbkK0FR8b5AISdJYNL8WniRsRpI1enHxEX6pkCmq4D+J8bkPxjW+8PnfeOUvdh70CaN0Fi1GGeRF8rT2zYu0BHY0kZ3MoNSWaCwYzWkVPq+YtyhcqZJckdDD8NUVPJkTpOTM2yOoFCz3BkokQ/O2e0IHsDepco140N180qoOHdZ1vm4Sq1btr5EMfuhkuvpg0DLOLwWqgCnFUL/qb480Tqz8U9vSdVALtx0XfqmKIdYINhxSrAw2QerOpJ5TqLbPLrJIp34H7oOan0QOdy3kQGObPIRvy0AmmaDwpxTl6bagRR+sg8BFjIE1/odeuYZ8mIBoN9JEVsJXK8sIb3viDaZ/+5zXuw14hLEYZ5kXQU6e2R+t7IB4eAVkIQNCw3nMgU3Vhz8HxbWzj6omc6GghZ0rDtVTI8ZLDbdYn7ahlhwbdRWL2/hD01xbuI8QGTue0e6CqoccV8+blak8v/HTXcPy+4S39sCXwwU7qFnmbA6mFyx0qaO421t2zU0C5ihhmRwjRKdJO8QnEEMkYtEzBR9vy8ThlqVD4Lu0uSDPVyG/aRh30cB3qM/YC6J4yv+Pii/+APnIk+7RXBotRhnkBNj318H5m6tQ3mZF6e1ytgiz6KEapZ5QDXatCfdVOSrr5oFiVpHhIdJIQxeKyH+CjxEaHpwCCxgjUhR6xRxx2pzj11A3uImaXgjWT6Ulk6MLzDyrdc++vhnqWn92zeTX4k9vBK5RAxhJ8LJ5p9tLQFdTdydGMYV4VlLaQttD18XlAU1rwCGWpoF3olFUuNRrtOqg9bLCnKYT1COqNBsRTu78ZXnbxD9yH7CBsvgzzAtgf/fwwb/X6t6rUtCdodDR/kMQL07pk1ffcSnSCFB/dgjPndOmABpPGUKR8eWDX6oP2/YG56I0r3AXMLoOEaLM6YPO7/npOtGHw/eWNm87JJ4O5Qa9hvUqR0muBpYUSeJY7kepMUjMDn7pGhjvKMMwOkAhKhaZcTt4QRafCkmDDnMaLPI3eUJtsJEmhnY0MQ+L7oGbutUbOmf2ryR+86r7mx+wQLEYZ5gUQDz52QGnF6pMKQuVpC0HdXCmfRT+mpcCKcyutR3vRmmS9ojTlMBueJ1wmhCSBpFqFsL0TAi9Y0dt45Hvdp5yy3p3A7DKwKlwl2Kuu8k3P+n+V9ehjvQuegpqMIJjWjm+7ynJzeus+BU6ySQqO+I4BUAnNbXMfxTDMDpBSKjRJw/E08oB2RWKU1gLio0cpLGho3k3OTkEMDgO0t28sv/mNdwbljsWCdnp5FbAYZZgXIF27qSyXrwIVoIAphU0hSnC0azWoVU9ZDtyQbnbAPVLJekZJipIfxTdQ3MhGBDBUg75pU7U95oiNc6+5Ics9wuwSmtXh2PTJefv3NMwXGwvnn6JXrQCYPAm8fBk8rBJTjbGWBKShgrrSkGKhDSY8102qQDe342UYZsdQ4KHe9AHbddBA24rRnMh3UtYRykQBRY8WLVnZX4P2Sju6S/OEd8gh/9r9uX9+1SNHLEYZZhuwBRj03/eno7XVs2qbN4Lx0QhzIb6BpoIGyrQiwlUdSdFMltKLrFcU2/n4mMkhd5YxoBINIsE7obPrPjjh6AfmzZvHfnIX4qoBMT/65hRYuvCt8dLF7/QGBiZHDWwDlNpAenkQhrpjsBpcg4LqKVu05JH2xEfavlXTRF/6NIZhdghF6dCwkBiN0JRi5ZrxaHbCjUDQgk9Vbwgz0oD+aZOH1Mxp93R96KoF+D7tLfGqjI+dLMNsw+DnP19q3HbrhbaYP7ZuI0jd3oGUz5ADXaviBKeTPE0xurWHFOsWW/uZQMWCLyFOgAapRFBEjRr8rPCpq39+zTXX0DvMLmT+vIuD4ceXfERv2vD+xv33lAK0udyUGWAjCZqW7vo+yEJI00NBxSnkIw05TT05AmLqwcFIRkns3bxfhmF2CBqWlybzmG7FvPOV1NCTENO6iXoD/FqDTq2VTjnhu5M/9+k/ugsRPP1V+UkWowyzDQO33hqKxx483Uvig0Wu4AKcIdHimoXNk5jWAh2q85RUf1gyadoUpE3IEQpjwNTrIAp5kHP2k6h1VleEoK0/ueZ3MviFbv367S9u3uuAaO5fb/nd7980snjxfqq9ABrFJ+UMVX4AnsGGQpSAiSOXlFuiIs1LHxQqzwTrLKIFFYDHdeKCKcMwO4Z2q+djCLGBF6CJko25qTEYBykdvu0bAVHpgvCQI3pEUPitf/LZDzcvfdWwGGWYbdAyX46eeWaftlodZKHohv8ockpLK6u3lS9My0BViILUtfddb2jzeBPqFaWadXOisOU/7KlUHTB7YTBl0sbsDGZnk1kV/nrkkbbaTb97/cifHn9XumbtwWq4BqZjEhjPA5MmVCluKF7SQqU0RjGKwZLahZJyHSp8Tb3aNLxI+UZpcywWowyzo1hBO0ikoPCRmoO0aJ6mZFM6PC81EA5HkIaFDcERh9+mBqPHaXg+u/LVw2KUYZqgUPHtgfvMHFq90o70bwGRC9ywH+2m5AnacpDMhYNda4L1hkKUxOioICUJ6oTo6LA9OdwEnbE1S7rOfM21U666Yod2EmG2D/OlL4XR3fe+e/jpBe8ZuPWWQwtSKDlpGorMslOrYGNI4wY+NyADGirEusPnGoXpMBiIpQSlfCin0uVEtOpVLeZlmAmPlBaLRheYusY5NeGNMeBFGgp1DUVsAELSuLPjm1d/rvT9r/Y3L9spsBhlmCZD137v2MrQ8IUF3ShpHYPxcxDEATYUKddaI2s1ZrKFaSGoV01S7lB0rDTo5FFKIJpfSAlMNM06xNZ/qiGNADo6uyH0vHXB4Qf8Ak4/ndM57Vy2Gg82CNpHguANg9/5wYV6waKjC0EAolRC0RmCj3VBjUCNdURTLEhiZj2gHhZKOiPwd1aXNEBPoxfYjOB53QzzPFxDm6YpbSc0EEiiMEF7i7DRju088HIemMYwDNeGdHTsIavKJx/9oMhNXoqfm2RX7RxYjDJMk/jhhw+3vX3nh0qVaOK2Fh4o7dNIIQbGCAMk94q2JtTCp2yiTtu4QkP2TvHYbJDexik2+GOIp3RDbsqUVfK0161AZ0tp1LffkzMvhzMgFKK53n/+v68d/v3dl9eXLDu2MDjky/YOMChEqffa16mrrVRh3UjZFKMUrKiusvpyspN6Q7Gkrj7xuEuAyDDMtriRoO2EQpxFv6gF2h3anmuyJxF42JiPQ68enDD3l6V3XXhv8/SdCotRhmnSmL90urehdxYo39PKwwhoQPvUNJQu5QWrkhaFfDEWEqEGnSxtdweaUocmLoGzwEaHTFGMxiO6vve0+f6ZJy901yFO5zA7jSVLloQD99z0+uptv39v7Re/vTBVXr7a3Q0iXwQTpW6RkvUFCkwUmYZGIhiG2VFoiH10atJoeTGoBxXbgZBqbO75HuS9EAqJALNhI+SKFcjNPrB/4KkN3xJveNtOW7S0LSxGmQkPGqg01nbZgf6pcuU6EGiEIpd3xqEpnYUUzaS/2flMa0E9afQjUYha6YHGQjkqqUJdOqA4BZ/SmXhgdSD/J/eWN9zavJTZiaCd5Wbed98Jwx/7p3fJpxed3uFrkSuhCA1zNtYGFGBBo9P4ywcPAlqpxDDMDvN8AbrtkP3z38NXqAgV+kkPlBEQY2MwThpQjhrQkGq+f+zR/60OPHZ58/SdDls7w2xeUBj+wy9Pkjrau9GzCcALQAZ5Jz6z+WgoZGis8Fm7ZVoIl2O06erQx4LG506eUt1SJdca6INRoHZ3Nkytdld4wqkL3MnMTgODnhz+r28cO/Sb2y5JH194bqV/oKI7iy53KCV+TUyCD8albaIhd98qCNxgPMMwO8q24vP5QvTPwEPU8UItQhoJTBt1qMd1SIrtkG/vuHXat/7z29O/frVLMrorYDHKTHiqP/xl2dz74OuEnx5soAFW+ShUsrmirvXopAuZyrPGzLQO5HY11qO2KaQaC7b4qT4pbYlKExBDwxAXCpA74rBNsqtrMLuK2VmgDZGqPHjgOz985/Cvb/7LnBC5eqUNolwJGpSqCSLwfZolaoASxQQp2pvBVy8UMBmG2W5IgEqa+7mNEH0+LsY1bU1byjSKtuhLCIZHQMVxpM449Ql1ymsexzbjZvycXZaygsUoM+GJf/2HIHn48RNEvT7LBD5ahYdHMSCi3QkMlrRLD/XWsBZtTYSQ6JCVc8iUGoiaF1KGbqclEqM+zR+1Yllw2GE3yiOP3NC8jNlJjPz0+wevPu60j+gli8/viGvKtreBLbZZX9NeuwYlaEJ7XGOd+KAE1lOq8QgWNxzBMMyuhnwj/dBIkTZoj9UqdKKHDGW+rqZO+lb5ykvvaJ66y2Axykx4arrRGS1aNrtM25wVSyhVUHViS5Eak0JjK5EWMpGQaZ7PtBbOzaIgzRwuOV4UoyLAusXnSQRhEIKQanHH+6/68fRPfGJTdhWzM2jcfPNB1et/e0H01IIrK9XhaY1yaJNyifLFCA/beQobemRrWlMoCrBCFL5OswVMbn9WhmF2JaNClP7QKL2kzSYG+yHKFyHsnrZYjQzdKE88cW3z9F0Gi1FmQjNs7WRz1FFHxes2y0a1AbaCgRLjo9DGGalb6IKF+2haFzf0ROmCsFFBUy8kpS7BpkXSaEAaJRDO2gtse1t/uO++f8I6j5qXMa8Sa21l/cc/8/7qbXd+JrRxMNxZhmjyZKEaaE9xBHU/wcaABo96SFUJYkPbe6ZgPQ3Kl+BRRguGYV41o0Pxo8UJUIpvo0P41EpH0BIhnyTgV4cgntZ9V+GDV32r+IY3jGTv7lpYjDITmvTG7xymRmqn2UQHESUz9AKgPcrBNOew0VA9GirlXMsWwjCtCA0/Ue1RynTaS8toFKJxHeqpNptnTNkg5x40PzuT2Rn0fvU7M9Ycc/bfm9VrLqzURwKvDRt5pQo2AwLQ1OspEqwTFJ0S7U2GbqEgbUtArQVPYFjSaH3YIGQYZtfgROg20DiEGR4Bk6QQ7TUb0u5J9+U+/qHfiCuuqGdn7FpYjDITmuSOh+bCpt7XQhCEmhYtGVrY4szS/bhl9GQlFCBZjLYkVHXYlnC1R/NEPatAmwZWcQwpQGxm7/2b8PKL7s/OZl4tA3ago/Hjn7zOLFn6yfZGfZ/BUFjT3gYeDc1H2MjztLMribYmVQ6f0x7zCdZT6uqJdlmiqdomZTHKMDub0V7RUainlBYLuh7TkWGIkjjSh859Ip465X48byOW3WKIFGEZZsKSPvTE9HDthn1EPudZLwSVAPiKFrzIzEAlGiraona9NCRSmZaDxuapWANCCyeCLMSQzykIg7z2Nvfd1PHGN7IY3UkMHXz2x+38hV/Mj/Qpk89BOGmaSBILaRKhXeH3DhryRoGvQ0iwPrSOQJkRCPA9gSI1stRywGYDFoZhdhwnPLMn7rl8ASFKu5hRrNPoIivKgpeMbChOn/qJfX7w3T80T9stsBhlJiRohNLaldPMYLRXsG4QQj8AmaOE6BpSDIi0U6TbAVvTggrp1lUwrYlC8elpbFwI6TYxMCRMh6vQyOdB7T97vUni5eigd+o+yxOR9V/6UvczJ7z2Y2LzxrdPrdfKopQDXShYRavkKZ1Wc0cl2m7QYkCknK9oYNhOsCBJgGI4ovco3wHFy21iJsMwO0BKnSoYvDw0NpqFRlvnkt2R/bkIh49CYOyLDfj9PTDYPaWmDjvuwe6L/uIBFK7V7FN2DyxGmQnJ4Jpb2us333m2AH9Wo2cYfEp6HkhIVQqRSEGjrdJOFOD2pqfhRLyIg2NLorAyFTYqaL/llKoU61cM1SENi5vVScc+4h130FDzVGYHwcZdqH/+u/Ng/ab/aGs09u3XsU0ndYHJ5YSJE8BmHjbt6DysA3yWoC1pifUgRrcgCMAYDwMmPTfNgtGTYZgdgqwncVYkMjGKr1MsJEapFxQPgyezkSIvSsGrDYHa58B71Ac++5tlS2G3L+RkMcpMSOo/u78y+MiC11qp99YYKGml9WiSbeG6QamXptk7Q8O7KeUb5eDYiiRSQ4TCB6sZZIKiKE0gpLmjsX2yctopP/GvvHhL81RmB+k98rR5cvGqL6oNfTDohRB1TxaUm5dGGZKAbAtDIdsPw+w2KHR5MTb2UpqnbUEpAT71kmLD3OgYUkODQR6ogV5srNchOeBQqNvk1invOesnB3zkDSxGGWZ30Ljz4Xzy6KJjoFGfTttCUmsxm6VN/TRoFhQ3aVwDj5NR0wp77qlpTbS0kCrjUjqJKAKRNKDSNRm8MFxfufCSu7vmnDDcPJV5haz72McmrXnN6X9tN669bFptqFOEApJi0eqwhAEP7cpotC0anndW5K5hGGb3EKDNUe5Q2lWJ8lVQXl+BflBRjyj6RW1iCOrDEKdJNd7vgJv17H3uFYL2QXMhcLcaLItRZkJilqwrmwXP7NderUuZ88Fiq9El/zEkRLFQRw6leKI5NWS4LERbFvS96OnIAWMtRg1I4gaYWTPB7+7ehI63HwtX7o5yxyPnyrWbv5Qf3DKrJ9oCckoJVDHnxgQNNuakNuBp2mRAOVtiGGb3oXy0O/yTUKrCZrpCWpDrebRAEEVqNAyCFuz6uaWd73jHv+//nW8uaF5K0XC3+kUWo8yEw1hbzB06dz+xoUdBVAdRRjHqoSkINEpULpTNiRZVuJ5QbD1SDKUViBxKWxNKTCI1gI916MUx1KJGo7bfrFvyrz+HV9C/QrbtLVl14mv/KR0c+Lzc2AsDoQfVSR00dxTPiLBxFwFt6hlaD8om51oErPgZZvcSoQ3GNA0NY5tw21yjADW02a4CXU8g6euB2gH7DwVnnPkn0ZGn/ef32CgRi1FmwtH/+98frjx1IlSrsmEaEOckaBrLICFKQxgoXhTFVBQvFn9odS8e4mDasqAjpnrVCeQ8DxseQUN3tv2i8KlPPtg8gXl5nAglK1n05jeXlxx94uVi08Z3TquOTImxIRfn26zNtbnBQPqeAxODFJndUCB0i5SwDhiG2X1om1JfKEilMLyhGKU5o2iGJkL7jBPwUaDacum24KSTrm8/77y+5mV7BBajzITD3nbXcWZo+CyjjF+VGuq0whqP02AtCVGPetIo7JIYtRhQLe1NT7KUaUmoVwCFkGjUwC8WwZs0tVq/95E7sbGxvnkG8/Jsvf3V2g1vCpP4B8We3lk9fT1gp3RBmGsXQRpiwJOgUg25WLv5apE0METZC0ikNq9nGGb3QNtZezQiRCme0ALxGeSlAlkdQkWqIZ00BdLVq3/c9okP/a55yR6DxSgz4UgfeGB/f/2GQ2Uu9JIwcEI0k5+u/yYblqeeUrIODME08kjLl/CoO5NpLaTyXC93Y3AQBsvFKH/s0Uv8Q/ffrTn0Whm8/bfe+OuOO+eaYn/9X/MrlkOqFJjOTpT5FpROwad95iO0Ly2hgaKUDMingmc0hIGYp+YyzG4lFB4EaH9S05xR4+ZxQ2yhMDgC2ETsKZxx1rdK77x8UfP0PQqLUWZCYa0t6vXrppZ6NoHK50EEuWxonnrOSHhi2KWk6DTJ20hKxp0l5CahyrQmgtIKoTPWKRbfXxgec9Qt5VNOqTXfZl4cJ0Lxl+29/PLKhhPOulRs2fj+6fWRvXQcQ5IvWFsoCjApBrYG2k4COUv9nx4kAoUqNgDoA9xsUdKhrEUZZrdCI0LSoB1SWjs0QJPEUK/WQVTaIJg0aWn57W//Qde//Mvq5ul7FI6wzIQBhWgpue3uY9NGtWukZyOIMIQAxWhgPPAoyz0GSxqO1yhEKTdl4hJyY2hFMaowyGahlWk1yAFbLF6+CGmsHy3+w9/9pPKhDw0232ZenK3yMVnec5Gfxj8JN6+Ztql/E4hpM4CEKG0lKFCKxjKC2E8h9H3wlOdGEjQaT4y2pPFVzigIKEsFwzC7DdrGWqMYtTRXFO2QFuyOVIehut/sEe+wQ5/MX/fNe4QQI83T9yjsHZgJw/rv/b6z74klp4NUM3RcB9omTaIQ9VMBPkZO6iF1Cy7QKhJK1o2BlHpL3WIm6jJlxijP7XJ7TqNBYJ3WG9ZLNEyfuTe0FyqDBSFXoQN2ufSYF4Zu+eZTWHXm+f8U9238jFy2GNLQh2hSt636NL2FNoKIAU0IfCHdLi81TavosRFH6WRoW1283jNoWzRsT/NfGIbZYdwow1Ze2p4odklFWyB70KAGYprYMtpnWaJ95vzvFN70hm+KG27IZqmNAViMMhMGc9/vOsxTD52OgXGGViGaNS1Qyow2EzTZi0x3Zivr6Tm9Q6memLEBOWRKDUrahhbMWFDN/Qmy46mgfHr42gkg/NNoiChumKFp3T35vfZann0K81LQV7vpAx8orXvteX8hezZ8YGqtOmugOmQbuZK1xTb8hlFo0l7zNAUCz1a0OAKNJbZZLkMKLFQf0tVLNuJAG0swDLNjkE/TlK8XLYpMicYcrEA7RCMbXV5LsYxilSU/6KHN0cIlhQ1yOqc2ImJ87s2csTbf1fXb0nve85i7aIzAYpSZMKhHb28Xix48vmxsyRa6nEmTMdPuPIlK0ahpWB6NFg3a1wry2kPjF/geGTw1IDODZ/Ys1H8tUQ4JdLYWW/yp8CFFpeNh/XgyhYZM8BjVLh2x4JsIUl3rj4855Gvmf3/47ubHMC9D/My6y03auDFcsayrp2cj2Ol7CavKQkYWcjoBD8WntD6oFAMefv9kK5RCxgVLbB0EOltBT4GQGgiUYoZhmFcONeyo4R1LHx8V2p0FbWPQ6O+sh/EJ4xgFLupA8dD2LNpb5NPoHjbQsdHop3VQI4OQFkur2t5+xQ0d575lzDXKWYwyE4akrau9sWkgNI0Y1SaFSeLFBSZ35IxNKN2W1VRohSiNthtQUmFNUn+egECgCMWniY5B1RtQLlYg6OpObHvp/tJrXvNM9inM86FOleZT2HjeW+alq1f8rVi6SDYCH6Btki2KHIBHCbQTwD/4tbOFMMzugHwb9XgGbltqauBlDT9F6xnQFi0NUrg52dn6Bj/FgmGOGoC2PgJ+3wAUp+4Fpn3SM+HBc78lPvROFqMMsyeoWbu3LnUdGPdXdZqkoHxKAEzipXnCC8D9oGMTbP+DIbWZGvS2lGadxGjWM6fRIees5xybRjEqR6qQVtpAzZrdE9arzwgheBX9i0DW8MQ7Pl5c89qzL9Q9G/+muzq0/0hfD8TFIohSRXgaA6GJ8Ey0H/yGWYoyzO6DekMDbIALVJ6U8YW22FU0HzulPMrUuaIwpNF0GQ+PkyDF48KAF9WdHxzunLzB7rPvHfKKtyykOfPbNj7HAixGmQlB73997VQ0vrNsLVHUyvRylJKbaUWynURQcGKFUn+oco4ZxSe+p/EYZUagfZeFTQBo5Wip2KOPPOKJqgj7s09gnsdWU+jYtPQqE8c/SxbPb+vr3wTlWTMh7+dAJDFEug6ikWCQw+88EFkuXoZhdgtkbdLN00YxSnO1adYLjU5Q76j03eiQoIY6NspprqhQKEhRwObxNPSQabDXtC+3/eon36fPIujK5tMxAYtRZkIgH7j3OK+352RPKGmpR5SUDNOaoBClHgByX7TlJAlS0LSgBp0wOmaNjloZAzk8TDNH8Z2Hgtcc//P0yCPHRAqTsYT7ivABkasvvOzv0/WrryqsWAoylNSjbGOZB5ngKbRbi29A0PQWFKGppoDINsQwuwtnbajYXPjCX9nYBK17yBqGND8+MQk0ZApJgC7Rs6B7t8BILmx4J5/wmL/P3vd2CLGSPmYswmKUmRgsXjare2Cw6OVCYTxacJGtuGZaDxKYNFTvGhVOSmknRl36LTyW0qT9JAUfxanqbEelZeZPueKKP+x1ySWN7BOYUfAbs7dfeWVu9ZnnnC83rPtE+/DgQX29mwDKFZDFdqETRTrUzcGlFE42yHpd8Oul9RIMw+wu0AZTbAs68UlSlOaI4nNaTU/dpAYSSESC59AmFAmYNIaggXEuV1run3/W9f7xByzOPmhswmKUGfdQsnuzco1MNm4EU8qB8SnA8sreVoW2taNcTrS6lHrnssTrJE/xhxJcUmOjWkdnbMCbsy+IjkqfEGIYC8unJvhFkIx37LVly4dNvXq998QjnfWBPvBmzQZfliAfARRSDYkvIVb43WqL33cKLq2T8PFKDh8Ms7ugiJWg+KRZ8gIb2lnfaNY0BxODQSFqPY0+0ICsVUENjUDHlL1BQeFP7Z/89JfK7/zA5uyTxibsTZhxDQrRtsEf/ehkC7o7GhkEyGEQ9X08vjUWM60GCVB6oF4BJ0bxlUTXjK9JkFJ6UdqucigxjcY++zwcHHX4kuxCpgl+U2BXXDkvt+bMC/63WLHmqvLataHx8Gi+ADmZA0k9nxqFp4hBW1q0ZMEXIUZDFPtaul2WUNy74wzD7AbQ3EiQWmqIY6HntMLeo6ELKrQawkcfmCQQDtUgHWrY/r2nPVA49fibaMESfcS2jdCxBotRZlwz/I3vTBNPP/NGCPyZkU5cr5mVzSFepjWhYfhmJyc5ZJdhiIQoFeolTVM3mT+WXp9/8CE/bvvg/3rKncyMYu28eZ639M43wkDPP08eGNp/cFOvrbd1ABQr4CfGpc2iPtBUYZCDCL9XWsXrgdIBeNpzWwtmdcB2xDC7C+oLdZuxoOnRRhIkLyUKU/KEFNJI0Il66mwV8sV+79i53+/43jf+SNcSeErmOMcgLEaZcY2+656p6VMLX6/An2FUDgQGWW2MW3XNtCg0RwodsdumlSbuY+NCk5clkapTbIFUIV+pgOyoDCTLlvwyf8BhnFsUoa+r+RRW3vPYP5p648f+wsdlfXgIwmmzhPVLzi40JBBRB6hH+8znIFAKg18KjTQGPyhADo+LuIonuM4WhmF2AyREQyHBp5XyWFJUbyn6QoOP1k2jwXNqGuyIgcaU6bE67fil0eDgfUKIdc2PGNOwGGXGNbVHn/Aby5bvFaYoWXJ58DDaUkQm42VaE7eTD/WAUrcoujBKAO3mMVKVOjE6DKJSgPI+e/UPPPxwL501wXEilPT6/IsvLi0788y/N+uWv7OrZ6Mv/Byk+ZK1XgAenmO1gTgV4FkPPEOKFP8YHy8OwKd8WXoEBWsVEg+Dnls4sVXfMgyzK7G0MFO7udvO1aE9JviEkl1Yz6N8ozaoCSiZHIDKLcifcMS3ckcf3TLbH3NEZsY10fBIe7x6dQBpCiKfd3NsKKZKFDBMi4JClGaNCnRf5JbdPCqSqLRPs0nBxhHofG5T24H7LTzw3HO5ounraVJes/4NwfDI/2sf2DJ786aN1nROBVusCEu7VVFeVmNRfNI2nhIUaf6UXtP8UB98T4AxVYhtDVJ/dKrL1o9mGGYXQnPjNcYxeqT52jRKT1OUSJQKgfYapcI2UqjSqFC+clf3p//5R5M+8pGh5uVjHhajzLgEDVZEyzcdUTns4BP8kQEMmWjI+RzESoMwBnyaCse0JOh2sTHhgfZp+Bhfo4ZSGp+bBr6OUKSGEMvCrfbSt/1g4amnTuh0Tvj1bBXja84647OqOvSd4Kn50KB5ZVNm/n/2zgJQruL6/2dmrqw+j3tIgjsUl1JKaSkFKlAX2lLXX0v1V6i7/aj8q9QFqNBCKVCsuEOxEAgQ4nn+Vq/MzP+cufvSUBfg7b6cz2ayu9fe7s7cme85M3NGuLWU8HcLoO48zWSkeR6tJZ9AKvFewRbCF9oF20403kMyh9sK+Hv72Bhy88EwTxY0DIli/cahgFRJ8PAeDo2EwPMgiBPw6iNoKI40wyP3+0X3K150KQrWjlptjmsTZnpy5pli/MIL90+F2JdmGmpULRQKiHC+HHbodC7kkaP8S9GiILUllVsO1ESxU16F/tlgElhZPurw63d9wQtQqm5/TIpQ+qXsC07rHj34qe/Qaza8tGd4NG88FO75gvWCHBiL94ZbMIC8zNlJ2c+bPWiDuxC9cwco/I+WHMy2Mgzz5ODCOKERbkw2wTBQtOqS73ov0olR1/MH8xZOqEWzf9H1rldf1zqtY2AxykxLzr33XtG847bd4onKbkYFIovNRp262BBja0uB0ZnOhHKOYo0qGj9F+UqD91EjiWaERoeCxsJ5EOS8DUKIBNN2mdFOT7YYWv2nZ3uN+hfKwyOL1g8O2nRgBqhCSXhuFaUUfzMJ2gR45L8iMN2vn71kGOZJhALX+SDQvKaxo8pDIYpbkmYMSWUCKqXehlqx9x3VP917FdZ7Hbf0MYtRZlpy8rnn6uSWWxfntmwZgHwOaNUlN16ULEkUo1lYDKYTofGhpDE9JUDSVFLqPrYRqHoDktRWxJ67XGaPPmJt6/DtDizZW1Xl2n0O+XQ0Ovq1xso/uS6+0ty5wktReEYGUp1CIlM33swXAcn61lkMw7QjND5eogillMYJJHHNWt2Egg2xHhQXl1/8ojMWfun8jpy0yWKUmZZUfvGLmWrLht786AiIPN6oHnUt0jrmnrMmeV3tDsZilYxilDyiTkBpDUJHkKPuYyO2iEXzflZ+5QtXto7ennBqEv+zN554Yv/9e+/75mRo8CUDtVpX4tFSgr4VaIwZNMbccvOYQrwXKDxWIl2nPMMwbQqNjNGKBCnd4fhCSpD1ikijuqnvsGKjv3TFVd0vO+EGsZuIW6d0FCxGmWkHCs2uqNrcw2vWi7oyBiKgSReZZ5RmYLNTtMPB/CNbIsU6meplSevSRzGEpTIoP7elGKjfFnfcsSNi6z3ObC3ZA+s2nFBIkrNyY6PzNlYmLMycA0blRdJIIEVhqt1qnhLyFBwbT4tkgv/zjcEwbQnVedhwGWWysdsaqz5pIEwi8IyZKD7j6b/qecMbbsgO7kxYjDLTjk0/+tH8+MEHj7GemJnQqkuKBhQK5w1NabUKfM6mazCdiGpNRIuNxsqZuupRjE5EoGfNBLXb8lrxvvuq7oDtlEf2OuLzavPoZ70HHwAIFfgzZgsvyWFtH6JhFkAe7wGVpngvpNAIsjitk/F3GYZpQ+jmxHaLJi5RvN/Aohod2gzF3m7wliysQmX0+8UXPovFKMO0E8kfb5xrHnjwGCPEzJjiidL0YEzOoCThgq9oTjDTuVBeUnezC7yOoiqNEqh1lR/y99rt5geHhrbLpYHWnHrq3Id33usNsGXjS+c0oj4jfdB+iJaX52bckicUDTTQOgVF4c3wHEsi1ND8eG4KGKadoR49MhqVNaB0E2RtDEZ8b63aZadf1Fdd7JY8xkM61qbkGoiZdtiVq2bJRx7dMxAyTEKaJYyQIEVoFjbd1BT4nulMKLQJ1bm0/jyqLLBWQyoU2GLxstKbXvnb5e95z3YVRZZi6mLyxb2rX1JoNr9WHN4yc6heA5i7CIzKibTZhBgowhX9LAaa9Bpr/hxNXIppRRf3a+I+vikYpl2h8fG+xhs3jiBNGpCQcZkr/Gr2z3/5xQXXr3XjRPEOxtatM2ExykwbWo2y54u4H9avBYGNrMwVUXySeEHw5qV7lWZit7Qp04FgHrtnSZVxo+4Mi2D2XNDDE7cXlu9xvXjqU7c7z+jI8gO/qB546L3phkcgLQVg+3qtTq0L/yLyPjQ9FO1pDF6KxlguhyJVoaingPaZT1RTt1/ntmMMM+2R2GgpJSGdGIeKTmJ5xBH35vbf7xYhxBpMHW+AsxhlphOiCbBY+2puMrQZ21YJKijis8Fmlh4CBQypUHzdEjRM5+HyECtmTXFja1U3sB8Wzq+oXG5d65Dthg2nnrrokaU7v6E5tOnFM5txn5YKkkLB2pyHzVMTK3jtuuA9/J9CmhkyxPDnQruNImJRCwdaaUgVTWBiGKY9ofrOQDOJIEDVJgK/kttlpx91nXBsxwW3/3uwGGWmD1deKasXXLALipNlplHD2xebYS/nGlm3agUKULQg3bMx7AnqVKSLcC8gTVNQtQbms6mWdll2a98R+4+3Dpn2YBmWmHrju1a+LpiofNVODPcOotGVn7UYbBAIjULUJ9MsQUEaayjoEIQKIJUSRJQCpGiQCQmJMJB6GrSP20iotq7PMEz7gNWdG+tdqU2A6i5Bvqdnbf3887+Rf+6LVrcO6XhYjDLThke+9z3Pnv+rp/uV+iGezIM1tHSagBjvZBr0HQDNvqb1tWnkHDW73PS2BXLSQMiGU1B3FKUsFFcrl+h1671JcR8eGnjGCdNGZNeJHXf+We6kkx6iQ7cHJm6+fPkDy3f7or73/tfmxieg2NUDfrnXRgmKS4oygD+UxhJvhAIjqcxrN1xF4e9GBhkFJHChYvA3lXhD+CmtNZ9N8mMY5omHxoDSmkoUM9QYTDRuG/9JNA6ljLGiS/D+NGA9D1JfgGdimDFeh0ZP3w3qucd9a8GrXz3RutS0gMUoM3248krQDz26U7EezVYBilFqiKlLHhtmCuUk3DtqhLHRxcS0Dy5fUBhtpfV6UoBOQq8tildaUx2SCHLdvQCF8og98ODLxQEHTPvYovgb5cbff8aBlbd/6pXx0NALu7UeiILA6mIRbC5AjZ6JTmEllnavVdaxXSP1Tr8l/qwkRt0PSW/wl5eoXD1ayYphmCcXujmp9nPGId2DmAzep2hQKtxOYewo9Bo0aiATFKf9M1N/7rxLS5/53K/PPfPMbSrMzodrIGbaEMQDsrlxS17U6tgwe2ACtD2xwXXz6ekepyd3o9MGpl1wAomeWwYCeet0S4xuNRxaz5QExcbUCUQTFQhmz4b8ooXVrjPe+zCeP60q57/EmFVh48Hb9q5dctVb5c13vldFSTjSVQYze7aoKmyvIAIV4n2AwtJ3KwL86z/HtP7hGKYdwbbI0nAxlVDMJhB4D9tUgYklWNzk04OWr9bYhg2NoPGdNtNDD7orWbjopqIQG06eBpOWtoXFKDMtsNZ6+Q+9Znk6OFaMR8fA5j2wPnWEWPCwpaXGlrouSYy6RSSdFcq0A+QRdV3HJDpb7ymRzUCOA5fodSvRGgY+1tam3oSR/t4Ncp+97xBXXTXtZtDjd81+EMR5RL/5x4M3H/2q9zZX3n2c8htQLuchnyviLgUp6vBYpJBAiu0aBbHHH4lhmDYG2yJhXKxkNL9RdKZZzF8RgPILoD0PtEnBrzWgC63MBMRm0dvzseQlr7mmdYFpBbfIzLTAPvjgHDleORCiqBzXamBDFKOKpGjmCZ0UMhQjnSQqF/32Y1KMTvJnEfrYB+gEfK1dXtpc7jJ42pF/OOOMM6Zdhra+PgnR8vgHP3Zk7ae/ekmyfv2zi1Gzq1nyrcoH4CkprM2C2Esq5+RtcWX7sb8lwzDtBd65ToxSRec6gizWafReonEpA4jwNk6TJsDEBAx3d6Uwf97189982m+XPHXvsewK0wtukZlpQfX8CxeZ9RuepjzoM+RToz4P1x47m9Pd8NIl2ozFnj2jbQONC81q4xaUb3IbTykJrG32m3odlLbgF0pWPfTo72c/74RLP/zhD2OmTz/MxjuK6cW/e1rj/AveZq+6+tUQSlnr7wNV7BMJ/iaxaWBRjiCHv1EhVRDoAFI0wmJ/m9+TYZj2A5sgqSwIrUBqz8VLll4KWqZQw/otMvg6rkPcrILaadlvZ3zy/T+DW29tnTz94BaZmRaYG26cb1etPtKXqtcq33lDSXiSsEmplKOwoe75Se8aPZj2gWSnk57uBf7nEpkS+JgUomhAuCEW1SZ4KoBw8VIhy12VbOf0AL+p+xmIQVObu+asc0556G3veUvzkdWHFkMFxZ5uCIKSFYkHwvNRmwLkEpo9L1CEemClAosNHA+MZpj2huo1ipUsjAJlKRKwhNjG2F7FEPoAamwCD8LqYMflDVsuXll4zgv/AKedNm0X9GAxykwLokce6ctt2jSjQAMKw5CWlHHdltS0p63hcyROadyokzYtfcO0B1u9oO7/TJHR60kd6lYfkc6nDaIRQ1V6Wi5dsspbsWxaidHJ4rn2y5+ab971vyeoG29/Kaxee1SYxKVGb9FKLNtKKCGwICtsqIRBeZ5SnAgJmlZVwt+I+gKoy49hmPYFdSiKUazR8Nn12FkJKVZ4NOwmRFFaqkV4kFcJdtvpCtvXdz3WkTVMrRpx+sFilJkWpGOjQXXdOndXq0IOb3JslF33Lt7PuN9JHWrpKdHtTKqUmXIoF2hZT3pF2TLpBXXiFF9T1UveUE/QKkIkvsiTYCAR4sHgsIPP7n/Zyx92J0wj1nz7rLl6fOz9+pIr3hVedu1Ti4USxDNmQqNUFvW4CYmNQKK9Bc0UosiSMMffycffRzqvqNU0GYLFKMO0M9hSodnooQFJA8s0GKrbRABC4z1cG4cy3uShza0qP+MZH51/9tl3t06btrAYZTqaW265xY/uf2hP09e/Y1QZczc0qABFp4d7aYwoCRqSPCh28ClFsUpyx3XhM1MOZUOWHpshTpTiP9Kkiryi9CLFKjtOwCsWINbJumCvXX4hjjuq45cApa/ZegnrvvblveGKG94mfv6bZ9rN65Z6JQVeoQhK5UFplOWozmlMWVOlWJZRnKMQVYr69PA6OgHRjFx3n6RtDMO0MQrvZ7pPaUZ96mbVhwLvXjQyxydqMLZ04abSQQdd0/Xa194lhWhk50xfWIwyHc2cW2/1G1fdfJANc7vRzEO3ig8JUUk3Obbx+Ja6M+k1OUM13vCka7jgtxEtb+ikHJ18JlBuuS56GgJpUIgmzRhUfy94XYXB3DHHPCAE+RH+LOY6Efzw7is/dOobFyXX3PIK88jaV/r3PbRYNBtQHSiBydOYMg1+krqhClScaZ1qq2i5W9xHF6DGzCYgUbBLSz5kFqMM085Q70828AhNcfKOKrx34xi8xELs5UGs2OEP5Te8/ELqns/OmN5wm8x0NOHdG7zG3ffvoRO9A3VRauqeJG+o56H4lE7n0BKI5HnTwjpB6rp9uei3DeQFzTyhZChQBe22ovokr3aWX2hlQNqIIGpG1s6eoefttdvWdehJi7Vedizr3vneFX4SfVNff8vL7Y13zBT9s0B3zcSfgLrx6vglqyhImxRkAAKtIBcp8N0qSynEtoY/TxMUln+fxksb5YJmMwzTvlAUEbqDaaworb6kUZA2x0bBkz7077BTKseq54sTjr20dfi0h1tkpqOR110rgrtvW1GoVObYXBdo5aOmMdhwpyhsUJiSmiGhg5KFrFCf3Eq4LXWzm5h2gNZkFpa8fyQ6ycNH+eVGiKLxYCCR1DUdgo/i1I8qxvb0XiGectC12dmdT/V5Jz47f8M1nxTXX3NIvjLSGxQDsEGAP0FIJRYsTVAi4SmpL74lvemJyja+oXJNiZo2CmNmXSgJLt8M82RCq8PRXUe9FrTwtKBhNNQN53ZSTNGsl4eGiNFSn/SCeuqoh0MZCUFTQxgnMG7S9cGOyz/v77jbTdnJ2wcsRpmOxu82ObVm1azeShUg1w3Go8U/Ld7cKEapacaGmZpsar0pzmhgqMKwkLiGnJl6SFVRyCZ6kDM0i1wi3chH3If5lGCOaTwmVB6FPDFxoXBp9fR3XekO7GBQdMvxw1+0vLFp7PS+iYnnitX3Fw3EYGf0YCOFDRmKbw+/t9AeHkue/kyMOs2OjZiLp+tkKAl3OgZLPBpi1OXHg6IZ5smGhCdNxKR7L/sf1WhrayvhRjqCvKLuDnbKFO9hGoJTbUBaKkPSU76x8PPvfqnvm59+lC6xvcBilOlo4oOPnFkZm5B1FKOehwJGYeONFcCkA4mYtE7J40brnjvPG40tZdoC8hKQ0UDxYA0KTqrAaeJZIDE/MatsggKtUQGVQ0Nj9nxh129a2S/E2tbpHUvzBW97Wjo29ofKPWsOu3/1I1CfPxt0uQtMAhDhb6KNBqk1eChMJfXPMwzTtpDxSCF+yWimXh6DAlOnaFxTfaYUGooWUmx3aLEKMrDd7Hka8Y7Go40q0JwYNf5eu98593knXVME2NK67HYDi1GmY6nVanPxVt43jeJi0qRA6CheJI2/aQlREp3IpBjd2pzj9mwPM9W4cVMuP0iMkkfPw/wiLyl1P1MFRcJUu1An1cADuXzFOm9G12B2dmeCxlD46FOf9uLB264+Pdi0bmFOxwD5nPUKZfyuAUhsvzxq0CjklaCxzuTL5xLLMO0MiVEyniWFoUND2sf2iOqwSSeIcb0WeJyHtRve2wIT1W+6Mm5D3Jfr75d+ofCrnlNecj62Wdudt4TFKNOxpD//xWIxMXEY3s9l50Wim3/Sg9QSnJMC1AnSliilrZOvmHaApCitIqSdEEX5mW3BCpoqqIC2NOvkOd2s9tjteu8pT+nYtZnt0FBX9Z3vPxjWbvrf/rHBo7cMPgJxTthyX58ItQ8qxbKJLZZPXmGFDZUbpqDdb8EwTPtCbYrrfjdYb6HQJIOSxojSe4ry4tojEqCtdop68dxI77ExEeN2u3DRhnjDht+Jp+zxkLvgdgaLUaZjsTfdvhDWbThIeapk8MZ2U41bkDVKA8opbX2PicgGknPRbwswe2gijpt0QxWzq5IspFa7Li16l8O8ClCYJUlzVe6g/X/c/+Y3b6BTOw0sf96ml73xeRPf/ckPCo+u3SmKxsGbWwavEAoRo/iuJ5Bi2TSBQksrhVRrSEiE4j82nximvSGRiSoU4hTvY51iLYbtDbY5JEyd8CTBie+p65666C0eJ5IGdEdobkrvjtzzn/vB0kc+NO0W8fhX4RaZ6Vii+1b1xus3LCetorEBpxs96w5x1cBfMSlGmfaBcoTCbZHWoglmLgwXVtQpijAa3G9TDYBCrdjbBzLwB8snn3y96OvbGtapE8ByF0RXXrj7o4c//c3xzbe9uhjF88EXUC/4VoUhBOCBp8lHgoIb27OEhiugGPewvPoCy7Xw3D6GYdoXK9GQpIR3K9VfiaEejazNUdTj4yo747rzqedDNRuQViZsbeGixNth+c3d73vPheXjjx92J2yHsBhlOpZo/bqyv2XQEyhadOC1hGgmcP7cJZ8xKURZkLYftDwzVUU06F+6DEQhijU3ja3SaQJRIwI9aybkBmYMSyFG3EkdRO3cH+9SvejKU+y9Kz9YHBk8ZBiF6GhfF8RdXUJqz62s5Dz1fhZrUANFFDDgowANANWpE6RcVTNMO0Mi1BnWipb5zCYrUWvjbG1sd7aOKcUtVNepKAbdbGq5+67Xe0c99Wqs27aIabz2/D+Dazim40BBKTH16Vww0BwdAaMEiIDii+INj3c+jQ+dnLRE0PbJxLQfWec8iVFMWGG7SU2YfV5LjI42G3pi3tyHwwOf8kDrlLYGS9nWwjd29XVHj3/vl28Z/8rZr/crw/3Nbh/0zC7w/SIEJkTZqaCGzVjdUnxVA6EByGFCCbrVw0IeY0oMw7QvNG+BxnYrWhUNBakbN+pRyDULCc2qx2dfeW5yU61SsRJf275+mW7e8uWBj334x63LbLewGGU6jrXXXx9WL754XxmES02tgTc9NtY+Nd9/3WD/LQHKorSdwDxDoYX2hZu4QxU2CVHKU0FdWrgvsSqBnt4/5I86uK2DQE+KUPpG9vfX9Y2+43+f1/jIp1+Z3HPXsYWo3i9zBbCFog3wa5LwBk3fF0Wn1Sg83cBQtyiDbyheqIWmxEYMi7VPDRyXWYZpb+gWxfuUKgEa402PLLqLcL12bkwpvqYxo0mtKgZzwUS4y04X5r3ijdvj7Pm/hMUo03GUb7wxTG6/6yAl5I4iSbEQZzf9Ns5QJzi3FZ1/y1vKtAnO66fAYP5YoVGMWnwnwUQRBMKHMF9OtBaX5U86ua3FKH6LrYVq/OKLjzUbNr4/vv76U7x1a+fWB7og7R0AzyuIfCNxE5Qo1ItCwU1jQxV+ZyfC6QooRmO8WqwEpNh+0br0Eo9lGKZ9ceKT6jKKHUo9PK3thJtF7yk3sakR0bK+uLev9/qZn/no//Vff1lHjYF/omAxynQczfvXBfEj63eRSTqP1vYFrd2kF6oHJhN1cW4rSEmIulmNTrQ+VpgyU4vzEpL4xDzRtIQr5p7UBprVBuT8EHpnzPTLawfXY5413AltDJY3seE1b/3E2NWXv3/s9+fvagPtmZm94IUFJzQtCs3Ehm5sGYWyogQhfnsPf4c4waJMy5/i7xGE+LtgmU0TiL0UNM3sYhimbaHhRdSDQeuhuQij+Nqg0UktDXlFKTJGtVGHRhLDzB2XwQ6zZ93v7X/QH7Feq2ZX2L5hMcp0HOL224V64IGFqlHrjUMfZScKzL9oq6kCYNHZ/tBwfVq1hALbk6fQ0LKWIsgsinoNxkJhgx0WrrIFf7R1Stty78tetuKhA49+h/7T3S8ONm3cVdXGQwh8ELkCKOG7mKGxSCElYYmvaa4Cfc1Wac16+VqJttDvQoKUJi+RUGcYpo3Be9QZ1FiPWazPnBjFO9l5TA3Wbc0I8qnBukDpfE/PucH8BRdg+xS3zt7uYTHKdBzB4KZQrX5gRr5RgUZ3AawK8GanMYeujc8SPVpidFKQbuspZdoHCVRxJ5hoDmoeUw5fCwiSCExBro6O3OcSeP6xE63D2w4sUwrTQDhU/Z9Ss/F5uP3ORcnwEMi5s0B5OfASiWJbQixRjKoUy2uEpRNNKBoni9/eamzEDCaP3KO0BRusNHGeVCE8tza9yEIOMAzTpkyGdkrdIhVUl+ENrFrLG8d4P1fqUFI+FIrlzVtS+zHxve9c2jqVQbiGYzoKbPSD6HnH7RBVG0HaiMD3AxDYgOOe7ACmoyDPIE3SIa3lDAjMRpskYGLM2yDECko+4u+/x5X2lKe37biq+Pvn7bRm+aHftjfd92L98AZQeQ9UfwmgmAcT+JBKlJf4RWUqwKeE4tONDWUYZtpgtUajUUNIzhHhu3seBBqfWLfR7e5XR6BeCu8vPue474pTTlqfncVMwmKU6SjGmmNzIfB2i+I4TOIUfA9vfLeHW/dOhLwHqaC4oihEaTwvZWYaYR0eQ6G3Hzw/t7n36Sfc0t+/vO3GVaFhlF//6lcfsvEzn3uNNzh0wkCtUYrThrVdIUABExVJapAwCSMg1BJCo0DZvx35gWGYToY65WnyZRYXGG3ObGvUgDRugOjD+mz2wE1dH/vfn89785sr2V5mEhajTEdhf33BAjte2cukSc6gJerLINvuWn6mE6EuLYLEqPVoQxMkilFv9lxQ5V4KdL9ZtFnoExSihcr1V+/TuPrG9/or73u7mhiBZs5AMLskTMEDo/Hj1mKgZT4lClGaZRuiCPWxoaIg9ixGGWZ64XropACtrQt6TzYnDcWBiXGIGxUtdt9zQ37BspvC/v67eazoX8NilOko9G23L5RbBvdWIHLW0BKgZIFiBcBitEMhT4KbgoYvKS8NmKQJcRzpiTkz1qrddmmLtZqxdG1Vj+vWrV6x+e3vfn3lpFd8PHh03ZFBiOKzLwdJl29TacHEKYiIwjHhKb4CTSsr0VAEZSERGpqQYHnl2fEMM52gFojiA8d4d9PseQ+NzqRZh5LBOk5D3SsWP971glN+lR3N/CUsRpmOwt7/8EyxaXBHJb3Q0uBwvPmpO4QGjjOdB+WaE6Ok9miCmUlBudmoNhIDA39Qhx90Z3bk1IKfEz+SVaNvevs++fd97MVw4w0vDUcGjyhZKEXlojXlAIwvhdX4XRL8TobCu7QCXrtZ8/idaKlPRaGbUnz/2DiEDMN0OGh8Wkr4UChEA7I3K2MwXsgbf9Hi28yOi8+XpxzPY0X/DixGmY7CPvBId3HTSMELPLAhuZu0m8VIjT7TmUgUoSREgVZciiPIKR98v9CQvryw5yUvubl12JQz8rZ37Wwmql8Uf7z6f/wbrt+7UQqhOqMPbLGEhU+CTC14qYBQ4OeXAQjqjk81bk9BYjnFLwgCVbek5WuzSzIMM02gLnmfEtYFtJKaF6NhXauAN3/OdT3vesdP+/bZh8eJ/gNYjDIdg7U2TKK4Kx0aBvAkiNCnra57hMJnMJ2JEZkHUWgDqlqHQqEM3pwFyts88ogQ7REQet1xx53auOHqbzeuuHhfMzZSsl29YEo9kPoKEnxEWPxirE5TFKBGUqxUhQJbOO9IgEIbt4Km9ed1ioKVljmlkstllmGmCyHe0zm804UMIRodgbg6BuGKHSHs7b+ucNprzhMvfSmL0X8Ai1GmI0AhGsSbV6/QvprRqFbAKunWo6fA4c7PROPzmA5EbPVsW/KM1htQy+XBW7x4Q1TVUx7OafNXzig9PHfRQXbdujfNG584wNuwqdjEarPeg2KU4oKSKUReXeqec8HpSZBSAhfknmpYKy2k0kCKgpQO9SgmrhOi+IZhmGkBrb5ESWNdYJpNaKRRJBctvTqcM+9KNKqHMdHtzw3V34HFKNMRjP7h3Hxy5XV721y4INEJ3tIUBoiadA1S42sOCt6xUC5mK5egYZHE0MwHa+y+e10pjzy03jpkSiADKLnq3udjE3KJv/L+fTY9/AjI2YvB9M2GRCqAZh2FpYFABZCn0E0mq1BTq90khhgFaORbqFNygpSm11Jc3BCNKC6vDDOdoFWXdBpBHGG9kAshzpU2qN32+t+uH3//8tYhpETZAv07cI3IdATxTQ/kavc+sie2+fNSi60+3dLumSa8kFXKBmenIjRN8KEViCT4mI0qje8P9t/n0v6nP+dJ69ba1mOBItQ3V1128Kp9D/9I/ZIb39k1HpfCoAt0z4CthAqFKE1QwM/q5SDAAunHMX5mmj2PV8F9tAggXZEqV2ksBClAIRFQMj541ocIFEpVhmE6i0xHUkWR9WxMbslohj40ZQr+8DpozujelDvikMu8/Q66RwgRtQ5h/gEsRpmOIFizJrQPP7SbSJK5RtEIPCcanIih3lCWou3FtpV0Vnn/bdx2FHSQaDeLPuzqQj2n15Sfd/z14pCdau6gJwH8BO4jr/rhD7uGPvShw7ec/eMX2w0bX99Xqe3exM8Wl7otdPeIWGgwhpbqRLFJXk4rQaRkFNHp2ShQMfmMBhLFGPVQeQZagoevnRfYHfn3fxOGYdqH1qwEhOJ+CDf8RjtzksaC0x0t3RGpxm3aQOApyM2acW3xNa/6RXnHuW27cly7wWKU6QjUypVhuOaBHfvjqCD8AqAccJNFaF16coqSMGXaADQOKPAzjf80NAYU30tKtAvzaNvktgkJxvNB1RoQUFqwCHRX7wie96QFuseSs1UXljdtefnETbd9ZOQn57zanxjubvSFADPLoAMrbBJBPrXgY4NDIahoQhKND03w86c+jRfFC2lqoCQ+sktS40XLgUY+QF3h8RBDgGKWxpZxiWWY9oUMSerlSCWN9sb7G3wUooEbfpPIGPel4FsFHm5PsTLzh0YhX8MzdtwfNWn3VbOe/ezfi/32S1qXY/4JLEaZjqCyZYtobNoSSlqPPghAofVJwscYatRJTnDT3h5gPqDQ2hZ6R8l1bZFYxTS5zeUeTUKLI0iT1IzPnTGsdtzhSY3Fh5/IDr7otJ3WP/X4r9sfnvta70/37d3t+bl8PgQVBqg+SWhiI0PimoQ0neP+wxNbLx77jf8a2j+prOkMhmHam6y+kkDxrJ1RbTXe/6mLkOHTUnHCA42GJqDNHKQJ5CMLNS0nYOcdvh0eedjVrcsw/yIsRpmOQC3coac+NG6TSTGqUIwiluKMUlPPLXx7MKkyEarACYMCzgkxp9tQuFHaup1yL8X6XIM2piHnzb46d8A+D9LhTwY0PnRs/i596ap7XjZQnXh9efXDe+QGh/KypxtksQDSU+7DOqNnG29m1uHumitkcus/hosow3QOZCSTGJXgYaKenBQokFtgJQpSH+ssHxJPuN4OVa9Co1iCZGDmPYVXP+ebMz7+7vtal2H+RViMMm0PioA5YtmKPaEaBTZKwKP4oiRoJsUBrb7UEj7M1EP5MilEXR61Eq2URflE+9zQCkp0rE3Bd137UIXegQvLb3n7k7bqUnzZZTtHPeEv4JEH3j9y+3Uw4RlIZ/SB8H38fDQ2OVtqNitp2fdyn5/ebf1u7lIMw0wjUrrL0YoOUrznsXIS0oBP0dzIW6pRpEYUIQPrEBNBNDICZsWie0unHH9JsmbLSsmTlv5tWIwybU9yxQ0LfS12C6z13VhEFC4UBog0AI1HdLKHFUHbQJXKpGibZDLYQSbrWnlFx2Alr6II8oU8yJ5unY6N34F5uiE74PEF/+rWD9QYa+yw7uSXvmrDK1/zv8nadYeVYgvNYi8kPUXQBQ8oYsNkIsFJ30pITFu/E3XXT3bZ//l7MgwzPbBYkVH/G0XDoGmHhqYtYfsToUCN6Z73sQaYmLBeM4X8rLkg8sGlueef8OMZr3kNB7f/D2AxyrQ90fU3LRIT47v5UlEkHUhpNiOKBIJC7PBw0fZhUpw5I6El0iaFKEHCjsZeOugYfK/qTbClIsi5cyfSq2/cmO18/MGPYe0RR3jrXv/6Hce/8MkT9QOr3lzeuOX5YryihgSaOjPmAxQKLkg9lS9KBsuWK14U05aW92zhvieJUXzBYpRhph8S73maiOhCtiE0rChJMeFb7eHd7xnwxyaEjjSki5duwFrj0u6D9nnAHcz827AYZdqe+n33LIm2bNlbgwiyOYw01tD535woIK9o5r1i2gbKD0w0JpRyiQQbiVKq0Cfzys2ypxijlTpUi8WxYJ9d7w4O3y91O58ghvba69lq46YfTnztrNPTlfftkfTMhmjuchDd/aIQN8CrpiCa5AVV2BhRIm/otvPjEfoOqFKzcbD4/VC8MgwzvZB4g1P9RbPnHVbhre+B74VAQ8mNbkJXkoKvYXX5mUd9aN4XPntbdiDzn8BilGl7kkcf7vHGRnqFJ6XxPaweyBvldACpG/eGvVPtBWXNn7vjW4myqvXSmRKt/HMTmZRa6e29+x+DpzyliVsfd8x995XX77T7a5NLLn0b3HfP/l3azMzncl6aCyCHZSqU2LhY7SbEkdh0KyS5MkUp+z6TX2dyG0HNFH1+hmGmF2Q0U1CnSFAPCZqjwgdJQhQNVNVogBkdgfq8WVFut51vLb3kJZfI/fd/wnp1tgdYjDJtj9myMR+MjQCEaJmGvhOeTg6Qh8oJBxaj7Ybrjm9ptCy/MH8or3Cb6/qiLZpcD7hBFSFN4d6eV7748t7TTntclwA1q1aFo1dc0bPl9e98mo2SL/Vt2HykffBBsKUu0L29YKSGnGmApyNIUG1qacBu9YRsU6aorOGDPj9tnSxv2fdkMcow0w3yirqRonjT450PQnrg0QwmHYNEMSqaGvwVy24oP/f4i+Xy5WtbpzH/ISxGmbYGG/uSFyUFmJgAE2JFgGLUCRkSBZScMsDKgt4wUw7lAgm0baGqfBLKL4X/0RKuJorxWAHhvHlgEvuoLPfT0nmPW5Bo/ByyvnHj0bV3nXFW84/X/j+9dmNhRHiQzl0IkfXAJgl4MoWmryFWJluWFGtEl2iBFef2xA9MKyehaJ4cOzZp/DghShPqJsfAMgwzfVDShRAMhHQGp7Up1hFNaE4MW6k86Fq8C+ix5Gfhe9713dYZzH8Bi1GmbVllbbh59cgSK0SvqY6DVigSsIIgYUAeNScKJFUU1I3CgqCdINE5Kdro4QQpVujZO3yQU7QZQ4z5mMyaAfmZ/aOtUx8X7v7855c99KpXv776wY+cKtauOa7PE7OgmIO4ULLSL6MYpqU8PdSbilbwc42NpDXnsUqUqEbpM056cCffOWFKgtQ1TH8Wpu7LMgwzraBbXOA9r6zCW5waHwMyaUJYHRdVm1STFTv8Pli85LrW4VTDcUXwX8BilGlbwmvuKsCtN+yOZuishMboTPrYyBOFNQXd+TQJxlmtJFCZKYfyJBNoKOrcDPRW/UzZ06qtKTkxF8WQpknqzZ7xULjT0jE67L8FryvWw5yCf9c9L4e1G84w19/8XG94sHe8pwB21gCofFGoGCAQHigZYJkKwCYkjrE8YW2oLDU+NF0pK1uTiR6E++xZKcy+G31HTAzDTC8s9ZRgUyOwTpDOCaLBNmpufLmfV3f2fuBVn+k979sPtw6nuoEbof8CFqNM2zLjxvNLhfuvP8Dz5fyUVsFwg8jxlicjlcLvuLhvGmsBslwpGjEz1ZAPlLqzyeNIa5b4tIRegpU4xepTPmglIFWYd76CAjQhl1bG5dJFF8mnP31l6xL/Fi1960Ah6tU+8vFj5Y6zLyldcPFbvJtvGUh7eyCeOQstmwLIGD9EGoGWMSQywc+YYEOTopjERocmMOHnJRPHjRWjSQvbPvC9676n8vfnP5kNFeEmiGHaGjIgKVTbpCFJQ2soZjU5NRRNSCKjM9uB9zP1uuHrwHN1VdNgneHh8XENktFRq3fZdax00CG3q4P3vAkNUo4p+jjBYpRpW5LN63Lxxg07ptrO0ChGFT6ojnCeUDpgqy74szhgphiXMVn+kPMTMyvb6PKKpGrWEECaQBj4IBVUTDF3UdfJJ/1HYhQvixrUytEffnefsZNOflXtp784zZuYOKQYxz3SamnzPphcgAYMlh3qj6cZ8zTGuPVwn2ib4kOfb5I/H7XtVoZhOg3q2ZDU9eFqDKqKcAsJUFKd1J5gchMRnQpF6KXWbtiOh0Z02qxaqRPwCmWhyj2/zu+797lSzqllBzOPByxGmbZl7KGhoLFxcK5JkpIbK4qViYvvaLQruFS5UIVCdQjLhfaAJqC7vKAKHvNKU6XuYaXv0Sbaho1AakDWGiBLJdA93ZX4rC/dgI3ChLvAf8CWj5+5R3zPfa9v3nXPR72Vq04cHtwCm4t5SOfOAiVSUNiIuELi2plWY8MwzHYDtRPkAaW7n4xLih8sPS+bc4DGMa2sRGKU3uNOV1fJKIFAS8ipPJjxCZHg2emchZV048jZhfe974/ZlZnHCxajTNuSPvSQih7dOCOXpCDCoGXFun/OR0qF17gjmXaCBKnrusYXFJ+Pso2GVdLMeSkUqBTf1+oQlbvALF3WmNhpp+zE/4D6ya85I/j1FT+OvvmdE5ojG2Y2BooQ9HZDKH3wmyl41MBk8phhmO0U5/kkwYnJGcWUdCZCNdUPWEEpEqcKxSm+p+0htjLU2tR1HcrVGI8LHgif9fSPe294Ha+y9ATAYpRpW4QO8rBlLOelKch8SPWCq0RI3WRdLgCaul1pB9MWUE5QotGXzg+B+USVO427JGioBYV1gqQJ9WJh1K5Y9kBxv/3+LZsCy0Dp4Xe9a6+HdtztdbW773hZz8jgLmGtNlNKXyTFLusVUZAq/DvkRUcBTHKUYZjtGxoj6rrnyfuJuCV/SZzSG7KWncFMdQZtw1oDxamJ69CoDEMycy7k5y+7petLnz1nxjteN+guwDyusBhl2pbcvDl93kTNjd0R+cAJC/K2kXeNxgBR5eJWzGHaBqrYyTygikW57BJukpk22SqfbjvuJ38E5MO7cgce+MfgoINit/NfwJ5xRjB2+SVPEQ889A5Yv+n/RffetsOjGx6CZN48UN0zwYM8tjcK/wj+JUwJhW+imUcMw2y/oMgkk9RNVmp1w9uW6HRL/lJ7gtvSNKVDcZsC4wkwzSroiTEd7rX3HT1Pf9a1eSEfxgrmCV2yeHuFa2mmLalbu9CbNWOFiiJlqILwqMsk84hS5UH9wJMeUapkyOJl2gOyGSg7qIKnF86b3WoMIEURSmNJ/RB0tXp774tfcNnsl70scif+Ezb87yf2X3vbqh9XXvPWz5qrrnqWyGGjMjADvJ4ZoFJaN9pAKlOIdQoRGjAxjU+VtGIXV3MMs11DHlGqlFp1kaujsB2RNLERn2m8aCZELfieB2EQgK5VbAnPKXT1KDM+9NXcZ977g9bVmCcArqWZ9uSKqxdIIVYInSptEtBO11D8x8wrms2ox4qlVck4ocNMOWQeuFGazk5w/7XyDR+YTyaOXNeY7O8HE6Xr8vme1f/I04CNg6j97or5a/Y5+LDk/F+/1l//8PNLYyP75JrRgPFyoAp9EITdWRB9G4MRMf4lvD62NhQf8M8mC8Mw2zPUTpDYdNE8Wu+dQN1aT7UmOdE2Gho2Pi4qnpeES3e4LqptuFxIDuP0RMJilGlL9Mr75spGYwlFpYxNCmizYiVBFQWNRsStlmI/YgUiSXTgCaw42gPMk0yMogikbjDMHElhuYSPYtSCjmqQCg123jywff3/fB36lY8sMnfefpIeGf9BuGrla5O7boTxvIRk9lwo2hLkowBUgvJT4d8TCSibQA4/QwHLSYCNisH3xq3tyTDM9owTopRcW0Ii1G0EoynCMECgPPAxmSSFZrXuZtPLUs+N/ae/98sLf/yHx3WFOOavYTHKtCXp/WvmmYnaDkZapV2XPIICg17QLMjsvfvnCrETpEwbQN6GrFrJqn2NWyY92gYztgkNoWOzaP49ud133eAORDD7Wq1DBnlER172pg8MvuKV36x+/pNvCEbWL/ZCBdA9A+KgCxIZgPUBIj+ChoogNRa8REEuxgYlATBpgtsSEB7+XRo/yjDMdg0JUBfSqZWIydn1bh8JVGxbUhSi9Siyzd12j73lO90enHzSxWKPRSxGn2C4lmbaksb6jbOjicpiiyqGBpK7JRdJiKLocCtn4Hsa90MzH2nFDC7I7QJ1jZOupEQWAopRCu9kFBitQWqaq6QruR0W31w66Cmb8I0jy12AiVW3zdhw4ik7r126+4vjB+57TXF489P9sZGdqeu9XihZUxrAYxVIFJoUI4pWUkqEBk0ec+FhUvjeOk86XRBtGbdyF8MwDNU09Mh6blyVQ3UPWb/OyWESDWGqsdEBI+bOv0DusstFKFTH3YGtQ5knBq6lmbaksWWwL99oBsJHe9Wn4MQoZqjyQCHqagQXDw7fosAh1cG1RHtAEjCTgVmeOGmKYtBqgXmVghK0UGhay83ov6u8336PCZFiHn00n96y8ll2dPQsu3nDj5o3XLV4cHA9VBctgqh/LiRBt9AoagtJHQq6CjTUVJJdosn76UEcKKiGAPXAggk88GQIKsF9NOCYYZjtmkx8Zl31GtuNSY+owraF1qFP4hhSTKUgB+VcbiJ3910fm/nlT1yUne3IKjbmCYHFKNN2YCWhwsENoTcyDCZfAuvlQaZUcRiQUoAvyF1q3SQVEB4YLMVGcj0x9VhQ1gPf5CABmpMUQxeKRaM0NGUCIgHoCxdAAeZUYbTxB7n77qvdWdb2b3j/O16+5hWvPrv6oU+/Jb37vgMKHuZtfxfYrjKgrAQPGw+F1wM/BkvjuiAATSIXGxNaW16ikaK0wePQTiFPKBYHF85apngMmS0Mw2y3OB1K8w2wEpJNAC/BdgQgwPpKYxsS+wq0SiE3OgiVnL+mcNRRZwfPPH5NdjLzZMBilGk7sN7okbVqYCfGUYjmsJQGINwcFBKk1AmMD7Rkaba0kC0x6s5kphrKE4kZMrn+O71PpYbEopCsx1DrHgBv5tKHyp/88J/o+JGPfH7PsTe+7cTk5lWvKw+Pn5Jfs3bfYGK8VC/4oHt7QOZKqD8tBHEKnklAChSXEhsO4YMLaE/jvOifRTGKBoqPBUHRzDZLI1ZpAhVu4AHFDLNdQx7QLKoHVRfYmLh6gfZQyEAFIkUjN4kgLRWwfuq/Jv+tr/6o+9tf4LXnn0RYjDJthbXWj1euHNDKy+tUg0RR4QaWZ/oCNHWxuJn0+MZVMJic1cuCY+qhKUoJVvV18KQErQIYsRJSzBqPusBqFajMz61qnLjnTXR05Yc/fVqy+uEPD3//os/Fl9508Ni9qyEphQCz+0CVS6C0ABUZkJqCUvsoMn3wU2w4XFb/7fzmUsAwzN9CSaxPjAcq8UEkAiKsm5q4LcT2pDAyAWq8mYqnHLLa7LXf9WFv6XZsW/6l+MfM4wOLUaa9GB0tRCsfWKGl7E0iihmZzXKkB0FiYzIRbvu2G5iphZSiTNxL6rIPIcDKnsZvYiOQCyAQOhcMbjp4w4nP/eKWL3z59MrlfzisIOKeUgH3deVAlHJgfQUGFaxNAVIhoRF4EIUeYJnADXhhdoMzDPNvQM2Dm9RoqOcGjVoa+kUTHnUKJqnZbqyfApmPZVg4Sz/n6N9kZzFPJixGmbZi6I9/LMZr1+9shOhLY4obSYU084y29GimO/G/yU00m54myjBtAGUIRTrAB+VLgGKSJjCBF4AqF0GNVfth1cOHqcGRtwfr1x8j167pS4uoL2cUwOspAKDwpGAJNqHzJRipIPEExIq6+11wKIZhmH+LSTFKcxlpmI9AI1m5uQcx2Oq4mMjnwJs9767yaOPc+SedtDY7i3kyYTHKtBVm1Zq82bRpKRjbTSGc3Eo6TuFkDjE3HBATRbCclJ/ZXqYdEM508J0QNRBDU1Jc0RRiT4EK82CGRwvJ3fcV4tvvAC+NIb9gJpiSgtTToK2GNMYmI6VRXB74KGB9IUClGoTWbmiG9iU2JpzjDMP861CNQSn1BUTKQtxIQQgNoZeAmqiAGej5Y/5dr/tG/g0vqLoTmCcdFqNMW2E2rM+lI0ML8FV5cnIK2bWTQ0JpjCiNFSWyUB0t2DHaHjhLAasVK50XIlY0UcCitMQn8mzqFKVpKpKSD3ExB5o8pqmlSfIoTiUoqzB7FVgK3UX5m6Sgohj8FBsNillKUROy7GcYhvkXyXpqXA8aVk8iEKCroxDVUIguXWb92XNuLL7xdReIl76UxegUwWKUaSvM4JZQDw/NV8aWgEL4oPAgH+ikH5R0yLZjSLfCAqU9IAFJCxOgGHVB6LGG8VFE+jbFbRqsh9vzBdB93ZDkcpBqCTLFPEXlKmgWPspWClxP+a4NHk+xSfHZB4PXIE85BdHPygLDMMy/gmtBsO6gnjYfGwslY5D1GsTNNMqt2PG6/OLF1wghBjHxSKApgsUo01Ykg1tyMDS8oADgiYCESTZOcFKM0hPNkZl0kDrvKGuT9sFlTrbqkko9CFKFKUGh2YQUVWfOy0NZoJ1RFxDUAQIUoGkYQDP0oKEENDEzE2PcetHuWgFmcl7RwtGuslIxXhvFLsMwzL8KtR+0UpvCR5iiyTsxAt0qBxD2jsSzZp1R+M7XL24dykwRLEaZ9mLzZiGGR3NKp2AD33X1ZuND/zxFCTdl3fX0CsUo9Qwz7QGNFKUlQH2s9H1BY0cpmLQAjTWN1hZSFKkpeT4x0yjfqALKpQY8TE7H4rHCk9mzc1KgMLU6W0Ma39LynlkJYBiG+Reh9kJh3UF1SoQm71gVxnt7NxT2O+D83DHPuY3DOE09LEaZtsKfqEsYnUAzNgXjKxQuKG9ablCSIK6LFtOkHCGByn6ydoIUpQHUkjSp3k06Sj0UpBKFqfYgxrxrimzyACpLylAUoiheUYwq3OfhSbTKFhkb5BMXBo8jTynu16hejfRcWWAYhvmXoGqGAt6rAGzShDSuQ+TlwFuw6A9zv/a5H3XvuZiD27cBLEaZ9qLcU4CJurBp6sYXutWVUHs4PYq7nbNMk0hxRzvvGgvSdgIFI+ZJLBJIbATWoFGRSsyvEAJRBIsq1YoIiroJgaapTBaqOYBmSB5uNDJQeArMe6CufVpVSUpQCgWo8p2gjaQiidr6W8z057F39uQ7LgHMvwr1qVGUD2l9sGOjkOqmyR34lC3BnNnXimWLrxW77Ra3DmWmEBajTNswam2PnD8wH6Iq6pAUhEedvfggy7bVCtEa9G6yNgmXSQ8p/cfesjaBPJpoRNADLQbKFYUWAz1bSWu64jbXRa8wUTNBD6qGMLmDtslXzHtLiWZBZTvxf7oGmx7bB1QmgmxYB77z0FAJsRgo3Bxj2aK4ka6kuHiRuN+NM9ZgLBpARoOmiAwqK2dUpmh6nIvGgNehSXZ0XlaumM6D6gDtSgBBdYrB/HTDusiIpXKCiWqLxKOJsBa85gTkjQeRzY+pmXO/Wthjj8vcyUxbQHcjw7QFZmTTPOgpLjJpTVKDIhWJUWpoaNUMajyw6sES67RJ1gy52ZGZ1GHaASdFaVync2XjaxQSFGKaRGQqm5iFNKNV4utctqIS5iMt+ykxj7NcpHymU2kfjS3FBobEKz7wFXg0m56OYaY5lMeU0zRunIwbLCetqApUbBKsC7QzQKmcUJnDVxR9QdASXZhojDEeaDChDsX9VH7IOKI0eW1XkTAdiDNYUXSSyKT8FdQd4/KbBCjWMS53KbfxPUXwsAmIyghEhTIk3XPuqc2Yd1b+f09fnV2NaQf4bmTahnT1Q92ptX1Ug5DzgpluZHIzgwQBw/w9UCyS2DAReCguFIqOFCuGqk6hjqIzxK0FCPDhQYJlqeoD1HLkRRcQygCKXg7CJgrXegw2QSMGmzpFbrIoBRUGIEIf0hSvSEqG6TgsGSgCM52EJpYNg3kZGIvlIjMzYiwHKSrTMMXykDZBNqpQn2hCsmTetbPf8IKfLjj+8Hp2JaZdYDHKtA3pqodnmNTMNq4zjRoJbigYZnuF/Fq0XKOiXhIUHNQ/Tw4wi6KDPOnZ/Dd8jc/UQ+Ji1SYWNO5PaGwytm6Tk+FiPD9xB9L4ZevSY2wjpqNAMwM09bqggUELaijqk08SbEQ0SI+GZpBIxQJAK79NVFxIOJi3NPVmz728+4MfvEA885l4MNNOsBhl2oZ0zYbZEOl51HxknfAMw2yvUFcrDcsATCgdQSgFHgoQj4Zt4Aa3KALuC/B1LrUQJCReBSQoNOs2Ae1hTeJ7TpxEykCE7y2+N0mareyF4pZWBWM6DxoHTGN+JUpKD60OFXhYHlLQWmM58dwoITJGtI/lqFoHoUWza+/97lQ9c69G42QtJu57azNYjDJtg9i0eZZoRHOV8LEq4aLJMNsrTnzig6IpkBPTLYSAL2gcoEJBSt2zGk1WEqSedX4yMJ6FtFwAzw+hUEdzthqh8ExwO56jfDd+OcVjY7wWPWcruTGdCI1Dp6EXNFZUU37SQhtoaFDUjRQFaoJaU9smQK0KRT8PkfAeDebPOn3WD798besSTJvBLT7TNsjNQzNkPZojlS9o8gHDMNsnJBKNFC5GLS0LLAR5vlB4WJqkIjOvl3ukYFF4GFpr3MeN9RSgQQN9FAS5HHiB78aeQoJiJaXYDChgaDo+dd/TwHQeM9qR0BAOiflK7QRNadQUSUGhRJU+FRxymoJIGmDGhmG4v3fU23Gny3q+/rk/CiF4rGibwi0+0zbIoZHe7ijx0cLNxCg3FAyz3UJhehooRilYOa3mZVBKJig8XEgn6r4X+EqmqD0spD4KEupPGWmCpTC1fWXwZ/SAVwjBapSsCZ6ZGgitAp9CxlH9gtu5julQDEpQk4DF8kHGica8pTgJZIR4aLgEmK9eEkMUNSC307LfzP/sp86Dc8/lzG5jWIwy7cPYiFK1mrN2XfwWhmG2S5xnlByaiQYdo8xAgUnhvjxK2oKMYxSpElQYkgQBNVQHb2MFTCEH/h5LIHfgzlDJCag06ihO8eScDyLwgULdKvKSolihRTXc4EKm46AJrilQKC/MQhr7iynVCWg0UmgssNo8jmLVg9z++w6bcvFyOPyAK8XJJ2PuM+0Kt/hM22AnKgqo8UBr11JXGsMw2yXkwqIawLc0LtC6EExkn/q4jSYsKZutzkX9sXEtAVm3kC/0QHD4nuDttYOVuQCSiSroat3NqHcrf1HXPD6o156mRCUKBS9r0Y6ERGiWn2ioUGFBo4IEqjExGi8N8GliPYRbwhUrfuLN7b+eJyy1P9ziM22BtTaEZix1MwLtsxhlmO0d8oKWpOdWXDKSOmFp5rRBQYrClMYHogixzRSiiQhqMrTNZQtt/qTDQC2YIaL714G3fgTCZgKe74FNNRiNEhQvRqsypXix2EUu5bgdHQkaItQlL8l9jolWX1KeBJk2IamOgC53QZzvu2PWB9/5kZn/940HWmcxbQy3+ExbYMfHi9Zoj4IXU4NBVi+P52KY7RN35zsXZoytlMX6gIZ4ppCYFGKlUWigoGxE1h9rwkBYAjuj98KuYw58jx/JQXHnozBx80oIUMjmyiUXh7SYolDBy1UFrc4jIG8kBNTdT9317i8ynQTFmVUpvrAJuFW3sL3w0MjIRU3wxochXjbnptJJz/iN2Gm/oewMpt1hMcpMOdZaP77vjllKmzxEEbhFhXksF8NMM0j2ZZ7IyeTINrvGiGKLZqnl8TIWUgrTQ4M9afa8JyDGA9N6HQr1VMSxsINCXCv33eN7XR9+62W1q2+u69vuBTFRARl4bpwoBcmnUEB0feqepy5eEqSeRoFKb5gpp1UEHpP+Edhm4DHWebZpjgEtbGBqVdoBfv9AvbjD/N/O+r9P/r51ONMBsBhl2oGCHR5f5FlTEo2GC8tBli7DMNOHSfkwKUQp0fKdlAQmhe+pC97DY6RNcT8N81NZzEgUoxS5CVBgUs+s2DgKYRP3hvmV5YnKc5f+4nu/Xv+ezy0bPOf8IFm9CrrmdFGfPiQ0qQWvmXj4t9DIpetT53yMl5Ju7R6uZ9oBt6Qnpm0frR1by8hjEmYbDd1IqdQIz5WdZHAQGsqLCgcffl/O+pdJIXnt+Q6CxSgz5VQ23O+ntVqXEcI3FDtua1PFMMx0gVbK8a2C2Fpo4F3eJPGBLZBb/FdoSK0GWqMxkR6KihBi4eM5Fi1VCSG+1ioAOzZhSyOjML9QhPHA/gq099I5sHnL4PwVx8LZ53woMLY/9T3UJzITLHi9x3jbWh41ql7Im0aJmXqyqWVZflBCIQnSjQulvZhjlG+YCCmVE58UVcGHEESCJac+Dr1hGa2T4kp/px0/lj/leXe7g5mOgcUoM+XI0XEvrVS7tRQBeTHIS8JNBMNML6ixoW5xGg+OhqdL1AFCYtQI8nLRqjm4wXooPELc5jux6hRJisc3UijWIhFFiR0M/FtF3nx2Xn3lbRuPOHm3aGzsdQNjw7sWioUAigVLXbckRFsSNKtPnBDNcDOwmfYB84bCbbXsBJcy8YnbqYy0RCrtoFyk/KMFDChSgorQrJkYh/H+GTVv7qLLC5/5xPnixBMrdFmmc2Axykw5E4+sDeNKZcAqkaMQLgzDTD/o3qZ+D08qCJUHOZQTtKQjQd20ZIR6RkCIwjOferhPQdMXUJEG6lET5NA4lKQPolS+y5P6uPlbtly/eddjd4DR4QvyXeXjN8gmQC4AFYR4qUyMUm2SeT8pZWTjDZm2QmPJSFuLENA/fKZ15mnMMOWf59FseRKjFlITu3JEs+k15rmKa+A1kqSw/94/6PvcR36Bx3P2diAsRpkpx9swEurRymysivJZVOLHNh4Mw3Q+Cd7S1DVPgkOh8JBJmoVbwk1CKKC140mQ0ix6IRKQEo9D0SrHq7ZYrUNfuQiDvn+eSeLXzd6yZfPar//fnunSwvvNpocWQVQH09NvrU8jTlGw4DWyIT94uayv14kaSs4bi3uc7mHZ0hZk+SJRkGS9YpO1P2WPM2JayXlL3aQ26cqSGd4MNh9CsOd+m/3u3kvyTz3sxuxMptNgMcpMOdHgYA7GqzOxqsm75sM1SK2dDMNMC2iteY2JumOFQRGKSdMz3u8CPEzKdcunimbNN/GEOni1OnTHlqSpGcx5dyb58AsLKiM3oDApysv++Ao7uOElujJoa3gdVewWlrxlKEI1ChaqQvAvZX98GzKx42QOJq5o2gESorSIATmxJ3PMjRnFDZST2qDhgnlM+UWedXpOkwiCZgNMGKz399rnt8bkb8XjKeAT04GwGGWmHDU4FkCt1o/VTuiaBrJ+GYaZVigUEYFHHfNockoDxrdgPJozj3e+lqBReCSehShIwAQoRqMREBs3Ql+hC7xZ827VufwzlmxYff3ow6M9zXMuer64d+UB/q03h165LFS5CxQKUOdBc4NFyQua+dkyZ2zmVXOvca9beYne/LVWZaYAmpRE3e6URy4PcZtb5pPc2IjzoKMYpbdh6EOoE/CqNciXeyCx+tq+D5/+gf7vfWGtO5jpSFiMMlOOqVUDUW30YfUTunXpqYVgPcow0wpaLcdLUhSeNDYQ31O3PElTvN1TmlHvk/gA8KIY1OYR2xUZ6FkwH4ZywXlSBafv8PDdm92FvnPWkrHPfvaVeuP43inkIC6gmA0EeJauhxdDUZt1ybc8ayREUaiSkUvvJ6EOGKY9MFg2rKY8ovzCDSRIaZvLMywTnnLGDC1goFMNQaUGqlY3EzvscJM49PCLxKJFo9mVmE6FxSgz5cjRpm/r9T6sdEJafcl5M1r7GIaZHigUoYpWWHPCUIKynltJB9+AUShQaXUkFBqilkI+9kXNK9rRGQP3+AtmfXbB/TdeSddonH/+suj6G45L7rrziHwzyUc9AzZGoULDe1z3Pz4kCVF6tJ4dpHBI5DwGrmXahWxMqMEsIQOClj2gFbdoAhOWB2FRjHrgkaNCG4jrdRo2CqrYNR4ecPBPyz/+8RXZVZhOhsUoM+XIWiWAar0vwAqJxoyplkeDYZjpA93R1M1K4zqBxohqFKSpRVFq8J5HIRrVwFRqkMQSCkt3gebiFdeaVB41cPXlN7kLIBOf/MKb5Yb1H0VFIiohCpiugjBJHnQiUKAkTnzS2FPyuAqsTKgnXmGarE8mu+sJrmPaC4FiU6JhIT3MNywoZGBQon/kESVjw6QxNMfHYLx/wNgDD33EDleu7BNiTesSTAfDYpSZckwcKRuneWcPY4nMGgluKBims8hE3t+DpEWK6jDyfYi9AIwI8F73wMdbPTAReENDUMb7vrhoMWzOF87Rpe4z5/zp+i107sg3vtE9+L4zXpyMDR5VHNwA0FsCUcjbwAAUjALfYO3hxCfKUCdcJhOJUxS9WKdQTEr3OZwXjnbiG65m2gISnxbzSBuKNYsGA25TirrmKV8tpGkKSZpaYSzMoAgLSXy9mTPvI1Fcvj+7AtPpsBhlpp5mU9g48qjxABrE7qoiSgzDtDfZfUod5LSi/GPVXbaVttBRNJM+3ZokGPKEUU9IGoNq1PAIAfVCIUrmzLwzN2/Bx5Zdef5ldBUivXfVnumDq9+RVisrhiZGUYx2gx/kRRgZQFnr5uI7TygdTELTJTeTCcF9KHTcY6s3NKtlmDYB84VyJJs1n+J7LE1YOLIueywvFHUhioRJNTR6ekzOmovmff/Lv1543hcbmI9sUkwDWIwyU45Xm4CgMWGlUdhA5SF1a7FMNiQMw7QjUmpQwqBuQBEhKAB5AAITNSsWhaBbOdxq8OluxmO18sCKAHJxE4K0jkKjibZnBIDiMt48Bsme+ybmgAN+HMfymbPP/95d2V8BMCMP7ZlOjDyrctElu3jVJBQDC8AmIYgUDVcUK3WRQCpQ0GZrOLnVnKy0+EwJ/zatbY+fkbyh5GUjkUOhhNzAQ1ak7QHlBc2WhwiNixR8l18GEjQwUjQ1wPcg32gCVGr18PBD/1/xk2de3jqTlCjn4jSAxSgz9egIbBpnVQqNJ8vcG/QfwzBtiqCwj2gz0rKeHoo7lAyZZwsf1O0aCNxiBCQp+baydeY9FIugUEhKD8VkDHpoEBphHpJd915vZ83+itppxdcXX/2rje4PICgegy2vOfN4ff09z/Oq1QJpSJELXe1Aa9nTX/OxzqCg+RQaimuNziQbSpGlFAsWmhcgtQ9Khm6csRwZBl0qgr98p0e95ct/U375y+9oncpME1iMMlNOGkUuXAd102ydCYsPhmHaGC3BahKCEqUmCk2bgNZNlJs0Mx6FBUlPKyF24zgzMapsDJa8p3guNCKYiFOIBmY9Ip9+7EWNg4/43NxPfPiW1tVJiBYqX/vaQckNdzynZ83GZX4hBzqnUN+SoMW/IlGK4uuAuudRjNKqPExn4lbJQuOFTBoyKlJMyvhYrrBsoYHjT1TAdHetDQ455PLag+tvxXai0TqVmSbw3ctMOWkU2yTCRoq6asgMZs8ow7Q9FFLJKg8KKCwleTlRiEKr255iRjYpDA8dE5AnU0KKrU2KAlI1xiHcvAVgvA7FI592X+GpT/1mmoP37/yet2xoXdqx/tjj95z45YXfk9H4/s14HIp9XSACHxKduGEAeGlQeM0kSSA1Bgy+4VqjM0mkhQhzz8YGApGDwC/QO7DVCevValDsnQFJrC8O3nzyh+f+5BvDrdOYaQSLUWbKMVJ4BhsUbGGAwntQg5JNe2AYpl3xbLaWeIwCFKUo0BhNigUZkFcUb2InDGmGEq2yRF5MbaxopOCPbIGk5Ov8HrvdmVu24rvlE447d8UnPznoLtpi4qeX7CwgeEHhoYcX51CmJN2htYFHdYUb/0mTkwQlNyiA/hJ19NKn4XqjE3HjeiXmJBo3QvsgEjReVBP8+qhIa7V0dMmiW2HXXS4p73XIFkGBR5lpB4tRZsqxYSGwaeqakUyM8tgvhml3PLpJURg2pIZYWtfVSuuGU2crRfqkGe4e3ske4L1tmqCasYCqhmoaabV0zh09r37peX3HnfSdnmOPfTC7YsajP/95vnntFadCrXby+MOroUZLh/b3iMhYFKJYS9AEJFqdx2h8b/CDKDchSfGcx45FWApuj/ns+5ivCmyUgjYV3BaB9NWm3InHfX3ggl9e2zqcmYawGGWmHBkEfmtBaax8UIg6zwfLUYZpZxqQQFMmrqs8tDS2T+AWAU3cl6IIpWD2AYqMMImhMF6xpcEJiBIFhZOefU5wyjM/AeWBr4tnH/aYZRyNtcVS/6z9ar8970D7p1vniVl9YHMFMBGAjhXu91GL+k70Ug2RYqI1zN3oHhSnLX8s02EEWO8HmHVapyDRygmwXAXDI9CcNzc1hx30gK3VrioK8ZhhHMz0gsUoM+WQGCVPh/OMYqXEMEwHoCzerxpFIBqSigZwolAkdahptB/iS7BJYsVEHYJ6Isbyxc1q0aIf5Z9xzI/63/XRP4hXPNeN/cNjt97069/27h3GP/PF08zg4K6yWQFdzKPYDcBPPRScASgjwUPNSd5XlKRA69GnaLimoMEKdo12KgbLjEBjJhQeqKhm/UYFSqoI1s9fDbut+MbakUt5laVpDotRZkqx1vqe76MYpeaLuvpYjDJMJ4Ba062eBKmB1PMg9VGMklDEe5mG9WkaB9hIRbOSwmYUGcmOy85fsOqmj/W95k2/R6NzIruKU6JOu2JdIKOLLz9S3XbnS4tK9kblEkpMmlWtXJgoqVB8omjxYxovisLFeph8SDX+favBSBajnUqKZYaagJxUoKrjIqlVoNY7G0xNnTf/s1/++X7fvDVpHcpMU1iMMlONL3KhT8u8ZV3z1JBh88SalGHaG41SMdEoEPFmTQFivH9rSkNSUmA9C9GGEVuoCUi7ZjbCww75QM8rnnMWnvUg3t9bVSPe8Vvv9OFnvOisvBVnwshG0GEegmI/lGLpDNQGCs2mboAUKXj4OjUJGKwzpJtEhccovJZbhL51MaajkDRW1BPQTCpg6zWoaDvqHXLAZ7veeNofW4cw0xwWo8xU4wnp0VwI4UI7ufaEZ8UyTLvjbEeB96ryUIyiEYlJ5gIwUd2KygSUfV+MdZc2qoULv7fwCx/9Wf/b3303ClEa2LlVhOJ/1tr1hbF3veuY+oaHnzNQH+8VgQc2yFnhhW4iFIVxokDolmbkexqMn71vYusVKQUB+OCjKM2W/6QPxXQakhZBQOMmnhiC8d4usMuW3lt+3nHn9L3rDbz2/HYCi1FmqlGgsEXBli17YANFAZBZjDJMe0ORLzzlZkAL6j7XBvK+AjlWEelYBaKBbijuv/zsRXf8/oOw++4Pt85ykAhtvYTqh759iB4bf1d90wPdG7asBW/GTBAoZI1OXGxSCt4kMXkUIgrN1ljRcp8ADdTAddxGYjTQKIrxM7AW7UxomJaMYjDVKogli1fmnv2sK8YuvfReNF64e347gcUoM9XQnAdF6y+5NaUFDWTPJjMxDPPE4wxA/C+Hyo8C1kdeCtrTIPF1EAsIjQfKohC0tPgm7hO0Qo7vAttLFKC0hKPI+2DSBujVD8Kc7l4Qy1cMp2HwAr3Doi+hoBjB9Fcy0Vq8262dO3bTbYeM/vriQ4sxlL3uPmj4OTfeVLi/h1CdgJ+SJrgImsiU+vjZPLd+eWBi/CwRHk/H0IKkXHO0A1Re3KgJS4aEh/kYQExBviTW81jbCwoFhvlJK3RpCscwMWLz9Rh6B1aAqKvzxakv+NK8b36z3rocsx3AYpSZUrC+ktgikQzFCqvlG6XuNtcHyDDME82kfHOz0VuaURtLi3q6IPPunsSDJmMAk0KkWe3a8yFWCnQagayNQS5pQr7cA0PF0kPerNlfW3z/XefNPeusxwSz35a1a9fmhl/3juclqx9+lje0JR/6eZDFLjeRhYTwX0Ubpo9BgtRQ5z1KHDxGtQRydiQ3Z+0AlSeJYhQNDTQUKNNQmGJy5YzqdsxgrPKpQLn4sJ5Fw6daF5VE6+qixffme+ZfNn+XA/4q0gIzveG7l5lSsKZx/pFtxeefXzEM82RAPRJNP3UtQpj6YBIJEQqIZk5AQ7jASeDJzCOptABfa0jDHDQDD+LmGNihjShQDXi771fL77DLh+ZdecmHWpf+u/jf/ObS+u9+/4bu4bH9k0IZ4kLRBbAnb6eH1yJB87fJagj634lj1ittCa0vH7mswXKBJSgnNARo4cgUhSoaMwLz2lcGgqgJViuohfnV3a854ZOzrvneXe4CCLUPrZfMNIfFKDPVGBSixhnKZD23EsMwTy5Zr4SgQdzgBSF4Hq1qlDhhiHoUBSp1vXqoVhU0yxZUUrO5oRHwhiqQLt+5kR544MVQKr20p2fWb1uXJLbezHj1ra+HXvzao8VNd37VjG9ephvjUOruASE9MChyJYoWWlmJvLNM50G5lji/ejae1+gYTFoHiUaG9DwsVyH4RtHUVUiSOtQHN0F9hwWj4eGH3iCXLbxCiNImdyFmu4LFKDPVWE0xWhiGmUKo+xubA5P5ogL8j7pPUUW4LlZah15o3E9d9SgWTVKD3OiwgGZko4GZa+0OKy7QRxz13d4Lzvm1/PFZE9sIz633dnZlgNqvfz033bjupPLGTUcENvWjQFqZp79oAHSKxijFKKVxqVu1K9NhGMxDEhcBlidLMWCzQR8uTzWNMaai0Gy4SUsSDR85q/+P/tFPPa949PHr3QWY7Q4Wo8yUo2gAO8MwU4qyAcpFFJsoQMM4ApUmbmIQdZ0r3wMfhaj2UTLGDfA3jYA3OgayVFpXeOOrfxK+8KQz57/3nee0LrVVeP4lY2ec0RfdfMu70/GRZw7ddTvYQgmgr1/UbAypbeJZtI69AuN5mFTrLKbjwKyjEcZeakBi/S4wP61U0MT3DSxfiUoBhsfAT/C4JcsAKhPnLXrba7f1qDPbGawCmKlGW+0WlcYWrNVNTy/dBoZhnhwEGBSbbr4JxXukrnJa8F150ESBWFcxRCEKxuqYzQ1VoKuOwnTnPW4Jjzni68FOK74/56UvXdm60N/FWlsMZ87Zr3neb58qHn10iewug8x14d/I0Vgd502jMaCGJijRRKVtxpEznQXV45Sb5O0mBzeVrUR44ElMVLmbCEqNBiSJHQz23fusruOOvTk7k9leYTHKTDUoRrWWUlgWogwzdbheekwUw9MIhUKCRCGKCHyfmCaY5jjka5GIjErrXX1/8g89/CddP/zxOQMvetF9eO/SWJt/eOs2PvLJPeqXXH5K9NDDy4NKFVS5C4wibywFZSLxKVGw4t/EJClsFI/e6VjIjqB5AJpCOOELg3maYnnyUYyGaQpQq0ETjRFv1szbZnzgf74z8NGPPtI6ldlOYTHKTDWp1Dp1Y9HwDYUDYRjmyYV8WBofqbJgfBQNIgA/RYmYoFAMPFBRAmrDKJS1D96ChbeWv3rmO/u/+T9n54VY3boEKdF/ePNWv/r/niauufZUmw8LVeqeTxVoHaP4TCBHk6YonqmLaSqz0E5uRSWm06BCQHYErRJrlASDBo3GZCiUE+716xHY0bqVe+7+p/CU4y+HK6+j4PZRdjazvcJilJl6VNatQ5AYZUHKME8udPsF+Ez+UG0MxDTpJECBGKL43DgGXXUB/uxFMNzb++1g3vz3lV76yhuFWDKWnf13cTf1HXs8vbjqWSd8IvLkqd7oCIggAFksWxWEWZxQFKSx0dgYoQhGIapQyQg3RICbp07EZToKTycvKHStpBBOmLBs1cdHXPVemrtEWBH8Inj5cT8Sr3sdr7LEsBhlph6JldW2YpRMa5ajDPPk4eYpGQGSZj/je0Mz5nUDRFxHkapgPCg2R3tnXBcffeSXZvzxN1fg/VrNzvyHuNt4xrLeQ+Xmzf/To8SSUY80SAheEAgSm0LQYp8aElItJEAx0Xvbes10JjTgCnMaEwW2V2h0APhJBLYyJkakscniRfd5Ovh9cedDN2w9hdmuYTHKTDUWKMxoq+HJtCj959oxhmGecKg3AiCNKQwPxRhVEKJ6UKODEG9cC7DzDuA/ZbcfVceaT1/+g6/d0zrpX2Lic587MciHb1cr77FDlXGIFiwQvh+ATGJI0wbE5DzzFEhPgJYGIpVCw0dximKYe0g6F5Fat2iBVB6WLgUQxyBqVejFPA18cWvfq59/ev9vzl7VOpzgzN7OYTHKTClCiFgOV8cDlYeA1jHWaD0L6RLDMP8NNO5Sg2dTCEwmDtwyjCBAGQGepniPPmjhQSIlxHm875S2fq0OwcZB0MUuK/fdd2XS3/NRf968/9tv462Ta4X/Uy8WCklZtXbOxEUXHdm87trDfSEDFeTAwyaHjM1s+d/Mc0ZLi0oaYOjEJ82nz7xq+JJpE1yUA8wfegiF+UWRFwRFPsjG9U72bGWZhvKz9T7F8mdpHHLShGa9ZusrdtgYPmWfK71TT71a9Pb+s2EezHYEt/jMlOMNjlV9L+/WmpY6yYTo1sqNYZh/F1re00qSeyRIccPk7YT3FQmLlu7LNqMY1UrhOTGoqC5EtQFVK+ti9vxb88cee968z7/3s7O/9dWtSzQi/1QmPnrhhd3VM888Xt/3wKH5hx8uyHJZqHwRgiTFv20AtTD+XZqohMkND8C3+KFoM0lkSZ/tn/4V5smiVVz+acaTN5vMDEmZh5mYCjQ7koar1+MgsGq3XS7peulLL0LxOt46hWEcLEaZKUcHgbQ+RUluzain8WP/tNpjGObvgmLAKAtaBhDJHFTw/ko83I4CgZyQkZ9CFKBIgCrQrReCB97wEIQbhyGKPBOe+NwLCq96ycdiIT4pdz60kl30X8f870dn17/9g/cWJhr7JmEP1PN5/Jv4h5gORDjPJ3lDiTiKIUkS5xX1PM/t01q7ZNDQIEGqIQXjYX1Owe63DEKIx4SLl6TJxi3nlk855XJ3IYbZBhajzNRTCMGEgbBU2VFMENahDPPfQd3chubGWycWfOODthIi6jaF2MX1DFCCKhmCqIxZuWUdlCMDlVkzNqh9d/+2t/++3+1961uvnPfhD7uuebwlnRP177Ht/rGnn3hMPko+Fg5tXiIhgaSnbOnve6iC+dbuXCa91oq66LcpDiRKSYCSWFVSZaIVd1udgIgaUEThWhNyXW7Xnf+vuHzp7a3TGOYxsBhlppy0WADIh8ZgRWYprMs/bPYYhvln0JhLSWNCUSQoFKAhCkFhUDiQOAUNgVUQmgB0jNvrVaGbEzDsheN2151+3XX9r77a/663XLxtVyppi9bLv8nk/s1XXFFqDG95wyydPDfQMVQCadNyXuRSFMQJS9FOZnJCme/7bolPej8pRMngmRSiVH0Lga+bTYDKONTKZZD9/VfM+umPvjzwne9schdhmL+AxSgz5ahS3thiIU2lQGtau4guVLkxDPOfQXePG4NtqAvVQmTqUPAAerwQlA5xv++6Wse2bISwUASxfMdq+RmHv3Hx+0//SAlK92ZX+fcY/PZZc4Nrr31Psza0++aHVwL09kNY7hE+fgYXKorUMNORkMQ02jjxOVk3T4pTpZRLNBZYpwmYNDN28rUGhXJKw0MPvKD0ylfSuvPr8VwuBMzfhMUoM+XY7lKqi/lKE+s2k3JdxTD/LSQTNCaa1Uyx42nd9whTgjqCYj7asSGA+ijkFy2Akf7+66BcfN+sc799kTz66M0oGFJ3kX8DFCYB3Ldu34lf/fbEdGx4YTP0QOZ7sIUJQRsNqROjmXhhOpNJETrpDSVom9tK78n4oa56ioYyVgEZoNGzeH5Dzp11fvd733k5HssFgPm7sBhlphxdKsemXBiOrNUWrWqqsrJqj2GY/wRq9fFOcq89iYLUU9DUGhpRE2TSgCiagLpMa8GOO9xfPvjAzy+86aavCNEz6k74D6j8/Df7x/esfFZ062275hqRL/pngpF5MJo8aimKUZvNoGc6FtcFj+Jz2655gl5b3Ea4BUyw9OmJClRy+YbaY5dbGoMP0iIJw+4Ahvk7sBhlphw5szcS5a4tVoimoG4gSz4dNqIZ5j/G0nhRDzRNZELRUFABdZvaYMsW8Ic3gb/TjsPFE47/tS11vXjm/Dm/aZ31HzP6nne/ML355tMK+bwQuQH8m11QtRF1dUCeJlKRiGkdy3Qek+JT0lCqSQ8odc3TLPo0c6QHQYCGh7aNRgNkLoCmsZeVnnnc2xb+6vJH3QEM8w9gMcpMOeHAQNPrLm/Ceq5O8QVJh9LEC4Zh/jOoR1RRGCfPgyRFATFWge6JmrBS2cbSxdfLFcu+HTzlwO/OO+fHt4kPfzilW6516r/FxLNPG9h01HP/B0ZHjuutjEool8GERWu1RKES4ecwzisrDYljdo12Ms4D2koShelkYHsSppQotFNSr4tqHJvxpQseDnbZ6dL+17/lLhSxvPY8809hMcpMOaq3Nwp7ujZLoZo03oibLIb57yAxKlSCwsFAGsUQT0xALUkg6Om7o/c97/76zJ+f+/neN75xa7xHvOf+I+uvNvzoU+XQ4Oe6lFgyIlJLkTGMhzLFJOCZFIQ0YBUFtc8S07mQCDUmE6P4n6unyVtKsUZJjJJH1GBZk75X6TvmyB8t+crnr8jOZJh/DotRZsop9xbSXDFXVdJLUJC6yo79ogzznyLASuoWNyA3PwL56ibwFg5AY++dvtl94jNfW9hl0YVSiMHWwf8uWxXlyEe++vKkO//GykN3QoNil86YifsUKIuvZUyzpyCxKcRphKIUjUxMTOdBtfHkLPosfJMCje/TNMX3NI5U4msNlUoFuvt6YdkOy6rdQ0MXiZ133nbVLob5h3DtwEw5YunONejpWa3SZMKnqu8/ddMwTKeQuZWy19tCBR9vgL9+UI8BdXVTfEeKFEoz5OlQ2pqt707Vufbo2YKs1UGNjEG+uxeas2Zt2pL3v988YI/vFr/+9VvlwceO4EH/KWgrWtm45uYdKtdefnz68EOHmDQGG4Qgw3w23psSeWalh59EgXHfhzxpfFd3Ii5mLT4oT63SKEa1K7q0bDOVQU3GRlSHHszfJph7cgP9/+fftPru1ukM8y/BYpSZcuxTnjIeLV1+l2w0RwOs3LJGtrWPvKSttC1/bzvDdAZYwOnfNoLUrc2OxTlLmQCgR98e/7IAALFNSURBVDbWkg7Gd60bg8RoirU3iVF3pKY3KEbpfRIDVGuQVBppvGTFeHjosb/c/e77Xrnr186+0Z38X9K88oaF8TXXndC4/ea9ggcf8IvdM8ELu/AD4WfTqVsSUqMIBUEzq31MHn4Hg5+PpzB1IlTClMtPKm8pPqWuW14oD/PZgm5UsVDUoNhVBBPHPxcX/fYz4v7r/u0lZJntGxajzJSDdVwULJ2z2YJsQJDDxgxbYxaZzDSGQuHYVhDxSUhYOiVKDTyW/5S6QjHRa2sStNIaoFUMUhgISbDSWuAmhURoqBZQC0JsC8NjUNq4EUwhH+VPet5l3vKd3yLzwceyv/D4MHzmp3cb/r9vv81rxMtsMQ+C1iDH7fgp8UNlYtm9a93DJGZIdG/dxXQYFMopAZFqkAkaGCbEYor5i8I0xryXjSbEjWbTPuWAc8qvfe01rZMY5t+CxSgz5WBDZSpLBoatn4tEEa1r18iyF4WZvmzr1d/Wu0+OTwoOb1FwWvdMibbjexc5lLpI8d5AZSeth8JUYUKRUBu1YWVMBEkK413lh8XCeT/PP/UZ35/xg6/+cua3vrTRXZt04X/AtudtesUrnmYefeBlpQ1rF5ZxqygVKc5P9pnpSGRbb687u7Wd6UyoDBq3DgJFRQhxgw8a8zxFA8mOj4HJF0HNX/hoeMBBP+/5yIfuyM5imH8PFqNMWzBLzKpCuRyLUhlMEoOl2HV/w5WSeVgemxim0/jLsrtVmFKizZgE1s6UpMJtCgUfvlCG4jwKSNzEkQA8FKO+iaE8Oiz8iXEY9mRDnnjct/pvvenM8ptf9lMpRM1dGMFL/keqcPK8zUccUYpvvusjM5LmySnUQPsoiIOcsCRGcT+lv3dfZuK79YbpKMjIMMqAUD6mEMsnlj+atBQnEAwOgpwxc3P+qcdcV33w0asx3//jhROY7RsWo0zboAZmWdHVDSLWrkuI+MvGbVuPEsN0KkqikPuLMk2+TyzojynvBJV2hQLUswpim4dUFFGkhqBVHeKJ9WA2bYKBeUvBLt3xFhPmjg922+3sHMDjEWh864eofPALuwZLdv8MjI/sEo0NQjDQC6IQus+c4mfXlrpy8Xvg586C/mTQK9rC92xnQ7mnpYFYaVq5C3StZouNBOb0zwAvbl7g7bv3mXPPPus/jdDAMCxGmfZBzZ41XskXQCYpSJ11RTLM9AQFp3u0ivlkWcfnrYZXS8RZg8YZilEhPBSgyo03Vc06BOOjoFHpRTNnbtnc1XOLv3DZN3ba8uhls04/fRNeI7Pm/jucgsTPUGo8fOfT66vuflHarPVMkLwsdYH1fDe+mwQpac1W5Ek6ZRvoElmiB9OJYJ5a8n5rFKQJvYRcvSZM1LDjC+Y9kpsz4+K+N79mDR2JOfyXBYBh/iVYjDJtQ7Bw8aOqq/yQSlKjSIz+Ba5hbiWG6WhcyIis5aY4jUJuI0IFlW8s/87bSKGSTCvChASFYsBLxkCODYIYqUKub8GmrpNPuSj3vKNf2Hv5+d92F3gcMb/7XRj/9Lzjk/VrjqnfeGUPeUHj3hkQgw8aP1Q22ZA+O82cxwd99NY96l7jtsmJWeQhZToPZwgZicUwBWkTyBsLxTQCKZINuZOO/3z3b8+9uXUolWfOZOY/gsUo0zbIFTustcX8w8Yk2Ar/Y8cOC1Kmk3F+QizCJDBRyf1ZiJIAbU3eo258T0rwJQo9mkSSVkFtXmt7hoYhEAGI/Q86Pzz0kDODOXM+1/O/H1/tTnq82XtF95YzPnJyete9R+XCHIRhHpQKILEKNH5++tT02SfTVmOxdX9u3d5KTOdB2RZgOaRhIrIagdq4CeL582rBEYff6s+Zd4nonfNI61CG+Y9hMcq0DcHee66GQK3Uwrp2y6IF/o9gQcp0LFuLbkuEtsQpeUHpBVXMyiWaNY9HRQ0QjRqU/FCMe+FowwvOz5940vcGvvuNn5ff/W4XYJwOo+fHi9qnPjV/y6nvfFHy8OpDuydqoegaAM/3UZRQx7ykT4ZCRaJopk+b/Wn6P/OOurdMh0PZKDFT3VoKicVyaNEQAjD9fTd5TzvynPDSS58YI4jZ7mAxyrQN/sG7rUqjyt3ge5qWDjRGP0Zwkoflb7HVG8MwHYjTbq4MU7d8JuhI6lEsR0hTCiQO6UQFTKRBLdkVzL4H/nDB2Nrn9n7gHb/Ge2LcXQTB8x7Xm2D4W+ecACsf+lI+9AYqhQKYQi9QVCmlExQnxgU+l5lczrpyMbl3eJ9O3quT9+akh5TpPFz5xJTWsRxiXieLF0CzVv1Vz7ve/2Nx7rmPx9hkhmExyrQP2FgNwZoHHgnyPniBB+QYnQyAv7UZowat1bBx48Z0Cn9VUrMBlRmujNMxKORolj2KPIrppFNt01oNYGgY9My5CRx42I0jpdI7oW/gLCz7fz2o+r/EfQTkiiPAG3ntq95q8+Y1sHkTiFwXiFK3NSaB1PNBKzzM1FCYpu5rbJto/Ch5Sl2kgJYQdan1YDoLKhBUDzcTA2Gjgs/1Mb3TTl/uesYzLsuOYJjHBxajTFuhR4bHxEB/Yn0PIG66kDYGGzdaaZCaS+q6pELrmjZs/XA3vs8eDDNVOB3mXqCkdInEWbaVyigt0zk5ZjJbGpNWLcric7oz8QTjCrdEkYdba3XwmomI8bixMHwU5i/8ff6YZ/1w0TW//+LC3/7oQXfa4wx+OvcV9t7zrXtHq9e8Pt+s71WNG5DmiiD8UMgkBoOfT6tsMosb1+2ENH0LeqZ/re+YbdlGiDLtg8sZfGDdimXQ5Q0VWIll8C+qUeqhglSDrkxAvRCAmtl727z/efc3+z/3uZWtQxjmcYFbcKatSHbd18aLd6o0PQledRRy1odUBVCjLkFs9Hw00z0SqNgQJiIF4xl8T+PYULwyzBThBBcFpMfWXNBED41SM01BksEksyD1KUWvx/fKkkeRRICHIhVFgKCA4hZSn2I54rWaEZjBQcg1E5C9M4Zmvel1n5jz2Y+8baC2+eutP/eEYX7xiwOFCk6t3Hzn7HTdBijP6gPAz0VrzoepBEVuMvx+FvJOyBj87NmKUfQ96ZmWL82WMKWeC9eVj8Ykfc1M9TBTDZlAlFKsMylh6cN8SsB6CZbBzDySVJbRoqBwYkEcQzAxCPldVtzUdeprL9hw352PPBGeeWb7hsUo01YUluxQz81fcL+VqirjBLSrOAGbbWzLsHFzPhhs6LJGDmtLg40htnJcMzJTBXWv+9IH5TyfKZZTatix1Po5LJkhGAoGmqSgsJR6tIqSCPA4jQZUAiVNM+XxGKMgX29CadMG6GrUobTLLlCdO/eXKOlek3vuCRfmDzzwYfHhD7tiTvKVnh9P8J6SmHrXf/e8o4Z+demJXqp7dDGEZgE/q8Z7MEWh6eE3QKEpDH52Epru+zKdBo3sRXMJjaIY8zEFz8Pa1QYgYgleUztDIlVoQNBSs6NjoGg1vMVLwRQKF898/bt/Nu91r6u3LsUwjxssRpm2Ith714nC0sU3eSA30dKHKT48bPzy2AwbbPxohWTqxZTUqGPxFZpW7CbJynKUmUJIIZKHU+qWlxCFmwywzFJDT82/domOQykHWmFJxhTgPhmh2KtGkJuoo3A1zWYpvy5evOT64lOP+srSR+46v3jggetaf8WBEvBx9zHa688Jq5/61DOTe+47Nv/II7NLuVBAV8lGzuDLhhikziLE72g13nl0v7GrsxPBEgfS0tSzGA2jBJ8xj1MfZOKBn42HoiynggqqWoGG1lGybPnNSaH0BzlTbnQHPAEGEbN9w2KUaSt6Tj11tLj/3leKVK8NlIfNnXFiNNC0/gfVj9gwuuZYuJm90mDDT1KUe42YKYIMoaZuQIIPgSLUgwBsIiGO0UiyKajAgp8jQach1inU0xSagYF6wULVs6DGR21+aBDSSgx634Nvzb3zfz5pZ8x+bu+3vnhF60884Ww58b1dI9/6wQeKE4OHaR8/bz6E0HoiiARo34fYx+9D3wVvPdKkqUldDwXTeVC+0cRQrbK6EyI0jBIypgKQYS7z3mMZ1VEEylcQefL+4nHHnr74/F/c2roEwZnPPK6wGGXaCinlhPeMZ9xktR0My10gtQaZYk1ptav9LHXPY2XpYpBiherMczfujl4wzNRADlDyOAmdjRml8mhkCqlMsq7tFKvaGFxXfq5AXaR40lgFxJb10F8uieasecPVIPhfmDP/Y95LXnXhrO9/bRNd94kq2dted+Or3nhAstPSj6dbNuzo2QbIuT029lCEphbvPzrW4H2XDZdJpcVEDQf50/im60RSNNwjhSIUxaelxQvwYdEoomU+adyzIWsjaQCMjEBl0bz14WH7X9r/9rffKoWoZVdgmMcfFqNM2yGEGDHlrmE9MIBWeww2ibKuT9f80VgmLLbkESXPjBs7Si0rte4M8+STTdTx8BmNJJpcRz58WrZTJdlkJRR1IlGgtHIB432IIFeNQFYTiIWuru8qVczy5ecvi0c+Nve87/++MLfPrfNNYNF+Qgr25HUfNSZvNq59WbFZf7VKI1X1cU8PimO8xxK8x6iBEBa/h8m8olnvBN2DpL5xA9NRUI6RQRGhvSSxJArw3HvruW4mGiYCJm6i7R+D8UWa23nH3/d/8J2/RSFaya7AME8MLEaZtiS39x7DtblzKlG9aU2SgA1oogc2+uTSaQlRWkqRxuaRROVmkZkyaIBd5KMI9SHNCYhkA8tjA4oo4MoJQB5FqMJ9nheAbjagum4d5DYPgl/srYcvedEVwdMOPsVcc9GbWld70hj78QW9ua9++w16/dqDo9tvBb+/H2yhGxpjkVvu0wQosFFz+prGbaOoRoNQahoeg6IbxXcmbdgI7DjIiMC608N8VM6LTwa9AaHIQxqDt3kED8LyeuC+G7X0flt4ylFXZScyzBMHi1GmLQn33/tOMdB/dZwkMYVxoi4kN9DejXfSWH9ioyhxI1as5DNlmCkDi6VU2KAbA5LC4GCZVGgkpUJlMTnJgoIIGpVxELGAfPc8qC3c4YZg5+Vf8Hbf9etzvv71K5YANLOLPTl2FRpzqv7QXbvXvve954nNG3aRPn5OL4d7QvweKEIpOgD5zvA7UfAfgmKlUtxf6uGl+zDjSfm4zOME5Zo0KETRQKLhTS5cHhkYKEhTE0PcmIBeFKk5Ez7irVj2f8neu9+UnckwTywsRpm2pPyOd9xsu8p/0L6XiFaQbTLoqTqlZROzvvnJyUy0mQUpM0VQUVTUsKfgJRoCisMpQ4hQ0DWxXOq0CTauQdVqPRjko2rvvIdzLzzl2zOvuPgLM9/6jouEEE0svZOq7kkpyGPn/2EPuPX2Z+lbb9qvVKuGYmAA7zGKj4oCVAQoQBVQz62isE74iagXguIB0DNFSJV4P/I915koFJ80a94INOoxBZrMeQFo90NSq0Gzqxty5b4b5/y///f/Fn/wg5Oz5xnmCYXFKNOWYAO9Rj+64XZv5iwd5HJgag0wxmBjiG0gllojs9eui5Q2sIeGmSLIOEp0EwUpgBeG0MDyGJFkI8/9WM16G8fAG0uhZ9/9NvY98+j/S5v6qOas7p/gqU/YuvL/jNp7z3xhet2t7woDFdTzBYj9Iig08DzylgFNuErwfkvdZBfUoyAMdeX6ECkFCX7PALK4qSxHOw+qLcm77XqcML9pKEZCQfOaGkxTQXPf3X/nv/Glv8LDeMIS86TBYpRpX6LGSHHB3JoIc6CrDUgpwCh1h3rSrfJC4pSWXqQYiM5DyjBTAI1YprF3BtVorPCdTSCYGIXC0CD05vKiPmvm5nj+vO/58+d9oeeoI36085obH1n4P//TQIMLC/STy+gJJ/RsfNbx70lH1j6ve3xYeV29YHM91mj87CIBLWKQKFJ8vKNoFn2EHzGlYPcoREWqUMRgk4HbYhnjNrz/+L7rPCjL0KAwaMhHKEQbYQp2bBg86UF+2U4jYuH8C/Knv/0yLJ9sazBPGixGmbala8nSZnnJgvuaStah0cQ20ICkoU7Y4FOgJwrvRGPY3EowWR8+wzzO/O32ODN+sjJHgiwQgVuMIYoj8KIGqHrVmqgZD5Xysdlr5wvnPnTbR2b+4BtfLL/yxX9yJ00RjdGJg836DZ/qMY0dhk3dmlIfGndFIRLj4qSmFHCS5su7rycgxaR9z61Jj9Yg+Bo3W5qNrbOlTJkph3LhscZ4tiX7/6+hMF2GJivhOQnmYQMNEK9aB8/PjXbvs9/VJei6EoXoUOtwhnlSYDHKtC3m1Jds8Z92zDcbSXKzNAmUXR+9hipE2E5KUGjJUxsZooUfPOk+JqZToGaaKjqK8UnPJKaccsQnCsdEeykkEyV6TRPjaJyySFJMFMiexFkK0qJQSzXKNQWxDPDZx2v5gKUQwMd9jTErNm0Gf0sV4jlLGuJ5z7vUW7rkBG88ejdeeC2mJx36iq2XMHzmR18ku7rflT6wChopfovZc4XWeB8lMeTwu4UmQOPOR5EJTqTQ+FAK4C+cAMXvr2L8Lchzir+jyeM2+u3+ltxhnkxirAcT5YGH+UWRDySFZRIJbqdEkz8pFBf1IBnQHhodKD4T2wARYP7WtfU3R9A3sAiSXOmmYKDrzV3f+cx9rUszzJMGi1Gmbek58sjx/Kkv/YOXK67pGZgDNmmCadaxsrVOALjgMigqqOFM2UvD/AOodLhwYPSGvOiUWtuooSbjhp5p6IdOKd4iHukpEJTwPQ0HoZiMtMISRRJFlQrOAqJJIM0miOEt0GOFCPpnw0T/wB/M3AVfggMP+PbCy373+4U3XDKC16aVbJ908FviV7Sycfety8avvem42gMPHUYDBdMgh58/dKLFrV6G34uGGtC3dL9V62wn390b/I+Om9zjhOhWnctMIZLKsKFlkal800Q63IZlWWKZdk28i2ZPBgQWaTQsFL53RphMwW82hKjEMDQw4z5vl53OL571Gbf0LOU2PTPMkwWLUaZtwQYcm3cx0j1zwUaxcAeoR1UwtRrkNQpRqnCNRtGgoYa1b5MicjPM34DkEyX9F2LUNd00icMJUlfe3JEU+NsJ0sAH8EM3VlKkPu4PUJx6oFCAKkORmDClDdD1GtQnakk1KIJaunxVz0fe97FFf7zwg7Pf+qZf05+bapq//tnC6DcXvyC5+7791KqHPa9vQMhCGT97CkbGbkJSInwUpa0THoP7xVpse8C225mpJMCy6mFeJliWKfwWGUzKeFhHupgIKFRxG3nAtcJjJYQmBB9yIKI6GhUxlvNgvLjvbl+bd8HPzm9dknKaM5h5UmExyrQ9hWOPvzldvvzStNls+kmCpj2FoEET39DYJ6w1pXSTmBjmH+E8o5iomZVYZijhBtA6QV2WOGHq+z4EITbgimbIW4gpHqMqAEUTs3gMzTz2UKCqWIFeMwLhpiEwITbwxz37Ku+Iw95iG+lJjQP2vZkMqdafnVLw+3rNX1+678QXv3VasTaxY9hThBSrfQpeT/FQNX1PPC7920qU6QB8LMMBlWsP89BzgbfQoMK8xzwmbzdJUkWeUOWBxeTEamzAX78Z0nJhPHzOUdeZuf3XYZnd0LokwzzpsBhl2p7wA2+4XnZ3neeF+TgMAxecuaUpEOu8pBQTkWH+FlROKFFgelosgcLZ0Hrxzk/aGk9Htowl4wZbcfKZ+th4+4kGhUaP9QWYAMWntJDWayBGRyHfjKFrYDbU+vpXpl2l/+cffNDZM35y9s/n3nH5vfP226/u/vAUgd9qq7IcfdNbj4vuvOdVucFNi2lFKFtA2YLfg2bKk1z28CHpN6G+XaYzwbJMtk/WK0+GOUUbyXbR+GhBS3ziI1EWIqwsk6gJslqDrkI/+OW+e8PD9vmuffpeq7IzGGZqYHOY6QjWLFi2g8x5l+Wj2qJxFARhvgcrYFoLXIO0Pg2Jysa+Mcxf4EQnqk3P88hTCBoFJiUSoYq87CQ/J7ejICUhmpM+QBo7AZqEHpYtLGtRDGZ8FHRlwvhdPbprv4Mq/vIdPlL6f1/8Cl5Lt/5c22COfUu4fvW1v57ZqB47tnEtJOUipOUSCPzONMaQvreUYXbv0DhY6m1gOg4vpUlKAHFOgUerKWE2xliO3SRPzGWFRlVKsUSDrI70BycgqCaQ22lnMN3dnx24/venty7FME86P/jBD3bDp93YM8p0BMFxR1e8o4++tFIqr5ej46gwUEAoFAxY2bplGDExzN+GqjnhxCZNUCLccrLOHUr/yEuKjTce5vn4H+6LrIFm6GMDjpItrgBseBjyQ5tgTvcAFPc/8Kri8c9+u1/uel6xb8ZP2kiIbnUurHvnO1esn1n9WlQZ3X9scDOYgR6AYgm/mocCXILxsuVKZYxCJm5CmjYy0c50HLTkbIqF16Q01hlzEYs45bEkb7dIIVUJWE+jkaUh12jaMuZ5hDvihbM/Uz71hT9qXYZhphQWo0xHYF7zmqr37Gf+FHz/9mJYANNMseJFDYCNqqa4eewVZf4OTnQ6MUrd8Fk5oZnGtNUaFGOtrnlagYjCP9FE8RjLVNqoghobg1ylCbrc1ajNGFg16vvnF3bf+zsDPzr75+Xzf3yl/OQHBt0F2wOnJq21vWrT8LHmvvtOhjTqr/oeuAlLvk/+TzeWkGbDU4QAbVCoAH5/FC5blSzTUbgx8zTUAqtDir1MD4WJVtKyKEBtQMaXBS9OIByri0Yhr8WyJXfYA/b4RfjaV05p3FuGmYTFKNMR0Di8Gccdd7lI9C1i3nxI600w9To2sAotf+DQTsw/AJtnLB6GGmpUY1RUWlLULYlIO13sTJKkTrBqNG4SUBNjAKOjUKtqG+594F2lt73ja3M+fcbzer571o9R4A5n124v7BlXeENf+eELzNDI8+DmG0sCv7CcNRsoXigNRUhtCrSsvJdg0vhepmA9GsIQkmpvXYXpKJytReUXm/NWHnpYjgUZWmikUzxRSQW/hplex3I9Z85d5de95Dy7cOHD7mCGaQNYjDIdhXr2s26p77nHxdio1lSjDiaJXCmmQOUM87cgbxEJTt/z3bhRisFIk5Vo3CQFCg9wu+u61inU6jWbDm6G8qZNMLBoRwj2O+IOuWTJy+XcWW8t7rHLueLkk9ulS/6vQLEZ2uf5e41+/TsnNG/608FhLg/5MO9mUldQhFqtISTR7fvOM+yhilEUvkoq0DTjhe25jkST6ETx6RZ1oPHANCkPt9NYYEoisaAnEogSBfGOyyEe6Luu94SnnT3n1FN5lSWmbeAWnOkoej/96VuD3Xb+edhXaJZpQP5E1QVzltigMszfgxpnhY00VXjkIRQkxLDhppQmKcT1Omg0bnoUStVcrt7I5W+qD8y6KNz7gO8tePDOH805+1s3Fo85xoW+Qc2WuZ/ajJEvfGXFpk9++2XykVUHdI2Nera733XNg4nBoBhV+MED/AU8YYCWhEzduNkg67LPRi8wHQh5+l35bhVL6qYni8l4aGCh0WHrGvy6gNQGabpowVV6+cJL5LK9tgjh1iJry7LMbH+wGGU6ipIQm7ovu+APPYsHxvK9JdCjE6DQ8ldY6TLM34LGjFJyqyvRJCZMFM7IU7SOl4BqtQqj4+NQbzShv1iG2bvuflvf93/2bvvHC04pf+uTX25dZivYereVDxHFNaoKq8bPOf+o5uXXv7VbNPrTbh/iQjc0UHRq3YAcHudJHz87fuOkCbQOfRPtN52iIMcUUGD07HJMh0Hxcj00xt0wEyzjidFuVTqDhhZJVFtJ0QgJQYXlofLuu316ybe+dXF2ZvuVZWb7hVtwpuPIL911MHfIwR8f8rqvLZgQIKlAmtawPabi7IHByjmWFqwyQGuKK5OAi7cnaP3mwAkTmj3NtAeT3Yl/qYZc77ob40kTbijR2DeBzSpNNAKIMWnhYyUWQKA96q90IivyaQYxnojneymt1mWxHGgUbdn4SBsqSFCgxcObQWzYCHNUDopLlk2ETzvy3IlZM9+aB3hX+YRjbpshZaX1UdqSSa8WebjGnv/iM4PKlrd7w49CQhP8ugZo0U8Xf1dZvCfwd0vx6IR+M5It+N7DH5dWKTX429B69KxKOhS8L8jFSeOfPcxLhZke+zQMxUC+HoFXG4HK7Pya4PiDzsk9ZcWfsLzQ8mEM01awGGU6j+99Lwo+/ZWf6rlLL6jNndNIEhSb9YYQFM6Egj+7GdPUWYUtLHnF8J0To5hopSbaS8F8mPaCus8pTcoiyjkyHDLNRYn2ZPlHR1DlRWYFvTNuAht1wysUrJ4Trg6awOGO0ZBCDDquY1mpQdCIIZWeaZS7No0FwR252XN/0v3qU3/Qe/3VX5HXXHkj/t1qdoH2BX8R/LmsN/7atxxcXbPmZX3NxmIKbB6HeTB+IIRJnXgnbyj9AlTmSXRS163b6n5rFOjkRct+XqZDcXcB1X1oYCjKV6wLFQpRganZ021gyYyr8h879WeFk1+xJTuDYdoLFqNMx0GeIGfdP//AW70TD79U6PxEUMVKWFFFHIGvY8ilWDGnCrQNQPuha44Fbo8FChInZ7j1bRcywUnKCoUSGhI06522eB6KS2xU0cJwQmoyVTHFeGwBT/ChiaKyDnU/phMgb4pQbhYgTCgGrYWEvKQSr4nHk9c0mRgFu2kQQpSa+SW7ri+99rRfdL3w+S+Yd8WFb+iNoouobLkP0yGkZ37qSKPTMycefbh/3eYhUHOWggxoB2npvy7j/8oWprNwBhxmo6Qxoim+jwByBu+diRrEiY5yhx16V7B890v65x9wPZZvWv2VYdoOFqNMxzL65tOvUz3d/08u3rHR0z8T9KZ1oEm45AsoQwRIFJ8Sa2cjFSTSh5S8pCZxEzi8lgBiph6aCUyeuskJRSROU2sgpfGd+OyGVJDXB2sroQQKUOp6x3ymrmdMmrx/2CALm4BBGyVWDUg9zHc8VmgByXgN9OZR6BtJoThzEYQHHXxvPG/OGbK7583hLjt+q+eLn3qQPkc7z5T/S1CAyC12fMX4n246Jv7DJQeXmnHJzxVIkTgvJ/ULMNsH1AmgMb/TFO8VP8D7RAEMV2y3yoMpdtXBDz9TPP4Zv2sdzjBtCYtRpiMhX8BeQtY2f+KyP8iFyy/aUipMyGYEcZRCguLEiRpJPtAExQp1T3pghQ8+ihPPZAGhmTYA88Z5djBRyCXKNxpaQdu0nRSjmeeHuiEp5z18TTOHSYRSS6yMBB8TOTWNTDGvIzBJA1S9AUE1wu0exIVSrQn5B/wZ8y8pPO1pP5u1+vYvz7jiV78pvfyFd7qP4f5C5zB80UUl8e6Pnti8/4Fj4NHVxRKW7Xy+hIKcXGPUJd9RX4f5LzAoRd0D7wdDK4hR7o9VxUgun6r586+Nf/mTX/Y8+9mjnVbGme0LFqNMR0IyhJ73tbekcy745ltELvhiMGMhNMfrEI2M2nyowOQVRB4KlDQGWhkPpSgEOgBLwb6pPyu7BDOVbPVQYz65LvrMSKAZwm6VJNzvuvExGRSoiU4hFQZShcfjs4+H51GIBrRsksS8xTz2mgL8URSjW0YBRochmDu32X/C8Tf0vPeNbxt435teXhof/Az+iQn3h1pMlqdOIbjx9vnmGz97SfjIuj0nusugcyXwUXQHkGZhmvA3YbYPDPX+oBgVgQfaZOOiydhWs/rPm/f5Mz+7+O673U3VaWWc2b7gGovpaGiMH6Zq4dBDfxPtvMt3hLW13tqEaFSGaFkmUDIH5EBTOgI/jegMsCoA49a1nxRCzFQipYf/o9hEIWrdDG+aLZ9NsqFQNRobW2uxsaV8RJGqbQwpJgru7fmBC/Rt4ibooc0gN22CYg2F6Lx5oPfea2Wzf8ZHRKn0xsKC+Z8ufuA918oTTtgszzoronKT/fXOAD/s1sK65bCnH14971efSaoTO0kS4t2zoB4oqJMQTTMPM4WuYrYPQvAgh4YIVnKgxkZBR3GS7LPn/d7uO/9BHHXUDbDrrjxOlGl7WIwy04Ker3zmT3M/94n/K80Y+GPdFzoZHQFVTyBMPfBB4YOGA9IMahQ3JH7cLA9m6iHhRNVQ1jVPPfYko0iI0jhQtwEFKW1zURNJZKFQdZvTBNIERWhMK3E1KbaibSqYGLX6wWjOrGvE0Ueeu2Do0c/MufGKs/Mf/cClKEAf4w3tJPBb4zcGuPETn+hvbt7w4hljo8cFgQoauZL1gm5IfAUR6mutae48CXw6mtkeCLCGCylObKMCYZyACHIj4dMOOU889/hrsczHnWZ4MdsnXGUx0wKscFMxMbyq5/NnfinYc89zg6aAYLwKXr1hCwaFpx9CM6egGSRu+TwXcJFpA7LueZJbtIoW5qMTpW6JQ0wUBcFXaFCgAKVQRDbVEPjdoEQemtUxGNv8CFSH1uPpFsI99xwtnXLKb0uvO/Ul/lMOep40zU9jLtezv9P53P385/f13H33NyJpXrxlwyMge7tAdJVFI4ohVCH+LjmIFf1itNY+64/tBY2Wh2k0Qa7fBOHAANhFCzZED6/5+oznP39l6xCGaXtYjDLTBvHUpzaLz3/hdbmn7P+zdK99L5wQtqnGRkQzjiBCMZPS5BhLAsdwwW8j3AQmRyZEnTileInYyAaeBwGJVNyWJgmkzQaIzRuhNDIGA14XhMt2a4jd9rq6ls+fIbq73+PtsvM3+7/w6VvnfP7DW+Z8/vO16eIVwt9kZv8OK56jbv/TwYXh0XJcKkEa0MxpC8rEkKap+918GjCKgl47XzKzPZDY2FrM/8D4UAmK14Z77/m1heedhxaac6dzQWA6Ai6ozLQDBU3X6EW/PWLk9W9/p940eLjKFaQsFkGEHiiboBCludgoSdl71BaQ9qSuevKK0vhQ6oMnY8FXNG6UuuNT0EnsPKWUY2m90VAQ1MOeWRP+wQfe6x/0lF91/c9p36FrTVc2fuhDL7B33XtadOHFh/lShunMAbcEJIl0Co3VkLS6GEARZWiEvyMNbKBJe8w0BvOZbgjTnAAb0wpjxbq/286nz7vmd9/EvSl3zzOdwA9+8IPd8Gk3dhAx0w6shCd6VHj5nA+++0tdB+/3y3BiGLoGN0GuUrPSK7ilJGlCk6vJmSeAf/N3deNAhROjNIOe1oynRJ6+aqUCw1u2QH14FMqJhtk9fdD1jGfcEr7x1Z8oHnvoc8KZ817TmIh/3rrStOMca9Uqa+c3zjnnqcnvLjxaFntC0TcbQuGDShMU6AkYZSBQEfgQoXBHZa8p5mrrAsw0BTOYxCjeO+HYCJoeyVD3ySf+fOYLXnAT3kcJC1Gm08DSzDDTE2ttz8Tppx9e+e3vXirXDT+rP06LIzkBadm3NgzwRQAKaAlJAIpmSQFSKJYlbXHLKGJ17sbfYaK6PcbKn2p4Op5unMkJNpPVPi01amlyjXRn4HbjUjvhPjcm+sguUagBYrImwGf6XlnXefbt6Rs7oZjtzr43/lbum+EGuoTbQr+dUeAZD1J8rSX9ngZFknWxXQETPVxQdrwetaX07JanpPf0W8UxyEYDvGYMoUVRWuqCSncXVPPeLaHRd/clycPmmc+627zzTXf2LFq0mj7CdMZ+8pO9g+f//gP1B1c+3x+vLEr7ZoHK5bDc4u+oY1duLQoSKp9UDoWhQShUDvE1/cBMx+HqEZeHNASDhhVRPipIdYqvBPgeTcD03MS9pDoKYbEH0v7ZN8540+vel3vdK0iM1rIrMUz7M+kZ5dqKmdagqArhvgf32fLsF5+erll9nLI1P+4rQlwuo0AKgOSowpabAqwnWPmTUJKC1jfHap8EFDYLCpt3kpdNFE20X1HDj3uc2CQvFO6j1p+EKK32ZDEZbFAkhSOiyVJtxLY3PAnR1qfH/3FP9qVwB4pCTPhrYMKGT3iuQaTfwMlsJ1ZRjOKxmQB3X9/9Np5W4Kc+RChEE4XnSw05PN7H31JoErB0Hh5Ly3zS33N/DrfRb4nJSw2kzbqFehR5iawFc5cIb9edh+TTD/+6/+43/7IgxKP02bcHsOwGQ/sd/Cyz6sGfhMrLbwp8mws8oVoTvWjZVPcDItsKz8yQeOw2pnNwNQ7eHs6Q0wm+o7vOh2Yau5BnBS/EfQqF6DA0RjeA3OvIdd5OB/544Y8/+d7WJRimY2Axymw3YOOcq77/E90jF1/yoqBW+2J+0zqYqE8AzB0A66PYQjEkYqz4LcWsDCCRAiLQkAqdjVskwRlbCC0FYidPHq3oRMIVt7uU+S5IA5CAJTHg5ACJgSm4wybFyLZMik3yWDrBjYc4DzA9SHjj++xzO18bNnb4vfAgigFKMpTGchpLCYWqyryZdEHpVkASoLTA349ke4q/X9T67tSI4nVxPwl1ei/xXPoN6W+5EaDNJnjDYwBxE5TnQ2nmTBhbMLchli64xveCHwZ1c7cYiSfgBc8Z6X7DiysosGi1gmkL/iL0y9HPBsP7Hn56VKt+oPLo2i7PR6Opq5iNE6UjEK1pnCCVP8y/1rZt857FaGci8V5yo37RmDNoCGY5aiDGe0fhPRYkAuLauEWhKrTnQbJ46YeW3HrN1zG/h9yhDNNBsBhltjvuf//H5omL/vCmfFR/hqqN7RaObQoiFJ7NsGC9oCA84WMjIJyHNMUmgCY4UYgcukmoYc+WEcUGHzeQv5O6qSeFgLuRyPtHx5OiwEfmOaQdTx5/S4hOQp+ThKiTynQciWt8KBIt9Dbbg58Zv5kToyQ28ZvgRhKh9HuQSKVuYfL8OvBQErYkSGnNePJ8JvhwElZkXmL6Pen3cgHtkwRUhClOgVYuVGEIulCC2PM2WCXuhUb0gFixw6PqmMMeKL37vVd1bYcNrD377NzEnSuf3vj9xR/sHRl9yqP4mwnyiuZCzMLsd3diHsUokcVpzZjM/8njmM6Ccs0jzygaftRbI2mQC94/qUQbDI01ipgsI6ydNm+EehjWc3vsfV2ww5wPzf7hD6/PrsAwnQWLUWa7ZfxDn3pVcuctr01//9udmlr02FKPUMWy8/iRzLTkEcRKn/rKUgoirVCyhbTyT0KtfbaPVKZTmiQ7W7cR7iPhRtLArQpED/IkPon8MzFKwpOOoclB1MtLUtuJGfdVsu/hJCl+ETpepCgg6UDybLrjXEc9XsO4RGqUGktSpNm4RQVCeyBRKDmJhL8dNaQa5T0kGkQzAY3JJknsgYllb28T9thjwt9j16vKRx/2q+KznvNbOm17pnbam/aLRke/0bjpxj3SR9d4MG8eSD/EfKAs+nP+0bPLo1Yi/lH+M+0P5aLnKYjx3opTDfkU7zepIVEaPBWApFuu2QQzOg5x/8CNS7729Y+LE4+5BvN/1F2AYToMnk3PbLfERXFebocd3tT92te+z+5/4N3dvf1gNq8DM7gRZBRBkFrwsVVQgQVdxOMDbAywYaDlRT2jgPwTtBZ6YCX41EVNCYUpBYxS2IhIm4LScduMF91WrJBn1EgUNDRmk8Q3PpEnlLrngT4vDVmgpFGS0sxs/C4CxaT1LKQeQITnxHidFH8HMD541ndrotNYNte1j9f1PZqyhL9ZNAHp6EYQG9ZAfu066BupwLxSPxR32R3Kz33uH0unvPjDuYMOeQHk8yel+eCM/JLlV7oPuR1jhoZ2MUo+u3npH5YFo2OenDkDTIjbyUhCo4C8oZPd88S2ect0NpiTZNpBNa1CLDSoMA8a7zvKXoqeYPHe0/UJ0IOD1t9jj409Rx19nZiz5CoWosx0gGsxZrsFG/Q5D73glc+K7r376V5SWxbUGjsPNONCHDUgCRQK0RwKgRAMik6DApWeSXT5UoIknYnigEQBbm6JOvIpttZRx1fU4UaTEZ5s/tI7tq1YcaIToYZv62Y6HJN7wm3Y/E1uwm+A4hq3Ube8m8blvqw724lvjzrgTQI6jSFNIhThxol0QoUByHweKkrWIdUPBtXGvbJnRlMuWTIYPuOo20qvfc1Noif/kDv4sdAnoz+/XbHZ2pI++SWvN/fc93J9/8rdc11lSPu6QaNBYGkcoSavdPazbCtC6XnbPKfX2+Y50ynQfUejrhto1OVAygLWO01Xi9AUwmZUtbkoFhSxQuy//zd7nv/i7wavf/GNrZMZpiPhbnqGaYGNd2Hk7B+9LPn+T16kb7/1EKiPUg+9kvmSyOW73VitSBio05r2KEbdRCaNjT95EMmXQU5C0pyS/IEat6BAswaU8XETntMGumpSnBgUjfiF8csp1z0/KWRIopIIdZ5T2kYNI76mRlDhx7c6wR30PWhSEz61NLZE8QlxCiZKMJEgbRptIw1hMfX65whvwZIUVux4m915p9/0vOnlPymVShuzM5ltGbSDZf/8Sw4YOu30M8pbhg+t9faD15UH5dMYQSxVlEetPNxWhBKUf9uK0UlYkHYedOd5aOlarFQS8FGYYj2C2ehrDdHmTeAXiqDnL6jgpuMX3n3LVa3TGKZjYTHKMNsw8cfbZoyd/o5ub3h8RbDXri+LVz/0jO6H1/QmE1Vo4P5mIQemtwAy8MFD/SVRtdHNQ5N6nNdwUiC4LnvUavhsBApTGk/ZJtAnJM+l869J4SZpYbMHulULUFQAEp/ugZ+fuoWlp5zYTkwEWkdgkwhkvenigHopiloXC7QXvP4ZIPt6YLyruBlmD1wGUeNaWxlfbWN/Qq3YZUIec/jwzBcctwUFUuaaZfCXx5/cPQGs23H3HdGW+VmyaeMeKkmknjEbjEdGj4ZcSmXJQkLjct2ZdGL2alKIUqJtLEA7G8o9n8Zz44OieqQ2gBDvxUKE99zQIAyXy3d3veaFn5UH7nJBzymvHcnOYpjOhcUowyDbCoJJmj/6zTNHf/SDg+Kbb95JFoLFKCmX523aA1HaGq+HegqFm/B9gMCDFAWbptiizmOKgo4SBR+XMaYErzi1t9mk14w+Bflp6QuTuCExiu2c84DSXpocQZN2FYpMkaDASamLXpP7EwWrBqFQaON39ZUPNYFyVciNaQIbLQSbZb40EiyYbb1lyx72j3nWDV0nH327FGIzXZn5a7Ytd5ue98I94K77Xu1v2PxWD7V6JedbUy7jKxSXmAcBJhr5gMVqK38pRieZnFm/7Tamg8Bso/qD6g2t8GaURfCraACiUay7u2ty7qzvzbr96vdh/ldaZzBMR8NilGH+Cdige4M/+cnzm1dc/DJ955+eKVduAVupGiOMUNjqe7kAVCkHaaAgUQrFnQJhFIo6mtiksCFBIeoGlz5xZKKDPGLZ+7/kr8QK9fmRCKUud4oaILO4n+TRJfFpIhTbMX7mBF+ThyZp4lOE6lRamctZr6cH/HnzPDV/3iq547KrYaflV+tdd7521v77T/vVkJ4I7BlneJsvv+aXfWOV4zffcx/45TKI7jJEZBWg6UD5gpmCWYwiE9NkXm7rAaVtk15RSpPHbJvvTKeAeah9ND5izP7IzaC3I1WojNeT3hOOu6Dr2KN/mDvt1b9qHcwwHQ+LUYb5Fxhfd29//XNfmJ3ccc/80sCiFUb6O0f16q7Rhs2HzZqYEHpkCJJaBaIkgoSEQIgCNcyBRxOf/DwY5bvrZBKQ2FYg4Ov/UC9MXo/0RqZL8L9t7mZ3WdxJgmQy0XuRokCOYrAU6zNNwTMavMnzPR9EoQB+TxeIriLU86EV5e5Vtli6R4N4ELYM3WsfWbvWX7BA+ksW1cxeu4+ETz9ipLz33qMogkg9Mf8c+rWz7PnUlxbC5jVvX/vbi14Ubh6ebfM50AGWG5WNMxaWDBnyilL+oRglYdpiUoxOCs5JIUpMhn3aNv4oM3VQDk3mRJZbfw/Mcxoio9HA9Slebw2CLZtBdXVBfeHCwXD58jfO/9GPfoP5TAEtGGZawGKUYf4xW0XDJNjADyT337Lj2IV/3Kl6+bUH2jVr5gXDg8IaPYC7Z1gBA4GEYo5OMxZSfHLRkVrigJoad9lJLxeJB0okGvDZzWSnQ+go2oXno8TAd9nHcHqSHu5abgv+nWzmvjuWRg/g383Wjqdzs/8nJyrRRQ29xkQrJ0V4Nv7lCSvNRJraigY7rpUYVz2lxJ/RG5dm9Y7JpStWy70PXBkecsBDwfz59+N18DTmv2Xc3tgv3v7tk83daz9Uuf3u2WllHPz5c1BvYo5gwSFvNYXVosEUQirMc8zl1mjbSdE5CZWHyW30/LeC4TNTA+UK5UJM2YnPFAqOoDuYlohwr90mvDfpNW71bYiGbQxJUoHSliGoz5yxVj7tkHMnQvmZPb7zMx76wkwrWIwyzH8JigCvdsstMxp333eAeeTRQ80jaw8wax/dVWwZ6o2Ghi3URrAVqoKmGKUGpScKQI9iclLwauWj8MDbDwWDdZOEFGialU+TVHA7NWAUuxTfugaNBAdNltKoSGjSUdZwaZA6xmMMKPwTNM7TqV8UvwQ1bCCUlZ7n4n+C70HU0wOqp0fkenoSb6B/jZw54wGYPXOlnTNrlZg5+z5/6cL7SnvuOYKfgT2dTxD2nHNUVa1+feWX17+kfu41B/XKAHRXASZKyk2O8ynGK5YLymfKRY+EqHvFdBKUX+Tj9vC+Hcd7m8zGckphKGiPwbxO3FhgsgjJ853g/arRGAkollp9AtJGBfJBN4zli9/bce39p+E9SQPQGWZawWKUYR4nxsbG+sT5Fw1Ubrl9QK5+qCtZuzZIN24xuRXzlnj9vUu0kT1Gm9kiMXNEFM2SUdKfS9IgTLBtSWiWeoJNkxOsQPOFSHjifyBpXOekAkGBSstz0opG1su8mzQjXvvYuHk+pIomUgVN4QfjJvDGUOCOGM8fQjm7WSTJBhVHo6bZrDfHKsMQelE4a5bwZs2u+fPnVMSyFRPe3rtUCvvsM4ENXrX1F5knAMxbAePjS9Yfd9wX4jUbnmM2jYpCdxeIch4iLAVkgJD0pBV4yGNGsVx9gXncMkaYzoIaWLI5I5d/wsXgDfFelRQdIWmCRmvTLUJBqhTzmTziOZKlQ6MwWmta/4hDLg723eNbcz//+V9mV2SY6QWLUYZ5gkHhUYYto0ubq1b31lc9NMesXzfXbto0G4aGBmBivMtUJgqmUZM6blhjYpAJilEXBtRS1z6tromvyT8mUHeiSFHYWAUeCPJ0kjANfIjDnFC5XKryxWbQ0zsKPV3j0Ns9qvt6R+zc2YPeDos35Q84YH0OgFZpqaHY5PFmU8jIV76yKL71zlekv7jodYWJ6tzR7jz43UVQFJkhptnTFMYJxYtOwRPkScc329gkTGdB+UYJzUf3nOK9nZMeTU2DpsH8phYY85gGZEipwMf73a+MgNUK6rne9YVXPPeDMz718d/h/b8Fj2SYaQeLUYZ5gsHGh1wecOaZZ4oz8f25994rXpDtgiu3bBFHTr5uPRNHXkXvr4IjTztNPBDuKieuu8dUbv0mXuoIcMcf4Q7bymPOnTmT2ruMXXbJXp955tZtKET/vJ+ZEh7Yde9TpDY/612zBRKdQDS718VyVRpNjkSD9oQL4USRDQIUJ+QZbaax67bnMaCdBzmzKZE3lHoyKjYChUanRxaHH2AeU2RfgLpFYxRfeDS5cMMasEt3HCoc8cwr0lL+fbPO+jhHqmCmLSxGGYZhnmBQh7R8mwAPP/+kt8P9j7wy/9C6PUU+B1EhtKmvRJha8Gl4Bh4Yo71g8HDf0IgMkikCRWuK+3AnecOZzoKGXVhazo0mD9IqbikIl9+0rDD5R6UzPppeCn6lbvO1WOS6CjDU2/fbGS959QdLy994jziZBu8wzPRkUoyyqc0wDPMEQUIUkevf/u591IYtp82qN/Y0jQZEOQ+SYihSYcBYWm/HglbZSkvkShMoPhPcRsvQkkfUza5nOg/MNxcNwaCR4VY/A/CUxCTA0xrzPkUDhIwNDapeF3G9AUMzZq1PZs+4sPyBN/2JhCgZNNnFGGb6wmKUYRjmCWTLp798sB8nH/BWPTSnueZRCPp7QRlUGLUmWBQoMdbCkbIoPnEjKg8aX0iTWpooRBs0sQ3FixsjzHQY5BAnA4MWK8BXKCtdtAQUqD5FzdAxaJmCxo0yTt0yoJE0I8V993r/ist+/4vsGk6J0oUYZlrDYpRhGOYJgGbOY1oY3Hz90envLnpqksY9ja4C6LzvZsjnLHXVKic+ySFKAtXNpkexgi/ddurI1bQSFqkZpsMgA8KAoFjALQ8prail0xQik0AUoiBFIyTXSCDYNAGNmQNV/5iDb8jts/wGPH4ouwbDbB+wGGUYhnkiuOeeYvW9Zxyfrlz1jPCRB3tF4EPU0w0xLckqJSiBCQUL6hHnMQtQqFAUSoK67n3cl7NZWCeWop0JLUAh3Kx5zEFJRkdmXMSgIQnwPQpTv45JFsCbPe+2wkuPPa85K7ehdTrD/P/2zgRAjqJq/K+O7p5jz+zm2CQc4YYEBEEuQYiIiCKgQARB8UBExQP5vPUfouL1eft5InIoAgmHiAIKGhARxAAC4UoIIfex2Xt3Zvqoqv97NbNhgcglx+7O+w2109PT3SHp2plfvap6VTewjDIMw7wEDN588zY9P7zw/WLpyv0rrY3g8g0gRAgpSmcFDbQiLZg0BWkciqeEsBoj9cnuaUlPbQAiklUUV+6kH6ughIoM7yk+SEwpn6ii3MDVnKK2vwxp7CCbOdPKhil/bj/57AsmzzmTc/0ydQfLKMMwzIsAaUdtEx4/9O2v7T7v8m+IZGCmECgixSYUUQfKUGL76ixqHzVDEaWJSzH6CeWdpByzkmZeBxIS6SDxy73ihVFcmLEHraiWUasCZdSPE8b7LlUIGutA2F2B5kRAJlVJtU34RrDHazaPEx1ZlximHmAZZRiGeRFAe/C96SvPmjvBrnzspPbOTUfl8iosFfMOggIIa0GaDCh7qF/qFeWEYp4koyl+EscoLDSrnqKjNGnJ4FOKckrjR5nRzZbMkbrk6W7S/aWGiBR4d2niEg3PiLFR0lOCSpgDNaX938EBO/904nf/5+HaqXQ9X5cYpl5gGWUYhnmRuOeQY1rco0t/rWT2gd51SyFpyINqahWUV5JEM6VUTliMX+4ThVQp0BlFTFFWtK4uDWnRXSkxOgkrSilNXuIJTKMEilBT5JruCTYufCSb7iM9HDYtLIpnrZBOCqtAZHk8TYENMkhy2ORISwBDZTw/Brd9x98mfur957cdOrO39icwTF3CMsowDPMi4H7/+6232nXb98RLHz2wOFAKobEZ0khDSul7IAUtQ1AiQAmhUaFPyCVF1Z4aWaP5Lk/dx4wSnnJvSEir8evqG36BglrB9oTPHSsyAJ2SrErQ/QNgTeLKu+7ak2279V9yp3/kj3DoCUPVqzFMfcIyyjAM819CaZwG/rLwSLNmzemwckWxNFgG0T4FaDJ8ZsuQiRQUBECrkjtHyy09IaPM2IEklAoxPI6XoqQ0OYmElOSzKqTDhSLhqZ+4JFMFatBClBgQuWBA7bvPnyszd/8LXmcDFq4QTF3DMsowDPNfgCKayx688/X9//zX4ZWb/rJrozSBaM5BrAWEqBiUsgmNBLIUnzIaM1hL9cOMOXwUFAuJaM1Fq/vwmYZY+G9Uia9pfCjKqcCGR2AzsLkAUnxbdHZBsaUdssnTNprOTfN2+Mrc2/xFGKbOYRllGIb5L6j8+pfTN37sC+9JH1vxOl2pADTlwBYkWFvxk5S0DUC50PsnTWIJaEWlmsgwY5HhhkTtJtLTiPs5LKxeUfFGK6kgdbGz2RDkTAKdYXi/2nWXn8247ncP+eOfdDbD1CcsowzDMC8QN7hhSt8f/npY+o9/va2xt39i0tIKcTHvU/qIpAzOUhr7CD9oUUaFQRk1tbyh7B9jET+Wd9hFEd9VP1yQzSKKBX/gbgVCBuAqgyJNBmGoUEzDiRMu3GrBJT/GY/xJ+GPEFRmmPmEZZRiGeR6MjGQ9+rq3n1y6e/G3o0q5aMMQgpYJIDIJspxBYBykMoREhZDhsdYlYG0KNiVRqZ7PjC38bUOHpByx9Io640lIaUY9zbKvTmTCgsaKbQ6/31kBxa5e0M50F05466XR246+Hc+p8DhRhnkCllGGYZjnAUWy3Klzc+uOP/VE1dNzYltXV4NsbIKsoYhmAn7lpMAokDZCGQmqkqIyLA49BrdpFZ5qUIwZY1Qj2nQPqVT3bYYiofhERZGgko0mMbjubtAt7RBuNWNF4eD9L5nwuU/d749nGGYzLKMMwzDPk7XdS/c23d0/aEyTfXr6uiBpbYOsUBAuLYNy1nfLS8iDtrT2fIqftCijgQSnNdqKwsIyOibB20aR0Gpc9Akc3nPAQneVoqEKtwQFSMsVsH19kHZstSE/a79bi6edcROez8t9MsxTYBllGIZ5FlA8Ntvjip/9+I1pY3hmfM+/W2V/H+Tb2yHGA6wzoNA1Ky6DVAuQUQCAcgpJCRQlSEdFMUJDJigBPjMWocgoyWi1Ogxvk4w6nwSfXtEoYWENmHLJKWx4RO2ToTQ4+MPGt779S/g+33qG2QIsowzDMM8CSoQPhNlNq6bDDbe8xdy/+I1qqD9I0TxcMYKIRMRYSKn7VqJ0SguxqECmE6AZ9DoToAwdrMByVHQMg9Wg+p+vFF5GN99P6qbHBw3BwLogBgZFn83i8nbb/t1Mn/xn8a4391eP8s7KMMwIWEYZhmGeA4O3XN8xNP+qY+w99x5SuP/BCVFzEZKmAkqngwIqBi3pGVsBWgVoHAYqZghMDtUjVKAtLfspQeL75Co8ZHRsQhLqJy35UqM2eJRElPIkUHe9STOwmQUbBIsnffZD39z+5huX+YMQOqK2yTBMDZZRhmGYZ8E5p3svu26ftef+4KOie9MesrEASa4BEp2DTGqo+ITnAiI62BqQaJsRjRtNNVgr8TiLx6X4ZgraZfg++8hYhBLXx8pBIAw2MFIwWYLSaUA4BUrmwWkJWTwIpd6NALvvtnbCYUfcWtxh5m1CiJ7aJRiG2QIsowzDMM9C9ye+cHhy572nyg1dOxfROl1jgzNKVJPaZwAGj6FoJ40XrM6qpkksGgRFQtE7DYXDfCYfEhcW0bEL3khf8B4LC5LyyVIkXNCiBnivhwZdYAyETRNAT556Q+sb3nKl2GMPFlGGeRZYRhmGYZ4B++A/2wb//OcPt2zoPM5GOSjlG8GGOXSRCoRJAlHyxAfpSM30K/DUIH2p8sQWM/ZQNAwDWxa+8YGNER0oUEHeJ7a3WQzQ0y38Agdb7zKUdg1eHr7/7X+vnskwzDPBMsowDDMCVMjNxrjpTSfv1vvxb10K3evfEG9aDYWWRpD5HFhnIaLueDySIqQc66wP0DT9pKUsdZCilGZCo4Q6MFnsMlOBFhtCZtTDxb33PLP5HXMW1U5jGOZZYBllGIYZAfqld0u3aFE7uPIx4drVhzelcS7WzgU5SmTvQGQpKDzKoo2mij9G6wUBFu8/rWpAWREClFAFBhIQcb+AoUHoaZvYK7fe7oa2875/WcvZH+iuncYwzLPAn6IMwzBPwc2dK4cWXH2GyUqnrn3wHkdZyoPJU4VxBkW0AsKkkAmFIqqrkVHufa8LhM3wSzMDVQhBBDlwqQAjhkCn/aCHKml40H6XNf74m1cKISq1UxiGeQ6wjDIMw4zAOdcyMGu7Y/tv+MMR8b137Ry0FIVraEbpiCDNUEIhBaMpKhqAT/BjXS2Wyox/8I4bbJBUDJqpA5dzoDo3gYlyEOy39xrR0nBD/qD9b68dzDDMc4RllGEYZgQ9X/5/ryov+P0p5ZUr9tB9vRA1NYPQOT82kGTESgmWlloC5Se0yNrKO8z4p1oD8M6ji6qkAioegEajQIYNj8vddr3UNeTvFIL68RmGeT6wjDIMwyDOOYFl23jh7YcNXXXtscK6psrEKRDYHIg4BTAx6AAlVEcoJIFfdz40uMXqUTcYIf3QDK01hAP9oDdsgEL7NICg5dZJv/rl5yd9//vraocyDPM8YBllGIap0rLioLd9LH5w+fsas0REOofe2QRGkXxaNJEUbGpB0WpK+LCUMxR/BjShqXYBZpwjaYywhn4z5HSlAkEqYGDKpEvVG2dfWDuCIqdcHRjmecIyyjBM3TNwzTWTOz/0seOyZUtObB8YmmZzDSDCAgiUj0Q6WlLep3Fy1oK0DhTpqbC+jMwnyoxfyDCdVNj8wCbIUJ8oa2yUTJy2tGn/fX815affXlg9yh/HFYJhnicsowzD1D093/zpG8p33vfz3MDGjh5XBjttKzC5HKRpBRITAygFKgx9nkkHKViXgVACMnwdeyFl6gHf9MgyaOkZhGBy+xL54VOuKO065REh/PJaDMO8QFhGGYapO0Z2pa775Jnv0GnP+yaseETqSIJtbXI0QR6cBYqDaXwWWGgVT4Efmc4Xep8uQQt/8sfoWEVIvJOUK9YF1QT2dEtpZS1sbER0AN50i55J2ROSUIIY7IOwpwtKM2ZAqaPjn/nDXnfhhA+fvZYOZRjmhcOfogzD1B3DXamdX/zizsmjKz8Eg/2vH+zaCGkhBGhoEDbLUEqs/4D0682jnVYNtSqgNErUyykKKT2YsYmgm0gNDf8CZRMfEl9TofHAjt6nt7A4g4JaroCIM1OZse2igR13+FPudYcvodnzVBX8gQzDvCBYRhmGqUu6r7zyVZm1p8f/umfnbMUGiCdtDTaIQNi0dgQz3nEpamRqIJAViGwCoZGgZSNUhIJBl4LBlojCR1RxUOzuhaLMQ9oyvdQwbfrXdj///KtqlyETrVorwzAvCJZRhmHqiloKp7bKpZceFi+4+u1ycHCSDCMI8o0gRADOcJCrXlD4FajodkuKhBtsiJBYhpDJAFKtQfvF6AGMySDoG4D+fH5Vfv/9Lmw54BDKJ1quXoVhmP8WllGGYeqLu+7K933162/M7nvwqMLSR7bNKy1FY4OjJeaFkb4w9YHAm04F2ydA6WLRRasJu6TGNzVIrAo2jaGcxdBfKICaNummjgW/Or9wxqkb/QUYhnlR4E9dhmHqit4FN04a+PqPziqsWDcbGptBFpvBKinibAhEbEFlHBmtF9IAC8qoTRUYNM8kcpDoBKQxEGT0ngXb1wt2qFzJv/ENtxUOn32jiOS9Qggey8EwLyIsowzDjGtGTi557KCD9uv93W+/Yiq9e4aUJxRl1IQh0FQlio4p5SiLE1MnUGquTNCSrnjTHUop1hbrUtDaQUCrem7qgWKuAOHkjgE9peNXTaed8JfaqQzDvIiwjDIMM65BE/WTS1Ze/o88rN7w7kn9vaeEeRH0FgOX5vI+nQ+JKEAIQlsAndHhTB1g8XbTvZdCgqJnGjPqHAhpQGUxRD1DkBQak9wOO/xr6LZ7rpY77Mnd8wzzEsAyyjDMuGfFW97Zaq748UVaq5MHN6wD21SArLEg4iwFiJ2PjDmtIIYEUhvXzmLGOzqVEBgJMgCUUQfaoIwGAWQDA0709MHE3AQoFFoWRGe+7wtb33frQO00hmFeZFhGGYYZj2zumr/npmunJVOKJ4sHHzwsPzDYXCkWQOQaQOvQ55O0KCFOoJDqar5J66OkTD2gUD4VZQkFC0JQqSa5V4OxqCQu6995+7ujPXf/Y+vb3vZvIQSHzBnmJYJllGGY8cjmvI8tNyw8WnVuOMMtXdJUGRgA1z4JP/lyoI2kjnnql8WS4Ydhhq80nhFUT2TGPX49LVrMgBLfSwcG64GNS7hXgWlsXa1POea8/G9/+Pfa4QzDvESwjDIMMy5Z41xh/Y0PH5O/5fajcjfdNNMVGrRoaoOC1ZDFBrJMgpIRhCoDZSsASYJSovBTkYSUGZuMjGpvbo/8B/BYiRKqHVgZQBIJMKYEavU6sFtP78m94dA7MmOuE7KwqnYCwzAvESyjDMOMS/I/+MkOybmfPCVdueqAIHMgohy4QIP1kbBqocdmf7HVhT1H6gwzlqBFWrFBQVkSBM2Mpwi38pOTKOrp15in+00TlCibqEjBSAVGBPga95UGXRjH0NLYDirfcIt6zV7nT/jsZ1dWr80wzEsJyyjDMOOOUnf3NpVbbj7M3Hz9W8LBgdaBSdNAaAXWGdQVA1KheEoLxmVYUFZQSCgi6qXEUepzZmxBTQiH4pngvcR7KqkDHu+p07Qb30YRpftNL1BGJdYDCSkKqkYZ1SBtArqnT4iKg4Fp2xiw4dVTPv3Jm/ylGYZ5yWEZZRhmXDAixgkbXnPoOyu3L/p/EDXl4zCPkoJvoqAIgRKKZSSOIqRPKcxYBJsSKJ+0nKvILOS09NIZV4bwJlsIhMISgBYhKBsBZBQ5pUlrZUjjfijieRUXrM3ts8dHWs8+88bqNRmGeTlgGWUYZlyAiukWnX5UYfkbj3wn9Ha+Y2Jvb0tULILI5Z2kxOb/QUSfylOPYcYCPvyJPykaqmqTkjLclYGU1UlKlMMeLHXfazAyBIdSKpUBnQ2C6OuH3tYJfcHOu9zU9uPvXt3wruPW+csyDPOywDLKMMy4of3+vv1hU9cFjRJe1ZOWIcxHEESh2JKIbgkW0bGNQ9GUNNxCCoizCgqngSiiFF4oquimBqU0xluc0BKgQQDCVUDFQ2BiB+GsXW9o/9aXLhOLFnXXLscwzMsEyyjDMGOWkV3z6977sffmdOEbDUuXhdak4DomukxTtKw6BnQ4BjqyO57kc2RhxjaCIqB0LwMxYoyoBIWSqhRKKi1sYGNIRAIiArCdm6BiRBYcdOhjqmOrP0aHvfEmMXs25xNlmJcZllGGYcYsqI/olE5v/PYP9nKPPXJifuP615gkhlQHIPMFkToBGXXZEjUBZcYveIfBCYsF77P/dsPGiKUGCU1Sw9qiLATagTIx2P5eaACsJ2HDRr3TLhdmM/e4BUU29RdiGOZlhWWUYZgxTfdXvrurXL320+axh/caXHI/VCa2AeQbQVUcZEb6FZWGI6HM+IYk1PpVtQxoIfELToG1NG9eQCooTppBYyChGMdg1ndC1DoZcm0diyeff//Xp332E5zGiWFeIVhGGYYZszjrdgyWP360vfzS19v+3omV1ia/xryfxOICCHQEUuJrZEvd8MOS+tTCjE2EwntMkVGTgc4EBFgHBCW0x90ZWJA2AyiVXDhUgRAldWDipGtbjj3mJwJu4a55hnkFYRllGGZMgtKY6//AZ45M7r7nWLFu7SRaN8k1NoFykhbWAUddtOSfIxz02caFsoiObfxENXxGH/X1gF5Z3GEUiqgwEKKkZoNl0Y+CaqbPWB3uttsV0blfuBHv+zNXDIZhXlJYRhmGGXOgPETJTf/YdWjBb48P7r9vn0pzK2QNDRCCgiBTXkisNJC4GDJHOX2qPJts8iSmsQ1JqKCoOCWyF7TIgYPUUnonCxFgyQxUEgNDbRNXtp/6zgWtB+9/J97zEhZuhTDMKwjLKMMwYwK0hc2muOS1b9x11Yc/+J1KOvCacmDANKBqBDk8IvTJ7WnhR4siKkRGsbHaWc8MiehwYcYedNeEESBRRoXUkBrru+bRS0GjjLrSIJS7eiDcahsozpjx79xO258Hp79nafVshmFeSVhGGYYZE6Bs+OiVe8c7to/WLn9X2Llxdj5Uubip6GRIq+kooN5WdBG/Djk9hpPdD/OfRJMFdHQyfF/+Y0R7xH2jIyiNFwU5af48LfVKE5qkwgoRpyCTDIyQEExovbVpm+2ulKee9BBe34xs5DAM88rAMsowzJgBxUGWH1ryozYBn+yuDEEc5SHf0CpCCEAZA0D5RUlEJX204T4XgnBP/pgjwXlqYUYfw/eGRPSpMupf0/uyOi54uJjAYEMkAWGxiAwU1gNlNZieMn7ZhWA7OmxloO9bEy74wcW1S21u5DAM88rBMsowzKhlZNRq1Qc/teOa49/13XX9/QeU+3qhUChAkIu8lBgUUVQTLy+0bS2tOT7M5kswYwgSTrqPxLCYUtkMSaodWfCeZ3gOtkkyaoAIWho0A5H1QfNQCmWRW5Xb9zXfKr75sLtrV2AYZpTAMsowzKhlOGqFYlJQ61cd7dau/XA6VG7pSlIoNjSAUgoyk1VlFA+WUlZFFEVlOKpWuwQzBqnevydklBje56H7TK99odcKLARg/UDRAGRWBhjqhlJTgwsmTbtl8uWXnNf+rW9trJ7MMMxogWWUYZhRzaLTTw+6vvetD7r+Te9wd9weFFBEG1raIAgiFE8HWTacIvKJqBlJKnXR0vtUmLEPSeiTRBTxkor3WUrh88k6FeHNj0AqDS6woEqDAH2DRh20183ylKNvxOMfw8I5RRlmlMEyyjDMqAXlo2GHQ157SHbpgrfahx7cE3IhBMUC6EBDmqY+CkrRUKUDMpMRsuLDZF5Pn1BUZqzx1Ijo8P0d3j/8Ht1leifDrzSnaH8GduM6gDAHepdX9arWtkvdx959XfVYhmFGGyyjDMOMWrq/971Xpdf/5aTswUf2znV3B9mEVnC5HJkJpLWIKEXBBEXFcB/JKQmKoyUhLY0j9Y7KjFGeVURr+zY/I8KkIOMh0ENDUApznWrXPa/T5dx105qmbaodwjDMKINllGGYUQeKh8DSZn99+RvT+VefisLZNNTaDpkKIU4NJFhIQAWKKEXFhictkaBQFz25SXUc6ROSwow9Rkoo8VQRpUlLeONxE+89lrx0EA0NONXTCw0TJ0OixA1tsw45vf2Kn6+pXYJhmFEIyyjDMKMG1I7hOKZavce+H4uXL3tnLikpGTYChE1oqFURIeHUOvDSmaF0kngSXlJqz1SqIsNCOlbxd+4p99Tf45qI0v31wzSkBo1VRyUVyA8OibScup5pU2+M9nvNAjHvvRU6f0TdYhhmlMEyyjDMqIE0Y7Fz4ZoDZx/iHn30gxMq5R0GGwpgwgIKR0BzpEEJ6ROZC3yuTlCqRkSHIUGh1yQp1cha7Q1m7IG3lW7tyPs7UkSH7zM1TugIWxqEGOuFa2pdVZz9hp9sffnlf62eVK1btU2GYUYZLKMMw7zijIxaRXsd+u6kZ+DqQJnJQzqEoGkKGIlHuARChR9ZuJmmxs+ip/ySSmkIwxCfq2mdKEo6LCpPkhhmbIG3rnr/qvew2rDAxkftebOIonziDj+hrTxUgoFtpq/Mv+uE6/SEpn/jMUP+ZIZhRjUsowzDvKKQiKJuuLlzQa5+1zvfobK+97T2dja6IA9xscnZMEDpoOTnCRibgh0+A4tQCp8pAup9xEOCQgxHTFlIxyj+npJ4VqOgdHtrtxjB+0oP3GHx/UqpBJUkgdy0qRC2t/9THnzQBS2HH87jRBlmjMAyyjDMKwqJKD1/5JETXyXWb5pXSIZe29W9Hkq5ImSFRuHXFxcoo85AhjJKh0slfX5JWg6SMIZmz1ejZdRlS5DAMGObqoxWn+nLiuST7jgFQ31AFLdNYsBUKlAxmZFTO5Y2Nzdd3/6Od9wp9tknrR3OMMwoh2WUYZhXhJGiMPjVbx8R6cJcddfi6WpdJ4RtbeAilE0U0NBQ9EuCEwEEMsIPLTyN1nz0pSqpuAGU+JxklCKixHCElBmbUOUInML7XS2hFVgAFNmpyiALLGR4kOk1bgLWiyAv+9PB7g82XXvVhdUr+GuQrzIMM8rhT2uGYV4RSBQQWV68eIfeRXe/pe/eBw+zcamYBBJsMQ8RigiJKIXGMpRNQxHS6nkjeLprcER0fODwTpNsUkODUnRZIbEO0Cs0UoP7KHVXUgFV6hU9UbC2uMtOv3m0peV2bJBQDXhyNWEYZlTDMsowzCtG6fzzp8RXX3Ni/PCjr88eeLjBFkJIWhoglQpyhmRUgHEooiggDn8Cbm9JQJnxB93xDCXUCdzC51gpSPAbi+qCwHqhSgmI8hBUohT01PZrpi+85UeH3nwzNV84IsowYwyWUYZhXhGcc4Vsxfq9h374q1OClY/NVAUBMheCAg0qlVCRAsroFNZYyOFHVYAlE1UtZcY/EgVUSXJLbJBgrUgVNkpoKIYMq9kT+nuhEpfi/JGzby0ecchCIcRSLDSomGGYMQbLKMMwrwiPnnLKG7qvuuI017l25yaXgm4tOkOzUowEZVE8KSIqLQhF40Xpo4pmT9McaqYeoPscYrtDOoXND+nTe9GENWEySFBEXUMDqKnT1kYzd/517tQTb6uexTDMWIRllGGYlxXnnFr7l9u2SW/5+7uLy5cdrZSFtCkPuqEoMke5QimxvQBJa8tTN20oIVUUHRMoqcoLKTO+odi3xPussVFCRWC9ILSwoJIyVLq6IGmb2FPc6zW32fuXXFbcde+1/gCGYcYkLKMMw7wcbDbINbNeNzU5/aMXFfqHjnY2AdvRDmm+CNmQg0yG4KRGEXWQA0vxMIhp+lItQqawcGx0/EN32KKMJgYbJyiggTDQkCmQQ4OOZLSteSKkg/Gv83vt9z8Tf//7gepZDMOMVVhGGYZ5SUGPJLfwAz3Xvfu0mUbGHw+71h0yEWzgio2OlvpMIYTMKtAiROEUIE0GUlKicws2MxBY4RP84FP1Qsy4x2K1SYXy91y4DFRagVz/kCjHJuubOu1ONanjmsYvfGIDHVurYwzDjFFYRhmGeUkZ6Y/Z46u+NFGJs5P+DdCvBeiWicIlAMYIcCpEJdUQUhjUpn68KOmoSsHnmKRU9n6fYB2tB2g0hqHhGQIbIcZAVukDSFBRZWFJ21ln/L9t7vrbotqhT6pjDMOMPVhGGYZ5yVn5wbOmrXj3+3+s1zx+qH1sCejJEyFtaILYAESKut8tZFkMLo3BonCaqLrEZ+g0FGQOUiEgESnFyvBq7B31gACL9QJbKqHy69GnXf0wuOMOjwVve+v1xR13vEsI0V87lGGYMQ7LKMMwLykrF6+ckAx0vzVb8vBJqr9ncjmpgCw0g9N5SK0DI6lLnpL3GMhQNlPKJElds1aCRBkFEVRX2hForiLGK1KuUdzBjGsotZPGeiFLvaDSBERbB6httv1r4YOnXiFmz95UO4xhmHEAyyjDMC8p9srfngK9vR9IFv2rOUticBMnA6QomliIMqBgKgO5UEGqHSSUS9RYFFEJBgvlGiUEJT9HcQXupq8PhABFk5c2bQBIKrawx96rgqj5j80HH3xH7QiGYcYJLKMMw7wk3OFc0wM3/u4N9uprjgzuXLRnU7EoIdfoJyvRkp2BTSGyNDkpQGOllE4oHiD8euQ0QjTDTyeDkipFAsrhs1V4XB4A3+eu+rEI5UFQPiuCcAHeQY3PtKpW5u+mEhrvNXXOp3jvA7CJcaKrCybk28AW2laqtraPT3r9O/5avRbDMOMJllGGYZ4VWkMey3PuG1/oXK7tu9/dO/ezBe+SK1bu09DTK1WxEVyUR/HAjx0UTytQQihvJMklXprGBWp8RiVBaanNnMf3haAMo66aa9KFeHXuoh+LkHD6xVzxHte0FO8v3WvctrTSlvF1QMqapJYrwvQnsLGxtUdts9217Vf88mr58Tf343W4AjDMOINllGGYZ4QkdOnSpcHNN99MIclnhY6f0fnQbtFtdx4dXvvXU6LEtA9MaIUySoaVEpQisbSQKAHlAKWzdh5BwvL0mOdI93j6u8zYgPKFZtgAoSVdJXW/CwdGhNjYCCGHEpqkQ5Aa3C8bIUwGQcZD0A9NYHbc8Rcdd1zzf9QgoutQG8VfkGGYcQPLKMMwz4gQwv373//ODj30UFoo/D+y0tr8z50LVgK0NM75n/dGd/775CDplhKlU0UFcCiiFkWEcoeikaJS4MfPM16RGU9ItEiFt9ziI3EGMmtAWwHOOKhg46QYRBAGIQy6FKC7C7JADeUOm/3XaK+9/yJEbgnWw5HtFoZhxhEsowzDPCtz5swxJKW1l0+DolZbS1ne9+Ybppn3f+B4+/BjR7d3901M8gFkWKSWIHwSe0Nz5dFwpU9uTzLCfa71gR9qgXdfOawHWFK88RQXp2pl0VSDMAKJkloZ7IUszEEwaeKSluPeeknx3affW7sEwzDjFJZRhmH+KxYuXKgfANC0XfzUOXubO+/+qRkY2Ho9LTLfMQ2yxgiMTCAQGR6BOopKK/BHgDIaoJQy9YGhccKZgQjvf0BDNpQGRym9lIUg0BArgHSoH+SmDQ523rUn2HO/v6/Z8OhvGvfs2Fi7BMMw4xT+JmAY5gUzf/58NXv27GyWEMmjRxz9MTVY/lLTytXKagmuqcXRTHmKglEGUYkCqizNlEcRESgnfjUl7qevFxTe90BEvq+ehmoIWlXJZZAIC6lLIe3udsXUQMuEduFA/CLafeaPZs2bl9RO5wA6w4xjWEYZhnnBUPf9Quf0smNP2jfo2nTWtDR9Vak0BCYMnc4VRJBalFADzjpwRoFEOVX4MIomr1CHPctovUBZE7QLIFPCjx0WNsVn6qhHNU0TUH19YtA6Z6ZOe8CUS5c2/7/PLKXzKJBefWIYZrzCMsowzH/FVu//6BFCiPP0Y8um9mxYA3bbaRAGORElKYCmPKIOdKYggQiVgjKJSpTRrDqZybFj1AsUBKe5SRX0yoSGbGCRQQgaH2GcQtE4EIH+R/vHz/zojMX3LKudRibKlYRhxjksowzDvGAeWnDDgXLt6uP13XfsEZo4NLkcmoOCLHSQ6hRMFoNwqJ8yAKcUGJrE5FBEUlPdL55TtihmHCCkqBaUUpoKJzWAEvh6KIZybwUGd9n50fxB+1+fe/+pd2DjZrB2GsMwdQDLKMMwL4jlX//etvqmP50q16w6PLfiMbBRANDQACpBCVUpJEEGxlEiHwVOKpDKgBMJymgKykhQVvvxo0x9YKkhomjcsIDqYA2sA6VBMFhfyrlivz7wgKsnfvVLN6CIlmunMAxTJ7CMMgzzvFlz36JddNp3kr7yt0fkli6ZZiZOhThfpFU9IRIGpImrE5d0AWIRopQ6CCEG5cgzqHs2hx8+2k9qYsYqNJTzuc8roslKMSSgpcS6EIGOUUbXrQbRqEuNhx98r9PBFWKPve+qHc4wTB3BMsowzPOi07lG9/XzXg+X3nCKHBja2gUCyg1F/DTJgTIa/HKffolPfEZX8bkkUUYdTaEH3O+75vG1oKgpy+hYxYkKGFmBlL5FnAaN917jPacIaKIspNQXj7dcYXEi8xPWnBCgVAg2Tlw2MAATmiaBioqLgxnTv1XZf+/7qldmGKbeYBllGOY5s2HhwobSD39yaHb3PW9teOjR3fJhQcRNLS7TEqSVIKwCi0LiUE68jDqDHzJUHO5X+JPWlsdn3E8qSuLCjDWq0VAhUpTLFCVT4P1UeO+1X8iAktgPNzSG16GnZPe0ApOghgjee1ceEnGpDJ1tU9KgqeOGju9+9w8z3vveSlVfGYapN1hGGYZ5VhxZBT3fcfcM+a0ffwnWr3pTd4MD2TgBirpZFGI6poJighvPCMvn2Kd6D7UNIcwiCLJqztgkMJDKDCID0JhJiLBkFqCMryMTQSQjkAqPK29w+XIJhMmlYrvtPtN2+c/P8xdEKIha22QYpo5gGWWYOsY56kGfK+m5tmuL0FKga4474+D0sms/p7o2vbrFpCCbCq6sAFJa4pGiYfiweCGmTnA0DSmAUFDEG0UUEr/kK1gDjvLLCo3vRb7E+FWTgQWVxVDo6RWlYq4nevXuv9eHHXSD3Gmn1bUrMgxTp7CMMkxdQ/I481kDUovP+86E7L5/v2dSZ/dJoU1VJdQuKjaIWMRQcSWwkpLX01hQnh1fL/gsCSicipZ0pXRdWGh8aIYNkhiLlQpCibIqa0t9phUQFBF1EeSmT72t/adfOa/tM59YUbscwzB1DMsow9QxFPEEmGOrz09A3fJYyC7hn4cd1qYvuf5KFXefWulcBZXmRogbG0VmLUQRfojIDOI4BikiCFTOn8+Mf6wTkFpA8cwgEAJyKJ80TtipAGwQ+EhoxZQhcWUIIwHhwACk/UOmcsBBK7JX73ez3vfAv2C9K9UuxzBMHcMyyjB1Ds0/qW0Og44gHBaz5szP7dIBhbOCVesObYnLqlJQjkSDZsw7Y0BnAKHV1FkLwjhwliKkTD2A9QawyQIxaicls9egIKVUXRQt1VhHRAZJkEIqKqB7ul2TDAFaJqVu8pQL5WsPuRbrF9YehmEYllGGYZ6Ol1M/aWnVsg8ElfIX9Op10FMpQ9beKvwqOhkKSIbiGQsITAh5mQMwGRiT+Asw4x9JwXRhIcNCQ459pNS3RSRoqiOUykll2ECpgOrsEpVcEdw2OzxkH136i0mnn7TEX4RhGAZhGWUY5mksv+CClvVf+99P6eVLDs/f808QxQhssQmMlZDlJbiQUjlRiiYF5B8pikcWoJAo/kipFyh9k5QWaPkCay2k1oF0GuuIg8wZCJSDcLDsop4yNOSaII2iq5uPPvqMrb977sbaJRiGYTz8zcEwzJN4yLlGeOih16d/vmmO6dywc2YqoKMIpA4BPQMygbJBE1UESoiuJjm3IgOH26D9MFOmDjAUQHcOAh9Hp3C68JOZLEVLXYoVJIVgMBWVVLm+bbd5ONxl52tavvixO8Xs2dw9zzDMk2AZZRjmSejzf3GYe3zVye7Wv+8hBwfDytTJoBStrkN5oPAAyitJ0S/laOEd/BShnba61A5lNmfqArzjvnEi8Aclu1dCgKRvFG1xfwJusATOSDCNE9YWT5rz07ZLf/o3fyLDMMxTYBllGMaz0rn8w/++5fVw/sWnqD/99cgmHQQu3wBlnYdygFJhBYSxhKZUQwMeH8oUQkO5IxWINACdxD6PJFMfCL/0p4IkUKCwbgSZ88nvaSxpmKQgu/rATe/Y1Hj4QX+D5tbrRWvH8tqpDMMwT4JllGEYT+4739klN+/77w6WrTikaWAonzU1Q5YrgjCiGgXzYVEaFwg+EiaBloGkVPcITa1GMRWWjmTGKv4OD99ThOLctJhn9Y0nF4X3mlZLyJT0Ky9ZLIrGDJewQVJJQbdNhHBS+98bX7ffb5p61i/DsxiGYbYIyyjDMNDt3Dbu1n+9Mbzu5pOb+wbbB1qboK+5GYwOIZdZCIwDIS1koYEKSkeKMuKshhQlNFUWj7PgpEZH4aT3YxVsX+D9wwcKJo0FJRGVeH/9g97EdgY9D5fA4t2mfnp8v6INJEEGkcAmSm8JKhVn1a67rY9aW69q+NCHrhPz5nErhWGY/wjLKMPUKT51E7LQOb1hn9d+cOBfd5+lZKAHG4oQF/MQmQy0oWkq/jBmnEPSSdFuQVFuhDTTL+/qvIXitwV+XfgiUFwFGBXi8RLycYwSmsfjAxjsWwttoYIoKm50YfihxmPf/Dt/MYZhmGeAZZRh6gySUCySEtuv+MnXW6cde/SpavWqEyb2D07OoiKkubyTSoJyKToIB7TqBVJQEtHNMlrrrqfhGb7Zgt8WlOTeb2NxNHPe76wO29BxBq6vDzrzUU+4zda/n/jX638nTzttAN+uXpBhGOY/wDLKMHXGAvy9X+pcQNvp9y/YXz748M9bK+UdBtIYXK4AOVAin2V+MgqlbWLqA989jzxNSHGbBNShem4ulOjeGjD4XhKEYNISyNIgqCwCvdU2F02559bv4Lk+z5c/lWEY5hlgGWWYOsLNn6/mCGF2kjJeceSRn9SB/m5xzWplSBlaWh2lCQ20BK1ouc+0trwnB7bqAeG75GtjRuk1CWlNSgkvprVjiFgbn94rtALUpk1QNkkcvP71/2jc94CFQsgleD6vDcswzHOCZZRh6ggxZ46xS5ZEK4477mC9YcPpW8XJLnHmoBTlnCvkhBQZWBQQI7WfKe0FhakfRt5v8lBfhoWU3qu+73dpfLYJqIF+EGEEcuLEZYU3vOGSxpNPu8sfxDAM8xxhGWWYOmPVvK8eItP0Ar1q1Q5dK9eAmbYtmGKDyEwC1qUQWwcVp0BpFFKfxZyFtC5weK8dzZSvjgulu16NjtLuESKKh9HaBnmsG1FcAtO9HoLtd9zUfMAhtw49uOoieeDOa/yBDMMwzxGWUYYZ56BCUBzLs/yb33mz7uo6Tf/rnu1Fkqm0qRWiIAe0kqcTBhLasBmoNINMhj6pOVMnePEUWF9q1WU4IlqLkNNLv8gWvk9DiWVnryuWMihOngoJuEvys1797Y7ffGeoehLDMMxzh2WUYcY56A802E8s+/bXdlL/uvvdsHrdm9S6DZCqHJjGFpDWQJChgDoBhgaNopQKm4KxCmx1DgpTB1TVc4SM1iKhPrUTbnsJxS3KsOCwsRL0x2Igk7a3Y+rislLz858/81F/+PClGIZhniMsowxTBzx8xaW7Q+/QR8SttxwcPry0MZ00FVzDBHJUiJMBUHEKUYqyIRS4wIHVFkTivZSpE4Zn0G8GrZImLFlKbE+RUHRMipDaJIGkVAIVFCEtTLi78SPvff8O//rH3bWzyERrFsswDPPcYBllmHHOMue2zv/uT2/Wl15zrCn3d9iCRpHIQyYFGJGBRn2gZRx9PvM0BTRRNIoQtDT4AcF5RusF5x9Vk0Tt3CynPlaKO4eHjcpyBbK+fuiZMe3+3OsPXtB22hn34rEVfzDDMMwLgGWUYcYxDy/8fTvM+/xbzeIHjikue3RrHUiRNDc6ISQ4l6FcWFBCA+V0stQjb3CfpRgYKqqwvjB1gqOueAfK55Z1fvUlyipKk5kENlxITV05htQ4SBqb+vWrd71qyuW/uAZFNPbnMwzDvEBYRhlmnLLCudaG1esONL+4+Ixg2SP7lybkweWa8bc+J1KZgnYGAnRNdAu/1nxKukEpnVBBBIoq5R7FrdrVmPGOw4ZJoCzkNCqoMZDaDBJpwAQoo0qAsiimXb2QFRp7m485+la91dbXo4g+UjudYRjmBcMyyjCjjLnOSVdbN/6/QZ/0vkOzr//qbOjLdtWARpGLAJTGd6jjlaJfT/DkV0w9IrSDLLOQlh1WEwkBNkyCLAAp82ArMdiejVDsmAx68qSHohnbfX/y0R+4r3YqwzDMfwXLKMOMQs4hY3yBLHYuXPfDH+4Ld933jrbHVr+uICIV5xudUnm8KF6W15tnngpWCysFZBQhz/AlbgcygNBFoGNs2JQqkFVKUJrYujqaNvUP7fM+d5M8cGvU1hdeTxmGYYbhDxKGGWes+cb3t5Y/v/iyoKf7ADvUD2lrC4hcBAocZGD9OECGGQnViEwCKCwUO3c0bkMWQEIAesMaVxCJ6GqKQLS1v3OrB+67XPBgYoZhXgQuvvjiWfg0iyOjDDPGGRmdWvmWt+xrFlx2rt20Zt/IVCBpa3RZjo4xgBZatQ6GeRoCnFOQCgeJylBCNYjMgCn3Q1gZEr1R0Kl2n3m+OHC/W1lEGYZ5sWEZZZgxDnW80/PiD89tsI+ve++k/v5TVDqougLj0uYGQbPknU1RNgweyDbKbBlpUUitg8xakJTqKxmCbHAT9DaEYKd2LJx69dXfn37eeRtrhzMMw7xosIwyzNjGR0UXv/H4CcGye6+ypfL7u1eugGRiK5jmojBDQ5DPQggVCoU2eDTLKPN0aEqbwsZK3gRQtDmsKxUQ6Sawcb9Vrzvwz+GJ77hGNDQ8JAQthcAwDPPiwjLKMGOQhW4hDe0j3KOf+uKOjZH7ePTY8tltQ0NBFoUuDQIQUkGE7kl9qhnKhhXW54xkmKeB9UQZAVoEoOhroQtFNMRGzI47rAtmbLug+KXP3oQiyutxMQzzksAyyjBjkEY4VMx3Lly0aFEQPL783bKv71PR44/rytAgyLY2QUNEdQYQ6hBSfBE7g1LKv+7MfwJbKbQULE1vyxLQ/SVwheaN+f0OWKjj8g2NQnD3PMMwLxn87cQwY5B9hEh3++V3G4rXXP8l+eiytxcW3Z2HQgRpQwOAEdBgFWihoUQrK6GOUnzUyBBlg3/lmafjsFrERQWVwT5nN3bChKnbgo0KN4c77fjJ9l/+cnXtMIZhmJcE/mZimDHCfDefFuz0rO5zbQ33Vt6cv+lPb4f163ah/JA2n4MsF0AqUTzpIOtAZ7TcJ3W8apAoqTxktJ54rjeb6oUDVRl0UWVIDKUZrG1u/quettVvmr7whU46Aq/EAzwYhnnJYBllmDHCCXACdc0rWp3J/eSKI4O1q98b3nnHLsFAnyxNngwmiHyEy2gHZRofajLIo1goGYKksYCUO5JltI4Y/nh/5pvu157HuhL19AqS0qSlYbk44NWf7/jrDdfWDiET5ZrDMMxLBssow4wRhBDZwQC55X+7641uwf+eYG66/HWmuV2ljS0grfGr5minIMwUBDT+TymIlfQpncBl+NriRdgpxj8OpNMQ2DwYYSBTCQ0HBUlR8tRAICXWpRAyF0IiBKT4PjZfIBqsQNY++Z6W007+fuNxxy2tXYxhGOYlh2WUYUY5FAmlJT4XORfAl78/K/fVc98Nj694bWFoUNt8wc96lmB9Pyq5pnICX1OyHj98lM6nq7CI1gl0l+nuS8ori40Ti2IqnAWJjRWBDZQM36d1uCTWB4mWGg6WwQ6VYGD69K5g513+NPWb3726+Ygjev3FGIZhXgZYRhlmlHMz+qUGaGpZtu5V9u47jxI33TSnOJS1lVo7QAiJ0lHTD/9clRHa9q9r+5j6AZUT60AGTpRQQiMQtgDOOBBagwsCKFtS0RS0TCHE7dxADCpx/cGRr7/evf2oPwkhVvEqSwzDvJywjDLMKGbxYhdOQxnNAxh3/HEnx7fe8hGnrIZcBLlcDqTEX+ERU0uGJXRYTImR20w9QJm9DFRcivXDQagCEKoAxgBkSYo/LEhNjRjcXrcKTHsbwF6vXiGj4GdTzjjt1tpFGIZhXjZYRhlmlIISKWbNEknhggsm6UOPOCVYvvSt7UP9rUlLEZKGyAklQHgRHWGjyJbkk4W0nqB7jR/t2FBRwoBwGWQkoribJriFoQIRJ04OlaEh1JAW8/e4HXb45aT77/8nJbbHw55coRiGYV5i+EOHYUYhJKL4JEkOVu225/FifeflTeV+ORAKKHdMAm0U6PjJ2kDC+WzSiderbTHjmVrl8WNFM9TLCtYXFUoIIizKgVm7EUQlhdyMraAShGdPXXzPd6tnMgzDvHxcfPHFs/BpFkdGGWaUsXjx4hCl0ZGIrtn10E9Dd/wtPTggU5qo1NjsghRlI6O1cp7gqSJK0jmyMPUFpWiSaQoO64kUEvI5rBvKQpxUIOnvg0KcQSz0QLrzrl/R7zzhD7XTGIZhXhFYRhlmlDFr1qzkoW9+qnHZHq8+yvWsP60jTWdUggAqhQYHQUGIBGWDOlNrv70cEWWeCtYIfFQXP7BYT5QCCJyBoFwG190LfYVCRW8z4+borE9ePOnzn19SPYthGOaVgWWUYUYhwSULD1fGXhuVundcN9QFrm0SuHyjsFZBZiQ4lEuJgvFcRHQYFtL6gepHFkhItYNUODCZgCjJoKEcg6wkEO268w1T/ver5zdDzEt9MgzzisMyyjCjANTJzaa44ui3fzx08suNqzohVQaS1sgBSgXli7QQgAxQNEQGsUn9VBWWTOZpYEvFBTksDpRyEMkAst4h6HPKhfsdtDo/Y8cb9dFvulHMnl2pncEwDPOKwTLKMKMA1Em35AcfjVYef+whZl3nRyaVkpnpUAmSMAQo5IWwGTiUT7Coo3iwX0zJPGGwLKTME2AThea/WQUKpVTS6lvlAXBaQ9bcuiG/517zm3bfcyHWmVLtBIZhmFcUllGGGSXou9YdYdL0IvvY6u26Hl8NemIThLkGCIwGgRIKdggFdAiCBP3UBpCHoHZmlZFC+ny675nxBtYDyuM0ZEEbrCNxDAOdK8FMmQjhjjvfY9Z3f0V+9iMP1Q5mGIZ5xWEZZZhXiJFd80u/+eWjs43977P/fnibKI2VaIzAhgEKJR5nHR4oQUjt15v3YwD9WU+PhpKQjizMOKF2P6UVoLFh4hf1FLTKEo0fzmFjJQJnJBhLi31ipQlwfwGPGuh3ajCGQvNESLX6dW6HHb7ces1FfqnPkfWPYRjmlYRllGFeIdAEHCJWfu5zs/Rd971frNl4OKzeCOicIJvyYFA+jLdR0gaUERoHKKWXUdSQmpAy9YChey4dSijKqBN+mAal9rJUL5wEhUVShaJPdF9X6CmFoH9IxImAwY6tlpvJE38z5Zffu8NfEKHDa5sMwzCvKCyjDPMK0vXLn71Gl8tnq7/cfkDDQ48VwtZmUIWcFwpLHkoPkgss3h2cfSKcxd3wdQHd7wSbHmVsgiiNQiqwUWJCSF0OjKVoaQW0KoMODMhIgVQaVCUF3dUDrbGGfDTh4QkfftfnpvzlonuqV2QYhhldsIwyzCvEijv+unf/jQtPTP5445uCSnlimA9B5yKfFNJHvWqyuVk+hwNZwpGr1gSVGe/QXQ/wozrEmjCEWlqSFozUIJ0CZSk+XoFUJpDZFGSpuvxnkAyB7uuFgRnTHo5ed+D8CR8+bWGTnNrpL8gwDDPKYBllmFeAtf/3f9u4y64+yT6y9Jjg0WVTZBRA2tIEoElEh6OiyOao6HAglMaPVkWUZbR+CJ2AyEmInYUyddkrAQq3ae15pywkzoAxFCXFj/TyEGQmhqShOCheM/OawoXfukKIxo21SzEMw4w6WEYZ5mWmr69vR9k/+Db76yuOix5cul3c2ARDjY1QCUMwaKEZSgYqhs/OI2ggIJaRs+OVF1HcFhQ/ZeoBYVA8Mws5iPDeK0hlCkrGILUFGygQsQalCiBbGsF1d0NJqwF19JG3w9RJf4zaptxfuwzDMMyohGX0JYYmqFCpvWTqmIXO6ZXOTev90EePin916Xui/mSbYtAAQXOLnymPJgqWJLR2/OboJ+7wIloTUuq+p2e/j6kL/J320VGNRfjcoYKmsFE9MApUlAOIE4g3doGYNBlcx5TFbrsZ3zdHHnm3vwDDMMwohmX0Jeacc84RVGovmTpm2zvvbDff+d/DzV33vL3x0UdfldcFYZpbnY4in65HGoqHVhkposMSWt2uPg0LKVMfUAonmiIvLS14YEE7iooLcFaBQBmluiIrFbDd/VBqn7zCbr/DH6Z+9avXdRxxxBDWEv78YRhmVMMfUi8iKAdiwYIF8oQTTrD45cCmwGwG60busf/93kHZ937y/WJ//8wQRTJrboFMS7CQgKJmIeWMdBo3nuh+95WIpJNyjQ4Lqt9Px9D4UeVfM+ObEFBEsRoMpSlQFVEBVhjKOSrxHScg6d3kWjIQWVCEtGPye1c9cNsl+1BuJ4ZhmFHMxRdfPAufZnFk9EWEROGBBx5wLKLMU3n8uOPeJM6/8CzV1zczkBoqzU3OhQ7FIgWjHWjjIKjlK/cdFvSMEkorLwl6rolotVBdo+O4LVk3UIOE6gGNH8ZCOWhpkaXUGsiyFHIDFdGnVLfcfZffTHz1q29hEWUYZizBMvri4ubNm8ezSpjNLHcut/7H5+0hF9136qTVq98cKQeDxZxL83k0SQNSYNEKpNUgMpJQFA6UDFRO3Mbn2vawiG7eiVSFlKkHaPEDKkpLkErhNlUVCzYuQ1Lqh1IQgZ046Zbm637+XfHrH62rncYwDDMmYBllmJeQ5sPnTMp/44e/LHb3H1tKygBNeQhzUkRpGdIM2y2phCjVUA7yKBQhCOqOx0JdrwofksYJonXSL6pzBqxP4WNw21WDqMy4gdoWw+2Lp95baqck2JAxeASlb6KJTDkNUCz1gejphtzrXnNd87vfMR+K0xZjo6VSO41hGGZMwDLKMC8iFLesbUIy6zX7wCMPfrHS3/camgGdFopOBJF/z1L3u6TxnrSaDqkHvqZUTTUjIdX0D789LCfVN6tq6uOlfi8z9nCO1pRXIPxgYcqiYFA2DcQCGxvOQkDjQX1loh8WMtyfSKwPGpsoUkKQpaC6eiAOcy7cZZcl0S47XtH0pc/8FUWUu+cZhhlzsIwyzIsETWCruSMsOur0wlDf4Cdbs/QDA2kJNkTaueZWfF8BLZpDw0Np2UZAscicQfmIIaC9+BvpBElordB1a2VYRIXAUj3Q72XGItWGCOWQFX4yWgaGktfLmoya6vrzwzJKNYEWQyB5lS4FURkEM1gBN2HS8vxbjv5j1jrlT1IITmzPMMyYhGWUYV4Azs2VVGovSURpO6Dt1Qcfs9WU7sf/1G3NCSt7u/0Sn4ViQYRhiGKBAkn/oYRWqU5O4gGg9QWlZpLYKkmzzA8BzjkFDSaAggtA44PCmwk2NjKKoEoNOXw0mAg/sC2Y/m5I+3rA7rYjpFMn/0XvuMvXJs77zNrqlRmGYcYe9SijnISe+a94ov6cUw1YIiiUlM4reXzOB17tKj2fzq1bc1BTXNFxoFxYyIPSCjJjsGQ+ykldrcTwBfwYUCxMfaDRQEksM5JLrE2opkAb0mlsqAQooMp349NHtLASlCBJxe3ebldI8KyoAUxLy2+zrTt+0/TBkzfRNbH28OcawzBjkrqTUfrCp1ygLKTMC6Fabxbg7805T0vh5U4/PdAb13yuLcvOLK14FErlQSi0NIsgF0GG9a4Sx5BRJAyPlSijXj7JIERtuc/qZZg6gOqAoDGg6JupFBDjjgrWAUPJ7RV131cnrymqbhb/wydnse5s6hZOhCAmbrU8KEdf2fnii/9WvaK/JlchhmHGJHUnoyQQc+bM4aT0zAuiWm+eXn/WnXLKjHXrN85Xy5cckSx9GFx7O8gJregUspoL0kdEHehA+ygpCShNYkIL9WvNKxQQElSmPkihOjYUawK+quYNpQhpdZywxcZLhq8zsDSGVGD9SfudK/VCg4tgMGy8pfi2oz7R8aNzVlSvxjAMM7ap128/FlHmBeMDmT4QVWXDF761fbKp633piseOzQ32NZZRPGWxESCMwKBw0rhAWr6TxJRyRNKpwyLqwQuSnG6+IDPuyVA6aVqSNuBnzgc+XRM9WxA2xfcTsPimCPBDWqC0DvWJUqkPujumL5O77nZV63e+cp088MBy7XIMwzBjGg7FMMwLYLhLdNHppwdu+ZKzRX/pk5UH7od+k4KdPBl/sRS4NIOMXqNgUNRTK+0nq1hTzRVK+kkSShfibvr6wvr7jrUkQxk1EvIoo0WU0QjrjMwSMDKlWU4gNT5hHRKVCqTCbozedezP2v+w4DqsN5SQgWEYZlzAMsowzwMUxs0BzDXf+MbWU5T+llh0x5G5Bx8u6OYOyJomQCIF2LSCB1pQKKDUBe+lE4WTxoxaQ0l68Jev1i1PYkqr61D0lKkPKJvCcIounxAMWynKR8sNblsIQgWaGjF9Jaxo3ZB2bLup8Ja3/hWmdVyXb8k/WrsMwzDMuIBllGGeB8MR0cev/HWHuO++49R9D5wkOjds64ZKoArNIIMiHiHBChoj6jNDVrvgSTiq56OEClDyCUH1Xfb0Xu0YZvxDq2xRVTJYF2h1pVQ6XzIaxYElcFhnSthwKVswTS0gJk+9vXj0MZd07LHHEn8BhmGYcQTLKMM8T6hrXt77wOli48YzotvumAxJBkl7G/4yWQhSEgkFNqBJ0BYcRUEpnIqF4mCh0hDUoqWEn1GPUJSUZbR+EFgvHAqpF1GsCgmWigbIQsorqkCVDLj+DMoQuWTmrl1Ja8MfJ5x6yh/E7NncPc8wzLhjVMoofkFTLlA53zk1t5pMnGFeMcgla5vQv2ZN+/RZ270vvebatyb33L2TLeYhbWwAGwZeRqWrgLAxKEevKT1P7ZcMpdNZ1FMqxvhCIkoS6nOQWgOGlmZi6gKaRU95Q5WQICkwTj30+GSwPljUTdebuhZVBFtsHFRT2j/X8LbZv/MnMgzDjENY9BjmWUCf9OHLjf/6bkfv9792bPyXO94VPLZuVqFnCMqtTZAWcniQQKmgcZ8ZeoXBbZQM+vWirng6mSKg1CVPUkrPI7rmKZ8k7aPCjF3o7g3fQ2q90L2lR/WN6j76SQ/64JV4bDVqXj3A0tCNzIGq0ISlWGwIVbeYNPGKhk+9+/IpH/jEBn86wzDMOKT6+cgwzDNif/DRaFUh/8X0+ntOcNfetfNECME25aF7QuglNEgt6NRBovFYSSl66CwUUf4NqwvoPlO3OzU4aHIS5Y6VWKjN4XxdqC37WkPZxDtqKgMw0oDTEoQOIezpBz04BBV8N5mx7Td2WHz3d/Cwbjy32nphGIYZR1x88cWz8GkWR0YZZgvMnTuXwpXeHlY417qqddej04v+/kZ559Kd87RUY3MBsmIEkBmQZBUoIJkSICh5PRaaIc0iWj/4aCdFQqnga5+6vhbxpPURqvVhuNDKnxoyIasiqjRoJyE/WIKGnl6IjRnSBxxwWfOb30QpnDaxiDIMM955OWWUv5qZMcO8efMsWcQS56L43C8clF2/8GR138qZTWsHQDQWIG4I/cxnndI4UVQOSSvoOL+t6TXWdlIRpj6gDzcvolgI8lA/JIMmsfm+eKoTJKV+D9YVhSKqfb2hhoxKUgh7e6AUBiA6pt7b8YEPXTjxW1/7t78YwzDMOOdlkVGKMs2fP5+jsMyYwjmnC/fdeRD87V8nud/9+ZiWclLUjY2gijkwzvik9pGrTkIh8aSZ8yoxoOPq5CSmftg8VrQmo2SjtI+mpGFtQAklBX2i0GBRIbE1I3MgDB5V7od0qBeCPWYtannfaVd1PrTiNrzWQPViDMMw45uXQhAFySd+ENc+lQHOOeccd8IJJ3BXEzNmWORcYdU1lxyY/8CHPtR09+IjGhMFlZY8DLWEkFKki1I2WZIM6qlH3bDWp2zSUvoJST6h/ebfAGa84ychkYDWXvvIeO3+k6CSmA4XgtJ+4RHVxPabNkKapZDtsWc3dEy5qvjWEy6bPO/MQX8gwzBMHfDfyugWv25nzpz5pP34Yeyo1F4yzKin4cffeTUs+P1J8OCSN7d3D0ywDc1QasxBORJgHEW3UDCoax5/g2j9eUAx1Ur6yUuZrE5WocLUETUhrVK9915EvaIOiyjVDdxPjRaTgR7qhyhLwOZyXbD7nr9PZ2x/rdxr6zV0Lh7NFYhhmLrgBcsoRT6p652ea7uGcXPmzDEsn8xYBOuzvN+57cPfXvUOuOaGM7KSyXc1NoFrb0J5cCArmY96ukhDFioUz+qEFSoZ/iiBgZLLqsK6WUyYcQ+lQ8aPQoqQ+k9ELF5E8Zlk1Pkp9TQMGUBhnQmCEIIkBtm5BvJTO0Bsvc1iN9T7Px3f+fpifz3En8owDFMHPC8ZJfH0s4wRkk3qemfpZMY6VK+XWBvNdU6v/sOV27fvdcj/5B5a8famxEDaMgFKzQ0ukQZCrOkRCQeeYzIDDovCfcp3zVe7Yuk92mbqCxJPMk0fMR/ZCBlRJ2hssU9yj2/b3n4XDJYgCvLQr8Orw122//r03/2uy5/iPZRhGKZ+eEYZpS9pKrWXnloXvN/HIsqMFxIhgpP+cv1u4oIFx8pHHjl14mB5ajnf6JLmJkhzgTBZ4hOU03hQbwskopmFwNAvEUkIYhyE+H4klJcQjmvVB9Q88TLq68FTPNLRcrCuJqPCJ7p3KTZkevtFPzZ2+tomrZIT2n8+7deX/ql2Bl2Baw7DMHXFf5RRktAHHnggwE38Zq1C8kld8LjJH5bMuIHqdSuAzX3hWyfav//za1Duy3dFCrLWNiFNCkFcAYUSURHWF2qe5VA48075yKi1xi/nSeIRSe0LRU2HV1li6ouqmFahNglBDRbKueDSFNJy2UtpuanpgZaPnXb21Au+d1f1KIZhmPrkP8oofUHPnDmTxJO/UZlxTf/5l0+0rzrkc3rJihPb+kratDZD3FxwVmS+JRbQ5CSUTY3bPgqKr/1EJdzhZ9bjNo0jNeggCR6XopRKlFXurq8PaEzoZutE/EAO/M/vx+KrCO3FZ1GugBkYhNKM6SsK+7/62ubPfuGvYpd9NlXPZBiGqU+esZsehZQmIrGMMuOSRc4Fa5fcPbHvoouPhJVrPt0+VJ7RD5lLJ7SALUTCmQrQijmCxvpR6iYUCuUtw0GKvzkJlqqMVlM5UcQ0dsYLqVS19E5MXVDVTrJN/OldlLrkvZHSB6nfZysxpAbrRy4cbNl/r99tc+7nf4efr36cKMMwTD3D35ZMXeKck1sDtJc/NPcL2dIVPwn7B8K+HIDpaBLapKAzCy6IoKIBKpJWzBHV5OUooj7KZWsRLxRVYXAbi8J3aIIKddPScVSY+sBgHXEqAydTn+heWwUFo0Fl0i/7WVYO4q6NkBbCvoZjj7zVTp68QOz5mn9Wz2YYhqlvWEaZumTpr37YNnD8SWeJx9ed0D5YLspIgSmGzkaBzxtqvWAKCDIBoUXJ9J30onryCEbuefq7TL0ggCazKQjTEOuPgQSV1Kf9ykUgKYVTVw/oyR0AU6feq3bb8afZiSfeUzuVYRim7mEZZeqOxc6F0a+um63uWfLJtq6+qX3xkDMteXD5ULjMgnGoFhT5RCHNZxJyFOFy1EFfmzXPME+BPkgDE2DjJaJRHJBIC7HGDWUhqpRBDZYAtt7msWj73a7t+Nzca6fts08J3+X2C8MwDMIyytQFI7/4w71f/xm3ftN5javXKlMZANkcirQggTpYbZqBECieUvuxogLFlPKV21q3O9sDs0UM/icc2AAgknkIVd5/uOqNa11RWEinTYVKZeiL0+Zf9L3qCb5CctuGYRgGYRllxjveH+mLf93hpxRX7HfY6WFn57s6+vqabGAhaVDOFTRklLLJOpBWQADKP8gUUukgVc4v+0mTUBhmS2QooonC5ozKIHAaVIyVaWgACqWS6LZmfTZ96o96mxtupEmhtVMYhmGYGiyjzHhnc/SpsnHZ4aI09PO2wYEdu3o7Xbk9D0lLThglwBoKfwrQ+AjROgPqa8WSKBRWbcFSQlGWUWYLOHwYaSGTGWSQUOJZkENDwvb1wEAYgsjnr97x73/71D633MIpnBiGYbYAyygz7nB+5bD5ytWWriVWH/i6ubLU/0u3dDEMoTSIaZMFpW2CGLcTC9oEoESIvxEKAMVUmQyl1KCAYpG1Z4bZAlTJciik1IihBesqYtBFcQ+oOLbywAN+XvzUWZcIIeLq0QzDMMxTYRllxikPODFvnu08+n2N6/Y78r1ifeepUwd72yj1TiWSLgsDrPwKhKOlOyVofJb4TGHUDMXT0gLiVEhIrcHjrI+UMsxIhmsEzVXSWH+UMaD6OsVATsfBzjvenj/iDVdMOOtTi2qHMQzDMFuAZZQZdwhBQc95frGGeN3KI1VS+lVjV/eMjZs2ODVlErgoEFkco2uiiKoAnCYxFSiczk9USnB3inZhFL3Gy1Ck1NJceoZ5MsN1wtIWLXaQxCAGSyCmTrlH/c8nL4Hddr+Lo6IMwzDPDMsoM65wT/gBPPymE75Sjgd+kDz6b6goC3LSNDwggkImIW8clMFAWTrIqLvekWzisxQooaK6uhJeDR0UdwWgRYTvViOnDDMSWhq2kpOQDA5A3F9ycr8DVgezXvVH+YY3XNpy1FE9tcMYhmGY/wDLKDOuIK3s/NSnGle+6W0nRmtWnzq9v39KlsUoC5Gz+aJQGc2Sl144qdtdWweBxV8ElFM/EYWGjArrV1jSKKgaRVRgMZbO40yjzEio6YMfobRIQn8vKKxTrrV1QM3Y7tLG1x5wTeuMGb3DR/nDGYZhmC3CMsqMO8r3LT0KSkO/aVr9+Fb9q1dCOGk62FxBZGkG2giIpYSylhChJRTxdZ7mKFkDFiU0k5TiyUBgLO7HY0SIzqqggrJKXfjsFcwTYF2g/5IUgg3dkDQ0OjFr5wfS7o0/bPzoR++vHUSHcAuGYRjmGWAZZcY8bv58VduEh4+aM9esX39ucfF9KpMlSCYWwIKCII1AZzmIlcBXGeRt6pPaZ2gKiTSQBOQLDsIMILQanNCQ0BrzNHkJj5eKkuGzU4x/8J5jfch0jHddgHEasL1Ci3ti7UjwAxMrCG45GQCoAri+Pqf6eqBx4i6Q5ib9Lth5+zOnX3/9muq1GIZhmOcCyygz5hFz5pjuz3yjedmbjj9eb+g6bXJ/aYbp7oYkQpFoLIJFh1RoFNKhVqJQCmdAWYtKgbKBr2kfdc8TygJo/2tR0w5HR1kUUT8fihn3VKPfND5Y472XDusJNUpoXLHfT0/S1ymTJBDEsShZ5za2Tb7XTt31N9N+/OO7aQIdvu0PZRiGYZ4dllFmXDCw+K5jVVy+JLd63fTe9RvBTWgDyDWhWgQUxwIrUhSKxIsoZQylqBdRVQwstaAnPdU22SbqFOE0BLYAeZdBBDQRHtVUhCBlhHVDY5Hg0hhM/0ZsuSiwza2PTzn+4I/u9NcLrq1ewded4WrEMAzDPAsso8yYZGTk6ZH3n/Ex6Fz38ab77g3D/k0gIgVQbATnQnAJdbVaMLSKUmDBUbomKVBOueozW4bGBsfWeJtUWM2Uq0bVhdVY8VBKjXVRZQiKA70Qt7fd13zMm3/WeMIbFwuBLR6GYRjmecPfyMyYhCJP6/734uLjbzv5LfrRx07PdW/aK+ldB1mQgWuIUD4DoAXlJeqBQJFwgiTU0gt/NkW3GOapUAsHawoYkUEqFVYhjTLqUERxf22khi4NChuXoTKhvTu/43bXTvrFzxbA7gf5mfMMwzDM84e/kZkxS/nf/zjelePz9T337ZKsWQGVrSZAMqkJ0nwAGZqDyKrpmUKBUkqj+GjNcEPPKKOOqz7zdHxTBRssGhsusVIQ0/KwKKfWOl+nLFRADvZi40Z2N538jisbjnvbH4QQy2mcqL8AwzAM87zhb2Rm1OPXmp/rpEMFqO2CR8/46Ifkow+ckbtn0eRQWCUaWkDKRhA2rK7gSbPg0SO0khDg8QrFVKUOpJWgaPnPJ3r5GeZJ0AS2nNNYjzIUUAMywD2RxMbNEGTrV0FlesdAeMB+t6pp2/wq/4EP3FM7jWEYhnmBsIwyo59z0BzPIRMVzl1wQW7NnJOOiJYu/XCuc/3+rnMVmFwIUGgFnRZAxQoESifNggfUV4GlGhXFfSiiZKiKIqW1SzPMSHxkFGuatliPfBSdEoMJkEkJ61UJXJQDsdXW/4jefMTlzZ89+w4pRIxHccuGYRjmv4C/k5lRj5gn7HA36Prb/nWiHiz/JH/H7TvL9Ssh2WoSmCgCkUlQWQCanklbUUKtMJC5DDIUilRKSEIFWUQ5RFEuKDcPwzwFskoaGppiA0bKAEKKoVdirHjrwGUZFPY5oDPXPPHXLWeddak/AcFzuDIxDMP8F7CMMqMdH3VyzunHP/r508ziB94H996znQtsYPNF0CYHWqBgageJQvn0s+VpCgo+nPEzox2KqAvwmEDRcNHq7HoUVIbZElhrIJYGVBAAPrlK7yC0Nk8AaG5dr4tNnwq23+/62qEMwzDMiwDLKDPacUuWXBc9/q7T3qCXLfmYWr/hYLd2NQw1FCGhcaImQFul2fIZGFkBqzKUT0poj0JKM6DpPZRRSdFQ6k81JKnOr6rDME/FR0bxUzHFRo2yKeg4FqacwvpiU0lNmfz79j8uuKjle2d3c9c8wzDMiwfLKDMqGfllb7/7x3e5nk0/kLfcvLPa2AnZ1K0hDhog1hrSvICUutzTFEJbgkCgQAgUCSFBCI1XqS6tpFMDUSWDoJLieyimAb7HME+FOtyx8SIUlsFuly/1QxQVQETN50y78/azqwf5yklHMgzDMC8CLKPMqIS+7O0ProvWv+d/Pli4++H36sUP7mRlOUyLWGWjEHKphihR1WinjLEmZ0DryVsn8cRqkvKqhta67FFQKddotcZT3JRdol5QeKtpmVeDjRBa/hV/ghS0BpcFmtvmo+f0irZV5OuULvdC0FcWPS7otbvvekHjwQdfL4QYrF2SYRiGeRFhGWVGJc7NV2v+tuD16fp1n82v23hguGIlJM0RxM05n3w8MgpCSmpvKH195muyFSEKhcJzad49dd6T1FbFk2SUul/RQujqfpY0Ux9QG8QP5aAagUJabZTg/Re2uhfrCmAjBpsw/rggjiHoH4RenYd44pR/dFz2fz+YcP63l9QuxzAMw7zIsIwyowbvDDXWnf73D9qBge9X/vnPabarE4L2FtB5WuIzgIxS7uTwOZAQk4ymEShD2URxvy8M8wSZkmCwhM6BxhaJExEkFEXHTz+NQqozB4HFxo0KsC51Q9DXC7o/hMJr972+8XPvvQQy8bAQIqldjmEYhnmRYRllXnZ8EnsKXw5vz60uh0TxqUU//3lhxQfPfI+5755T8o8s3qmx0h+4wEEllwMDISiUUUpYn9oUUtzjlAInQzybx4AyW4Zi4DSlTVmDWw6ogx4N1acDo256QFF1AXXhZwA9XTQW2YZ7vOaR3M67XVX40MdvlDvtFNN1GIZhmJcGllHmZecc9E4qtZc+oX1tGyYt/Mfr5Jp1XxRrVh7gVjwCYVGCacxBSWkwhsaIStBCgDUVPCkFQRKhsPjud4bZAlS70EhrAzb8C0VJ7a0GS+FRqkOQQBwPQkpR9wltjzW+9ejfNe96yI1NQnT6azAMwzAvGSyjzMvOPCEsyqijcaFwzjkwnNB++Se+dIbr6f+aXHjLVq6/G0rT2mCwuQhxrgBCUVe8BJlacCYFRXFSYSCADDIR48/UX5thnop2wkfTY03jRQ3kXOaX94QgBCmwXlGEvb8TBjesddms3fvFXq/6syo2/68886gVtUswDMMwLyEso8zLhqOpI7TGvHPq5ptvVgAPODFvnt3wf//XsPZ9Z7xL/fPvp6ilj+wlnAkBBdTlmiB1FMESEFJE1FjcpsiWA6VQTFFhRZaBwn0S9zHMlnACGzBYWUJa2FMAUNMls6nfT/VG9Pa5ZquguX2aUM2tl4iZu/xKfv7ULn/uExF8hmEY5iWCZZR5+SBfnIlf7g+AOvTQQ50Q88gswd62aLbc2PllvWzJa9XypZC1twI0tEFgciATAJ0Z3CbpNCgTqLQSPVZqcJTGKQUILIpqLZETwzwVSudkUDwD314RkKBeGoMVJ4uxMVMB1VcWmSpCbqsdluaGzM+mfuUrd/kTETyUWzkMwzAvMSyjzMuG746fAxYWQIbbNJsE1nz0kx/V69d9OXfzX6eHlX5IJ7dCpgIQiYMARTQXhlhLLSS2jBKaglACJL5fyQTEToHREQiJ0soTmJj/QPVDzkKfjX0e2iYSzzACqJSc6doEzcU2iEXhz7nJU94y+Y6/3O8PZxiGYV42WEaZlxPhM4DOE3bZZ37evOrkD53iFt19Cqx4bE+blTQEEaiwoVopaRgp+qqxKZorPmsHTgsfqrKGpqEIsFLhPk1ZRsH4adEMswV8blGqVZRFFBsz2AyyaeaCxIjMClgzoeWfbrsZFzb/8dKl1GCimlc9kWEYhnk5YBllXk42G2O44l+HQ1/P/4olS/dNViyH/skTICu0QGBDrJR4mLKQKQNJVkHRtAA6QPEMUE5RJGicKAqGUugM0vqZ0MYrKcM8HVoWgVJ/RTKkagVZUoFsYFAkTkKlqW19cOSBX536zz9eUT3amyi3bBiGYV5GWEaZl4WR0aZHP/ChT5vVy+fC3/82SVoDduIUMKIAiUY50A5SJ1Atq4s05qyCnAlBmwBS9E2De2nyUkTJyk0FRDoIgaxgYRmtP4ad8ZkDmTIToFMFUgQQOOdylRIUu3shaSjcP+HUE77RePjr7xJCcDoGhmGYVwiWUeYlZVhCKdrU+/6zJqw8cs57o/seeldh3epZotwtbaRB5JshMHlwToPFA5XLQDhKUy5ACJQIejZ4DYuFrkbT6Kmj3tFSjnRt2un/GKYeoKVeHdYKlEu/zCvlm6Vmit+v/HvS1w0DButKqvAIhY0erESuPCTiUhnKHVPXF3bZ4Y9t3/vGVcW3v3197coMwzDMKwDLKPOSQhJa24T+9RuPFeXKLwoPPTLLrFwO6ZQmMPlq/tAoC0AaDdI6yLkUNMqEX3Ve0WxomnRvQHs9dbjlIMOrOiBRjcBYLCiyTJ1ALRaUTklLevqZ8hm+rsmoxTpE75GMYk2hmfRxaKASxGCzIYjLJegXsq/l2Ldc0fHZs68RQqzyE+sYhmGYVwyWUeYlwwctazx2zLu/bjZsnKseWoYGgW80t4ALCygTNELUgkKXJHlwFBGVWC19CJQdgXk6maKGSgZBUoG8VdgkKUBZRpBqBSKwIHw+MGy26AgbOAHkMgmNlRQa1nSBmjh5oOHww/6h21t+A4cffmftkgzDMMwrCMso818zvM48QQnt58+f75N+Uvxq5VlnTVhxxDHvCVY8duqkzs6tXW83ZGEArtgESuTAWQGZyyAVMUoo9cWjbODlLHso85/ATy2LdcVA6seDKkvpv3JAqWatSCB1KRisV8IF6KQaoqEY9EAFstY2CKZ0/KPhtftftHz33e8RwofcGYZhmFcYllHmvwNFdAHWIxJSKrfffnsIu+32RAb6pStPkuXyBfllj3SUVi2FoFGBLUQoDSGojLpTSUYNlF0FrEIZ1QJSNFGWUeY/IWmcqHLVyW7GopAC5CQte1BNBUbryxuUVEETl9A31eAgZHGaJa+a9Vhp+20XtHzmfy6fNWdOUrscwzAM8wrDMso8b/zcEOeX9cRvfOHm0Gyic0DAApAHxHE6Z9Ys/0X/4FtP/JZbvupTDfcvhixMoTy5AJXGALJAkcMCJCgS5J8SpYGGfFIKJ1ryk1ZY8t30DPN0DDZeqK0iZQhCY4MGbVRlJTAmproJRZEHWWyAJATI1q+CYmMRsm1m9EMYfKb8+oPnV6/CMAzDjBZYRpkXyDm1Z8RPAEEbnSOMmD07W3PU6e3LDj7iNL1mxWmt/b3bxAN9kOYiMA0oBWidfv4Jiad1oNFhUSlAo5xKmpXkg6MapE9SzjBbpjpjHlsw0oGjrEwuxnaMoRwLoJQGlybOloewblnozIdr3fRpv55e7vvdrqedNoC1jFs6DMMwowj+UGZedFYdeOTnC5Whc8tL7gYjUDLbJqMsKCz4H9Y462c6o3TiiwCfaeZzZi1kKA40eUmrALfwQcLKME/BYjuFhndQFgbnUqxTWE/QSxOsR5SBIUIZTTZ24Y4U8lOnQLm18Uvb3XPXV2unMwzDMKOEiy++eBY+zeLwE/P8cU7MrXXTU5RpeMKSmztXr3vtod9V65Z9JHzsYYiiAoimZkiFBGlCiGwechB5EXWU85HGiKJ0ZtZBTEIaaHBYqKueB40y/wlFVQNLghLqNH6EKenHiOZVAYrYkHFDvdBcKdF40sFk262/0nD0Udw1zzAMM4rhyCjz/KlJKG0N52j8x/Hvn9Cx7MFjwtLALyb2btKdPV0umDhdZGHkJ5kEJuezgpKAxiIGK1Ka/AxBJlFHJVSUQBFVXjTCcgoOHcNJrp7M06EWNI0aTbF60HhjRUM88IWigcdJGbLejVDWQVm2TLh+xu+v+JjYa6811TMZhmGY0QRHRpkXDgoopcUZmSx84trlnwiN+RU8tkyvLw9CtlWHyKjLPXaQNwoMSmhJlmEoG0IRpZF9FM2ibJHOR7eCfOT11mS454nLMszToET3gEVjySzlphVQCEJIhoZgqKcPTEVDtNse87f940XfhiDorJ3GMAzDjFJYRpkXBM2mp+dNc+c2Pbb/Ed8OVm98X8PqjWBbWsE0tTpnaXo8QCYdxMqBkjGEMgEtaXV5lFEaS6q1nzlPS33KcgpBJQNtLDglOSpa1zylMULu6Tdo/S18iQKqrIXISgixngnrIDFlCAd6IRNQka894M8N+x/4O7H7a+8StcwODMMwzOiFZZR5XgxLKEVG//mRz7b1X3/rSWFf19mTS4PTBoZ6nGlqBhk1C5VoIO2MlYVEZbiFAoEqoVAyaWl5WrpR+hROeDma0JRQeh46BiER5dRO9YOgiUf0IO+k+44NFHp4J8UfWClojXmaqER1iI6giUogFGh8yDSDZLAPyjkN4bTJiye8e87Fzd/72m1YR1lEGYZhxgAso8zz4q61a3PDQtryz7s/HfaXfhYtfQT6zCaw04tCmBR0TOP4ClCBAFIUCIlOkOEpmQtQIgKUDJQNmiifWfRQCxZFwwbVMaNoqNXJSyioTD1AkklDM0w15RcKphABSifWk4zEE98PHSQ6w/czCLC+0Jr0qQ5giJb8xOqiKwmY3n4Idt/1/pYTj/1drmfj76UU3D3PMAwzRmAZZZ4VmjVPs+dpe59p00p3nX3OhIcOess3dG/fyS09fSBQIrNc3mVBSDaBImpRJRygQ0CE0hkYbxm4h6OdzJOhGhEYiQKqwGBDxEdILYonFj+bDeuSiA2EmQLtNBhsyGBV8lDmL9fTCQYlVczco1dNnrogOuzgS+RnPjNQPYJhGIYZC7CMMlVoFsgWIBGl5T7n1dbxXnnWWfm2v/3trYW+ns9MLA1O6x/sc2lTM5h8o7AWFdRLJ3XQJyijKBFWQGBRNqpX8z8ZhvC1gRovRtcS2NNoYgPWURL7FCS+puEcIsGGTYbHYP3yORiEAG0SkKVB3JdCVsxvCvbY849u2nZX52cf+bi/eNVzGYZhmDEAyyjjhXM+1YWnCCl1xy9dujQ8YQHq6DAPrjpXmfR89fC9UO5bA6o5FLZYACtzIDIa0UcpdzKoyMR3q3rl8EFVdgPmyVRrBAooiqgyCgJDuUMzyJQBGk4conhqEYDVIdYiCRkWylmrqBO/PASyew3IrbYGO2OnO60Tn+j44dcX+0tW4ZYPwzDMGIFllPE8QF/eI1I1oYiqu+66S61Zs8aIOXPMyuPPmrD+LSd/ST6+6oT29euFKAKkjdolkfIr36ApgMoEagLNhAcwNCmFnmVVINgMmKeDtUKgjCrl84Y6Y6CA9SdAQaXXlHs2UdWGjEszPNSCLEhI+ntcEKfQ3D4ZyoH+bTap4xvTLv3FpuEr0jPDMAwzdmAZZfBLXrjhbniCJrc/8MADau+99zazZ8/OFi6cq2XX0mNcd+eXG7q6pnd3bgSY0Ay2qUGgf/rcoJBSup3qPGjqlKfJ8LS0Jy0HmmJhGWW2BNULWik2w+pHy7/m8UWIJcU6VJYUZcfKSI0dfB9rEj6VAcpDoh9bOgNtHY8pHfxw+ysvvLV2LV/taJthGIYZO7CMMptxbq50jpb2nC9nLliQUfom2r/9jx/5SjbY9e3k7lthyAyC6JgK0jSALGuQsfBrzCu0AEmRK0NS6nxXKqmpT8HDM+OZLUIJnEg2MxRSlFFNKomF6o6gZWGx3mB9ooC9bo1wu+TM8hXQnm8ENaH9tsJ++x01/a47/lW9Fl2NRZRhGGYswjLKjOAc/DJ/AMsJVsybZ+8799zJjx1/0sfDR5YcP3H9mgkmdJDmNDgdohjk/HrzJJ1KShA089m7qyW9ADRZSEkNUEwDO5wzkmGeCtYWmwLWKpBYj8rO0ogPCCmHKDZilMT3Nda7wSGnB8sisAq62ttuj/Z41S/bz//pQ7UGExkswzAMM0ZhGWU2Q931Qszzy3xe51wU3f/A0dDVeW5+zZod4nXrQLZPBMjnwJkUjJXgc0KSiFItQidwKKLUUWpltWs+oZWWUEIjR133HLZitgCNCXEZKBJPrCcxVhJKM0vrd0kS0Vp6J7NpQFQqANnEyRtyrz3wR5N+f9nl1Qt4uGoxDMOMYVhGmc3gN/rmCNM2p5/5OVi15nPmjtuK/S6GZGIHNJWLEKUARiZQ1gnEKgPUUkgNaqehVZbwAkEALtB+SU8SUxRbUPTMwStmS1DfelCb4JYB5FBDKZJuswwqAdYtSvE0GEOhLME0T3mo5fRTvtZw9KF/x3pV9uczDMMwYx6WUYZmzntTJC94eO7c9uUnvu+M4t33Hd+yau2MHFYRkytCmqP0TRIsvrYUxYIKaJFCIK3vTpU0dR4LDfMDY0FlthoRRRFN8cK0uo7/QxhmBFRdfKJ7b6MC6xSKqXKQYUMnzBLI9w2C7R+C8tbTV+f33P0PrV/+6jX5Y09cTUczDMMw4wOW0frkSV5I3fLDKyxFDy47Crq7vlFYtnSmXrsWwsnTIMg1o01KKAcWEjoKJTNyKUSAwoAiobEa0dhRmqxkjAFIMwhS41dfoj8opnXF8cEwwwzXBh8xx5ZKVUYd1kUHluYuKQv5AWzwDCWQSd3X+Ib9ruqYd9aVQsgVVF/9yQzDMMy4gGV0HOKc04sWLQpqL58ERUEXL14cLFy4kIblkRR4MaXUTmvP+PSXgtXrPq1vv605dgNQaqdoqIIgqRZH4U1pQGpaRzyEzGlIKBpKEVMKjArrZUJIPE4JPMYCPXCL/gimjjDWYv2w4CjNgsbKgXXC0Gt8pmZPalI/cV7rAITKUb0Eayp0JmDbBSRupp0lqLRN7Wk45pi/hlOmXCIOOOCf1aszDMMw4wmW0fFJNc7knBrugh+GxnDOnDnTHtrZ6Y/BN93ac38wcfW7P/Le8n0PvkOt7dw1XyqBLOTBFPOQZlk1247vokfRtCgLNMMEqw512Rvcwr3VP3AYOp4u7F886R1mnEN3m8SSuttDLALrikUxJRGlPLQhlgBtVCjlh26kzgCNPKaMDKGMIKPI6OAguIFBiKdOTWDbbf5WPODAX+Xfc/K91T+BYRiGGW+wjI5DUDjN3nvvnS1dulTffPPNlPBzJA7fz2hVpdprsA89cBR0dZ2bPbRkt2z1esrhCLqhFQTKQZqlfnlGE1mw0oLAs0RaO9FrKMM8AQ3HoEZLgLJJ6ZmkcX7ohjUWJVRAZAQKqQCttY+XJyaB1JZQRjXkdBEyg/WtNAAmS+L8Pq9alH/tPvNzn3j/H+ROO8XVP4FhGIYZb7CMjlNoXN2OO+6YNDY2iuEuexQFGhy6+Z5f52z0yDmfOTtdueQMcevNHW3JgIiaIhgKQyhR6ianINIRGJuiNFTAUpodlAihtjgCgGH8hDWpJMSomhVXbe9oGupBGRY07sd9sc38JLgcvl0wCozIQawtJLYfxPr1EDVPgHDPfdaJMPxa+ze/doW/CMMwDDNuYRkdx5CQDgwMuL333rvaVz5/gYRz/BY8eOODbTuf/aXjg3/cdRKsfnwfUeoCWm/eNqEYBApSI2iNRj85STqLb2R+LF91VaWnBlsZpgpVEYp4xmAgoTHEsprei/YbJSDDqpPhKxpTiq0dUJTcXhUgLZddPNAFrcUGsA2NDwZbb/PjKcWd/4LnJngqB+AZhmHGMSyj4xXnxHzn1KGHHmqoW5523TxxIn2pe5MsXnf5W9TKNZ/Vt9+zR7h6tYynNEG5JQ9JHmUTpYGW9JQpSaj1J4ToAwF10WPxQ0YZZgvQrHiKelJXPVqoXxSBxDOlCU30aaNovCjJqYMUWzcZblNuUdlfEsngEKTTp0GxufW3ky+/8Nvionk0o4ngGscwDDOOYRkdrwjhTkAvoOhobQ/Mnj07W/bnf7QuOeebF4n77zo3d9N1O6IaBK5lEuigGdIYJaKcQd4IyDsUUnSAzGbgUChoTJ/G/do4XxhmS1AihQDrS0EEUMAaJH0AFOuVsyAybNhgA0dn1aU/TSGCVFkw61a5DpmDqG3r2OSKpzXtu/vPapdjGIZh6gCW0XHMSBElFjnXLG+76RB9791zpm1YNz3o64ksCoHLN0FgUB1MAAKFU1jru+YlLfuNNcSAAFpfiWbVU2iVhINh/hNU60IDoFA6fXc8VhglJEiUUYFiStHSQChQldTJgRKElYro0rozmrLVRRPP/Ool8sc/7sJLcC1jGIapE1hG6wBK77TQuYbCeee9WSxffmrh+mtN/5KHIJk2DUhGyTlVLCGnUUiDAGKbAj1IB5TWtEojVKirVQmfkJyHjDL/CeqmJwF1SQpZlvmxo5Jm1kvtU4IZJcEG+BpbNuGmQaE6B8A0NELW3vzLSfcs/Lh472zfNY9Vj8PvDMMwdQLL6DiGglC1TbX1tdcdIefPPyG7/g+vQzsoJI1NkAYhSoHESuAgVjT7mRTUgtGUxJ724umGpisJP84vVQ4SRRNT/BBUhtkyNGEJpdMXrEuS6g9WRhojagKsW1it0oEh0OUKDAZqCPbZ83vtJ7x1gRBieIwowzAMU0ewjI5rnPi762xc/sVzDsxddMUJ+YeWH9yyqbdRNDaJpKHoJ5pIWjpJoCgEMXpnBRzNmkcRRfvE90lG0WQdAAVEnTBgsNDKSgyzJaj1Qx8qfhUumklPD4qU4sOG2o8fFUMxuN5B6G3JG73bNrdP/sLHLyp+5Sv/9hdgGIZh6g6W0XHMAwCFtiv//Ea3Zu1H1B9uOKpt3VC7at0GKsWij3KCSQDVE4xCedAJSmcCoTF+vB8NEPWLN+FhCgVC0Qo6+J7f9srBME/Hyyh1sGOhaCiNEwVTHTcqowBUKQXRPQBZFkNhn53+NuPHH7kEso2PPnV8M8MwDFM/sFWME+Y6J88hhax9qa9xa9rt/OveJM677Dj3wMOHuMFSaxAWweWLYJWFRKa+u105Ddop0JYiWHQmPgvp0zdR5aCrCXJS3DDVjnv/mhYY58rzLNT+gdxwLix87f/pqq+qG7TP/wOP2DGKoIhm9f/tOSKxlsgM/xoR5XIARcvJqhwYqcBgYye3bg2UBcThAfstbNh/1m+av/7hPwuxU2ftbIZhGKaOuPjii2fh0yyOjI4jhkV0oXMt5R9fva/6/T/mqIcen92wblNr1pCHwcY8xJTn0QmQXiaV367OoKeqQMmchO++9xqCl7M0zg+3yaekj5RioUF//gguz1Q2Q7JZc0zaT7JfHQpB0Wf858R/3Oo5lH/zydd4pYuH/t+fSyGoPmFdsrjD4d/T1ynqss9ikD29MBQGVkybfO+EU45FEf3eDcMiin/W8BUYhmGYOoO/AMYZc53Tx9145RsLl//lxIbf3nScNqVCpUGDbWhC6cHbTWmbInrOQKYGIhuBURlK6vNb+ttH85hnxDs9/oophUKGL4YLvaZCa7ZnmcFbYvxr+jel90cTqJbP61NCWfy7ZQEYkYBBCXVS484yqMFucJ09IF87e1HuiGMuyybon08+88zB2mkMwzBMHTIcGWWjGMO4uXN9ZFvMm+c72B9yrlHe/Y+9Cp/60vvUA8veIrsG2kVjDrKmIkoOTR6hyJsFJUw1WIevdSpRHCwkmgaKEs+tSjxfF/WKNbo86yVj+N+GEr0DFvprS5rM4yOFKKSWIs3Vfwxay91P9kGqu0bbP5LX0eeMdTTEQ+LfKUMJJRmVoDaspQwNLthxx1XRzrv/sPDJr1xW3GvrNbVTGIZhmDqFZFQpxd30YwGUFOHQJKnjvLZrM8Mi+m/niuEF5+0ZnHfRCfKBRw9v3LCuPW5wkDQqEJq6gRM0nxSkMiANioIzYJSFVCZ+hrzwCXioPLeH/195HsUPB6iTx/Df2Sc1IgGlMQ54l6rvyqqMZij/uFvi+0ro2jl4jP+3wvP88+go9H/+XAod67Bhk6kE6xwtnBCDK/f4RpBomLAqeO3+V7t9d752WETpr0vPDMMwTH0ShqF/5i+DMQCKKDUaBCzAH3Nodfin8/Dttx8U/uRn79RXXn2Kc7qRUje5xgjyxoJC8YlDEiMFyqIM4RX8OFAsCuWhqqDPr13yfLuT67FbX6Bk+kVV8d/KUYS09k9G/xbVSCl1y6OnWuu76qvvja72YfW2PZ97l+E5KeSVBNPfB/3dm0Dtvm8p2G7nK0xHwye2+elPe2oHMgzDMHXOcGSUZXQMQFHR2ibcfPPN6tDGRgF7700z5zN6b/nixXvYT3z6g/qRpcc0buycaotNUGloQCd1QjpKUG8h1QBBIkBnCtIoRGWg7uIUQj/niSYtcZD8RQfvGt244bGgJJ0kn8MiSlT30z2o3ofa7jGLwr+bRvG23d00dwlKbS2Zmj7jJ8Eer7tw+o/+3z10DP5N6a9Jf2GGYRimjrnwwgv3QBndw39XVnfVNWPli1EsWrRI53I5f886i0W51ZWXzdRLV7/dXXnVu1s3dU2PG5tB5RsBtIbUJGA0LcFYjcCFMfqBkZDkQj9OVFBOUer8xyrAayq9+FAeAmoIePHEf3/6l6b/PLiL4tE0XpRm1vvZ9QjJ6ViF/s8DbNQorEyDfX0ubS5skrvvssgW1Kd3uPqPi6tHMQzDMEyV3/zmN7tnWfYqMX/+/LpfafyEE06wKAyj2gIoArpgwQI5/P9Krx/4w6VvjS6a/47g6uuOApM0UWJxKBZ9VzyN30PvRB1C4XEKgkyhmGKhBPdxivusj9ABjVeko0Ra/YOYFxG8AXgfql3wVekcjpKSuimlIYoiyOUifK/6aziWZZQEW5UTcLFxetdZnaJj6mUDj/3rnJb77+eueYZhGOZpXH755Tvjd+NMMbc2I7uemVebBDSaIfk855xzxPD/6+qrrmrLrr3mXPH4yhMLjy5rrqDUmFzk8ug7qcmBoUT2MoVMVv9qURZAivIZo3Mrm9FEZywoqineftymRPibo3bMiwO5Pj1qAkr/vH72vH8NkKYplgRSSgxvq/dptI0ZfV5g/VKlEiRpbIPXHXK7ef3sK67/2BkL1B03FVoeebSpoPMmk5FFXD6OpVV5N6CV0zZ2WmuHrWP8F2MYhmHGG8Of8Siegr4DgiBIttpqq8Hbb79971KptBd/+I9FUEwfvfLKHfLf+7/fTJRu342hgKTQAmEQQHNWhgHTDAlEUJRDfs35TDrImwAlwUGFIqIhVgy0UY1CpMvUkSwhC+o+QP4SYH03PP4S+ugo5RUlOVX4msy/v38Auru7oKen10spqatWY/g+oGTLuAQVUzJ9b3jdFeUTj/9bU9u09cn6DUXo78vlpDSpyKXaClu0qSoJ7SoqMML6NUNrF2EYhmHGI6LarSvxyYZhODR58uTOm2++ef/u7u79/z8cLEVSnsJhcAAAAABJRU5ErkJggg==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2" descr="data:image/png;base64,%20iVBORw0KGgoAAAANSUhEUgAAAS4AAABvCAYAAABSMy0+AAAAAXNSR0IArs4c6QAAAARnQU1BAACxjwv8YQUAAAAJcEhZcwAADsMAAA7DAcdvqGQAAGfrSURBVHhe7V0HYBRV+n+zs71veu+E0BJ6D71Ik6KCoFix3umd7dQ7Pc+7885T71Ts5RRFpCgI0pESegsQQkggkN7LbnazfWd39v99bzeRUAJS7jz/84PJ7s68eW3e+73f9+YVIkCAAAECBAgQIECAAAECBAgQIECAAAECBAgQIECAAAECBAgQIECAAAECBAgQIECAAAECBAgQIECAAAECBAgQIECAAAECBAgQIECAAAECBAgQIEDA/2Mwwc//Sfj9fhV8ZMHhdhccj7YY67o7TS1S0mwmxO4kxOMlvFREeJWCSMPCCK9UmXVqzUn9sKGthEgkDMMcoB4JECDgfwr/c8QFZDXaX1cur9q5o4+0oakfZzJ1c5VXenifN1yhUcQwvJcQh4uIOPj08YQRscQvYQkjV5JWr5f4Wy0lUqXKJo1PFHvFogOSrL6O2PTua5jMTAsQWW4wGAECBPyM8T9BXEBWkaS++t6arVsGk6KCXs1FxWKRh4vTcU6Rq7GB8C4H4TmO+JGomECS8G/gYIgfPv1++GRERCwiRCSCswpQYeGRxAtKzNZqLVOlpjtlaSnHDBMm5iq7ZX4P/pSiPwIECPj54WdNXEBY+ua1ax9u3bdntvtMUYbSZlPwdQ3E47CDmvIASflBUUESgJD8fhFh6U0M4eE8fFBQ8sIffqAvEZwnvsAF+OnnwRu4JhJLiFguJ3x4CHEo1LbQHpnVmsFDNulmzlrOMCLBnBQg4GeGnyVxAWF1tezY8pp55beZlrzcSLnLrfBbWuE8khVDWAbMPyQjIC2gLspALPxGZYWM5Ac3ge8BBFzx9BxPQHIRMT0PPAYXwaRkQKkBifE+cMWyhNVoiEuq8LIZGcaE+fNsqqH9TzKKiLkQtoPeKECAgP8qflbEBYQV5zi875/G77+faN66VadobSFezgVUI6bEg7QD3AK/wdQDhYVn4Av8R2ICLQXKCyGmF34Ej6nEA8kNSQpVFtIYZTc8B19QtfF+Sms8+Ifk55PKCK/VEemAoSTh7jtN8n6D4gXyEiDgv4+fBXEBYSk9+cdua9q2+Vnz+nXd+NpqIvZ6iRj5BAxASjzAMiIgFA5kEov0AioLDT9qBoIDBggJ3YmAgKQ+P/GwfuJlJKDEfOAHHH5QaZ2kFv1BnxkCCoyqMxHxgaITAQlyYIM6YhJJ0m8f+0PE9Dl/C9whQICA/xb+68TFFxZG284U/dW0Zf195q07iMILTCHyUWUF3EPNOR/yFLjF32K/mPh9HD3Ha9SEV6uJSCyFc25gFyfhbRYipt1YEkpUSHbohxcYKKDHLgT6HSBHBLhiwAM4KQKyEwGRuSQqopx7uz3+vjsnSWO77g46FCDgv47Vq1dr0tLSDGazuWX48OFWPLdixQqdwWDQVVdXN957770u6vAXhkvV5RsOUFmsaevWzLrtP2ysfufN+1o3rydyvxuUE0eJBnkEyaRNJeEHEoyXdxOPkiVcWpqPGX5Tgfrxp46G/+nlo+qnfn9UNn76KV9aT6dbIoWEIVH5wA/QW/gWsZ2YLgReYkHBBfq8gOggYDRO0QT1MiyRjh7DJ9429wVJTPoeeoMAAT8D7Nu3T8Fx3IvNzU0VFovpLahTUjxsNtuHLS0tFVKpdHbQ6S8OnVTnGwfIXMa6bdt91sMHPzV+8xVhUSWBuqHXkHCQrQL/gXioQUjVFuGBSBRSIhs6wq2ZNvm9sKmzn2cYxkNvBIC/YZbtWx6w/rDpb7Z1q4nY7YSTkoAJSc2/SyQXiRIuBXq4fJQsWRB+Lp4nTJ9+voTfPvmlevjoh88NS4CA/zZAZRk2bNjwbnV15TyNRu0JD4/4i8/nY0pLS58Ti6VKUGJ/zMvLe+Xll18+r9f3fx+XqMk3DkAuIS0rls1vydn+D3fOVhnjsRNWJCUML4bYYKc4ElWgPwsj58OOcwCSGQ/qx9enD5fwm9+8ox42+il64SLgqoreLX72hTl87t4wGZiWIp4lfjA/Az5dCMqJQFrge/A3GIgeN9H0G0Ak027+KuqeBx8A0vpFSm4B/9vYvXv3uLNnz74GiquPwRBCz5lMJl6n0++YMGHio3FxccX05C8M/1HiAtLqad605ummpcvu4g7vZyScC4iKAVJigbNE8B072MFEw3/0zV7gPvyNXexOtZZEPvp0XvSCu7OBSGyBqxdHy+qVyyv//OJsudUMfskID8QlwoFbFwMEhJ3zPOulZiKHbxdj4knU3fOP6G6ZNIsJSa0MuvzZAPJSkpOTk1hUVBQWFRVlmjlzZvm5inD16tV9zOYmSWpqhj07O/sknlu+fHmIWOxPt9nc+AaCQgIHB//Cw8M9kydPzwd/pceOHUN/DV6vk8frRKIkGRlpTJ8+A8ogjGY8hYAKojt58mS306dPeyUS6rIdYgyoT5/aAd2713304IOS5Bkz+lXW1l7grg0ikYgZOXKIMyEhrSB4igLiwx44sDPd7eTGuzmvChSFn2VFZxMT44q7du11FuLT/pYXzCP9wT17EpuamqQ8SzU6UUJ4Xbp0YbP6928Et2XUYRCQf11qasoNcB7HL7dDJMJWVFw9f/786pKSEl1ubm4C+K1MTU2tGzduXBW4p36f9wwscJQPHToUZD4hoIQya2pq5PHx8e6bbrrpOJ5D/PDDCp2E0Y2wOh0ep5PbO3v2bBvkX9ahvXulRCLxDRo0qCo9Pb0p6Jxi7969iRCPqJiYCEi77Ojo0aO9xcXFcUePHk0xGAxyiE+rxdIy0mKx6CBviEajqRo0aGhlTs4PdTKZmocw8oJe/WLwHyUu4/fL33Ju2Pwby44thPHxoHDwHxiHQVUVUFsMEfMiqrRoBz2QCLpyiYHYevbwdXvtw0fEKfGf0BsuAShQjCs3d1Td269vdx3YCQVRTFUUC2R4cQTeTnpFED7PEb8mhBjuWUBCp0+9S5aUsTjo6GcFqExhQBovNDQ0jAsJDa3omp7+eyAoWkFaWppGLVu24nWb3S6LCI88e/fdd8/ieT58xYqlv6upqZ3k5TgfjyQeqH6QPyyRSmUNTzz51IT9+/dHnj596o+m5qZsD+fx+32QN2KWKJVKRqGQVyYnp6weN27Cp3jnxo1rs1tbbR+UlJz1iejYOvATSxT4yzAiPjkx6Z3Zc+d+dWDfgQVHjx5+1GqzBSTtBaWOgfDFTEpKSumMGbfMCJ4kVVVVmceOHH68srKyu1yhGIKk5wPz3W6zmeRyWWlEZNSOm2+e8QJUXErYUMFHHM3NfdHlckd6geD8xEvH/Kk1apFer6tTKOUvzZo1Zz+6dbvdvZYu+ervzcbmBOq2rVHDPGEYNjIy4si99y54YdeuXeH5+cf+6nC44lUq5ZLBg2X/7N//IUpzBw8eDC0oKHgRSG0cEPVRIP8/3XHHHXTGxaeffroJzsdAvhl/9atfjcZzPG8JXbFs7ZOmFtP9Wq3Gy3m5W++998EDe3bt/OHQoYOR0Gw6socNe23IkCGr0D3izJkz8RCHv7cYm7Ji42L9IlY6CojIvGdPzpMHDxx+MDIyTBYaEvrnyVOn/zt4C8Xy5V9/X1VVnQR55pw7945nIiIidgUv/SLwH+ucr1/+9cOtK1bcbt+xnUg4PxEzIigfOIYKS3GwJIPqCvRvYfmGCkW/o7nIEy8rJiFjxp5kk+O+Dji+NLBFLF+xIleWmEqVGvouhgKPpEgPDBfNQkpkdERXAKjy5Eoi7juoNmTU2CekiV3XBa/87ACqQuJ02rt4OU8PnVY9WS6RdA9eIl4vGehxc/2Jz9/L4bD1wnMejzUEame2x+3uAaolMyw0LDM2NiYzJiYePuMzVSrVSHRXX18vNZvN6R6O6yWXyTNj4mIzI8IiMh02R68WU8uUwsLCN3bu3PFrdGs0WnScx9PD6/VmApFkRkdHZ8ZEx2bGxMZlRsfE9FZqNIngTAL5PcLpcvbgfd5MqEiZGo02U63W0EMhU2TieZ/X18tkaslEfxFlZWW9DxzY9355ReX9rdbWIU6nk0jEYiJmWQJ+hTQ3NfevKC37zZeLPvszpEuJ9xiNRp3dYe/NeT29DAZdZlpal8zI6KhMm83WEyrx+Ia6pve2bd42At36/d4uTrdnKMS9F5QPiDfkBR4Q94SExB4KhaovOPPZLRaNy+nKgjt62u32hNJSAxYnCnwGDoe9C2j1Hm63K6O1tVUevEScDnuWn/dB/tt7B09BY3M6xe503Glsbon0cLwOiI7WP0hPbyDkXh6nqz+EEU4dAyBdsvz8vMesrZY5bo+np89HekEYKFkZm82e6HI7ung83gSxRD4mcEcAO7Ztfbu+rn4KPOtecAyERqt/8NIvBjecuCDzxa27dz/I7dv7ijsvL5KAJmdEbcEGxmIFECAYJBYfkhkoLhwNT/u24J80KZmEDRn+OpCSPeD+CgDqCb0PCLr28gbg4RdLlR2ajxgyqj0MR9yjPxc1Z/5nssze70JYLcEbfnaQy+VI6xzHeYhSISdSmUwWvIR57vHzfs4PJR2yss185OG8GyoqiYuLAxWi+S20HSNELDsCsmeETm/Ipo54HvxlOHwEQDjH5DLF7V6eH5GWnr4NAvPbrFZd8enix9GtWMzw6B+OnYuJjj6SlJw0R8T7R4CCowdUTFTGIobx0XA1Wg1RqVX/drs9Izwejh6pKV0WQLxcQKbY4NC4YoU9ejR3TmN9/TCTyUiio2ObQ0JD5ipUmhEarXpEbGzcy/CbWG1WaYul5YENG9ZOwPvA3MSHCTIR1RO/TCqVjwQCmhAZFbUew4ey1qeuoW4suoXg0Fym8dLr9TxLRGPg7va4KxTKOXAdTC0ZC2XHw8MNEEK7iY3AZwAWLufzeSHufg7N4+Almu94XsT42833guPHo3xebwxOUzMYQvKGDRtVRy+AW1B9mFFusC4CqhSwce3awbU1NfOggRKjX0DuBOLTFoYXVbMPLBf4cAfPETAp7yw+U3wfkLUI8xTLQlu+/pJww4nLkrM/qXHd9084d24NYe0OCJGlJuClAc8FCAVqDX0byPrFBGuReOCgo80Rse0SujPAwxIlL7j7QevZ06DsMDAosqjw6CMPmEgMFFUOCNQn8oE5CgUADmWvviR83twd2nFjXoOH3aGQ/hxBp2lC+oBraKKDpwPAOUyY0IsAKhwJ0xmOzJ9/3+758+fTY86cOYeCl7EiwQHPgPe3iKXSvQ8++ODukSNHvqJWq2m/YkN9XbuyQGAcFCqlaeTIMXvm3/ejn4MHD67Gy5C1FBKJFE3OkieffHJ32zFm/Bgvy4rpSJQ2rF27NrKqqrKv2WIhqWmpJCQ07Ik77rhr2cyZM3fPnHnb7smTp74VFRn3DbIDVNqQspLSgYE70VwNfINgy2fMmLELzKrtWVm9q6RSKeGhkoMCleJVFpQbAt2DCvTfec89O9riPnfu3N1wbyGkC7ibFqBrRrXFEipVyGabTCZxQnwChr8UCLMqeLkdvuALIjQRq+trnoKGIobjkHQvDygCht27d98LqkxNiRoSB2QevPrLwg1NFV9VFecqzl/m+GFTV5/dTBgWhzXg+7tLPwY04gLXRbTvy+vniCg2nsSOHbU9JiaGdnxeARh7Qf4U+6nT4E1wahAQIWo3PLCAe7HvFkxSfCnghXOiuCSinjxjn35o91tBEdKBfFcLKDBMy6H9S/zmpn7BU9cdQAC0EcBa5Xa7Sav9xyhDkjst56CqiNPtlmE8247gpXOAZE9E0MLTih4WFrYT3LmwHotYnE8ACGoDPAekgGVJfo5/F63wcC0wUTQIl8ulx4dzrmOG4fuFh4WPxnhynG8bmKA7g5cooMJbIqIiftDrDEBEDqLSqMeA2y6gPqiyoPGBcF566SXR6dOnDSZj0yA0NbU6HenWrRuNO6qRc7Fhw4bL5MdVggENCv6d2LfvdqfTNYcqJMIfSE5O3gHx7Ng40uloOAKbkPz8/AXgfjIoaQafdcAe6RybNm34vdvtHAHKGBSdgZIzhB28+svCDSMufFjGLeun2TZ+109iMUL7DS0eFCh/h7b1YoAHC4SF9IVzDj1+L9GNm8jxdguaiVf0FLwlhaMaN2wYoXC6qbmJLXOwIsJvSDQcSKB+8BvjxOlCiXzCTWfD7luwQBTe7ZpIC2Hdse13RS+/PKd5zbrfQT50qKjXCwMGDPCHh4Z7WTFLysvLSV11zdxDhw51/fTTTzXY19JWYM8v8NgCl5WVkfLK8k0ffvCe6/3333d98skntpMnT1Lz70dQJce0tLTIV+xYod67d+9nQDLYT0YiI6MDngdEC/F4PGiijP7g/XdPffDBBy481qxZsx0uBQKHe/C+tjidhwtONjc3i4FoJBhXjVrj7tGjRwc3WA4qKysP6ICIkNzcLpe0oqKC9YN1TEkLzoFJ9kRKSpJz164dtQcOHOwTGhpKwoF8h2Vnvx/0hgJImDQ2NrLlZSWtEH/Xhx9+6Fq0aNHpgoKCDv1GVwNMr8ftinxn4duuY8eOvd3Y0CiBeJiioqP+2bNnz1NBZx0ACte3YsWK3tXVlfdazGa2V69eHBA3JAkqwzmPEpdmwpzD9ALsZ86cuqmurm4BpEUcnxB/EMKx/VLVFuKGpcy26fvuXHnJ+/aCPMxlOpYKsxgpqTPQ0fLwD8dxYV8FGxFFNEmp76nGz7QEnXQKKCwS+/ETz7uPHGLxXSL6Bk0o9TOg5eAApSWBtk7MsISXqol41HhTwr13TwelVRTw5erhP3ZMX/ft8me0FWfYuu++mcodz30keOm6Agplg4vnP4uJjXOh4jpbWjJx397dpzwedyuQxqs2u42OO8BUtwPUJeglqjZsNpsXzBYOiInDTxz7E3RF4aeE4Ex0Ou3ve2u99UCKd8N9rFgs5rpn9FiPbqhoCYoTIDW/2WwGP42c0WjivF5vX1A8gYuBynXFQCKE+2l5kUolVHGcD0g/D3GBb3408/1uN7Y38MRpg+QnQN4g+Ku4hoZGDn77Ib2kuamp//69+2fATxAjgeESmE7MD4g75AUeND+89fX1gYzDIH5a9DvA6/VhXHxgDrMSqQSHKtRFRsbUX7QRBgODZUQ9pVLxCqvVGg/KsjItNfUNp8N9gpq2592BzxbzSS6XJuzatXM65L0+MjLS07Vr97eA2BrRTZDYfnG4IcQFBUPtbDJ+07hqNVGA1sLGgcc+F5rxnWekCAQKTohG5eXifUQ5YKhHFB+/Ex7AlXUwNjYOqt2wfpjU7YKQcBQ8kiD2r8J/v494IcU+KI04DcgNhYEZMsiT/vjjnzMxSYVBH64akG5Nc17eYnvunhDW5SBsdbmy7Jtlv+br6iKCTq4r5txyyw9QuP8YExNbJmJZk81uN7YYjc1AZHY6+bwDsO8ecgQqKbTgpHuPHu/2yerzq759+z4O6u2JtLS0nIA7ADwnHvIeKkuS0+EYaWpuVoECsoDCae7Rs8eHQ4YPpW8VcZgKkhJWqtTUlOKR2dkv9+7d59f9+vV9vGvXrr9tH7F9caV1SYjFMgYYkhIQsLLPaHRc4IFSogRBDc8YwlfIlaKkpCRIMHaSAzVDQxkaFro9PT39t126pD0ZHRuzSiKRcBWVlarTxacfLyoqypJKpS70HwHqxJ+Z1efJPn17P56VlfXbzMzMl4cMGXKaXkRj7qdFvx0YFwjXotWo/wDxK/ZyXigKdT0O7Nv75L59+wKjRYPAuID6k5stlslnz5zpAgTnjYuPX5mc2gXKvkhOC/B5wJci4CcqxiGNjc3T4BQfGRnxOTzP7zwch53y1N9fIm4IcbmP7fu1ac133aRu4BqoQNiv5Bd54Su+veu8AwYHgGKk8B2fX6Ek0l49TqjTuu6Fh3BFT6B+46qZrmNHxFDzCI8TqyF8HzVPoX0KmqliCMMjArXVt7cn7pG73hQlpTxNL1wrTp/5VeP6NeOlNhuDao81txLu4KEuxkN7XoUCFDSsrh8gT7gZM2a9Pn7CtJuGDBn2eEJC/COR0ZEPZ2eP/FahVNBXirTjvh2B72q1GsiG+X7ytGlfTJ48+bOxY8d+DmTWYeAnVhRQOiaoPHt6Zvbakpac9sysGbMenjLl5vNMSlDFQFwKpap6aPbIr6ZOnboI/QRT6POgg5+AQOXUarVuUB70rZmX80SeOZN/wahVtU453NxiAkUmRVVmksk0YBrxKNQpYfBeX97s2bd/evvtd3w0YOygB6Jjoo+hOlGpVOlgWg8CN7RiY5hSqYyHeH88efK0z6ZMmfLp+PHjl4O72kBI5wDZ/BxAIwCPFSJ5EVJBYH+tRMJ6Hv/tk2/265ednZAYfwT7n6w2+3hQgzPA/Gt/E4w+gH/Ss2fPdnfjrA2Ndk+fIf0WwmkzsA+Lfp0PPGOzWwmYzeFA1rHh4eFFiYmx/4J0uUUMSrRfLq47ccGD1JoPHv47d/IEmGLwnPHtFJoocCDQbLv4Yw4ASYaqM85Hwvr3J5LkhO9AInQ6Sr4NfntznPHQ4bsUHrdY7AsoPOxnRf9QgKCSk6DXvJt4M7o6Im6543VN37HPBW+/JkC6w8u+/uoOSUW5jOEwPFQjYJI2NjBN69eN8TtNwTdf1x9xcRHFI0eOXHLXXfd+s2DBQyszM3scBjLhfVCnaF8IhRvyHesYnhNhZb+0goVbUPF4ON9Rs7l11qjRoyfOmTfnkxhQAEEXFIE3YPA8wT2abvCj/bV8B1CC6AxYBaGBw4cEiI+Pr+Z9fBXkKVRmfoDD4ZhPLwRRUXG2X3llxaxWqw3J1S+TS3OgslaJRGCLtQUl+nHoQoIswuBwOJuxP8tma/W5XBzalYEWFMIMNJWdAcokNIR6gy589uzZ7fk2aNAgTqlQGfAa+OKTy+Xt/aOUFMH/tuikpkY1g4r6FAjR4/W61RIx80h1dXU8XkM36B79sdnsRK8PNWdkdFuYHJ1cDpcUuFpKIJ4dgfH2AhE6gLwMeoM1La3LB1lZA0vwWocugl8grjtxOfbuvbtuxbecBDtAoOBh4UOcn+mXAn2TCA+RrsrQtXupJCx8hYhhruhtonHr9uf4/FNaxgUFiRIH+geVkL7wCsTBBa2ZdmB/Ejl79uqIWbNfpBeuEZBGSfPy5b917N2R7Dc1EBkQpIiXQniQDnzbV14eX7NsxXxwd0M66s+H2+kChYKpbTsCCPACg1N1SGOD6f4vv1z07JdffvnsV1999ezKlSsfg/jpvV4vfAT6ieAxiIEYtPTmiyDQpAfMT6PRlPrdmjVPo39BP3+3fftufKt6BTXoxzgigBBKFWrFKqlM7i8tKyFlZSXPL1n8xetr13z37IoVS5/bs3vfB8bmpmwZ8JRWq68b1G8QHRUOcaehBTSQKHvFihXPwfH8hm1bXm1qbByM6szjcRdHR8cfhARKUMXgP4fTzixevOj3gfxY9Ozy5Uuf/fbbb2+BPICig4QMLpGWiWjsh+++/+I777zzLB7g5kVQUH1RRUEeJNhs1if27t2LfWgSzMA2CwMBxMSr1WEHZXJFOQeNsslkztizZ48er2EGoTBG8pLLZb6UlJRvwFTdhNfgKs0//EO/BAEcFyA7uCxTKHmtVrds6NDhX8O5gCqkD7vj8/8l4boTV/OWjfeLmxsktDmDjMXM/SnA+3DgpDIlmXj1+s3aPoPrg5c6hd/v6mrcvmWqwtYsDYyKx1fLqPRwoClDJD4RQQmuyOpF5JOnbYu47Y5XIG7nloWrBldVNrRl5w/3SJtqVahqeCg7aOqyED7UDiKtqxW5jhybSJzWIcFbbih8fkbOiFgJ58UBiAwdc+XxyFiohwocS4WDOu126wOch3vV4/G86na7X7VYLAvhc3RrayvOgJFgdQHLCN/sXfIBQv6JFXI5rVrG5uY0Y2PDsx6P61XO437V4bD/w+22oQkOdZ9RoHskQ1qpzwH4IWNEIgk+CKBLajrBuZYuPTM+iY6O2SqTyUlNdbXCaDI93djU9GqLyfT3ioqKAehXYmKSLT0t48X45OR9eB8AWys5koDX4x0BSu3vVqv1bw2NTbeBGgoB1KrUqheHDOl7xuvzqH2EV4glLGm1torcbs8rmBd4OJ3OV+12+z/AvyQgJHyYcjHkm8VsiYI4/hnU7Kt4uJyuJ8wtLUDstJM8kfd5n3S5XA/CfRIfz0uRSMFUbx/zlpXVrQzyf7shJJSYLa1qUFg3QzqkEG0lduKjEg6PiMwF4v4r5EGwsWawsaP5hyoYnhF9HuBWjAoNFByJjIgoGzh8+HuYb3gNAVkg9wJB+rw8PsN2k/SXgutKXN78/PuMh/dkSD1X1o9+MdA+LhzrkpxolcQlbIVTV2QmmnbueowpK4nm7GbCAnH44MARY/iUsa+L83mADLsS6YixP6gnz/w1I5dfc2c8AgpeTN2Krx/3FRyL5m1WCEuCFZD4WQ9Vjvhmwmu1EnFjQ3L1sq+HBm+7oYACvEqn063pD6Y2VFb6BtDtttaIxewXOr1us0KpXut0udaCqbUWKvZaIK11UGG/hrTkJyUluWJj4wsTEhJMcXEJhXq9vpV6ehHIVapCN8d9otXpNohF7Fogw7VWS+vaVkvLWrlMWiphmb3gzOV02v4dGxd/JiExyaFSaTpM+IVKtVqj0a2KjY0rNxgMG4OnyYDMAWdTU9Mey8jIeLVLeteiyMgoWklDoNLHx8WVdeue8WVUdMzMQUMHfQ7ppXMHcRJ0aGjomsSkxBI/499sNBrXAhGv1Wi0G9O6pH+sN4TOAXOamrsej++gQR+yRKvVbFAolJAPre2HydSyGVTUEsiPFvDTFB4ZuV6hVGyQyxVrPZxnLZAHPTgvt1Ymk62KjoopCgsLo0oWSA9ndrAQ1rq+/fqT0NDwtRgeAty0Qlw/gs8fIiMjjZBeaXl5uQgI6G/4rJJTUk4kJCQ+DM/s3En9+axYsig2Lq5EpdbsgOeKq5T41WptUVJSSgPk66G42LjfJcfFdeij1Gq164N+FkM6vg+e/sXgkq3p1aDmkw8OmD97b5C0oYX4saG+Ct8hkwnPSohiztzcxJf/dic86MDbnU4A92jP/u7JDaKdOcO8xgasDUAgPsLiMqkQD5/XTZjIBKKZedvZ8NvnLZAmJHQY0Hi1gHAllh82/96ybPHz1t3bZVKQ59Q0gE+W8RKuzUwAWS/SGwjJHr25y78WPgRpqqAXbiC2bNkSExERkQKt/ikowHRFhx07dsihYoWZzWZq+LQBhxsoFArvxIkTGyFNotzc3EhQHFFQSRrPnDlTP3v27ID5cR7ALbNo0SId3K+SgUwLniY+mcwPYYeAn2UQNl29Yf/+/d1ApaiBqE62nWvDunXrooCUwiC8hr59+3ZYGQHCUJ84cSTO2NAS5uQ4VgbCUa1WGgcMHFYvYkTGoDMKcCuHdAOP6sJqamqQcH0QJpOYmMj07t3bBvneYUgNvtkzGqsUVuuPcUeAyAIF5rYsWLDACqQig7jjaqISOt3G4SDnRl4sFvNhen2/02fPvGE2t2RkZvX5dtKkSQ//8MN+NjRU1hUahjOjR49utxowzzZv3hwHCjBMIpHUDB06tOmbb76RgHk4CMJqHDhw4AXlffHixVpIQxzks23t2rXV+LY2Pz/fAA1OAqTJNmzYsFL47JCGo0ePhoN/GfD8jYMHD74ujfTPCdeNuOCBTCi4e+5ice7BCAkoLuyuvBrfOZDXhqz+xDdw8O/jnv/DG/BAzllw5OKw7d95T9Wr//gXe+KkgQF15QWyEvl9RAKmmsvPESY0gigmTCuPffiBx8SxiRvBz4tWxJ8K3lQ9zbZy9ZLqtxZqRC6oJ0CYmGaWD77QAcbCSd4IH+chITNne5Qzb3lYN2L0VbxxE/BzRU7Olm7H8wo+BzNxUM9eWd9Onjz5EShj7cv/CLj+uG6mYuuerSNJZa2ex3lVKDGusvsIHjhxhoWZw0ePPXklpIWo+279QKXVZvAxLlBaHBHz2OXKEi+anYYwwvTucyRx9pxJQFobrhdpAVFHG3P23tu0boOGOMAUJBLaWY2kxbE4fgyHAOEC0Dj8As5jf1/ZGWnz92suHE0p4H8aKpVaLJPJRTKplMjhEHDjcV2IC+WvZe++/iqvQyrBWey0ugaUxsUQGBqB13FUOygXHK4An3hIdFri9vl+kA0efEXrB/lrauayTutcZ1UVwe32GSArHDGFbxO9Sg1hR4+3df3rn1cxmZmngLQ6mEjXAuP2jb1EJ/On2/PzwFwIzKsMjMoHyqRvMfFXICfwGyMWk5azxUQsZWdCfqVQTwT8IrBu3eaTo8eM/f3MW277Z9du3V6AUx1M2P9PwDmfYAqrVqxY0c7g2EXx5ZdfqvAzeOqacb0UV0LriaJIn7UVh2wBGV2atAJANYZusE+IngClBWQDpKdOTibqnt1KgGTMgSuXBhCAuGrT2l6sqU7P8TYwD4EgGCARHsxDlZxIRgypSXvs8buYiMTruqWY32+LsuXl/bruuzUiGRucE3JOktu+QurgL6pPPAPxcjoI12rNbNmaE0MdCPhFAPucunbtujUxMfHpuLi401B28cH/v4TJZFrU2NiI/Ymf19ScCmtpadG3mlv2+f28zW630xdF1wPXR3GVlwxjWixRvBWXrcEhEME+nksC5RW+e0OlAvUa/tDBkSC5fFHRXNjkCVc60bmnt6Z6kjO/kMggTPQF18zxa3VE1G/Q6bRnnnucSUj+Luj2ugDVpfH7Tff6cg9PE5lNEGJnlicOpsW/OFQQ/np5onHYw825u0KDDgQI+EXBA2hqbibmFuO8Y8fOvL1r145/lZWX9TGbcaSGzxRwde24LsRlLCqaqlVLI3HhPpxVg4PiOgdW5bZvqExQm/BEqlETq92Tq8jo923gaudo3rg23ldZnea3WiEhEsL5wJdI4ISBI46nP/S7KUxy2hWt33WlQNLynDjQq3Xn9kdthw8REYubcHRufWLKaFqBwSTg3lV6ljAWcyz4JXSGCPjFoV+/fsv0OvUxS2urvbqqcl59Xf29UNZtUql009Chg/4SdHbNaOOPa0L5Ky995t+17V7X2TN0xQUCB/b4XBptfVu4SzUu5IfTHTiiSk0jnoGjFqW+8sq9QYeXBGSGsvzvrzwv2bXjBduZfCAtEZElpxJm0OBDaQsevZNJSzsTdHpd0bz48221C98YI20BSxaHfEBa6BLTFwXmAaYVx1wGBsV6pGKiv++BdTFPv4A7B13R4NqLAdeamjJlSnev15sFEhx8h3yE86j/cPJzSEjICShE+dQxACR8wtGjR/s2NzerbLZWnPJDwLQhSUmpefBJN9O4GA4cOJDVWFedYbVawSZmSVRsPN+7d+aehQsX1gwZMuRmhUKhgnSczc7OPgyfHVh806ZNuNZ6jEgkap4wYcLmwFk6DCHNYbX2F0lELI7vJD6IORXpPhxe4NPpQvL79u17wSv83NxcpdFovNnn87BSVuqOTUjY161btw5zCuvq6lQVFaXj3W63yuOkE8XhIF6xTFY1dOhQXBzwol0Q4HdGY2Ndv4baBhwaQsIiw9xdu3Y/DqZf1fYtG0eI5fJwj9ND43muxsa8RvdQHksgDw6s27KlG7RIvRlGLMJnopBK8YWTW6lUHoLnUQPf22/Pz8/PbGpq6sHzgakdbRfwHoh/vUQyfueoUYTZv3//SJfLHgmhNWu12u39+/enL62wIYVnmuF1u/sazWZ3uCp874CRA+oKCgrUVVW1Exg/r4iOja7MysraTT0GwD3szp1bB4JVlCIRSVpT0w07IiN72goL83pWVtZmQVnmIqKjD/fu3bsseMsFOHjw4AgwAeNlMpk9IyPjh+joaPvWrVtjPR7nkKioKKJUakyVlZW9QHz1YVk/K5UqD6WnJ+0sL6nKcHvdzoSE5APnbwjyU3HNU1AgI2JLnn4sjligPFDSwnNt/TqXAhAVSDMRmHW8ODA9B81Gh1rLhw0ffkXLJfutxiTObpluLymiS9SH9utHyPDsPdF3zl/AhMfdENKybtk4u/6zT8aIgLRwj2u/HwKmnXpBBxcAtCQltcC6X5hOkddLnLUNeueRI9ekuKZNm6YpLy9/WiqR3O10OoD4kTMCzQWuGtDU1PA6fMX1wKR5eUfv2bh+3QyX2z0JfhO3x4XrVZHGxiZSXl5xaOuWrUvHTRj3FvrbBiCApEOHDswvKDg+i2VEvXGYCnZINjXWk/XrK9ZMmDBuQ3V17at2m9XgdLqOb7Q13wK30XlyiJMnT/bZs3vXstCwsAgIEscmZeB5CF/27YplTwOdP4TxxSWJ/VBvoUITVszgEtRQabmPwSlc7wiz2fQnk9H4DPYbUpXO+F+D088GrgYARNC/pKTsa5lMqvB6AtMVvRCGw+GoKC0t2bV27XdLpk6dsQXCoy0rxEf1zfKl9x09mnu7Rq0a6ubcxMvDM6pyEpvVtvNscfGSypraJ9RqdTdoJGg88aBNEp3AjpO0pThy/ge72f77lau/eUkik05FN5jHqMrx02a3b6ypLN8NDcBnGo2mAcOuqqr4g9vlno1ThnDp5jZIJBLcEOS0Rvv1NELm+evraj/w8b40IGErEH0yOGnr/Fc57bbftrSYHvRwXlLPcffAuS+AGwc1NNQsU8gVEqlMchbOdaGuAUD80c1Nxr9DKkaqNWpvWRnB9eiP19c3z7aYzS86nU4oq/x9cO6SxAV5/AU0lkmQZmfXrl0nwamdDQ21U1hW/BH2MWu1zt9AQ/V2wHUAGzas/Q7SOsNqba0T8cxcOHVNYymvh6mYxnj4JK/VBhUGiAsKN5ISLRWXAH3ocGC/D53ODwfurehh2ZaQ/n2OUEeXQdWiL0MljTVpPj80Pr0H+WVjbnovKkBalx2wejXwezyDardtesd25CDBWYg09vTtaGcpRVUZeNOI7rC68R6eKFTaPnajsX1ThKsBFBxlU0NT6LGjR8np06egUrfQlVA9cLjdLuJx4aotfvHhwwfnnCwoeK+6pnqS0dhMVCoFSUxIwJHVpPj0aVJdVTWwtrb6zfXfr58X9BpJMATue6q+vv7PDfUNvU0tLeBeQwwhOij4jVBwG6f7ed9vrHbLagy7rq6mh49jHoLwDEEvQOE1vdnY2BBxtvg0YRn+3GeSYmm1DiiG83iv2+0BAvARM4QBZEfKoSaZjM1hQbcdUFNdvaCk5AwpLCwkFRVlpLamZjrv96cHL1PYbLa4srJSN6gOUlNbTd/4IjlaLC2JTY0N861W+7+3bFlP19eH+OpXrVr9RovZvLCpsXFoXV09CTEYiF6nA+Kw4wKNI10e16/kUlkUrrQKCgKXkKHhY94BYeDcR+J2eXB+KOdyufoDkWedgbSVl5WCEpMTiZiFsM2Ypkn1jY1/3rJl0600ooDmxsbwErBSCgtB8EJjLwYFjwcLxQqHBMJzRDaLBKIQnSzIRzLDRSKpNg1C4XY5w4/l5dFpXK02iwZPer2euNraGmdx8SnIDwsotR8B6TC0tJiVoPbgu1Nss9npdCBoqFxFRZivFRZQS51OfbFYLFFFp06R2tpaXLM/Ds+1tlq1EE9y7NgxiDs7CvK2fdmeHTt2PAflbAaGWV1VaympqGifAH+1uB7E5fU2NfoIMH5gwT5sCYNXLgGqQuCg472g8uNQAkYhIxJDaD1o9GNBZ5cEZIrWz/LTuboGhSx7bE349Jm/DXn0sadFN4q0/P7IxlVfv+3YtSMCJ40hGeEQDkxmx0WHL0RbngQQIHSQAipPU+U1vRoGcvGLWZEPzDCSkppC4hMSPzTotPO0cGi0mnldklMXb9myRVZXW/1KaWmpGJx7dfqQL0ABzYuJjZ0Xagid1zWj2yHcuKSsvIxU1VT+1W5vjkW/16xaNQAK4XwgLlQTLUmJCf+OiYq+Kyw8Yh4oovuSklLqWbGkRKdQfK7RaO1QocUt5tZZYG7RQow4U1zSD+Mmlkha+g3oT7czQzTWNBqgsCtRIaZ37UZCwsN/A2btvIxu3XD6DE4BQsX4o/wIYs+ePUPqamup2omPj6eEAZUlpqiwkG5+0QZ4Vj4gCz8uMpia0sUbER45LzwiYr5Kpf3W6XKThoaGWLvV+Qi40+GGHHW1VQ9ihcN1+PUGw59CQwzzIsMi5kXHxDyXkJhkE4sluXFx8QswT/EANbQcdxuCT4chJPR9jVY3z6A3zAsJD/ujTCGrYFgWxDVDYmLjCPhxX3RM9DyZRPIMmpNQ4cWtZsssUDWomrBc+HDFClRYhhDDPWER4fPwiIqInpcYl/jIvHn34eoQuAYhD3+CqrrDXjF+qDs+iUQM+YI/A6Y6z4t9rEjkx7wEld+BJPx+CRRcES+CNAR+B9Y9os8KzqFpjfHpDOCrVwzug2HQZwXh89hzgkQN9RtXCaH+glmZXlpS8mItmOASsQwTQ8O5Vlw7cUFh8jmtkGVt1TNgHnVenRGQUqpEgATgQ6RWE2l0NPb5XNbMs5WWKjy68H6SydNaEx559Pnwe+7DHXlu2E7TzmNHHqpftnKgDFo1NBJwQCkUD2SlyxMXFk/6if0h8B1y3GMxEkfbCpvXCiBGVE/RcTE7p8+6bems4DFs9OiCyOjI+8EUjMeCotfrC26//e5XJkyYtLRv3wFLJ0yatDRzwMB54eHhZlz+GVrsiH37DvfHCm21Wee2mEw6JVS22LiYlTNvnf2HEaPHLh49euzSBx54+POUlNRJKpXmt30HDs1XqhRrsaCDakmsqKoajlHatGnTTfX1tVA3xCQpKdGRkJDS3r91ouCY1263eqHQ4441lRnpQxdNmjp1aWRkVD5WnkuhtdXyEphdOpVKxffp3bsUuyVAbalB/bRv/9UBkC888R8bMXr00smTp34FpLQ4IiKCtFosxOl2IkEzhScLpoKZDaIfpGJIyMf33nv/K2Mhf0aMHQt5eOtr6eldx4IifCF71KhVbfnqdroPB5+4R6lU5cyaNWvppKmTlk6dOvUIeIMkAZf9mDbIhy1fDBs2YqlMqV4C+YyrxIIpLI0CkgwuLIndJHADHJMnT/ti7NgJS/EYNmLE0lHjxuGa9FjS4GpgmA+itdV4rhry4P6VfqoU8AgAyQd/IoFCnIJnA1AolHA/noSySMvuuSRF/fFzuO7TZYGN8MWKcMdzNVUVS8DUVeJcfXwiWGew6+Racc3EZa0oIRy0fsi2bfkXXK+vE6CDQJUG2qIcQMCEkXVJ4SAzLztaPvfLL40cYe9RDR7UXzEge1nwAd8QwIOPqf73p7dLz5xmcHAtFCF6Hv9i/C+XVMyTtnFt1C189duchLRc6YiPzoFlDzdg8LrdHVYAWLFiBVtafCbZYmmlxBYZFXFGq5Vhf0c70hMTS0JDQw/gd+wTkkikjxw8uCsEakK21WolCWBSRoRG7gQFRPtk2tCnT5+8zMzM0tTUVAsQyXJQYRabtVXMuewPnjqVG+a02/7IiFiF18dzoHr+Dc+nvbLZ3Y5EIKAYVHpgju31+Zpotni93ks28/AM4srLy7riHMLExETOz7C3x8XFotnDgOk0GMzDPkGnHXD27Nn2Sdseh8MKCjVYmYnT4/PMBMXWHc0/JJmRI0dWwLX2GgXf/T179jwEhNThBQrEm/ZNQpwYiE+HPMfer7ZvaPr96U9/ovUrJET/MKpXnIgtk8sOwr3tL00QSCNgnv3KaDQ+YDQ2PQSfc5ubA+oXroJvPqq2sC+sT58R950pOQMmc/H91ZXl90MBSz1vfUPqDokOSQvMZBm6PXPm9ANgOt5vMtfME7NsJH0pAjg301HFS6USEJbKZz547727Pv/88wegEXoEFPtE8IuuUPEjLlfyiWfXru2vl1dU9Mft2GJjcegiUB2uQnztvHXtxMVBBfRzuHxK4DdmMyXVzoA8cw7X4L2MXEk0aV2CD75zjH75ZW+PO++siOg75AwUsCuaFnS1qPrw3Xf8J090Zdw2UIioElnipUMg0FTEUfIBd5dC2zguTBhdbgfv4TxE0nqlGxZ1Dpp36Lno3K6PACqrKmkRwYoZHRXtxcpIL5wDt9uVAwUWH6DI6XAZXC5/mFqtTsJWu6a2Zl9dY9XhoNOLYsqUm89ERkYWoyBoamrOcjnIMzW11WlQB5iIiEibPiTk70GnFECy3dUqNV18D0w4Z0ZGxuVKC9m5c9sAIChcBoao1OqFi/fvzwf18hX+BvJKPnr06DmqK1AhkaB6dM94AL+XlBQkGMJCX68F6wB3vzGZTGvNRnMtVHAlVm6lUsmLxc4P6I1XgM4eOfqH6gI3MFn49ptVb/7rjbr848d/h2oSTOKD/fsP+gt8Dzx8Si6UMMjKlStf/2rxF299+cUXb27cuPETUJId1orD+7F/7YctP/z1u5Ur3165ctXCZctXvHLkSG7vNhI6F/iCDP09deqUAt2u/u67t777bvXCtau/f66+ri4RX+BgXDn41wbMM7fbzZaVVQw0Gk0f1FRVvX348KF/btu2dcWiRYseeOmllwI23mV1gshbW1vROy/v+HyX203i4uMtUOw/w8188QXVdbAUr524XM7ApgY/1aNAFQrwFNrFNtDAPMd9QU/cANhPH4st3bPrzbN79kwOnuoU8FAZy44dz5i3bZ/sra/AhZ6Jjwns8RgUUJCGK9FcAOo+QF9UmYJtfEPZNggO1AQWRjxELIZ8IcTiwEqomArcb9/ttoHphEto0QUC3SKRotOoAskVwtN/SyaVW4BcmBMFBU/ZbPYwrExJSUm7k5OT2014yFMRqAkpkA6Dy0eXFhd/DHGz4fmgk4uiudn4oFQiCUXlmJGRvm3h449LevTsZRNDuYFqrwFF0ON8P7BSlpWVRS/6/N+OTRu3FxcWFvTDc6AQG/v1G1DY3FwPIg95HZdXlpDPPlt5XSQw5jWSEaoeINVISCuqGykOWTGbzf0LCvL/AZ+Bjutg0cF4gTuZ2+WS46fL5ZbDPcE+UPAv0A1FiQiIRQaHPHC4ZJCGS+YdxgX8YTxB9x6PWw5EIvWCcm273lFzUYL0R4SHu7t0SWeioqIYmVQsB7WobWlp+Wffvn3vC+YzFuZLAPcgYDxHco8tsVltkZC3zri4mDlQpjg6vhOPn4Pikmsgf9lAKvAvVuS2it0ZAm7bnx1hpaxfFxp+HZJ0Ibiys5MtpfVFvopaTeqwYVc0B5JYjOON6757SHKmUC6CSsj4xYTFpZ+hcaODbOlDv3xC0e2PHfSBN5F+MRSWy3SAXg9IZIGyjxXD6XS1ZXUHQOXS4HWAXyKV2liW7sZMq4qIiGR2k6nT9hEKv3/SpEkbFQrFdhwWAEqDhUrLqFUqPxDXq0FnFGCWdZNKZWMtFguoDwOvD9Ndlr+hsqZVV9fGOl1OBsxa0tJimVxUdPJFMcPK1SoNsZjNhPdy4+rq6i4wF6GykZqaGvzkWbHEFp+QUNYlPeOxYcOGQVzFGqikEH0RkgGZMWOGOnjbZXG5SoP5iWb21GmTX5gxffoTffv1+0d8QpyroaGBLS4+M3Hz5s2BxpMWHz/trB4/fvwfZs6Y8cysW255dsyY0Y8A4b9M3QSBfmIf3dAhg14eOXLE06NGjXpq/LgJf+rVs1dgB6BzgOoM04XElJbWxTkS3A7PHvnMqFEjnxwzZsw/o6KjKpEEMexzAe4xRla5TPrInLlzlPc/8EBEjx49Pw8x6LlWiwW3jHvy0KFD+Ob4kpILCRsap/tKS8tA1TGkV69eq5OTu+yESF1oElwDrpm4NDERdGVGmhLMBzg6Zsf5CFyliou+UcQf8B/n/Cl09Nr1hC03d2JNzu5lzUePno3s1xuXybnswoRQSKJrln37lKggP5W0milh4ZtEXCoHt48NqEURKLDL6y10GxgOAcDvUAB9ciAtzXldBjcACQnxYgwPx+bU1dReUHDgmkij0fwaWkUWKq+Dc/OL5HK1xW63laNiCo8IHxqbkjgi6PyS0Ov1LVHRkWugAtH1rjDMrhldjV999dVB6iCI775bJzO3tCixfohE4qL4+BQ6Hgl+Q2OMg/8CgO/t2bpv3555cCYDt58HZUU2rF//+Pdr1vwuZ+eue3CYBsbT6XKlHD58+IKJ62lpaVxsXPTj3br3fGLixEkP3nXXPUOys7NX4LWoqASLXC7HrcuQvEWQBc/Qm64TpDIFKSw882a3Hr3enjRpystAZJ8jsQOp4FLY9CWG39fWOeUn/fv3f6NLRvd/de3a7Y2UlJRPgPTbx1HhgpiYITjGrclY9e6IEaPfzM4e+dbAwYPfUahUpwNv6dqzjKItB1UqpQvdAtH9Kzt71NtJSRmfQY7X4gsZWvHOAeYF+CUPCQ+nQ0zguVh1eu2nXo4rRxIChZsKjY7sx6fTEYHuej/Jy8sjVqsNTMSEmok3Tb7jxIkT18wz5+OaPZQkphKRXEUraCAb/JcdxxUAmDBYVkGeUbc4ddFuvyST/1TAQ1Cav181oX7z5iVcSbEsbdKoJdqMjItuwnk+Gpcvv8m+e0e2A7fwh9YMFSSuooqRxDehuKEHjvbHjvrgcvadgj5O8APfQOJWaSIVNO4h7UOerh0XyezbbrvNDxWgzGAIgUJkJY3NTd0KCwvHQ760E1hOTs4d0DIqsPU1GAzifgP6NUVHR9eLJZI9aJZVVVVhB/qDRSdOtK/cCufitm7dNHrHli04cJHk5u4Iszc3x/bNyrLDfWYkJTQDtVrdc3/605/aYwbhSliWv10mk/bCoQHJSUl5Q4cO9cB53EEaF8nTwid1C5WnXY6WlpZ0hw9JYPXTkAatTlej1epr9AZ9tVarMeIMAJ/Pq2lqqOsD90vhoJ5gd55Op228554HPr3llls+ysrKWgpxa3/JAIS9Q6PVFGH/HyhB5sjhw+NxsUO4nRZjMI8il3311Yj161elw7kOpB9Qz4HSfj6CwQNBMWT27Nltb+cUxqZmC+aNTCojra3mUjzJUBUS8KfCXEHHYF0cUH7AX3QpFoecq4DFOCAioJ4ujA/eg4RzLrxeLxRoSCPV1O2PhwLjB9fdUF6K8TfcLwKvx4gl4nis4DabNRcaOcd5XrYDVR5ulwamLgkNCeH0hpDZ4NQfE4Md81BRqJWJx7V3cl0zcUEJEInUeqzFmL1UXeDyy5dIGwCvIFnBJ073gTzkiA8kpl/qs9rp5gHXCshwdcuGNS83rF2/2HJon0qV1eNtRZ+h7wUvdwp/7u4E156ce5iCfAXtj8Jownk0+XB1U0woTvFpG1RKPzoBpjPw0hMIHe73QYFRGPREGxmK3l4TcJlCmo9QIM6fMgmFkD927PjHYeERx5B8OY+nV27uoa+/+Wb58x988O7cTz788KnTp4o+cjkdag0QTXJS8veRkZGb8U0hFMxPgCiqcbPU2tqaAQdzD77zzjv/WvDGG/+Yu2dnzidOh2s7VJcVkM/SirLG32zcsfWjXXv2PWW32XDVTRIbG1dx9OjRryAONHeWLFkStmHDuhfMLcbHsIMcictkMqWsXLn8yaVLF//xh80b3j979tREVE9otrVarT2XfrV01vHjJ0eYzeZ0JN6IyMjyqTOmP3H3/fc+eNfddz70wIP3PTB4yOC/6/UGN7gBEmCnFhUVJeF21hgm1k1Ti7XDMtHno2fP7mtweAX2ldXW1Q04U1y06stFnz37/jtv3b116+Z3XZx7p9vN/QGcdhhzR7kNj4sAKzUSQKu5hbz77tt3v//OO/OWLV36SnVN7f0cVGq5TO5JS06lm7XiE8TShfl8YNPu59/4x9/m4vEm5PN7CxdOWb58OfaF+VBvUQK6CGP8WIEvXhCxvJ0LEH3gDZRjKNwBjv3RWkeiA9Ws8rhdEIc35n7x+efPFRUWPtLa2iqPiorElxjfgXLDgWRwN9YE9CBQ8DAeeI6H8MLCQ0hictyn6enpdDA5mI4Qcxw+hvwA7sXX3iN07cRFiEmkVdn9SjlELaAs6Ny9i+cjBVZ6ug0ZJB9NRRYEMzTHGpOxYVjQyVXDb24eV/r63/5pW7XiaU9RfkTUpIn7o2+94wUoTJcd5+UvaFCXbdz8vKTk1AhitsLTkQIxXZhF5xafC4tSR9A9HZFY4EOEb3pEPuKSSuyypMRrGneGHdx+r1+KBVomh7zHWebn4d5773WBerlHp9MfRLIoLysLq6+r/4uYlXxtdzreaDG3KIBkSGhY2LdDh2e377g9b95de1Vq9asRUdEuzovkVd/Xz4s+kcsUX5dXVd1UWVlFOB//VWN5eQiQzPjS0vIp1dXVg8EMUoaFhXFREZHPPv744+2lE1rpDJfT+UdQa3KpRIJb7JPj+ceHlJSUPV1VVfP73Nxj03KPHElFt3aHHQeJdqmorHihrKz4GYZh++AGHxKJ7MuE2ISlarl6g1qtWy+RKDZJpfKVao32LAsCzeFy9ti3b1+SRKHwe708bhYCvvk77bfq3XvAVynJKZ9oNLpmnJpTXV2bYTKb/w5JXlRXW3+r0+kC5STBtdzba7fP7xdjHxJ2nsPRQYlBYYBnwCiw66S+oREIgv0MqsKS6uqqR0FchUPeWIAk/zxy0Bg6TEPESqhbbBBrauqekcqVX9MD8tnpdi92uaxdwZkPqjw0ooGNd4HYOxQ/vwjCg/OQP9ik0jIAZV0KDYhczIqR8FTUZRBeL8PCNQVWfbkc51hSmxGfEZAzdubzorq6hvESmfTrZmPzK/B8Y1UqDb4BXmYwhOLQFg4YCNQKC3lBFKAs6fAQaHPEOMRFpQa34REHPR7/74G42seD4QYsrAjS6uNRYV8z71y7ZiPkrEgqKRNptX3ddgdUTlQlUGQC1y4KHNeE47fwgYmhMmMLJnXaRda8YyjLFZA5P3msANwnbt2z57c1C999jN+zNaG2soJE335HYcxd9/wJ/Ot0CgMC7mebVyy525OXd7/z1Ekig8pC34JQbj9Pzlwh8G5UoUhc2OKIUGFKWOJyu05EJGRc09K+PXr0cHNuLo8RswZoPRvkUvl5G7oGACZj/saNG++321oXyGWywSazhXO4PZA+iUivDynTG8IKpk+f9ilUxvbF7yC/IDv8S77//nuLSqWe2tLSkuB0Or3ghomJicXt9b8BkfCZSK2WhoZFrHB7fH67zeqTy6Q1SYnJ20aMHv0t+NH+jh4qitftcmKLjVOHKhRyZYnP74NKFii/tKX2836o1BLe501tamyOgHvAJBE1hoWF7wFzl42Liwtu1/UjwPxrApPuA4+HuxOIGQeSusPCIu2xcfE7gNi1YP5uCTq9KCCOFrjnaeu3326ENN7McVy6w+HAqZMiQ0ioJSQkbJ/BEIPjBNvLD/Y9NTc07mElEltERESHMV4qqepkdEzsOplC0dWHeyXBowe+YYBcPUAsJ/R67Z7Jkyd/O//uu6l7nSHkWyAAF+SxDEsgDhVAQHgijU5fgUQHP1tCQkLXgizLCg0N49Vqzbll2QakvjoqOjocnn+DSqGhs06gsToQFRW9yctxoUCCHWaiiES+Wq1OvwbIxwXkXg6kV4fnoRHYCPk20sfTWbVwxk/AnQRSka9SKY706zdwcUJCAq2XSqXq/ZDQsCzI8wbgu0N4LiompsLl8RyWyRQVYon0tZkzZ7ZPZgcC80GZKRSLxPshvNLElKTLrrV3OVxOMFwRqj5YuIRZv2Zea9EJIhHJApW1E6B5g+rDBw8KSirtN+Kh1eB7923s+trrC0SJ6e07o1wJ/CZTds2SJY858w7f6j+SyzjsFqK8eaY/dtatg1TDRnU6DqkNjqOHhjYv+fJby/o10TIv1DmIE8YT+6WubCbAxYE5Qe+HeoyzC3xqFZHPuvWdhD/+/XkooB3mb/wUQIUTQyWLKC0t1UFBtWRkZDScSxbnA92fOXky/ciJE14cdAmVjrnpppsa4Z5OJ7UDgYRv3bo1DOQ+Ti9iJk6c6NXr9e2TqcFf5e7du5NATfGjBwwwxlxk1v+yZcsGe9zO/TabFcyIiIUjR45eaLPZOqoVgBZQfOrUi/sP7L/Zy/HHsvpkPZ+YmFgG4bHR0dE4Zu8CGwPCl588eTIF/MO+tUogdBx4inMLWahoDUBeV1RJwB/N9u3bY0A54kYfTK9evRy4MkTwcjsgP0JOnDgRDiTsA7O6EfKkwy5IcD26oqJCB5+0tYM4MxB3r1wu7zDAFQFhynAKEpCmRCqVtlcavAdIwQ2mewP476yrq4tobq4NjYpK48PCtGfhcvtzBj8kZ88WpvM2jzm9d+/6tmtQLhLBxAYTL6oG/OnwQgrMdB34GQcqqxHMeCMuhIjnGxsbqVmO/X5osoeHh7MajQbj3WFzEwhTnZ+fHwv57YQ8oDsSgbluqKmpiQEV2pyZmdlhwDK4Z+D5RBQXF4SEhEQ5gfyxrF7TQMbrQlzVK766x/Lhe6+JcStwAhIS8i6guy4EPh0/CD0RVd8BJeIF8wkX2fOFhBPNnLtOxj/1zKPQ6Fx22ILfZZ/WvHrlHeYtWwf6S8uSfbUlhAMilAwcTmLuWfBb3YRJHWaoXwp+vlhm+WJXfs27b6czrSZqc2E/HY528SPhAPG0qYOfCrwX04wmogjSqMzoRhzde83v8vrbS+Dhdc7wvxCsBOKyux377aDItTrdH+64Y/5FV6SFAq7at3vvx0Bc86DlP26INNzz4L0PdtpPJeD/J67Z1kTEzpxe41ZrnLjtfKAzOkBPlwYSPCoaNBPxN0QD7F/WZCbW1at7NH7w3jKuruxjKMgXrBLg99oWeA4efKzs7X+uKXr0/n83ffzuHHJ4T7K36gz2PxAmIYVE3Dr7c+34m654JLQlp+TT+uVL00mLib4N8oFphx3pyOu4fvzV6y1MJd4dMDWRVGVpGUTeow8ubfv/grQQKr1eFBERSSIiI/DNYGebk3JAWKfjYuOITqeTxUXGXdBvJ0AA4rooLiCYmypffPpjz/fr4nm7nTDY20773y7lPVZmL/b6EDEPCk0EBAafuLUYhzN4NHoiik/wiTO6N5OUNK9YqSJuu42IKqoZf3WVzlVxViSyWhRSN0d4l4eOf8XlcVxaAwl59NET0XPuHMtotVe0UJn37MnfnPrL3/5F9u4SSSB8BhQ+z0ggZvgWEJU9qEOquH56Pxelb+xUBcJC9YYrtOpundcUNf/eWdKePfcEXP3ysWLFCimYPuFgvpHY2NjW4cOHX3KUOm60AGaHHkwVrnv37i1ti+YJEHAurhdxsTVffrbBueiz8b6qEibwouFyFR2rNQQf/Aj8QRUGJ4CEcE4gwTE654wwZ3Gbcjov0k3dACUQNuCcuOVSopo+96Rs7JgpMWPHXtGGq3xz/eDqT/+9xbL4E43Uw4F/bXE4/9vVIrDeGA/k5xV5CavSEsXcu7bFP/P8g6C46FgeAQIE/HRcF1MRKqEvrG/vj5w+xihicBQ9stHlECSEdl4I3INEgeNM0OhkPR4iBQXXdrBuFxH5UAUhoeALUTDpQM04JX6inz6LC5066a3oMWMu6FC9GIBspU3rNz3b+N1yjZTz/BgNGoPzv10dMEU+HAyG8fXwRNOtG/GLWXzjJpCWAAHXgOtCXAhZz76Hlb2ybD6lEjxFdX8l5PXTQcdFUUMO1QyYX6DMlP0GuVVjx36iGTIMSeGyNh2QFmPfsfOJ+uVf36S0mIgYd2Cn5uD1Bo5TwzeT8FUsITa1oSpkzFg6KlmAAAFXj+taW42rV2+ufv0v4+QN1SIGlNd19p6CGpPgLb6r83v9RNIji2hnz14Udue9TwJpXdF69Vxh4YSqhW8vce/5IUzkdoBfGM8L3s5fF2DLwPF+IktMJP4Bwz5PefW1RyGe17zoYXFxsezs2aKudXXNBrlc7pFIJCdmz57d/tobyfnAgQO9CgsLDfDdk5iYWGi321W8291FrlAQhUZzfPTo0e1DBXAjT+L1Dm6xWnE6TMPNN998Cu4Tr1q1qgf2OSXHJxNtiHbfuX1ONTU1ytOnC3pVVVXLY2MTW8aOHVuMafvhhx/Sa2tro71eL6HT6AAGQzjR6ZTWESPG5oOb9mEBp0+fjj18eH+q2+3DPXPb12oSww84PBEREYXjx4+34AYbpcWlMT6fO9DzCNdxiZqQkBD7sGHDToCfFyx+V1FREXP8+JEuZ86UEZfLRvT6MJKamsr16dMnH4cI7N+/P/LUqVNpuIJr9+7dy7Kzs+mr/TbgBhAOhyMN+zk1GsURl8ulwcGxDE5SpUscQIRxFDiNsxg+vDRO0dHRp5KSkmy7d+/u43Q6WZoPASc0fdHRuKigt0ChUES1traGYdzavAv4BQhmnEwmc2u12sLJkyd3GHbx/x3XTXEhQrKz/8zEJNh84mvaB6JT4Bb3OGiV53zEFxVLZDdNygHSeu1KSctZVpZUu+bbN0newTCCm0yAWcrfINJCcsX5mPCfiOIS7LrRo45eD9JCREVFabwe/s8SsSjHbrPuk0uldwPRtL+xg3BwXM5GnudzoGJui4+P728ymW/zMSTH6/flNNfXDww6pbBYLBEc781h/CTH2mpt20Yqxe12L4fPHJ74coxGY4cJliXFhSMaG5r3+rx8jtXa+jH4QRe/s9lsn/ghXALhQObmQPpzHHZrTkVZxbbvvlvx+52bNsVTDwDV1dXznE73Tj+49fn8OSKRiB6QlhyWZfdB+HRpZpPJtBDisNPL+8FfP70OpJBTWVmZs2TJkme++OKLDntVrl69etCePbs/ttrs4A+To1SqwV+S09BQt3f//r3PHzt2TG8xWSZCvPbgeYulZUHwVgogtLCWFuNbDoctB3R+TnNzcwYcs4HIdno4d46b8+ZwvCfH5/XBpy/Hw7lyvG5PjssJn17vI0D2NwEp7fZ6uRy/Dw4IA1rcHBHkP/GLchxux0iTybiQ4zw5bheX4wZ3mI/4bDw+LzwzCMPtRr/2w/Oja+QL+BHXlbiY0NC9EdOnV7vlGqyywbPXEWglQs3Ct3OSmFiimjT1RMzM6b+CSloUcNA5oLB3Me/a+rZt88Zu7qZ6wopwfWzs4L8BcQVgdDmoudKIcOLWR+SGTpx83TanBVXU4vF61kIF4err63Al46dKS0txigjF4f37B5aVlcY0NjbgXLjKrl27lkGl5XHiNB5NTXVtbTuF2VzL4+J3uMFEc3MTHXAICiPe7rBL62pqSGVlBbipxiRRYMWva2h6AsJkgXyIpcVsg7hQM93S2ppYV1eDiszXYm452mqxFFbX1LjLKyr1FrP15UaL5ckDxcW4SgIug+Ouqa7mcOBnU1NjdWNDw7HGhsa82pqaPIh3IZAXjafZZEqoq6sFP6v9dpu9Bki5oKKi3Fly9qwK3P5FJGL+WlRURHcI37MnZzTkyZKK8rIp5aVlRCGX4+TfQ26Xux6XuvH5fL8HfwdA/KxAiJb6ujqcVN2hQTlVWDgT1NVM3MiiproK59vxQMjlKqUKh2oQpUoJedgAqq6SbpqhUClA/YUiafvAbxY+u4H/ntoayJvWVndDQ/2R+rqGvIaGpryq6pqTTpuzgWFEdVKpnOi0eqJWa+hzwby0221QNhlcIgYHw+LA2hunBP5HcV2JCxExeMjvxBkZPFXTQbSX9p+I8+9DfuFASzMaLZGMGW+KnTv7T6KYpAv237sYgLREzZs33uvJ2XkzW13J4CYFIjpGC99g/vShDhcgGNmOcUbfWcKHh1hDR49cDQRbE7xwzQC/fFlZ3beo1ao9uHFBi9GUXFh4ojekk2Z8XUPtI60WM5FLJSQlJTEP3JdKpWIpDh3B9d6JuMO8YQq6wwxcb1s5CawVeIygl6CxYM8RpaDiZEBmzwNRTcD1l9BsO7ckwVecHoTn7QMG9l/Qt3/fBWCi/SM0NNQOlZk0NjX1tpSVUYUE8fVCPcdVOLi4mNjFKQkJ94NZuiAxKWlBbGjUfWDi7qV+siIvDn0TS1h+xIhhK7p1S7s/KSn+LyEGnc1ux3ml5KGGhlpcM19ZXVX9mrnFlIqTthMSE0viExJ+lZKaeH+XlNQHYmKiP1MpFRudFkstK0WKgTKAaQ5YZhSbNm1Ks7RafgWEy4pxfCGkBfKP7dmz566u6V2fTE5Jeg7i9TocVNnCM6hPT+vyblqXLs91697twbCwsEWQLzb0Gkehp6d3qU1OSVwQl5C6ID41fkFsbOz93bp1y8/IyHg/ISH+maS01Odi4+JexHykm3boDWd79cx8BMJ7EPLscVDLdFqNgB9x3YlLlNZ1fdTMmSVunMAJhEB3w8GlXHA2NVRjXFSvM+BVuusPdYZDN5FY8Bxe8BEe1zTq3d+oHzvuCXFqt9Xo6krgyt050rtz63zPwUPgKzTi4D+qwoAyxOPqQPva0DP4RkfYQ8RxEjlUIKjgUPlDQwjTPfNU6PTxSwJ3XD+kpfWs1mlUy6G1dldUVYMiap134sQJPW+3x9XU1o3FSa2sRGLu2avXYnQPqqQ99zkO7ORzYLf73ViDKe0FeRz7YwKzBpBgoKjYAnOWt2/fklVdW/ObOlAqSFCYfLo8SBAMfVg4sdbHDRs26tjw4aP2azS698H7fKycXh/nA5OLRiUyIjID/EDa8DGs6PRt8+Ydm33H7CN33HHHkRETxxzs3r07nUNJnxMdFCwiUTFxFdOmzTp02203fx4aFpqHE369Xp6pqamXnD5d0KOqqjoZ9zLU60O86emp8ydPnvr+LbfcXjBl+vR1t912+28USs1Dg7KzT4r8IlmQ52kjhigsLAxtNZtfsVjMWUjKGCxd8QQKcHZ2dsvgoYPfHDBo0D+8Pt+/tNCA4oBlyNT6lMTE9/v06/MPcPNZenp6CTx/LAhAqCwoPpV99uw78+7AdM2+48jUqVMP4li2vn377hs8ePAbgwYM+MfIkSP/iiQokdBles5CGB/CuU/79ev3Dqjl69bg/VLwY2m7jlB2zZhvGH8TcfNeMMOwyGGFwANJKFBQOgNWFiQvHAOFbw6x0ce+LRzEKe7Tn8Q8/vAu7chxi+FBX5FU8teVJdVuy/m7Y+feOAIynAdZgbUG5/ZjuQ0sz3F1QHJG3wLpCvgTIDBINTS5XHScPWb61CWM6MoGxP4UQPr9g8aO3CCWyffjElagsMY0N9cP3XfsyKiWFnM0pkynM+yKi0ukk43pJDaIl93hIGkpXZ7YsXXrnRs2bLh16+YNt6YmJ9yCm4qejx9zBuhe7qU/m5uaP2tqrJdhRzQe52/WgIPrsN4CSclamptvqa+pnwnq7AEwPbug2RYeHlY5atQo+mJALpXh/pKQWYxYpdIMLzpx4paT+fm3FRcV3QFmU7vp+yP8xMtDYQAUFVVyNruzCddPD2x7JXfV1DQsgHB1OEE+JDQ0b9Cg4fvpbUFAntmAEH4cMkOJCwhGRF9Xk7wTJ0Y0NDXciusaBtaRAoBf5wNITYNLuATAsJZW50VWosDVFvy476LhzKmTM06dzL+toKDojuLiYroSxrn46KWXlNjSYb5BZpyj/wRcDDeEuFS9Bxw0jBrztTguifbxBEwxJCPUT1hQLh1sgKxwGRigE5GPcCyQFn7HCcpdepKo+x7Ypuo7/NdYaYO3dAq/3xHfuGffF46N2wf5auuIXwqFFKf/g5/og4gWvivy6qJoW/YGR/970dTCeGIrDCaiS6XwaUaM2q0cOnY7dXQDEBsSWw3mxHdgkoD1Y5G0tlp/ZWxu/gtdN17EuMHc2Al51f4mEL7jip/kZOHJWw7mHlyYl3f0g8NHjn5QdOr033Fd9M7aFYVC4d+yZdNHNTW1PVixxAGmTqler8eVHSC9F7YhoLhUXy7+6sNly5d+dOZM8bMc5w2Li49vGTRo6Kq2yc9qraYvqjDe5xMXFZ6cu27jhg83bNj0wfacnIXff//9ROoRIDBtij4raHf8UkjD3WB2PuFxu8biQqIQh9Zu3bo0WFstSZBGuvIrmLQ/0JsvB/AWm5qzp06N9bmd79rtNpFYLN0KGbgcTb2rBeY17v9YWFQYtfr7tR+vXbfhg02bNi48cuTIqxD/xKAzAVeBG0JcCHHX5GdVE24ucknhwTO44J2PqqfLvb/zQQlCEsCoYeVHuwUJzx0TTaIffChH22/wbQwjqqWOLwMovKrW7bues65aOYKpLic+CcQCSyheDFbQwIiwqycubLHptB7aKkMFgriLoSJxkG7poKGWuLvuxrXDr6gf7mqABD527NhVYGLk4sDd6qrq8eXl5UnIWtHR0VZQDR8GndLcpBYMHD5QLeDeIBazYSweLIvDJgIOLwK8ppWpBhaeLLrTC2ZYXFzsCZ1e9zguVYM411Q8B7g+ThiEGA7xVOOqFKWlpdq8vCOvHD9+vBc6qCivWAzqBfu5GEiDCo4wsUwSKlcoQoDQLlAxQIbiVStXPr/o80/fPZJ7+GmjyaSNiY3FtareBP+PezhP25pUoKI67p56KdDnz7KKouJTvwcyjFHJle6BgwZ829jUdBhJ9VoBcWZlMmm4VCYLlckkIdAAxMmxM0vAVeOGEZeyS2aNdviINw1jbgKTHVeLQBlMjSpq+l0KgT4VKEo4bxBYRgxWiNsQRsLvvn9n6JDsaYxef0XDHhC2o4dn2rZue8hx6BBhwSMREIsEFBGqPi9UcvwW7I65alAi5MFMgSSx2I8Nag799yXEk+SHHt5MQiMPQiU6z5a6vggLC6uOiIj4HiqZE0wycWtrK6oNXLvpn7Gxse19WW2RwKWV+/fvt/iWW257afr0WX+ZOXPWn8eNHfsWnj+XvLDOogJDEuC8HGk0N61yOGxKiVTalJnZ5x6bzenBPp6LAf0B8802ZdrUoaPHjEmZNu3mjxLi40uAXNjKisrM4uJT09BdiMHQBfu4wL0rIjz8CbeH04IbLZCjFtTcG9QzQFu0wB0DylILprCKEYkkISFhzfHxCa8CeX+AY8xwPTyML4bf3Gy6oknaED4uNfy7wsLC0aiwImNitvTvP+jfUDk6LML3U4FxQH7q0bPnaaeL07rcHi2QlhbCGwtxvOzGxwIujRtGXPBg/Prs7EWKlG5PK3v1IbjEFeuX0L6gwOj3iwMrCq7IELD3vcRniCbaW2fvZLt1n8act65QZ7AfOxZr2rDm6fo137BgHQJhQUVEsxCJEQJBkoHaQonrYqucXjmAqICXAi8hJBBnhrj04SThkYdr5H0GzcN8CDq8objtttsWQ6UowM5drDAatcY1cPDAbcHLHaBQKsiZM6WL0tLS/ty1a9c/dunS9aVDuUffwPXbLwWT0YRqSY7+Z2X1+S4zM/OUWMxc8gYkA573ebp06bK/d+/eZT169HhYpdG8hv1GNjBJOc7Tr4lv0gDxtYtwkZh1PPvss1Y8FixYYJ09e/YFC0BC+DyQ7LrRY8Y9O336jF/feuutgydNmvR8VFQUXQNKpVIddrpcHCWj0NCn8A0ovfEcQP50EP6YXydOnJCCMmJkMvmp4cMHPAbPDfehvDgr/0TIZTLfuem6+eabHeD1pVtvAZfFDSMuBDwcLuKRR9azU6YcdkdFEc7HUZUDVwIOLgJUK8hbXiAun85AYu5/wBg2cdqd4Z2sKHA+/Lw5xH7i6DrzqjVZCg6X34Uwad8TLlfDAMFAwvGgKgnjcvXZ0Nb3gr6gorGrtEQ/7w6LfsSoGXj9RqOgoCBk9+7dCUePFvtAoTjQtEEVFB0Tk5OQkNBhEcWAqYh/Lp5eeu0c4FtFPIf1F9+wYTUGdXMK1M1DQSfn4MJ6CISApqIOj+pqSyioKDjQH8wtxhNKwuAmRoS/MRgwo9RB93pQjmi64oattLAEchhym/f74xKStg8dOvT1jIyMDyIjI9sXNUTA7xy5VEpNxKqqKvm2bdteBiUVjf6CGRiWm5s7HEjq/vySfNzvsF0JA5ESpULB9+mbtSQmJoVO0kfyo4FfI4A8UVHSdOFhNvMh8Cl0wF8DbihxIURy+ZnwIUPuVk8cd1wSGUpYD/YBtRWHc4pF8HU0nvFzXsIadCR8zpw6+ahR9yszM6/4dTAUCEnLd5teq1/0797KVgtUEikUeh/xs9hXBmHAge8BvfCbLqeD99CK1BnOvY73BLqi6d1BKxDX+/VKWaKfPs0bNWf2cyJ9eC69cINRXV39oMlk2llcfHRpfUP9QOx4V6nUrp69Mr8NOukITOul0hsglMB3QJupiHmEbw5DQkJc6V1TbglcvTTwjRw8B6z4ql07d7yTs2PHwiNHdnze2NDwVF1dPSihMNzSbDcQrN3j5Vp9Pt4PbsUej+927LzesGH9u3v37nk/J2f7n7dv3063ykJgPHAteZ6/9CaoWVlZG6Oio3colSricbvFQOzPnj5dtHbTpk1v5uUdXZR7+PBGk8n4ka3ZNtQv8gdX4WSIWCIlSSkpW4YMyf5r4BwlHBpmZ7jkdRwLA1eRqI1GY9TmjRve2gTpWr9+/bt5eTkfHTp0aBzkUcd0XOKxCLgQN5y4EPJe/YoS5s9+QX/rHBNvCCE+eJhYJHBUEbboSCRUAgF8oMqY0BCimzyjWjl+0mPyjB5roEW+XPmhgIIgb92y/tc1y5ffL6kqo/1kOH6MWgb0LSJ6g6FBpcK+KCCxQFm5UC2ci7axTIG+uUBUMOPoWSx7vJdwYGYpJk71xd1zzweS6ISP8dJ/AvX19e4WozGp5GzxOLfTqZBJpVxycurybt26fR500g6WlQJkOEwBCOlHEw2BneO4eQJ84k9qXoHiEoM+VeJGDZFREaRb955v9e07uP1Fg1jMirEPB18KQI7gXgG0PIG5pQazFcOR7tmzZ/6BA/vuOnv2zDSxRAKcFe6Ki4tfPnjw0HXo1tRiOg0mKiOVSNia6uoBhQUn7ioqLLijIP/47SZj81PNDQ2j0R1EAfxHUxEiiq1RJ+g/YNDDSo12Y0xMFHG7HORkQUG/Y0cP33s8L28Kx7nVTqejxqA1VMpkMgWUQ5kE8iQqKqZh6NDh9wW9oGBYiUTESohMroTwJefnl0ipxs0m4AdDZCJZx40zlDKZVKGUS8QSEamsKtMePXbknmPH8+7Iz8/D4RC3lpSU4DSedtVVCyY0kifmP+R34I2HgEviP0JcCHFKv42yiTe/qJ053cyHGvBNCzxvIBEojXTAJr6x93oIq9cT5agxNfIJ459S9Ru4Mnj7FcF6eNeU+rXrXhflHwcTMFCOsEMe33hx7SQVIJy271cCL5Aqg4YgxNMHBhfuah0YsgFx9wIJgnmonDyFxM2/+x1xSrenIE2dM+F1RFhY2BGNVr0uLCz8ZFxC/Mn4+Pi/jRo9+q9A4hckEVjroFar3QTKaTccHTZ6AAVkBdWzKDIy+mhEVMQ+PCeTMRVajfab2JiYY3GxcZ+NGjXqeeo4CLFYflbMSlbC9YNqlep7ltXTIQ46reZ9L8e94+P5D5OTkwuioqL2eL2+dwwGwzv9+/d7durUqfdD+HRCc0hIxFGw/t52ezzv4OF0u9/xuD3vAMkt9vP+ryRy9ii6MxhCNsbHxx2D+9aAOOuw0ez5SEtLa5x3++13g7n8dkho6MbQsLATen3ICWDNA4mJiV/C90eB2I9AfpyF3wch7RsyMzNfiIiIoBtHtCE0NPQExB3fLC4Dgu7wJlsikZhAkX2ZkpJ6Ojo6ao9Op+pwXW8IPwxtHKSLewfy6N/JySmFMdEx+7Va3Vrw70tocFZCOWnvwwtxuXwhoWEbwyPCD0hl8q+DpwVcAj+l/l4zsDJxBcceNq7d8E/L998q+KY6ImXExAvkxfjAPNRpCZs9pk47bdoToeOn4OTeK4ajIHd4xYcfv8Nt395bzjmAEoFY4HybWvIB6VwNSwf0VUChYbOP/rQRn8fvJlJDGPGlZx6Pe/TBz9VDR38ChbHDiPT/BCBfQ6ury7uEREbgTjMHgqcvCnAbCR+4+WgZxLW9j6cNcL03fJyGa9SMgt+ovrrD7w67xbQBruOQhQS4ftEhH3B9EHyY4PpPfosG92L/F20E4DvGOQ2OSjjXviPR5QD3RVRVVSW2trYy3bt3R3LuMK8VrveED9w0JLjX4Y+Aa5h2NFUxPy66UxS4wV2pS+F6p0N0wN0Q+EBix40iTPTkeQA3+GxC4PoVzb39/4z/KHEh4OGIHPsPTzHt3PSSdd2afkx9HagtUF5qPZEMH9McNmXyr/STptJt0q8UfpNpePkHb73rXLM6S9LcQvuz8E0f8UuoOiKo5ujvDmr+igFcBaQnptuV+Viwn/w+wqOX8XFEOn5csyF73CPa0eMu3qckQICA647/OHG1wZWfm9G4ccvzrt277rKXnyXqcRNbw26adp/hppt+knno9/PZ9f/++F3zki8zRZUlBJeNxulChPEC4QS6QqgZCtTTpr5+KgK9YkCGuBsRfgcO9IZF+3Q33fRD6PSZ76p6998GreR1Wa5GgAABl8d/jbgQvNkc0rx86XybyP96WHzibM3EyVfcEY8A9SatfO/NN/kdWx915h8nEriT7o4N1+hwBziQbGgHOjUUr9jrc4BjvbCTH4dSiIgL/Jdm9iXht9y2Xjdk+J+kiYn/kbeHAgQI+BH/VeJCAPmIq/MPRsVlDqr5qaRVt/SL551r1z7rOZyrYEFV4c04EVviZWnHuY/FbglUS+JgQjv3vu1qeyyCuUP9hb9urYEYbp7piRg39o+KHr0/Jjqd+afEWYAAAdcH/3XiuhoAaUksOzY9Y1+18uWWTRvFEnzDB6qIvp2EJGGi6FAL+IK/cZwWqi+kMHr9HKrB/jX8iXfhGmJ4jY6wh9/40sAPCsullBNxz0w+ftZtO1QD+v1NHJe6CwjrwqUUBAgQ8B/B/xxxIWnZNqwa5ck9sqXiyy+JEvcnY3DLMilheaQfHGj64xxE/ED1hf1bdFmd9nN4lf6hnzhJmhPhPEMgMpxzKJYSTq0lfESkM/bOu+yGkSM+EMUk/QUIq32lBQECBPx38D9FXEBaIkf+gYc9m7a+V/nBh0QpYYkX5+0A6eDbQ1RUON4qMNA0CEhhYEgTUBqYkfQNJlwPEBdSFh1NBucCfWGMRkV4tY749BHmpDm3GeWDBrwiTu95wWBOAQIE/PfwP0VcTUV7NI4DBactH30ULTM2Ed7rJXQtBkZMzUIfi0NNg2ZhOzERqr7wPIMrQwBx8UBSuL4Xnd/LSohIqSL+8FDikcgciuSUGu3IkcWh4276igkJWS70YQkQ8PPD/xRx+XNzlVUlZ5Y6t22TELs1y+txxmiBvHhTM/GZrcTndtIR+UhXlNCQciCF+IHKihGBOSmVEIlaQ9jQUGJkiNsvFddqU1I5cVLSUcOoEUdU3fttArIqwPAECBDw88T/FHGdC7/LNcN4aE+W80xxBFdaomc4Xxe/1arwmI1+3uUifo5D0xJSCIQlkRBWriAirZZIDaEiiVbb6Nfrz/rj4wvjsgcVEF0sLjNCp7kIECDg54//WeI6F9j3BR/d4VARzsKT0iriMBrpUiwESEsL6opJSYHvdO4quq0Douqw+acAAQIECBAgQIAAAQIECBAgQIAAAQIECBAgQIAAAQIECBAgQIAAAQIECBAgQIAAAQIECBAgQIAAAQIECBAgQIAAAQIECBAgQIAAAQIECBAgQIAAAQIECBDw8wch/wcEn+BBmJIQmQAAAABJRU5ErkJggg==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4">
            <a:extLst>
              <a:ext uri="{FF2B5EF4-FFF2-40B4-BE49-F238E27FC236}">
                <a16:creationId xmlns:a16="http://schemas.microsoft.com/office/drawing/2014/main" id="{63A30E9A-9749-4AB8-A657-AE92AA316C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37058"/>
          <a:stretch/>
        </p:blipFill>
        <p:spPr>
          <a:xfrm>
            <a:off x="6878945" y="6889"/>
            <a:ext cx="5313056" cy="6865225"/>
          </a:xfrm>
          <a:prstGeom prst="rect">
            <a:avLst/>
          </a:prstGeom>
        </p:spPr>
      </p:pic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9C6AC6-185E-4853-86CD-24B31879B8B2}"/>
              </a:ext>
            </a:extLst>
          </p:cNvPr>
          <p:cNvSpPr txBox="1"/>
          <p:nvPr/>
        </p:nvSpPr>
        <p:spPr>
          <a:xfrm>
            <a:off x="697577" y="4077547"/>
            <a:ext cx="5398422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ru-RU" sz="2000" dirty="0">
                <a:latin typeface="+mj-lt"/>
                <a:cs typeface="Arial" charset="0"/>
              </a:rPr>
              <a:t>магистерская диссертация </a:t>
            </a:r>
          </a:p>
          <a:p>
            <a:pPr eaLnBrk="1" hangingPunct="1">
              <a:defRPr/>
            </a:pPr>
            <a:r>
              <a:rPr lang="ru-RU" sz="2000" dirty="0">
                <a:latin typeface="+mj-lt"/>
                <a:cs typeface="Arial" charset="0"/>
              </a:rPr>
              <a:t>Квашенников М.С., 09.04.04 Программная инженерия</a:t>
            </a:r>
          </a:p>
          <a:p>
            <a:pPr eaLnBrk="1" hangingPunct="1">
              <a:defRPr/>
            </a:pPr>
            <a:r>
              <a:rPr lang="ru-RU" sz="2000" dirty="0">
                <a:latin typeface="+mj-lt"/>
                <a:cs typeface="Arial" charset="0"/>
              </a:rPr>
              <a:t>гр. 1ПИм-03-1оп-22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A08C97-AB14-4B92-ACBB-A2B62643F3DA}"/>
              </a:ext>
            </a:extLst>
          </p:cNvPr>
          <p:cNvSpPr txBox="1"/>
          <p:nvPr/>
        </p:nvSpPr>
        <p:spPr>
          <a:xfrm>
            <a:off x="697577" y="5318624"/>
            <a:ext cx="5398422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ru-RU" sz="2000" dirty="0">
                <a:latin typeface="+mj-lt"/>
                <a:cs typeface="Arial" charset="0"/>
              </a:rPr>
              <a:t>Научный руководитель: Юдина О.В., </a:t>
            </a:r>
            <a:r>
              <a:rPr lang="ru-RU" sz="2000" dirty="0">
                <a:latin typeface="+mj-lt"/>
                <a:cs typeface="Calibri" panose="020F0502020204030204" pitchFamily="34" charset="0"/>
              </a:rPr>
              <a:t>доцент, кандидат технических наук</a:t>
            </a:r>
            <a:endParaRPr lang="ru-RU" sz="2000" dirty="0">
              <a:latin typeface="+mj-lt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055B2BF1-B57D-4CF8-9DE6-805E9BAF1E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542" y="1047750"/>
            <a:ext cx="5347555" cy="497876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B2944BD-7FF1-4732-B7CC-BB6EB510F26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4" b="1394"/>
          <a:stretch>
            <a:fillRect/>
          </a:stretch>
        </p:blipFill>
        <p:spPr>
          <a:xfrm>
            <a:off x="7025352" y="1724213"/>
            <a:ext cx="4378278" cy="2952561"/>
          </a:xfrm>
          <a:custGeom>
            <a:avLst/>
            <a:gdLst>
              <a:gd name="connsiteX0" fmla="*/ 0 w 1051123"/>
              <a:gd name="connsiteY0" fmla="*/ 0 h 1051123"/>
              <a:gd name="connsiteX1" fmla="*/ 1051123 w 1051123"/>
              <a:gd name="connsiteY1" fmla="*/ 0 h 1051123"/>
              <a:gd name="connsiteX2" fmla="*/ 1051123 w 1051123"/>
              <a:gd name="connsiteY2" fmla="*/ 1051123 h 1051123"/>
              <a:gd name="connsiteX3" fmla="*/ 0 w 1051123"/>
              <a:gd name="connsiteY3" fmla="*/ 1051123 h 1051123"/>
              <a:gd name="connsiteX4" fmla="*/ 0 w 1051123"/>
              <a:gd name="connsiteY4" fmla="*/ 0 h 1051123"/>
              <a:gd name="connsiteX0" fmla="*/ 0 w 1123695"/>
              <a:gd name="connsiteY0" fmla="*/ 0 h 1370437"/>
              <a:gd name="connsiteX1" fmla="*/ 1123695 w 1123695"/>
              <a:gd name="connsiteY1" fmla="*/ 319314 h 1370437"/>
              <a:gd name="connsiteX2" fmla="*/ 1123695 w 1123695"/>
              <a:gd name="connsiteY2" fmla="*/ 1370437 h 1370437"/>
              <a:gd name="connsiteX3" fmla="*/ 72572 w 1123695"/>
              <a:gd name="connsiteY3" fmla="*/ 1370437 h 1370437"/>
              <a:gd name="connsiteX4" fmla="*/ 0 w 1123695"/>
              <a:gd name="connsiteY4" fmla="*/ 0 h 1370437"/>
              <a:gd name="connsiteX0" fmla="*/ 0 w 1096341"/>
              <a:gd name="connsiteY0" fmla="*/ 0 h 1327452"/>
              <a:gd name="connsiteX1" fmla="*/ 1096341 w 1096341"/>
              <a:gd name="connsiteY1" fmla="*/ 276329 h 1327452"/>
              <a:gd name="connsiteX2" fmla="*/ 1096341 w 1096341"/>
              <a:gd name="connsiteY2" fmla="*/ 1327452 h 1327452"/>
              <a:gd name="connsiteX3" fmla="*/ 45218 w 1096341"/>
              <a:gd name="connsiteY3" fmla="*/ 1327452 h 1327452"/>
              <a:gd name="connsiteX4" fmla="*/ 0 w 1096341"/>
              <a:gd name="connsiteY4" fmla="*/ 0 h 1327452"/>
              <a:gd name="connsiteX0" fmla="*/ 0 w 3183049"/>
              <a:gd name="connsiteY0" fmla="*/ 458317 h 1785769"/>
              <a:gd name="connsiteX1" fmla="*/ 3183049 w 3183049"/>
              <a:gd name="connsiteY1" fmla="*/ 0 h 1785769"/>
              <a:gd name="connsiteX2" fmla="*/ 1096341 w 3183049"/>
              <a:gd name="connsiteY2" fmla="*/ 1785769 h 1785769"/>
              <a:gd name="connsiteX3" fmla="*/ 45218 w 3183049"/>
              <a:gd name="connsiteY3" fmla="*/ 1785769 h 1785769"/>
              <a:gd name="connsiteX4" fmla="*/ 0 w 3183049"/>
              <a:gd name="connsiteY4" fmla="*/ 458317 h 1785769"/>
              <a:gd name="connsiteX0" fmla="*/ 0 w 3183049"/>
              <a:gd name="connsiteY0" fmla="*/ 462225 h 1785769"/>
              <a:gd name="connsiteX1" fmla="*/ 3183049 w 3183049"/>
              <a:gd name="connsiteY1" fmla="*/ 0 h 1785769"/>
              <a:gd name="connsiteX2" fmla="*/ 1096341 w 3183049"/>
              <a:gd name="connsiteY2" fmla="*/ 1785769 h 1785769"/>
              <a:gd name="connsiteX3" fmla="*/ 45218 w 3183049"/>
              <a:gd name="connsiteY3" fmla="*/ 1785769 h 1785769"/>
              <a:gd name="connsiteX4" fmla="*/ 0 w 3183049"/>
              <a:gd name="connsiteY4" fmla="*/ 462225 h 1785769"/>
              <a:gd name="connsiteX0" fmla="*/ 0 w 3179141"/>
              <a:gd name="connsiteY0" fmla="*/ 466132 h 1785769"/>
              <a:gd name="connsiteX1" fmla="*/ 3179141 w 3179141"/>
              <a:gd name="connsiteY1" fmla="*/ 0 h 1785769"/>
              <a:gd name="connsiteX2" fmla="*/ 1092433 w 3179141"/>
              <a:gd name="connsiteY2" fmla="*/ 1785769 h 1785769"/>
              <a:gd name="connsiteX3" fmla="*/ 41310 w 3179141"/>
              <a:gd name="connsiteY3" fmla="*/ 1785769 h 1785769"/>
              <a:gd name="connsiteX4" fmla="*/ 0 w 3179141"/>
              <a:gd name="connsiteY4" fmla="*/ 466132 h 1785769"/>
              <a:gd name="connsiteX0" fmla="*/ 540937 w 3720078"/>
              <a:gd name="connsiteY0" fmla="*/ 466132 h 2508693"/>
              <a:gd name="connsiteX1" fmla="*/ 3720078 w 3720078"/>
              <a:gd name="connsiteY1" fmla="*/ 0 h 2508693"/>
              <a:gd name="connsiteX2" fmla="*/ 1633370 w 3720078"/>
              <a:gd name="connsiteY2" fmla="*/ 1785769 h 2508693"/>
              <a:gd name="connsiteX3" fmla="*/ 0 w 3720078"/>
              <a:gd name="connsiteY3" fmla="*/ 2508693 h 2508693"/>
              <a:gd name="connsiteX4" fmla="*/ 540937 w 3720078"/>
              <a:gd name="connsiteY4" fmla="*/ 466132 h 2508693"/>
              <a:gd name="connsiteX0" fmla="*/ 540937 w 3720078"/>
              <a:gd name="connsiteY0" fmla="*/ 466132 h 2508693"/>
              <a:gd name="connsiteX1" fmla="*/ 3720078 w 3720078"/>
              <a:gd name="connsiteY1" fmla="*/ 0 h 2508693"/>
              <a:gd name="connsiteX2" fmla="*/ 3227708 w 3720078"/>
              <a:gd name="connsiteY2" fmla="*/ 2481338 h 2508693"/>
              <a:gd name="connsiteX3" fmla="*/ 0 w 3720078"/>
              <a:gd name="connsiteY3" fmla="*/ 2508693 h 2508693"/>
              <a:gd name="connsiteX4" fmla="*/ 540937 w 3720078"/>
              <a:gd name="connsiteY4" fmla="*/ 466132 h 250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0078" h="2508693">
                <a:moveTo>
                  <a:pt x="540937" y="466132"/>
                </a:moveTo>
                <a:lnTo>
                  <a:pt x="3720078" y="0"/>
                </a:lnTo>
                <a:lnTo>
                  <a:pt x="3227708" y="2481338"/>
                </a:lnTo>
                <a:lnTo>
                  <a:pt x="0" y="2508693"/>
                </a:lnTo>
                <a:lnTo>
                  <a:pt x="540937" y="466132"/>
                </a:lnTo>
                <a:close/>
              </a:path>
            </a:pathLst>
          </a:cu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Актуальность темы. Объект и предмет исследования</a:t>
            </a:r>
          </a:p>
        </p:txBody>
      </p:sp>
      <p:sp>
        <p:nvSpPr>
          <p:cNvPr id="14" name="Наименование разрабатываемого ПО">
            <a:extLst>
              <a:ext uri="{FF2B5EF4-FFF2-40B4-BE49-F238E27FC236}">
                <a16:creationId xmlns:a16="http://schemas.microsoft.com/office/drawing/2014/main" id="{FEEF524F-6902-45AC-8F48-051BE1CB9720}"/>
              </a:ext>
            </a:extLst>
          </p:cNvPr>
          <p:cNvSpPr txBox="1"/>
          <p:nvPr/>
        </p:nvSpPr>
        <p:spPr>
          <a:xfrm>
            <a:off x="356796" y="4052392"/>
            <a:ext cx="480903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sz="2000" b="0" dirty="0">
                <a:solidFill>
                  <a:srgbClr val="FF0000"/>
                </a:solidFill>
              </a:rPr>
              <a:t>Объект исследования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836E73-6908-42DD-9236-2D3137BAB515}"/>
              </a:ext>
            </a:extLst>
          </p:cNvPr>
          <p:cNvSpPr txBox="1"/>
          <p:nvPr/>
        </p:nvSpPr>
        <p:spPr>
          <a:xfrm>
            <a:off x="356797" y="4377631"/>
            <a:ext cx="11390412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ru-RU" sz="2000" dirty="0">
                <a:ea typeface="Arial" panose="020B0604020202020204" pitchFamily="34" charset="0"/>
              </a:rPr>
              <a:t>Объектом исследования является система распознавания рукописных рисунков-макетов и генерации HTML-кода.</a:t>
            </a:r>
            <a:endParaRPr lang="ru-RU" sz="2000" dirty="0"/>
          </a:p>
        </p:txBody>
      </p:sp>
      <p:sp>
        <p:nvSpPr>
          <p:cNvPr id="18" name="Наименование разрабатываемого ПО">
            <a:extLst>
              <a:ext uri="{FF2B5EF4-FFF2-40B4-BE49-F238E27FC236}">
                <a16:creationId xmlns:a16="http://schemas.microsoft.com/office/drawing/2014/main" id="{220E847F-5A57-4DF9-8BED-3681E54A7C05}"/>
              </a:ext>
            </a:extLst>
          </p:cNvPr>
          <p:cNvSpPr txBox="1"/>
          <p:nvPr/>
        </p:nvSpPr>
        <p:spPr>
          <a:xfrm>
            <a:off x="356796" y="5207509"/>
            <a:ext cx="480903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sz="2000" b="0" dirty="0">
                <a:solidFill>
                  <a:srgbClr val="FF0000"/>
                </a:solidFill>
              </a:rPr>
              <a:t>Предмет исследования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B30B04-3E92-4851-A081-7A4FF37A7DEE}"/>
              </a:ext>
            </a:extLst>
          </p:cNvPr>
          <p:cNvSpPr txBox="1"/>
          <p:nvPr/>
        </p:nvSpPr>
        <p:spPr>
          <a:xfrm>
            <a:off x="356796" y="5521403"/>
            <a:ext cx="11390411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ru-RU" sz="2000" dirty="0">
                <a:ea typeface="Arial" panose="020B0604020202020204" pitchFamily="34" charset="0"/>
              </a:rPr>
              <a:t>Предметом исследования является алгоритмическое обеспечение распознавания рукописных рисунков-макетов и генерации HTML-кода.</a:t>
            </a:r>
            <a:endParaRPr lang="ru-RU" sz="2000" dirty="0"/>
          </a:p>
        </p:txBody>
      </p:sp>
      <p:sp>
        <p:nvSpPr>
          <p:cNvPr id="13" name="Наименование разрабатываемого ПО">
            <a:extLst>
              <a:ext uri="{FF2B5EF4-FFF2-40B4-BE49-F238E27FC236}">
                <a16:creationId xmlns:a16="http://schemas.microsoft.com/office/drawing/2014/main" id="{C1771118-2976-46B5-B42C-F37F4CBDF190}"/>
              </a:ext>
            </a:extLst>
          </p:cNvPr>
          <p:cNvSpPr txBox="1"/>
          <p:nvPr/>
        </p:nvSpPr>
        <p:spPr>
          <a:xfrm>
            <a:off x="356797" y="941827"/>
            <a:ext cx="480903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sz="2000" b="0" dirty="0">
                <a:solidFill>
                  <a:srgbClr val="FF0000"/>
                </a:solidFill>
              </a:rPr>
              <a:t>Актуальность темы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DDCC1A-5805-47F2-A328-5BE7E55239D4}"/>
              </a:ext>
            </a:extLst>
          </p:cNvPr>
          <p:cNvSpPr txBox="1"/>
          <p:nvPr/>
        </p:nvSpPr>
        <p:spPr>
          <a:xfrm>
            <a:off x="356797" y="1273026"/>
            <a:ext cx="11390412" cy="25648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ru-RU" sz="2000" dirty="0"/>
              <a:t>В настоящее время возрастает спрос на разработку кроссплатформенных приложений. Современные приложения могут разрабатываться с помощью популярных фреймворков: React Native или Ionic. Для заказчика это открывает следующие преимущества:</a:t>
            </a:r>
          </a:p>
          <a:p>
            <a:r>
              <a:rPr lang="ru-RU" sz="2000" dirty="0"/>
              <a:t>1. Меньше необходимо затрачивать бюджета на разработку приложений под разные платформы (Android, iOS, Web);</a:t>
            </a:r>
          </a:p>
          <a:p>
            <a:r>
              <a:rPr lang="ru-RU" sz="2000" dirty="0"/>
              <a:t>2. Меньшая трата времени на разработку.</a:t>
            </a:r>
          </a:p>
          <a:p>
            <a:r>
              <a:rPr lang="ru-RU" sz="2000" dirty="0"/>
              <a:t>React Native и Ionic используют HTML для создания интерфейсов, поэтому приходится тратить время на поиск нужного шаблона или написания кода с нуля.</a:t>
            </a:r>
          </a:p>
        </p:txBody>
      </p:sp>
    </p:spTree>
    <p:extLst>
      <p:ext uri="{BB962C8B-B14F-4D97-AF65-F5344CB8AC3E}">
        <p14:creationId xmlns:p14="http://schemas.microsoft.com/office/powerpoint/2010/main" val="16521830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Цель и задачи работы. Научная новизна исследования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3DBDBE-0F4D-193E-3E52-48CED0D840C7}"/>
              </a:ext>
            </a:extLst>
          </p:cNvPr>
          <p:cNvSpPr txBox="1"/>
          <p:nvPr/>
        </p:nvSpPr>
        <p:spPr>
          <a:xfrm>
            <a:off x="300910" y="1142950"/>
            <a:ext cx="11578906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2000" dirty="0"/>
              <a:t>Целью работы является сокращение затрат времени на написание HTML-кода при разработке кроссплатформенных приложений (Android, Web, iOS, Desktop).</a:t>
            </a:r>
            <a:endParaRPr kumimoji="0" lang="ru-RU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3" name="Наименование разрабатываемого ПО">
            <a:extLst>
              <a:ext uri="{FF2B5EF4-FFF2-40B4-BE49-F238E27FC236}">
                <a16:creationId xmlns:a16="http://schemas.microsoft.com/office/drawing/2014/main" id="{E21E1825-22E9-4999-9183-C448E10BC2FB}"/>
              </a:ext>
            </a:extLst>
          </p:cNvPr>
          <p:cNvSpPr txBox="1"/>
          <p:nvPr/>
        </p:nvSpPr>
        <p:spPr>
          <a:xfrm>
            <a:off x="306547" y="786414"/>
            <a:ext cx="480903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sz="2000" b="0" dirty="0">
                <a:solidFill>
                  <a:srgbClr val="FF0000"/>
                </a:solidFill>
              </a:rPr>
              <a:t>Цель работы</a:t>
            </a:r>
          </a:p>
        </p:txBody>
      </p:sp>
      <p:sp>
        <p:nvSpPr>
          <p:cNvPr id="14" name="Наименование разрабатываемого ПО">
            <a:extLst>
              <a:ext uri="{FF2B5EF4-FFF2-40B4-BE49-F238E27FC236}">
                <a16:creationId xmlns:a16="http://schemas.microsoft.com/office/drawing/2014/main" id="{FEEF524F-6902-45AC-8F48-051BE1CB9720}"/>
              </a:ext>
            </a:extLst>
          </p:cNvPr>
          <p:cNvSpPr txBox="1"/>
          <p:nvPr/>
        </p:nvSpPr>
        <p:spPr>
          <a:xfrm>
            <a:off x="300910" y="1836113"/>
            <a:ext cx="480903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sz="2000" b="0" dirty="0">
                <a:solidFill>
                  <a:srgbClr val="FF0000"/>
                </a:solidFill>
              </a:rPr>
              <a:t>Задачи исследования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836E73-6908-42DD-9236-2D3137BAB515}"/>
              </a:ext>
            </a:extLst>
          </p:cNvPr>
          <p:cNvSpPr txBox="1"/>
          <p:nvPr/>
        </p:nvSpPr>
        <p:spPr>
          <a:xfrm>
            <a:off x="-5502" y="2147484"/>
            <a:ext cx="11578906" cy="31803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60363" lvl="0" algn="just"/>
            <a:r>
              <a:rPr lang="ru-RU" sz="2000" dirty="0">
                <a:effectLst/>
              </a:rPr>
              <a:t>Для достижения поставленной цели были решены следующие задачи:</a:t>
            </a:r>
          </a:p>
          <a:p>
            <a:pPr marL="646113" lvl="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анализ предметной области генерирования </a:t>
            </a:r>
            <a:r>
              <a:rPr lang="en-US" sz="2000" dirty="0"/>
              <a:t>HTML</a:t>
            </a:r>
            <a:r>
              <a:rPr lang="ru-RU" sz="2000" dirty="0"/>
              <a:t>-шаблонов по рукописным рисункам-макетам</a:t>
            </a:r>
            <a:r>
              <a:rPr lang="en-US" sz="2000" dirty="0"/>
              <a:t>;</a:t>
            </a:r>
          </a:p>
          <a:p>
            <a:pPr marL="646113" lvl="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разработано математическое и алгоритмическое обеспечение генерирования </a:t>
            </a:r>
            <a:r>
              <a:rPr lang="en-US" sz="2000" dirty="0"/>
              <a:t>HTML-</a:t>
            </a:r>
            <a:r>
              <a:rPr lang="ru-RU" sz="2000" dirty="0"/>
              <a:t>шаблонов по рукописным рисункам-макетам</a:t>
            </a:r>
            <a:r>
              <a:rPr lang="en-US" sz="2000" dirty="0"/>
              <a:t>;</a:t>
            </a:r>
          </a:p>
          <a:p>
            <a:pPr marL="646113" lvl="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проектирование информационного и программного обеспечения генерирования </a:t>
            </a:r>
            <a:r>
              <a:rPr lang="en-US" sz="2000" dirty="0"/>
              <a:t>HTML</a:t>
            </a:r>
            <a:r>
              <a:rPr lang="ru-RU" sz="2000" dirty="0"/>
              <a:t>-шаблонов по рукописным рисункам-макетам</a:t>
            </a:r>
            <a:r>
              <a:rPr lang="en-US" sz="2000" dirty="0"/>
              <a:t>;</a:t>
            </a:r>
          </a:p>
          <a:p>
            <a:pPr marL="646113" lvl="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экспериментальная проверка программного обеспечения генерирования </a:t>
            </a:r>
            <a:r>
              <a:rPr lang="en-US" sz="2000" dirty="0"/>
              <a:t>HTML</a:t>
            </a:r>
            <a:r>
              <a:rPr lang="ru-RU" sz="2000" dirty="0"/>
              <a:t>-шаблонов по рукописным рисункам-макетам</a:t>
            </a:r>
            <a:r>
              <a:rPr lang="en-US" sz="2000" dirty="0"/>
              <a:t>.</a:t>
            </a:r>
          </a:p>
          <a:p>
            <a:pPr marL="646113" lvl="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646113" lvl="0" indent="-285750" algn="just">
              <a:buFont typeface="Arial" panose="020B0604020202020204" pitchFamily="34" charset="0"/>
              <a:buChar char="•"/>
            </a:pPr>
            <a:endParaRPr lang="ru-RU" sz="2000" dirty="0">
              <a:effectLst/>
            </a:endParaRPr>
          </a:p>
        </p:txBody>
      </p:sp>
      <p:sp>
        <p:nvSpPr>
          <p:cNvPr id="18" name="Наименование разрабатываемого ПО">
            <a:extLst>
              <a:ext uri="{FF2B5EF4-FFF2-40B4-BE49-F238E27FC236}">
                <a16:creationId xmlns:a16="http://schemas.microsoft.com/office/drawing/2014/main" id="{220E847F-5A57-4DF9-8BED-3681E54A7C05}"/>
              </a:ext>
            </a:extLst>
          </p:cNvPr>
          <p:cNvSpPr txBox="1"/>
          <p:nvPr/>
        </p:nvSpPr>
        <p:spPr>
          <a:xfrm>
            <a:off x="300910" y="4737000"/>
            <a:ext cx="480903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sz="2000" b="0" dirty="0">
                <a:solidFill>
                  <a:srgbClr val="FF0000"/>
                </a:solidFill>
              </a:rPr>
              <a:t>Научная новизна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B30B04-3E92-4851-A081-7A4FF37A7DEE}"/>
              </a:ext>
            </a:extLst>
          </p:cNvPr>
          <p:cNvSpPr txBox="1"/>
          <p:nvPr/>
        </p:nvSpPr>
        <p:spPr>
          <a:xfrm>
            <a:off x="300910" y="5074257"/>
            <a:ext cx="11578906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ru-RU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аключается в разработке алгоритма генерирования HTML-шаблона на основе рукописного рисунка-макета, отличающегося от известных возможностью адаптировать шаблон под разные разрешения</a:t>
            </a:r>
          </a:p>
          <a:p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устройств, имеющий повышенную точность расположения объектов на шаблоне.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326245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Rectángulo">
            <a:extLst>
              <a:ext uri="{FF2B5EF4-FFF2-40B4-BE49-F238E27FC236}">
                <a16:creationId xmlns:a16="http://schemas.microsoft.com/office/drawing/2014/main" id="{17BA47FF-7789-4ADD-8732-22F543CEC36C}"/>
              </a:ext>
            </a:extLst>
          </p:cNvPr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6D4C51F-FB61-4F1B-9CD0-B0C0E658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Задача 1 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64A510-C989-4EE0-AFED-4A572F6BCF9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31850" y="4589462"/>
            <a:ext cx="6047094" cy="1500188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ХАРАКТЕРИСТИКА ПРОБЛЕМЫ ГЕНЕРИРОВАНИЯ </a:t>
            </a:r>
            <a:r>
              <a:rPr lang="en-US" dirty="0">
                <a:solidFill>
                  <a:srgbClr val="FF0000"/>
                </a:solidFill>
              </a:rPr>
              <a:t>HTML-</a:t>
            </a:r>
            <a:r>
              <a:rPr lang="ru-RU" dirty="0">
                <a:solidFill>
                  <a:srgbClr val="FF0000"/>
                </a:solidFill>
              </a:rPr>
              <a:t>ШАБЛОНОВ ПО РУКОПИСНЫМ РИСУНКАМ-МАКЕТАМ</a:t>
            </a:r>
            <a:endParaRPr lang="ru-RU" dirty="0"/>
          </a:p>
        </p:txBody>
      </p:sp>
      <p:pic>
        <p:nvPicPr>
          <p:cNvPr id="6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B2DC857-5F10-4A98-9F25-F25D31209A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  <p:pic>
        <p:nvPicPr>
          <p:cNvPr id="7" name="Рисунок 4">
            <a:extLst>
              <a:ext uri="{FF2B5EF4-FFF2-40B4-BE49-F238E27FC236}">
                <a16:creationId xmlns:a16="http://schemas.microsoft.com/office/drawing/2014/main" id="{6BB9A74F-FD01-4945-82A4-B23D1F7DC4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4" y="0"/>
            <a:ext cx="5313056" cy="686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777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двумя скругленными соседними углами 10">
            <a:extLst>
              <a:ext uri="{FF2B5EF4-FFF2-40B4-BE49-F238E27FC236}">
                <a16:creationId xmlns:a16="http://schemas.microsoft.com/office/drawing/2014/main" id="{10EA51E2-93D4-4777-BC4F-D64956211A9E}"/>
              </a:ext>
            </a:extLst>
          </p:cNvPr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2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5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09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2E38DB-D247-470F-9E66-7056CC1B5C77}"/>
              </a:ext>
            </a:extLst>
          </p:cNvPr>
          <p:cNvSpPr/>
          <p:nvPr/>
        </p:nvSpPr>
        <p:spPr>
          <a:xfrm>
            <a:off x="356801" y="244500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Характеристика проблемы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ED13CB-2775-4274-A593-0851918F60E2}"/>
              </a:ext>
            </a:extLst>
          </p:cNvPr>
          <p:cNvSpPr txBox="1"/>
          <p:nvPr/>
        </p:nvSpPr>
        <p:spPr>
          <a:xfrm>
            <a:off x="356801" y="850554"/>
            <a:ext cx="4575280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indent="270000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На данный момент в компании ООО «АСТРОСОФТ ПРО» существует проблема в большой трате времени на вёрстку </a:t>
            </a:r>
            <a:r>
              <a:rPr lang="en-US" sz="2000" dirty="0">
                <a:solidFill>
                  <a:schemeClr val="tx1"/>
                </a:solidFill>
              </a:rPr>
              <a:t>HTML-</a:t>
            </a:r>
            <a:r>
              <a:rPr lang="ru-RU" sz="2000" dirty="0">
                <a:solidFill>
                  <a:schemeClr val="tx1"/>
                </a:solidFill>
              </a:rPr>
              <a:t>шаблонов при разработке кроссплатформенных приложений.</a:t>
            </a:r>
          </a:p>
          <a:p>
            <a:pPr marL="0" indent="270000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2000" dirty="0">
                <a:solidFill>
                  <a:schemeClr val="tx1"/>
                </a:solidFill>
              </a:rPr>
              <a:t>Сейчас вёрстка осуществляется полностью вручную, разработка программного обеспечения генератора </a:t>
            </a:r>
            <a:r>
              <a:rPr lang="en-US" sz="2000" dirty="0">
                <a:solidFill>
                  <a:schemeClr val="tx1"/>
                </a:solidFill>
              </a:rPr>
              <a:t>HTML-</a:t>
            </a:r>
            <a:r>
              <a:rPr lang="ru-RU" sz="2000" dirty="0">
                <a:solidFill>
                  <a:schemeClr val="tx1"/>
                </a:solidFill>
              </a:rPr>
              <a:t>шаблонов по рукописным рисункам-макетам позволит сократить траты времени сотрудников компании при вёрстке </a:t>
            </a:r>
            <a:r>
              <a:rPr lang="en-US" sz="2000" dirty="0">
                <a:solidFill>
                  <a:schemeClr val="tx1"/>
                </a:solidFill>
              </a:rPr>
              <a:t>HTML-</a:t>
            </a:r>
            <a:r>
              <a:rPr lang="ru-RU" sz="2000" dirty="0">
                <a:solidFill>
                  <a:schemeClr val="tx1"/>
                </a:solidFill>
              </a:rPr>
              <a:t>шаблонов.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6EB124-C7E5-4C9F-8C3D-457DE4D69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724" y="963680"/>
            <a:ext cx="6734304" cy="469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92425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двумя скругленными соседними углами 10">
            <a:extLst>
              <a:ext uri="{FF2B5EF4-FFF2-40B4-BE49-F238E27FC236}">
                <a16:creationId xmlns:a16="http://schemas.microsoft.com/office/drawing/2014/main" id="{10EA51E2-93D4-4777-BC4F-D64956211A9E}"/>
              </a:ext>
            </a:extLst>
          </p:cNvPr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2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6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09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2E38DB-D247-470F-9E66-7056CC1B5C77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Анализ существующих решений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D5219A0-0163-493F-AD14-F3BC590E5B3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6801" y="1215385"/>
            <a:ext cx="6185086" cy="49830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E13A902-2895-4C06-BC85-ABDC242BA116}"/>
              </a:ext>
            </a:extLst>
          </p:cNvPr>
          <p:cNvSpPr txBox="1"/>
          <p:nvPr/>
        </p:nvSpPr>
        <p:spPr>
          <a:xfrm>
            <a:off x="6672113" y="1108594"/>
            <a:ext cx="4970326" cy="263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00B050"/>
                </a:solidFill>
                <a:cs typeface="Times New Roman" panose="02020603050405020304" pitchFamily="18" charset="0"/>
              </a:rPr>
              <a:t>Преимущества: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  <a:cs typeface="Times New Roman" panose="02020603050405020304" pitchFamily="18" charset="0"/>
              </a:rPr>
              <a:t>- Есть возможность распознавания текста</a:t>
            </a:r>
            <a:r>
              <a:rPr lang="en-US" sz="1600" dirty="0">
                <a:solidFill>
                  <a:schemeClr val="tx1"/>
                </a:solidFill>
                <a:cs typeface="Times New Roman" panose="02020603050405020304" pitchFamily="18" charset="0"/>
              </a:rPr>
              <a:t>;</a:t>
            </a:r>
            <a:endParaRPr lang="ru-RU" sz="16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FF0000"/>
                </a:solidFill>
                <a:cs typeface="Times New Roman" panose="02020603050405020304" pitchFamily="18" charset="0"/>
              </a:rPr>
              <a:t>Недостатки: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cs typeface="Times New Roman" panose="02020603050405020304" pitchFamily="18" charset="0"/>
              </a:rPr>
              <a:t>- Нет четких правил для рисования макета – каждый пользователь может интерпретировать элементы </a:t>
            </a:r>
            <a:r>
              <a:rPr lang="en-US" sz="1600" dirty="0">
                <a:cs typeface="Times New Roman" panose="02020603050405020304" pitchFamily="18" charset="0"/>
              </a:rPr>
              <a:t>HTML-</a:t>
            </a:r>
            <a:r>
              <a:rPr lang="ru-RU" sz="1600" dirty="0">
                <a:cs typeface="Times New Roman" panose="02020603050405020304" pitchFamily="18" charset="0"/>
              </a:rPr>
              <a:t>шаблона по-разному, поэтому готовый шаблон имеет различные артефакты.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4B3B46-4A66-4484-8B71-C948F37B645F}"/>
              </a:ext>
            </a:extLst>
          </p:cNvPr>
          <p:cNvSpPr txBox="1"/>
          <p:nvPr/>
        </p:nvSpPr>
        <p:spPr>
          <a:xfrm>
            <a:off x="356801" y="771018"/>
            <a:ext cx="60960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Microsoft, Sketch2Code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292091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двумя скругленными соседними углами 10">
            <a:extLst>
              <a:ext uri="{FF2B5EF4-FFF2-40B4-BE49-F238E27FC236}">
                <a16:creationId xmlns:a16="http://schemas.microsoft.com/office/drawing/2014/main" id="{10EA51E2-93D4-4777-BC4F-D64956211A9E}"/>
              </a:ext>
            </a:extLst>
          </p:cNvPr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11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2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7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09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65" y="-152747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2E38DB-D247-470F-9E66-7056CC1B5C77}"/>
              </a:ext>
            </a:extLst>
          </p:cNvPr>
          <p:cNvSpPr/>
          <p:nvPr/>
        </p:nvSpPr>
        <p:spPr>
          <a:xfrm>
            <a:off x="356801" y="234317"/>
            <a:ext cx="67818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Анализ существующих решений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F2060A6-B994-4792-8A02-AF73CCE4AC4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074"/>
          <a:stretch/>
        </p:blipFill>
        <p:spPr>
          <a:xfrm>
            <a:off x="391453" y="1108594"/>
            <a:ext cx="3465424" cy="510576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06512EB-3CE8-42B0-85BC-DE17A8BEF0C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797" b="21202"/>
          <a:stretch/>
        </p:blipFill>
        <p:spPr>
          <a:xfrm>
            <a:off x="4331019" y="1108594"/>
            <a:ext cx="6740546" cy="3390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AF39DD0-EDA3-495B-AA15-67968066CF09}"/>
              </a:ext>
            </a:extLst>
          </p:cNvPr>
          <p:cNvSpPr txBox="1"/>
          <p:nvPr/>
        </p:nvSpPr>
        <p:spPr>
          <a:xfrm>
            <a:off x="4331019" y="4482598"/>
            <a:ext cx="6541562" cy="2270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00B050"/>
                </a:solidFill>
                <a:cs typeface="Times New Roman" panose="02020603050405020304" pitchFamily="18" charset="0"/>
              </a:rPr>
              <a:t>Преимущества: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solidFill>
                  <a:schemeClr val="tx1"/>
                </a:solidFill>
                <a:cs typeface="Times New Roman" panose="02020603050405020304" pitchFamily="18" charset="0"/>
              </a:rPr>
              <a:t>- Есть возможность распознавания текста</a:t>
            </a:r>
            <a:r>
              <a:rPr lang="en-US" sz="1600" dirty="0">
                <a:solidFill>
                  <a:schemeClr val="tx1"/>
                </a:solidFill>
                <a:cs typeface="Times New Roman" panose="02020603050405020304" pitchFamily="18" charset="0"/>
              </a:rPr>
              <a:t>;</a:t>
            </a:r>
            <a:endParaRPr lang="ru-RU" sz="16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rgbClr val="FF0000"/>
                </a:solidFill>
                <a:cs typeface="Times New Roman" panose="02020603050405020304" pitchFamily="18" charset="0"/>
              </a:rPr>
              <a:t>Недостатки: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cs typeface="Times New Roman" panose="02020603050405020304" pitchFamily="18" charset="0"/>
              </a:rPr>
              <a:t>-</a:t>
            </a:r>
            <a:r>
              <a:rPr lang="en-US" sz="1600" dirty="0">
                <a:cs typeface="Times New Roman" panose="02020603050405020304" pitchFamily="18" charset="0"/>
              </a:rPr>
              <a:t> </a:t>
            </a:r>
            <a:r>
              <a:rPr lang="ru-RU" sz="1600" dirty="0">
                <a:cs typeface="Times New Roman" panose="02020603050405020304" pitchFamily="18" charset="0"/>
              </a:rPr>
              <a:t>Не учитывается положение элементов на макете, проблема с центрированием текста и элементов, на рисунке центрирование по левому краю, а результат в шаблоне – по центру.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35ECE1-8604-43EF-A93F-14BA7956075B}"/>
              </a:ext>
            </a:extLst>
          </p:cNvPr>
          <p:cNvSpPr txBox="1"/>
          <p:nvPr/>
        </p:nvSpPr>
        <p:spPr>
          <a:xfrm>
            <a:off x="391453" y="741606"/>
            <a:ext cx="60960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 err="1"/>
              <a:t>OpenAI</a:t>
            </a:r>
            <a:r>
              <a:rPr lang="en-US" b="1" dirty="0"/>
              <a:t> </a:t>
            </a:r>
            <a:r>
              <a:rPr lang="en-US" b="1" dirty="0" err="1"/>
              <a:t>ChatGPT</a:t>
            </a:r>
            <a:r>
              <a:rPr lang="en-US" b="1" dirty="0"/>
              <a:t>, GPT-4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785048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8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Постановка задачи</a:t>
            </a:r>
          </a:p>
        </p:txBody>
      </p:sp>
      <p:pic>
        <p:nvPicPr>
          <p:cNvPr id="16" name="Рисунок 15" descr="Назад со сплошной заливкой">
            <a:extLst>
              <a:ext uri="{FF2B5EF4-FFF2-40B4-BE49-F238E27FC236}">
                <a16:creationId xmlns:a16="http://schemas.microsoft.com/office/drawing/2014/main" id="{26001597-0A1A-4AA4-A1B6-331B73E8E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3948" y="3128137"/>
            <a:ext cx="872052" cy="87205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4F520BA-1A7C-4737-8F37-C5282549607C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49096"/>
            <a:ext cx="2804895" cy="3550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74D81B5-4E27-4465-AC0B-45B8391B7D9C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9134899" y="1879265"/>
            <a:ext cx="2612315" cy="35119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FFFA4C-BFEB-48C2-B26F-317F16F18E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228" y="894798"/>
            <a:ext cx="4933720" cy="558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413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Rectángulo">
            <a:extLst>
              <a:ext uri="{FF2B5EF4-FFF2-40B4-BE49-F238E27FC236}">
                <a16:creationId xmlns:a16="http://schemas.microsoft.com/office/drawing/2014/main" id="{17BA47FF-7789-4ADD-8732-22F543CEC36C}"/>
              </a:ext>
            </a:extLst>
          </p:cNvPr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6D4C51F-FB61-4F1B-9CD0-B0C0E658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Задача 2 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64A510-C989-4EE0-AFED-4A572F6BCF9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31850" y="4589462"/>
            <a:ext cx="6047094" cy="150018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МАТЕМАТИЧЕСКОЕ И АЛГОРИТМИЧЕСКОЕ ОБЕСПЕЧЕНИЕ ГЕНЕРИРОВАНИЯ </a:t>
            </a:r>
            <a:r>
              <a:rPr lang="en-US" dirty="0">
                <a:solidFill>
                  <a:srgbClr val="FF0000"/>
                </a:solidFill>
              </a:rPr>
              <a:t>HTML-</a:t>
            </a:r>
            <a:r>
              <a:rPr lang="ru-RU" dirty="0">
                <a:solidFill>
                  <a:srgbClr val="FF0000"/>
                </a:solidFill>
              </a:rPr>
              <a:t>ШАБЛОНОВ ПО РУКОПИСНЫМ РИСУНКАМ-МАКЕТАМ</a:t>
            </a:r>
            <a:endParaRPr lang="ru-RU" dirty="0"/>
          </a:p>
        </p:txBody>
      </p:sp>
      <p:pic>
        <p:nvPicPr>
          <p:cNvPr id="6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B2DC857-5F10-4A98-9F25-F25D31209A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  <p:pic>
        <p:nvPicPr>
          <p:cNvPr id="7" name="Рисунок 4">
            <a:extLst>
              <a:ext uri="{FF2B5EF4-FFF2-40B4-BE49-F238E27FC236}">
                <a16:creationId xmlns:a16="http://schemas.microsoft.com/office/drawing/2014/main" id="{6BB9A74F-FD01-4945-82A4-B23D1F7DC4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5" y="6889"/>
            <a:ext cx="5313056" cy="686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378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10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228599" y="231086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Архитектура нейронной сети. </a:t>
            </a:r>
            <a:r>
              <a:rPr lang="en-US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YOLO</a:t>
            </a:r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BF2F7-9451-4F41-B735-AA6D4FC48CEE}"/>
              </a:ext>
            </a:extLst>
          </p:cNvPr>
          <p:cNvSpPr txBox="1"/>
          <p:nvPr/>
        </p:nvSpPr>
        <p:spPr>
          <a:xfrm>
            <a:off x="390258" y="2753206"/>
            <a:ext cx="8502031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400" dirty="0"/>
              <a:t>На вход нейронной сети подаётся изображение размерностью </a:t>
            </a:r>
            <a:r>
              <a:rPr lang="en-US" sz="1400" dirty="0"/>
              <a:t>448x448x1</a:t>
            </a:r>
            <a:r>
              <a:rPr lang="ru-RU" sz="1400" dirty="0"/>
              <a:t>, изображение проходит через слои свёртки и </a:t>
            </a:r>
            <a:r>
              <a:rPr lang="en-US" sz="1400" dirty="0" err="1"/>
              <a:t>MaxPooling</a:t>
            </a:r>
            <a:r>
              <a:rPr lang="en-US" sz="1400" dirty="0"/>
              <a:t> </a:t>
            </a:r>
            <a:r>
              <a:rPr lang="ru-RU" sz="1400" dirty="0"/>
              <a:t>и на выходе получаем результат с размерностью </a:t>
            </a:r>
            <a:r>
              <a:rPr lang="en-US" sz="1400" dirty="0"/>
              <a:t>14x14x12.</a:t>
            </a:r>
            <a:r>
              <a:rPr lang="ru-RU" sz="1400" dirty="0"/>
              <a:t> Подавая нейронной сети изображения с одинаковой размерностью, мы можем обучать нейросеть с помощью пачек изображений (в нашем случае по 8 изображений в пачке), это ускоряет обучение. Функция потерь: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AF8DC76-F980-4FFB-B2E5-AB6201929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289" y="1029420"/>
            <a:ext cx="2735123" cy="555068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5D8020-F98E-4B7A-BBD7-5F18E75033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9248"/>
          <a:stretch/>
        </p:blipFill>
        <p:spPr>
          <a:xfrm>
            <a:off x="480043" y="932646"/>
            <a:ext cx="8002501" cy="176663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F930882-2AEF-40BC-ACE8-43E7659581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1256" y="4170269"/>
            <a:ext cx="4540976" cy="254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8007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779442" y="-4572066"/>
            <a:ext cx="488606" cy="1004749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11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4633" y="231086"/>
            <a:ext cx="100276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Подготовка тренировочных изображений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D8589C-84DD-4DD3-A85C-FDCF96C3E796}"/>
              </a:ext>
            </a:extLst>
          </p:cNvPr>
          <p:cNvSpPr txBox="1"/>
          <p:nvPr/>
        </p:nvSpPr>
        <p:spPr>
          <a:xfrm>
            <a:off x="5091763" y="1112603"/>
            <a:ext cx="6655451" cy="2960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400" dirty="0"/>
              <a:t>Для того, чтобы не готовить тренировочный набор данных, рисуя изображения от руки, было принято решение использовать алгоритм для формирования набора изображений, включающий разные типы объектов в разном положении. Особенность этого алгоритма в том, что можно подготовить большое количество изображений, используя разные вариации случайного шума, случайного освещения, фона. А также сами элементы случайным образом трансформируются: изменяется их масштаб или угол наклона. Таким образом, можно подготовить большой набор обучающих данных, при этом не затрачивая на это много времени.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4C3DEB6-00CF-4F8A-BFB0-8EB8423D74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515" y="4000360"/>
            <a:ext cx="3784699" cy="227688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F905337-0250-4233-B28A-574FDB28DC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9653"/>
          <a:stretch/>
        </p:blipFill>
        <p:spPr>
          <a:xfrm>
            <a:off x="480044" y="1189605"/>
            <a:ext cx="4384958" cy="203066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2AB99CC-63D9-4AE6-B3FC-DD5458D5DA5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01" t="2170"/>
          <a:stretch/>
        </p:blipFill>
        <p:spPr>
          <a:xfrm>
            <a:off x="480044" y="3405203"/>
            <a:ext cx="4452970" cy="267799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AB68B36-F59B-4DB9-AA68-28D266EBE3A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825" y="4023117"/>
            <a:ext cx="2679809" cy="225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02214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12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Подготовка тренировочных изображений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C74A8BB-D95B-483E-8D34-49A3CF11F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66" y="990048"/>
            <a:ext cx="2716606" cy="440852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B175BD8-3ED5-4DEE-AB42-7D3BE2E09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1791" y="781999"/>
            <a:ext cx="5267580" cy="25415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D4726846-1AA3-4D6A-89CB-74CD90F9D880}"/>
                  </a:ext>
                </a:extLst>
              </p14:cNvPr>
              <p14:cNvContentPartPr/>
              <p14:nvPr/>
            </p14:nvContentPartPr>
            <p14:xfrm>
              <a:off x="1514445" y="1503570"/>
              <a:ext cx="834480" cy="163800"/>
            </p14:xfrm>
          </p:contentPart>
        </mc:Choice>
        <mc:Fallback xmlns=""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D4726846-1AA3-4D6A-89CB-74CD90F9D8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05445" y="1494570"/>
                <a:ext cx="85212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4D0210A7-6F0D-48FC-AC23-4DE4B418B0EB}"/>
                  </a:ext>
                </a:extLst>
              </p14:cNvPr>
              <p14:cNvContentPartPr/>
              <p14:nvPr/>
            </p14:nvContentPartPr>
            <p14:xfrm>
              <a:off x="1514445" y="3737682"/>
              <a:ext cx="885600" cy="698400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4D0210A7-6F0D-48FC-AC23-4DE4B418B0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05445" y="3728682"/>
                <a:ext cx="903240" cy="71604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4B9F61F-3DD1-4C7E-89FD-3070245CE2B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27381"/>
          <a:stretch/>
        </p:blipFill>
        <p:spPr>
          <a:xfrm>
            <a:off x="2462046" y="3708736"/>
            <a:ext cx="5572787" cy="23395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01D5F4-59B1-47BF-A8CE-1587B755F7FD}"/>
              </a:ext>
            </a:extLst>
          </p:cNvPr>
          <p:cNvSpPr txBox="1"/>
          <p:nvPr/>
        </p:nvSpPr>
        <p:spPr>
          <a:xfrm>
            <a:off x="8345730" y="901260"/>
            <a:ext cx="3753909" cy="16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400" dirty="0"/>
              <a:t>Для каждого распознаваемого класса подготовлена своя директория, в которой лежит по 100 тренировочных изображений объектов соответствующих классов, эти изображения нарисованы в </a:t>
            </a:r>
            <a:r>
              <a:rPr lang="en-US" sz="1400" dirty="0"/>
              <a:t>Paint.</a:t>
            </a:r>
            <a:endParaRPr lang="ru-RU" sz="14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930E542-BF71-49DB-A465-E52E2372BADA}"/>
              </a:ext>
            </a:extLst>
          </p:cNvPr>
          <p:cNvSpPr/>
          <p:nvPr/>
        </p:nvSpPr>
        <p:spPr>
          <a:xfrm>
            <a:off x="2421791" y="951976"/>
            <a:ext cx="5664162" cy="2430342"/>
          </a:xfrm>
          <a:prstGeom prst="rect">
            <a:avLst/>
          </a:prstGeom>
          <a:noFill/>
          <a:ln w="15875" cap="flat">
            <a:solidFill>
              <a:srgbClr val="FF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EFB5437-B24E-4EB7-87E0-3F07091DFA40}"/>
              </a:ext>
            </a:extLst>
          </p:cNvPr>
          <p:cNvSpPr/>
          <p:nvPr/>
        </p:nvSpPr>
        <p:spPr>
          <a:xfrm>
            <a:off x="2462046" y="3686493"/>
            <a:ext cx="5664162" cy="2430342"/>
          </a:xfrm>
          <a:prstGeom prst="rect">
            <a:avLst/>
          </a:prstGeom>
          <a:noFill/>
          <a:ln w="15875" cap="flat">
            <a:solidFill>
              <a:srgbClr val="FFC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086051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13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Алгоритм подготовки тренировочных изображений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2F218E0-A7BB-4573-8C4E-1AB179B48CE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997578" y="963858"/>
            <a:ext cx="5810901" cy="5532324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C5B3BDE-778C-4873-AEBD-932892CBD3CB}"/>
              </a:ext>
            </a:extLst>
          </p:cNvPr>
          <p:cNvGrpSpPr/>
          <p:nvPr/>
        </p:nvGrpSpPr>
        <p:grpSpPr>
          <a:xfrm>
            <a:off x="8808479" y="1112288"/>
            <a:ext cx="3159855" cy="930355"/>
            <a:chOff x="10091724" y="1184868"/>
            <a:chExt cx="2052947" cy="783787"/>
          </a:xfrm>
        </p:grpSpPr>
        <p:sp>
          <p:nvSpPr>
            <p:cNvPr id="17" name="Прямоугольник: один усеченный угол 16">
              <a:extLst>
                <a:ext uri="{FF2B5EF4-FFF2-40B4-BE49-F238E27FC236}">
                  <a16:creationId xmlns:a16="http://schemas.microsoft.com/office/drawing/2014/main" id="{0FB11078-E720-4B02-BA06-C2841DE450BC}"/>
                </a:ext>
              </a:extLst>
            </p:cNvPr>
            <p:cNvSpPr/>
            <p:nvPr/>
          </p:nvSpPr>
          <p:spPr bwMode="auto">
            <a:xfrm>
              <a:off x="10666052" y="1184868"/>
              <a:ext cx="1478619" cy="764454"/>
            </a:xfrm>
            <a:prstGeom prst="snip1Rect">
              <a:avLst>
                <a:gd name="adj" fmla="val 27632"/>
              </a:avLst>
            </a:prstGeom>
            <a:solidFill>
              <a:srgbClr val="FFFFFF"/>
            </a:solidFill>
            <a:ln w="63500" cap="flat">
              <a:noFill/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r>
                <a:rPr lang="ru-RU" sz="1200" dirty="0">
                  <a:solidFill>
                    <a:srgbClr val="787878"/>
                  </a:solidFill>
                </a:rPr>
                <a:t>ПО проходит стадию регистрации (заявка № 2024662486 от 03.06.2024)</a:t>
              </a:r>
            </a:p>
          </p:txBody>
        </p:sp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C1EC004F-A722-401A-BB8F-7BC531C60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Glass/>
                      </a14:imgEffect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91724" y="1277281"/>
              <a:ext cx="483521" cy="691374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65895683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779442" y="-4572066"/>
            <a:ext cx="488606" cy="10047490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14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4633" y="231086"/>
            <a:ext cx="100276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Подготовка тренировочных изображений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DEA4B19-956C-461F-A6C6-9E6F41AEE4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4" y="1164363"/>
            <a:ext cx="3268845" cy="317608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977C159-1CE1-422D-91AC-49A022331F1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05" y="1848454"/>
            <a:ext cx="3658626" cy="296474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0EE809D-8BA0-47CE-9304-A09F43FA7F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441" y="2835837"/>
            <a:ext cx="3494034" cy="275472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5BF7987D-8AD0-461C-9FE6-C5919F73693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484"/>
          <a:stretch/>
        </p:blipFill>
        <p:spPr>
          <a:xfrm>
            <a:off x="5962651" y="1585726"/>
            <a:ext cx="4724399" cy="4565581"/>
          </a:xfrm>
          <a:prstGeom prst="rect">
            <a:avLst/>
          </a:prstGeom>
        </p:spPr>
      </p:pic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5182013A-156F-47D3-A2B1-ABEA50046A76}"/>
              </a:ext>
            </a:extLst>
          </p:cNvPr>
          <p:cNvCxnSpPr>
            <a:cxnSpLocks/>
          </p:cNvCxnSpPr>
          <p:nvPr/>
        </p:nvCxnSpPr>
        <p:spPr>
          <a:xfrm>
            <a:off x="6955768" y="1145324"/>
            <a:ext cx="0" cy="31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3BC8171-8370-45F0-BEB6-D81649EBD91F}"/>
              </a:ext>
            </a:extLst>
          </p:cNvPr>
          <p:cNvSpPr txBox="1"/>
          <p:nvPr/>
        </p:nvSpPr>
        <p:spPr>
          <a:xfrm>
            <a:off x="6296141" y="740914"/>
            <a:ext cx="1319254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cs typeface="Times New Roman" panose="02020603050405020304" pitchFamily="18" charset="0"/>
              </a:rPr>
              <a:t>Путь к файлу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D4F5A6-C331-42D1-9528-7E4020AED957}"/>
              </a:ext>
            </a:extLst>
          </p:cNvPr>
          <p:cNvSpPr txBox="1"/>
          <p:nvPr/>
        </p:nvSpPr>
        <p:spPr>
          <a:xfrm>
            <a:off x="8142289" y="711721"/>
            <a:ext cx="293958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cs typeface="Times New Roman" panose="02020603050405020304" pitchFamily="18" charset="0"/>
              </a:rPr>
              <a:t>X</a:t>
            </a:r>
            <a:endParaRPr lang="ru-RU" sz="1600" dirty="0"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80104C-C966-40EC-B9AC-547599964D80}"/>
              </a:ext>
            </a:extLst>
          </p:cNvPr>
          <p:cNvSpPr txBox="1"/>
          <p:nvPr/>
        </p:nvSpPr>
        <p:spPr>
          <a:xfrm>
            <a:off x="8428039" y="711721"/>
            <a:ext cx="293958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cs typeface="Times New Roman" panose="02020603050405020304" pitchFamily="18" charset="0"/>
              </a:rPr>
              <a:t>Y</a:t>
            </a:r>
            <a:endParaRPr lang="ru-RU" sz="1600" dirty="0"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16351E-49EA-4BB0-B281-8199F03154A2}"/>
              </a:ext>
            </a:extLst>
          </p:cNvPr>
          <p:cNvSpPr txBox="1"/>
          <p:nvPr/>
        </p:nvSpPr>
        <p:spPr>
          <a:xfrm>
            <a:off x="8713789" y="721875"/>
            <a:ext cx="293958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cs typeface="Times New Roman" panose="02020603050405020304" pitchFamily="18" charset="0"/>
              </a:rPr>
              <a:t>W</a:t>
            </a:r>
            <a:endParaRPr lang="ru-RU" sz="1600" dirty="0"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B00CE8-7914-44DB-8946-9C444E17C61B}"/>
              </a:ext>
            </a:extLst>
          </p:cNvPr>
          <p:cNvSpPr txBox="1"/>
          <p:nvPr/>
        </p:nvSpPr>
        <p:spPr>
          <a:xfrm>
            <a:off x="9045167" y="730352"/>
            <a:ext cx="293958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cs typeface="Times New Roman" panose="02020603050405020304" pitchFamily="18" charset="0"/>
              </a:rPr>
              <a:t>H</a:t>
            </a:r>
            <a:endParaRPr lang="ru-RU" sz="1600" dirty="0"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CCBEFB-2A6E-4BF8-9CBC-03C28DB6F2E0}"/>
              </a:ext>
            </a:extLst>
          </p:cNvPr>
          <p:cNvSpPr txBox="1"/>
          <p:nvPr/>
        </p:nvSpPr>
        <p:spPr>
          <a:xfrm>
            <a:off x="9222651" y="721878"/>
            <a:ext cx="1846569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600" dirty="0">
                <a:cs typeface="Times New Roman" panose="02020603050405020304" pitchFamily="18" charset="0"/>
              </a:rPr>
              <a:t>Наименование</a:t>
            </a:r>
          </a:p>
          <a:p>
            <a:pPr algn="ctr">
              <a:lnSpc>
                <a:spcPct val="150000"/>
              </a:lnSpc>
            </a:pPr>
            <a:r>
              <a:rPr lang="ru-RU" sz="1600" dirty="0">
                <a:cs typeface="Times New Roman" panose="02020603050405020304" pitchFamily="18" charset="0"/>
              </a:rPr>
              <a:t>класса</a:t>
            </a:r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9CCFDF65-6381-4853-B049-D40AB8EF8BE3}"/>
              </a:ext>
            </a:extLst>
          </p:cNvPr>
          <p:cNvCxnSpPr>
            <a:cxnSpLocks/>
          </p:cNvCxnSpPr>
          <p:nvPr/>
        </p:nvCxnSpPr>
        <p:spPr>
          <a:xfrm>
            <a:off x="8289268" y="1164363"/>
            <a:ext cx="0" cy="31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2772B3DF-CBC0-4053-AF03-E03E6154CC36}"/>
              </a:ext>
            </a:extLst>
          </p:cNvPr>
          <p:cNvCxnSpPr>
            <a:cxnSpLocks/>
          </p:cNvCxnSpPr>
          <p:nvPr/>
        </p:nvCxnSpPr>
        <p:spPr>
          <a:xfrm>
            <a:off x="8575018" y="1164363"/>
            <a:ext cx="0" cy="31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3A1B6933-F14E-49BE-A6C2-94B7CF3BEB95}"/>
              </a:ext>
            </a:extLst>
          </p:cNvPr>
          <p:cNvCxnSpPr>
            <a:cxnSpLocks/>
          </p:cNvCxnSpPr>
          <p:nvPr/>
        </p:nvCxnSpPr>
        <p:spPr>
          <a:xfrm>
            <a:off x="8870293" y="1164363"/>
            <a:ext cx="0" cy="31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1167CEC3-C750-47D5-B805-64918AB2688F}"/>
              </a:ext>
            </a:extLst>
          </p:cNvPr>
          <p:cNvCxnSpPr>
            <a:cxnSpLocks/>
          </p:cNvCxnSpPr>
          <p:nvPr/>
        </p:nvCxnSpPr>
        <p:spPr>
          <a:xfrm>
            <a:off x="9194143" y="1164363"/>
            <a:ext cx="0" cy="31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6216E1D7-A122-4B5E-9A2C-26FB6941A54D}"/>
              </a:ext>
            </a:extLst>
          </p:cNvPr>
          <p:cNvCxnSpPr>
            <a:cxnSpLocks/>
          </p:cNvCxnSpPr>
          <p:nvPr/>
        </p:nvCxnSpPr>
        <p:spPr>
          <a:xfrm>
            <a:off x="9689443" y="1164363"/>
            <a:ext cx="0" cy="31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21016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15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Показатели при обучении нейронной сети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3189838-A9D6-49A3-B07B-05C236BC439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55283" y="2332803"/>
            <a:ext cx="3148184" cy="303012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627D50D-D854-4523-9B56-97139071E84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597909" y="2190795"/>
            <a:ext cx="2599055" cy="313182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1B7B6B4-DA56-40BE-A05E-A3798598DE19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284240" y="2171368"/>
            <a:ext cx="2451548" cy="317067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7F9D5B6-9592-4508-B49A-8B498AA53432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8782028" y="2178952"/>
            <a:ext cx="2451548" cy="326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8116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16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85EE50D-AABC-44F1-9F4A-B860F100E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397" y="1365448"/>
            <a:ext cx="3759580" cy="444539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4FDCA29-1386-4EE7-BD0A-54D4830E8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1365448"/>
            <a:ext cx="3847136" cy="4445394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601CB6D-F1B7-425A-A1D3-92958791EB11}"/>
              </a:ext>
            </a:extLst>
          </p:cNvPr>
          <p:cNvSpPr/>
          <p:nvPr/>
        </p:nvSpPr>
        <p:spPr>
          <a:xfrm>
            <a:off x="158729" y="234318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Первые результаты обучения нейронной сети</a:t>
            </a:r>
          </a:p>
        </p:txBody>
      </p:sp>
    </p:spTree>
    <p:extLst>
      <p:ext uri="{BB962C8B-B14F-4D97-AF65-F5344CB8AC3E}">
        <p14:creationId xmlns:p14="http://schemas.microsoft.com/office/powerpoint/2010/main" val="299204381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17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Результаты обучения нейронной сети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17F4AA-38E0-4807-8B52-6D4187EFA8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97" y="1313708"/>
            <a:ext cx="4358549" cy="41631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B55EE35-43B9-426A-B714-F886EDDB4A9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430" b="5481"/>
          <a:stretch/>
        </p:blipFill>
        <p:spPr>
          <a:xfrm>
            <a:off x="6284848" y="1313708"/>
            <a:ext cx="4680185" cy="41631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Рисунок 13" descr="Назад со сплошной заливкой">
            <a:extLst>
              <a:ext uri="{FF2B5EF4-FFF2-40B4-BE49-F238E27FC236}">
                <a16:creationId xmlns:a16="http://schemas.microsoft.com/office/drawing/2014/main" id="{431D13AE-2D1B-418A-8539-9FB6D6722A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3823" y="2852552"/>
            <a:ext cx="852177" cy="85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7799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18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Результаты обучения нейронной сети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F449872-B58F-4C42-8FE8-A1A5B5D75CE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47795" y="833946"/>
            <a:ext cx="3682381" cy="30043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93DBEF0-C5DD-4E02-BC71-F815E43E2DA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303728" y="848164"/>
            <a:ext cx="3028932" cy="30043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34C6CD3-1048-4614-9588-800E9D9721CF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562549" y="848164"/>
            <a:ext cx="3589020" cy="30043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474F5AF-7AA4-4EDD-849F-BA1E2AE1EC0A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4303727" y="4139657"/>
            <a:ext cx="3135298" cy="22321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4705236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19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Описание алгоритма генерирования </a:t>
            </a:r>
            <a:r>
              <a:rPr lang="en-US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HTML-</a:t>
            </a:r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шаблонов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927784-A0AD-44D4-BABF-622775B8DB66}"/>
              </a:ext>
            </a:extLst>
          </p:cNvPr>
          <p:cNvSpPr txBox="1"/>
          <p:nvPr/>
        </p:nvSpPr>
        <p:spPr>
          <a:xfrm>
            <a:off x="356801" y="1304200"/>
            <a:ext cx="4691042" cy="30087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600" dirty="0">
                <a:effectLst/>
                <a:ea typeface="Calibri" panose="020F0502020204030204" pitchFamily="34" charset="0"/>
              </a:rPr>
              <a:t>Формирование </a:t>
            </a:r>
            <a:r>
              <a:rPr lang="en-US" sz="1600" dirty="0">
                <a:effectLst/>
                <a:ea typeface="Calibri" panose="020F0502020204030204" pitchFamily="34" charset="0"/>
              </a:rPr>
              <a:t>DSL</a:t>
            </a:r>
            <a:r>
              <a:rPr lang="ru-RU" sz="1600" dirty="0">
                <a:effectLst/>
                <a:ea typeface="Calibri" panose="020F0502020204030204" pitchFamily="34" charset="0"/>
              </a:rPr>
              <a:t>-структуры (</a:t>
            </a:r>
            <a:r>
              <a:rPr lang="en-US" sz="1600" dirty="0">
                <a:effectLst/>
                <a:ea typeface="Calibri" panose="020F0502020204030204" pitchFamily="34" charset="0"/>
              </a:rPr>
              <a:t>DSL</a:t>
            </a:r>
            <a:r>
              <a:rPr lang="ru-RU" sz="1600" dirty="0">
                <a:effectLst/>
                <a:ea typeface="Calibri" panose="020F0502020204030204" pitchFamily="34" charset="0"/>
              </a:rPr>
              <a:t> – это предметно-ориентированный язык);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600" dirty="0">
                <a:effectLst/>
                <a:ea typeface="Calibri" panose="020F0502020204030204" pitchFamily="34" charset="0"/>
              </a:rPr>
              <a:t>вычисление отступов для строк и столбцов в соответствии с положением объектов на рукописном рисунке;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600" dirty="0">
                <a:effectLst/>
                <a:ea typeface="Calibri" panose="020F0502020204030204" pitchFamily="34" charset="0"/>
              </a:rPr>
              <a:t>формирование </a:t>
            </a:r>
            <a:r>
              <a:rPr lang="en-US" sz="1600" dirty="0">
                <a:effectLst/>
                <a:ea typeface="Calibri" panose="020F0502020204030204" pitchFamily="34" charset="0"/>
              </a:rPr>
              <a:t>HTML</a:t>
            </a:r>
            <a:r>
              <a:rPr lang="ru-RU" sz="1600" dirty="0">
                <a:effectLst/>
                <a:ea typeface="Calibri" panose="020F0502020204030204" pitchFamily="34" charset="0"/>
              </a:rPr>
              <a:t>-шаблона на основе </a:t>
            </a:r>
            <a:r>
              <a:rPr lang="en-US" sz="1600" dirty="0">
                <a:effectLst/>
                <a:ea typeface="Calibri" panose="020F0502020204030204" pitchFamily="34" charset="0"/>
              </a:rPr>
              <a:t>DSL</a:t>
            </a:r>
            <a:r>
              <a:rPr lang="ru-RU" sz="1600" dirty="0">
                <a:effectLst/>
                <a:ea typeface="Calibri" panose="020F0502020204030204" pitchFamily="34" charset="0"/>
              </a:rPr>
              <a:t>-структуры с учетом отступов для иерархического дерева элементов.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074B12E-D037-4652-B367-6BA0D0EABD0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464508" y="1036984"/>
            <a:ext cx="6282706" cy="33333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D4E7D3-AD6B-4BE5-BAB7-7059A41562AC}"/>
              </a:ext>
            </a:extLst>
          </p:cNvPr>
          <p:cNvSpPr txBox="1"/>
          <p:nvPr/>
        </p:nvSpPr>
        <p:spPr>
          <a:xfrm>
            <a:off x="356801" y="934868"/>
            <a:ext cx="512061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b="1" dirty="0"/>
              <a:t>Этапы алгоритма: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724161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Описание алгоритма генерирования </a:t>
            </a:r>
            <a:r>
              <a:rPr lang="en-US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HTML-</a:t>
            </a:r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шаблонов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6121EAE-82F0-4B36-B292-48AE6FAA8D6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9326" y="1011895"/>
            <a:ext cx="11809007" cy="5601313"/>
          </a:xfrm>
          <a:prstGeom prst="rect">
            <a:avLst/>
          </a:prstGeom>
        </p:spPr>
      </p:pic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4491" y="6174220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20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18AF5F7-AAB1-41A1-B005-BADE8360F18F}"/>
              </a:ext>
            </a:extLst>
          </p:cNvPr>
          <p:cNvSpPr/>
          <p:nvPr/>
        </p:nvSpPr>
        <p:spPr>
          <a:xfrm>
            <a:off x="8943975" y="894798"/>
            <a:ext cx="1428750" cy="1734102"/>
          </a:xfrm>
          <a:prstGeom prst="rect">
            <a:avLst/>
          </a:prstGeom>
          <a:noFill/>
          <a:ln w="38100" cap="flat">
            <a:solidFill>
              <a:schemeClr val="accent5">
                <a:lumMod val="7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EC280E4-9A31-409F-8C91-DC4475A45FBF}"/>
              </a:ext>
            </a:extLst>
          </p:cNvPr>
          <p:cNvSpPr/>
          <p:nvPr/>
        </p:nvSpPr>
        <p:spPr>
          <a:xfrm>
            <a:off x="9048750" y="6029325"/>
            <a:ext cx="1257300" cy="672405"/>
          </a:xfrm>
          <a:prstGeom prst="rect">
            <a:avLst/>
          </a:prstGeom>
          <a:noFill/>
          <a:ln w="38100" cap="flat">
            <a:solidFill>
              <a:srgbClr val="FF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931263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21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Описание алгоритма генерирования </a:t>
            </a:r>
            <a:r>
              <a:rPr lang="en-US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HTML-</a:t>
            </a:r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шаблонов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300130A-A83D-4201-811E-D0EEAA4AE5EE}"/>
              </a:ext>
            </a:extLst>
          </p:cNvPr>
          <p:cNvPicPr/>
          <p:nvPr/>
        </p:nvPicPr>
        <p:blipFill rotWithShape="1">
          <a:blip r:embed="rId4"/>
          <a:srcRect l="1140" t="317"/>
          <a:stretch/>
        </p:blipFill>
        <p:spPr bwMode="auto">
          <a:xfrm>
            <a:off x="356801" y="894798"/>
            <a:ext cx="10275702" cy="57061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7412991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22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Описание алгоритма генерирования </a:t>
            </a:r>
            <a:r>
              <a:rPr lang="en-US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HTML-</a:t>
            </a:r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шаблонов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EC7EA43-8E7C-4CF0-9466-B64F12F13BE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346310" y="836738"/>
            <a:ext cx="9282548" cy="584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1754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Rectángulo">
            <a:extLst>
              <a:ext uri="{FF2B5EF4-FFF2-40B4-BE49-F238E27FC236}">
                <a16:creationId xmlns:a16="http://schemas.microsoft.com/office/drawing/2014/main" id="{17BA47FF-7789-4ADD-8732-22F543CEC36C}"/>
              </a:ext>
            </a:extLst>
          </p:cNvPr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6D4C51F-FB61-4F1B-9CD0-B0C0E658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Задача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ru-RU" dirty="0">
                <a:solidFill>
                  <a:srgbClr val="FF0000"/>
                </a:solidFill>
              </a:rPr>
              <a:t> 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64A510-C989-4EE0-AFED-4A572F6BCF9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31850" y="4589462"/>
            <a:ext cx="6047094" cy="150018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ПРОЕКТИРОВАНИЕ ИНФОРМАЦИОННОГО И ПРОГРАММНОГО ОБЕСПЕЧЕНИЯ ГЕНЕРИРОВАНИЯ </a:t>
            </a:r>
            <a:r>
              <a:rPr lang="en-US" dirty="0">
                <a:solidFill>
                  <a:srgbClr val="FF0000"/>
                </a:solidFill>
              </a:rPr>
              <a:t>HTML-</a:t>
            </a:r>
            <a:r>
              <a:rPr lang="ru-RU" dirty="0">
                <a:solidFill>
                  <a:srgbClr val="FF0000"/>
                </a:solidFill>
              </a:rPr>
              <a:t>ШАБЛОНОВ ПО РУКОПИСНЫМ РИСУНКАМ-МАКЕТАМ</a:t>
            </a:r>
            <a:endParaRPr lang="ru-RU" dirty="0"/>
          </a:p>
        </p:txBody>
      </p:sp>
      <p:pic>
        <p:nvPicPr>
          <p:cNvPr id="6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B2DC857-5F10-4A98-9F25-F25D31209A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  <p:pic>
        <p:nvPicPr>
          <p:cNvPr id="7" name="Рисунок 4">
            <a:extLst>
              <a:ext uri="{FF2B5EF4-FFF2-40B4-BE49-F238E27FC236}">
                <a16:creationId xmlns:a16="http://schemas.microsoft.com/office/drawing/2014/main" id="{6BB9A74F-FD01-4945-82A4-B23D1F7DC4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4" y="6889"/>
            <a:ext cx="5313056" cy="686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4504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с двумя скругленными соседними углами 10">
            <a:extLst>
              <a:ext uri="{FF2B5EF4-FFF2-40B4-BE49-F238E27FC236}">
                <a16:creationId xmlns:a16="http://schemas.microsoft.com/office/drawing/2014/main" id="{9E500FAE-FFEB-4744-8A97-2960DD3B3FE6}"/>
              </a:ext>
            </a:extLst>
          </p:cNvPr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25" name="Прямоугольник с двумя скругленными соседними углами 24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03" name="Наименование разрабатываемого ПО"/>
          <p:cNvSpPr txBox="1"/>
          <p:nvPr/>
        </p:nvSpPr>
        <p:spPr>
          <a:xfrm>
            <a:off x="760950" y="957477"/>
            <a:ext cx="502367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rgbClr val="FF0000"/>
                </a:solidFill>
              </a:rPr>
              <a:t>Технология проектирования</a:t>
            </a:r>
          </a:p>
        </p:txBody>
      </p:sp>
      <p:sp>
        <p:nvSpPr>
          <p:cNvPr id="104" name="Программное обеспечение конвейерного производства видеоаналитических модулей для беспилотных летательных аппаратов (БПЛА), включающее инструменты для быстрого их создания и маркетплейс датасетов и видеомодулей."/>
          <p:cNvSpPr txBox="1"/>
          <p:nvPr/>
        </p:nvSpPr>
        <p:spPr>
          <a:xfrm>
            <a:off x="5784619" y="970343"/>
            <a:ext cx="586445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400">
                <a:solidFill>
                  <a:srgbClr val="414141"/>
                </a:solidFill>
              </a:defRPr>
            </a:lvl1pPr>
          </a:lstStyle>
          <a:p>
            <a:r>
              <a:rPr lang="ru-RU" sz="1600" dirty="0">
                <a:effectLst/>
                <a:ea typeface="Times New Roman" panose="02020603050405020304" pitchFamily="18" charset="0"/>
              </a:rPr>
              <a:t>Объектно-ориентированный и функциональный подход</a:t>
            </a:r>
          </a:p>
        </p:txBody>
      </p:sp>
      <p:sp>
        <p:nvSpPr>
          <p:cNvPr id="105" name="Назначение разрабатываемого ПО"/>
          <p:cNvSpPr txBox="1"/>
          <p:nvPr/>
        </p:nvSpPr>
        <p:spPr>
          <a:xfrm>
            <a:off x="760950" y="1355474"/>
            <a:ext cx="502367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rgbClr val="FF0000"/>
                </a:solidFill>
              </a:rPr>
              <a:t>Среда разработки ПО</a:t>
            </a:r>
          </a:p>
        </p:txBody>
      </p:sp>
      <p:sp>
        <p:nvSpPr>
          <p:cNvPr id="109" name="Основные результаты проекта"/>
          <p:cNvSpPr txBox="1"/>
          <p:nvPr/>
        </p:nvSpPr>
        <p:spPr>
          <a:xfrm>
            <a:off x="760949" y="1768861"/>
            <a:ext cx="502367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b="1">
                <a:solidFill>
                  <a:srgbClr val="008A75"/>
                </a:solidFill>
              </a:defRPr>
            </a:lvl1pPr>
          </a:lstStyle>
          <a:p>
            <a:r>
              <a:rPr lang="ru-RU" b="0" dirty="0">
                <a:solidFill>
                  <a:srgbClr val="FF0000"/>
                </a:solidFill>
              </a:rPr>
              <a:t>Средство разработки нейронной сети</a:t>
            </a:r>
          </a:p>
        </p:txBody>
      </p:sp>
      <p:sp>
        <p:nvSpPr>
          <p:cNvPr id="110" name="Группа"/>
          <p:cNvSpPr/>
          <p:nvPr/>
        </p:nvSpPr>
        <p:spPr>
          <a:xfrm>
            <a:off x="5054659" y="1747312"/>
            <a:ext cx="4809035" cy="3693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just">
              <a:defRPr sz="1400">
                <a:solidFill>
                  <a:srgbClr val="414141"/>
                </a:solidFill>
              </a:defRPr>
            </a:lvl1pPr>
          </a:lstStyle>
          <a:p>
            <a:endParaRPr lang="ru-RU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2EE4E-F074-46B8-A070-86DAEB423636}"/>
              </a:ext>
            </a:extLst>
          </p:cNvPr>
          <p:cNvSpPr txBox="1"/>
          <p:nvPr/>
        </p:nvSpPr>
        <p:spPr>
          <a:xfrm>
            <a:off x="760949" y="2142359"/>
            <a:ext cx="5023672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Средства разработки сервиса детектирования</a:t>
            </a:r>
            <a:endParaRPr lang="ru-RU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6BACAB4-AB4B-4CED-ADA8-3B2575BDBF42}"/>
              </a:ext>
            </a:extLst>
          </p:cNvPr>
          <p:cNvSpPr/>
          <p:nvPr/>
        </p:nvSpPr>
        <p:spPr>
          <a:xfrm>
            <a:off x="347565" y="234317"/>
            <a:ext cx="89311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Выбор подхода к проектированию и инструментальных средств </a:t>
            </a:r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21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24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Группа">
            <a:extLst>
              <a:ext uri="{FF2B5EF4-FFF2-40B4-BE49-F238E27FC236}">
                <a16:creationId xmlns:a16="http://schemas.microsoft.com/office/drawing/2014/main" id="{01D9199F-0161-45EF-BE37-D4436D9EB488}"/>
              </a:ext>
            </a:extLst>
          </p:cNvPr>
          <p:cNvSpPr/>
          <p:nvPr/>
        </p:nvSpPr>
        <p:spPr>
          <a:xfrm>
            <a:off x="5054659" y="2168890"/>
            <a:ext cx="4809035" cy="3693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just">
              <a:defRPr sz="1400">
                <a:solidFill>
                  <a:srgbClr val="414141"/>
                </a:solidFill>
              </a:defRPr>
            </a:lvl1pPr>
          </a:lstStyle>
          <a:p>
            <a:endParaRPr lang="ru-RU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86049A-535E-4B4E-8501-6BA1086D7F58}"/>
              </a:ext>
            </a:extLst>
          </p:cNvPr>
          <p:cNvSpPr txBox="1"/>
          <p:nvPr/>
        </p:nvSpPr>
        <p:spPr>
          <a:xfrm>
            <a:off x="760949" y="2548761"/>
            <a:ext cx="5023672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dirty="0">
                <a:solidFill>
                  <a:srgbClr val="FF0000"/>
                </a:solidFill>
              </a:rPr>
              <a:t>Средства разработки приложения-демонстратора</a:t>
            </a:r>
            <a:endParaRPr lang="ru-RU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Группа">
            <a:extLst>
              <a:ext uri="{FF2B5EF4-FFF2-40B4-BE49-F238E27FC236}">
                <a16:creationId xmlns:a16="http://schemas.microsoft.com/office/drawing/2014/main" id="{374244F9-A082-41FA-AF14-B30A95CE6240}"/>
              </a:ext>
            </a:extLst>
          </p:cNvPr>
          <p:cNvSpPr/>
          <p:nvPr/>
        </p:nvSpPr>
        <p:spPr>
          <a:xfrm>
            <a:off x="5054659" y="2563937"/>
            <a:ext cx="4809035" cy="3693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just">
              <a:defRPr sz="1400">
                <a:solidFill>
                  <a:srgbClr val="414141"/>
                </a:solidFill>
              </a:defRPr>
            </a:lvl1pPr>
          </a:lstStyle>
          <a:p>
            <a:endParaRPr lang="ru-RU" sz="1800" dirty="0"/>
          </a:p>
        </p:txBody>
      </p:sp>
      <p:sp>
        <p:nvSpPr>
          <p:cNvPr id="24" name="Программное обеспечение конвейерного производства видеоаналитических модулей для беспилотных летательных аппаратов (БПЛА), включающее инструменты для быстрого их создания и маркетплейс датасетов и видеомодулей.">
            <a:extLst>
              <a:ext uri="{FF2B5EF4-FFF2-40B4-BE49-F238E27FC236}">
                <a16:creationId xmlns:a16="http://schemas.microsoft.com/office/drawing/2014/main" id="{FFE43900-6A08-4F69-8552-397EEB3CF1E9}"/>
              </a:ext>
            </a:extLst>
          </p:cNvPr>
          <p:cNvSpPr txBox="1"/>
          <p:nvPr/>
        </p:nvSpPr>
        <p:spPr>
          <a:xfrm>
            <a:off x="5784620" y="1369252"/>
            <a:ext cx="480903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400">
                <a:solidFill>
                  <a:srgbClr val="414141"/>
                </a:solidFill>
              </a:defRPr>
            </a:lvl1pPr>
          </a:lstStyle>
          <a:p>
            <a:r>
              <a:rPr lang="en-US" sz="1600" dirty="0">
                <a:effectLst/>
                <a:ea typeface="Times New Roman" panose="02020603050405020304" pitchFamily="18" charset="0"/>
              </a:rPr>
              <a:t>Visual Studio Code</a:t>
            </a:r>
            <a:endParaRPr lang="ru-RU" sz="16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27" name="Программное обеспечение конвейерного производства видеоаналитических модулей для беспилотных летательных аппаратов (БПЛА), включающее инструменты для быстрого их создания и маркетплейс датасетов и видеомодулей.">
            <a:extLst>
              <a:ext uri="{FF2B5EF4-FFF2-40B4-BE49-F238E27FC236}">
                <a16:creationId xmlns:a16="http://schemas.microsoft.com/office/drawing/2014/main" id="{7575EBC1-B8FB-4546-B22C-590737990C9A}"/>
              </a:ext>
            </a:extLst>
          </p:cNvPr>
          <p:cNvSpPr txBox="1"/>
          <p:nvPr/>
        </p:nvSpPr>
        <p:spPr>
          <a:xfrm>
            <a:off x="5802793" y="1807029"/>
            <a:ext cx="480903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400">
                <a:solidFill>
                  <a:srgbClr val="414141"/>
                </a:solidFill>
              </a:defRPr>
            </a:lvl1pPr>
          </a:lstStyle>
          <a:p>
            <a:r>
              <a:rPr lang="en-US" sz="1600" dirty="0">
                <a:effectLst/>
                <a:ea typeface="Times New Roman" panose="02020603050405020304" pitchFamily="18" charset="0"/>
              </a:rPr>
              <a:t>TensorFlow</a:t>
            </a:r>
            <a:endParaRPr lang="ru-RU" sz="16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30" name="Программное обеспечение конвейерного производства видеоаналитических модулей для беспилотных летательных аппаратов (БПЛА), включающее инструменты для быстрого их создания и маркетплейс датасетов и видеомодулей.">
            <a:extLst>
              <a:ext uri="{FF2B5EF4-FFF2-40B4-BE49-F238E27FC236}">
                <a16:creationId xmlns:a16="http://schemas.microsoft.com/office/drawing/2014/main" id="{C22178FA-2683-44AF-99D6-2063CA431679}"/>
              </a:ext>
            </a:extLst>
          </p:cNvPr>
          <p:cNvSpPr txBox="1"/>
          <p:nvPr/>
        </p:nvSpPr>
        <p:spPr>
          <a:xfrm>
            <a:off x="5802793" y="2179442"/>
            <a:ext cx="480903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400">
                <a:solidFill>
                  <a:srgbClr val="414141"/>
                </a:solidFill>
              </a:defRPr>
            </a:lvl1pPr>
          </a:lstStyle>
          <a:p>
            <a:r>
              <a:rPr lang="en-US" sz="1600" dirty="0">
                <a:ea typeface="Times New Roman" panose="02020603050405020304" pitchFamily="18" charset="0"/>
              </a:rPr>
              <a:t>Python</a:t>
            </a:r>
            <a:endParaRPr lang="ru-RU" sz="16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BB2268-EE01-402B-856D-F3CF26EE23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27" y="4390603"/>
            <a:ext cx="1952626" cy="1952626"/>
          </a:xfrm>
          <a:prstGeom prst="rect">
            <a:avLst/>
          </a:prstGeom>
        </p:spPr>
      </p:pic>
      <p:sp>
        <p:nvSpPr>
          <p:cNvPr id="26" name="Программное обеспечение конвейерного производства видеоаналитических модулей для беспилотных летательных аппаратов (БПЛА), включающее инструменты для быстрого их создания и маркетплейс датасетов и видеомодулей.">
            <a:extLst>
              <a:ext uri="{FF2B5EF4-FFF2-40B4-BE49-F238E27FC236}">
                <a16:creationId xmlns:a16="http://schemas.microsoft.com/office/drawing/2014/main" id="{2F2E4EF9-8FA0-4688-9927-B8E9E4E6C071}"/>
              </a:ext>
            </a:extLst>
          </p:cNvPr>
          <p:cNvSpPr txBox="1"/>
          <p:nvPr/>
        </p:nvSpPr>
        <p:spPr>
          <a:xfrm>
            <a:off x="5784619" y="2586286"/>
            <a:ext cx="5159605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1400">
                <a:solidFill>
                  <a:srgbClr val="414141"/>
                </a:solidFill>
              </a:defRPr>
            </a:lvl1pPr>
          </a:lstStyle>
          <a:p>
            <a:r>
              <a:rPr lang="ru-RU" sz="1600" dirty="0">
                <a:ea typeface="Times New Roman" panose="02020603050405020304" pitchFamily="18" charset="0"/>
              </a:rPr>
              <a:t>Фреймворк </a:t>
            </a:r>
            <a:r>
              <a:rPr lang="en-US" sz="1600" dirty="0">
                <a:ea typeface="Times New Roman" panose="02020603050405020304" pitchFamily="18" charset="0"/>
              </a:rPr>
              <a:t>Angular, </a:t>
            </a:r>
            <a:r>
              <a:rPr lang="ru-RU" sz="1600" dirty="0">
                <a:ea typeface="Times New Roman" panose="02020603050405020304" pitchFamily="18" charset="0"/>
              </a:rPr>
              <a:t>язык программирования </a:t>
            </a:r>
            <a:r>
              <a:rPr lang="en-US" sz="1600" dirty="0">
                <a:ea typeface="Times New Roman" panose="02020603050405020304" pitchFamily="18" charset="0"/>
              </a:rPr>
              <a:t>TypeScript</a:t>
            </a:r>
            <a:endParaRPr lang="ru-RU" sz="16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2050" name="Picture 2" descr="GitHub - tensorflow/tensorflow: An Open Source Machine Learning Framework  for Everyone">
            <a:extLst>
              <a:ext uri="{FF2B5EF4-FFF2-40B4-BE49-F238E27FC236}">
                <a16:creationId xmlns:a16="http://schemas.microsoft.com/office/drawing/2014/main" id="{6018AD87-F715-402B-A16E-C2FB17B8F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905" y="2719566"/>
            <a:ext cx="6398528" cy="214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ypeScript — Википедия">
            <a:extLst>
              <a:ext uri="{FF2B5EF4-FFF2-40B4-BE49-F238E27FC236}">
                <a16:creationId xmlns:a16="http://schemas.microsoft.com/office/drawing/2014/main" id="{58F69F37-06C9-452E-A6A3-B4D7394A6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13" y="4570613"/>
            <a:ext cx="1825825" cy="182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ython (programming language) - Wikipedia">
            <a:extLst>
              <a:ext uri="{FF2B5EF4-FFF2-40B4-BE49-F238E27FC236}">
                <a16:creationId xmlns:a16="http://schemas.microsoft.com/office/drawing/2014/main" id="{BA8E3ADC-7ADA-4BE8-9D0A-DA0C8468B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998" y="4570613"/>
            <a:ext cx="2027001" cy="2221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7EF14381-0039-40FD-BDC7-AA5FC3A3D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50" y="4249111"/>
            <a:ext cx="2468828" cy="2468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7014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25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Диаграмма вариантов использования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7CBC4CD-08BB-41A0-88AF-DC5B4A9DE8A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80399" y="1093469"/>
            <a:ext cx="8467091" cy="541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0890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26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Контекстная диаграмма классов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7970655-2CA1-4085-BFE5-1A854D305D0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56292" y="793848"/>
            <a:ext cx="5969163" cy="5708351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C07D6D0-146E-4B28-A7A3-D2424D8D7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110416"/>
              </p:ext>
            </p:extLst>
          </p:nvPr>
        </p:nvGraphicFramePr>
        <p:xfrm>
          <a:off x="6332177" y="901260"/>
          <a:ext cx="5134506" cy="56009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95256">
                  <a:extLst>
                    <a:ext uri="{9D8B030D-6E8A-4147-A177-3AD203B41FA5}">
                      <a16:colId xmlns:a16="http://schemas.microsoft.com/office/drawing/2014/main" val="177994033"/>
                    </a:ext>
                  </a:extLst>
                </a:gridCol>
                <a:gridCol w="2839250">
                  <a:extLst>
                    <a:ext uri="{9D8B030D-6E8A-4147-A177-3AD203B41FA5}">
                      <a16:colId xmlns:a16="http://schemas.microsoft.com/office/drawing/2014/main" val="808556302"/>
                    </a:ext>
                  </a:extLst>
                </a:gridCol>
              </a:tblGrid>
              <a:tr h="2611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Наименование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Описание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7528195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Пользователь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Представляет лицо, которое обращается к системе и работает с ней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1223441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Редактор шаблона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Сущность для редактирования сгенерированного </a:t>
                      </a:r>
                      <a:r>
                        <a:rPr lang="en-US" sz="1200" dirty="0">
                          <a:effectLst/>
                        </a:rPr>
                        <a:t>HTML</a:t>
                      </a:r>
                      <a:r>
                        <a:rPr lang="ru-RU" sz="1200" dirty="0">
                          <a:effectLst/>
                        </a:rPr>
                        <a:t>-шаблона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1932775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Компоненты редактора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Сущность, представляющая из себя набор компонентов для редактирования шаблонов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2271043"/>
                  </a:ext>
                </a:extLst>
              </a:tr>
              <a:tr h="4191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Редактор кнопки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Сущность для редактирования кнопки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351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Редактор заголовка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Сущность для редактирования заголовка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8626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Редактор текста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Сущность для редактирования текста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435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Редактор контейнера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Сущность для редактирования контейнера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470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Редактор ссылки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Сущность для редактирования ссылки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1073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Редактор кастомного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HTML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Сущность для редактирования кастомного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HTML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274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Шаблон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Сущность, представляющая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HTML-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шаблон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0679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Загрузчик изображений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Сущность для загрузки изображений макетов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7468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Изображение макета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Сущность, представляющая собой изображение макета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9971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Детектор объектов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Сущность для детектирования объектов с изображения рисунка-макета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7414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Алгоритм формирования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HTML-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сетки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Сущность, реализующая алгоритм для формирования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HTML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-сетки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936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Элементы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Сущность, представляющая из себя набор элементов, из которых состоит шаблон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5754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59637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27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Диаграмма размещения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8EE8279-3011-47AF-86B2-0B4B1BE4267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366576" y="894798"/>
            <a:ext cx="7844224" cy="572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3721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Rectángulo">
            <a:extLst>
              <a:ext uri="{FF2B5EF4-FFF2-40B4-BE49-F238E27FC236}">
                <a16:creationId xmlns:a16="http://schemas.microsoft.com/office/drawing/2014/main" id="{17BA47FF-7789-4ADD-8732-22F543CEC36C}"/>
              </a:ext>
            </a:extLst>
          </p:cNvPr>
          <p:cNvSpPr/>
          <p:nvPr/>
        </p:nvSpPr>
        <p:spPr bwMode="auto">
          <a:xfrm flipV="1">
            <a:off x="6903038" y="977482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6D4C51F-FB61-4F1B-9CD0-B0C0E658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Задача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ru-RU" dirty="0">
                <a:solidFill>
                  <a:srgbClr val="FF0000"/>
                </a:solidFill>
              </a:rPr>
              <a:t> 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64A510-C989-4EE0-AFED-4A572F6BCF9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31850" y="4589462"/>
            <a:ext cx="6047094" cy="150018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РЕЗУЛЬТАТЫ ЭКСПЕРИМЕНТАЛЬНОЙ ПРОВЕРКИ ПРОГРАММНОГО ОБЕСПЕЧЕНИЯ ГЕНЕРИРОВАНИЯ </a:t>
            </a:r>
            <a:r>
              <a:rPr lang="en-US" dirty="0">
                <a:solidFill>
                  <a:srgbClr val="FF0000"/>
                </a:solidFill>
              </a:rPr>
              <a:t>HTML</a:t>
            </a:r>
            <a:r>
              <a:rPr lang="ru-RU" dirty="0">
                <a:solidFill>
                  <a:srgbClr val="FF0000"/>
                </a:solidFill>
              </a:rPr>
              <a:t>-ШАБЛОНОВ ПО РУКОПИСНЫМ РИСУНКАМ-МАКЕТАМ</a:t>
            </a:r>
            <a:endParaRPr lang="ru-RU" dirty="0"/>
          </a:p>
        </p:txBody>
      </p:sp>
      <p:pic>
        <p:nvPicPr>
          <p:cNvPr id="6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B2DC857-5F10-4A98-9F25-F25D31209A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850" y="404530"/>
            <a:ext cx="2743200" cy="1006508"/>
          </a:xfrm>
          <a:prstGeom prst="rect">
            <a:avLst/>
          </a:prstGeom>
        </p:spPr>
      </p:pic>
      <p:pic>
        <p:nvPicPr>
          <p:cNvPr id="7" name="Рисунок 4">
            <a:extLst>
              <a:ext uri="{FF2B5EF4-FFF2-40B4-BE49-F238E27FC236}">
                <a16:creationId xmlns:a16="http://schemas.microsoft.com/office/drawing/2014/main" id="{6BB9A74F-FD01-4945-82A4-B23D1F7DC4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4" y="6889"/>
            <a:ext cx="5313056" cy="686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961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29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Метрики, использующиеся для эксперимента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ADC351D-C29F-412B-A16C-EC65DF7B0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63" y="978091"/>
            <a:ext cx="5636404" cy="437038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A68A29F-1AAD-42C4-81B6-C4D5E5AB3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5240" y="3736239"/>
            <a:ext cx="5342083" cy="83332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7315C6-AD41-47A3-A4B5-38364751D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3367" y="1032397"/>
            <a:ext cx="5883848" cy="283839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F12A6E6-667F-4C3F-AB99-3BC859FA21AD}"/>
              </a:ext>
            </a:extLst>
          </p:cNvPr>
          <p:cNvSpPr/>
          <p:nvPr/>
        </p:nvSpPr>
        <p:spPr>
          <a:xfrm>
            <a:off x="6096000" y="2600325"/>
            <a:ext cx="1343025" cy="342900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561808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30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Результаты работы программного обеспечения 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52A6B25-84C3-442F-8138-83D1B34E260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6801" y="926721"/>
            <a:ext cx="4975860" cy="27139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FACD0F4-C2EA-408E-99C6-A2F468543E4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675272" y="901260"/>
            <a:ext cx="5316326" cy="26244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C0F6ED8-5D08-4459-B160-D1695AB50FAF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349783" y="3883141"/>
            <a:ext cx="4880081" cy="26130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8037760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31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Экспериментальная проверка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408A2D-0760-4ECC-9BD9-5D900A6CD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183" y="3850965"/>
            <a:ext cx="59340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Результаты метрик оценки 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HTML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-шаблона изображения 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Sketch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D9E19B1-2C9E-43C1-BFEB-4F5B0DEF0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329501"/>
              </p:ext>
            </p:extLst>
          </p:nvPr>
        </p:nvGraphicFramePr>
        <p:xfrm>
          <a:off x="201408" y="4245154"/>
          <a:ext cx="5934075" cy="86817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7340">
                  <a:extLst>
                    <a:ext uri="{9D8B030D-6E8A-4147-A177-3AD203B41FA5}">
                      <a16:colId xmlns:a16="http://schemas.microsoft.com/office/drawing/2014/main" val="2845003685"/>
                    </a:ext>
                  </a:extLst>
                </a:gridCol>
                <a:gridCol w="2929890">
                  <a:extLst>
                    <a:ext uri="{9D8B030D-6E8A-4147-A177-3AD203B41FA5}">
                      <a16:colId xmlns:a16="http://schemas.microsoft.com/office/drawing/2014/main" val="2558069408"/>
                    </a:ext>
                  </a:extLst>
                </a:gridCol>
                <a:gridCol w="2696845">
                  <a:extLst>
                    <a:ext uri="{9D8B030D-6E8A-4147-A177-3AD203B41FA5}">
                      <a16:colId xmlns:a16="http://schemas.microsoft.com/office/drawing/2014/main" val="369961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№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Название метрики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Результат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0414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MSE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2766.33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7721061"/>
                  </a:ext>
                </a:extLst>
              </a:tr>
              <a:tr h="7987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RMSE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52.6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3223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AverageIoU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17</a:t>
                      </a:r>
                      <a:r>
                        <a:rPr lang="ru-RU" sz="1400" dirty="0">
                          <a:effectLst/>
                        </a:rPr>
                        <a:t>%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5657061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7D0374E4-9219-4D9C-9E0D-18F7D4658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904910"/>
              </p:ext>
            </p:extLst>
          </p:nvPr>
        </p:nvGraphicFramePr>
        <p:xfrm>
          <a:off x="201409" y="5510018"/>
          <a:ext cx="5934075" cy="86817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7340">
                  <a:extLst>
                    <a:ext uri="{9D8B030D-6E8A-4147-A177-3AD203B41FA5}">
                      <a16:colId xmlns:a16="http://schemas.microsoft.com/office/drawing/2014/main" val="115418757"/>
                    </a:ext>
                  </a:extLst>
                </a:gridCol>
                <a:gridCol w="2929890">
                  <a:extLst>
                    <a:ext uri="{9D8B030D-6E8A-4147-A177-3AD203B41FA5}">
                      <a16:colId xmlns:a16="http://schemas.microsoft.com/office/drawing/2014/main" val="3591561864"/>
                    </a:ext>
                  </a:extLst>
                </a:gridCol>
                <a:gridCol w="2696845">
                  <a:extLst>
                    <a:ext uri="{9D8B030D-6E8A-4147-A177-3AD203B41FA5}">
                      <a16:colId xmlns:a16="http://schemas.microsoft.com/office/drawing/2014/main" val="3006537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№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Название метрики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Результат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4749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MSE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19.1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1113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RMSE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4.37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2518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AverageIoU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79%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7922684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0C09591F-D113-45BF-B765-9B12B55E8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" y="5160707"/>
            <a:ext cx="608211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Результаты метрик оценки 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HTML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-шаблона изображения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нашим алгоритмом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A9E11AE-C9E3-4FD2-8872-2183F9165A9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01408" y="982701"/>
            <a:ext cx="2605474" cy="27818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0229370-CD28-44F7-873E-FB4280FE4B0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094428" y="982701"/>
            <a:ext cx="4691007" cy="27818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8C26A2F-D349-4649-A010-003438C0F1B8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8409191" y="982701"/>
            <a:ext cx="3323737" cy="24645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AEFEC28-8D16-49C5-893C-2937A7CB6B65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8409191" y="3764553"/>
            <a:ext cx="3319666" cy="23295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2001560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32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Экспериментальная проверка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408A2D-0760-4ECC-9BD9-5D900A6CD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183" y="3850965"/>
            <a:ext cx="59340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Результаты метрик оценки 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HTML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-шаблона изображения 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Sketch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D9E19B1-2C9E-43C1-BFEB-4F5B0DEF0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779212"/>
              </p:ext>
            </p:extLst>
          </p:nvPr>
        </p:nvGraphicFramePr>
        <p:xfrm>
          <a:off x="201408" y="4245154"/>
          <a:ext cx="5934075" cy="86817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7340">
                  <a:extLst>
                    <a:ext uri="{9D8B030D-6E8A-4147-A177-3AD203B41FA5}">
                      <a16:colId xmlns:a16="http://schemas.microsoft.com/office/drawing/2014/main" val="2845003685"/>
                    </a:ext>
                  </a:extLst>
                </a:gridCol>
                <a:gridCol w="2929890">
                  <a:extLst>
                    <a:ext uri="{9D8B030D-6E8A-4147-A177-3AD203B41FA5}">
                      <a16:colId xmlns:a16="http://schemas.microsoft.com/office/drawing/2014/main" val="2558069408"/>
                    </a:ext>
                  </a:extLst>
                </a:gridCol>
                <a:gridCol w="2696845">
                  <a:extLst>
                    <a:ext uri="{9D8B030D-6E8A-4147-A177-3AD203B41FA5}">
                      <a16:colId xmlns:a16="http://schemas.microsoft.com/office/drawing/2014/main" val="369961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№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Название метрики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Результат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0414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MSE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5960.38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7721061"/>
                  </a:ext>
                </a:extLst>
              </a:tr>
              <a:tr h="7987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RMSE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77.2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3223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AverageIoU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24%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5657061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7D0374E4-9219-4D9C-9E0D-18F7D4658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461660"/>
              </p:ext>
            </p:extLst>
          </p:nvPr>
        </p:nvGraphicFramePr>
        <p:xfrm>
          <a:off x="201409" y="5510018"/>
          <a:ext cx="5934075" cy="86817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7340">
                  <a:extLst>
                    <a:ext uri="{9D8B030D-6E8A-4147-A177-3AD203B41FA5}">
                      <a16:colId xmlns:a16="http://schemas.microsoft.com/office/drawing/2014/main" val="115418757"/>
                    </a:ext>
                  </a:extLst>
                </a:gridCol>
                <a:gridCol w="2929890">
                  <a:extLst>
                    <a:ext uri="{9D8B030D-6E8A-4147-A177-3AD203B41FA5}">
                      <a16:colId xmlns:a16="http://schemas.microsoft.com/office/drawing/2014/main" val="3591561864"/>
                    </a:ext>
                  </a:extLst>
                </a:gridCol>
                <a:gridCol w="2696845">
                  <a:extLst>
                    <a:ext uri="{9D8B030D-6E8A-4147-A177-3AD203B41FA5}">
                      <a16:colId xmlns:a16="http://schemas.microsoft.com/office/drawing/2014/main" val="3006537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№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Название метрики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Результат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4749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MSE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185.31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1113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RMSE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13.61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2518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AverageIoU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72%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7922684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0C09591F-D113-45BF-B765-9B12B55E8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" y="5160707"/>
            <a:ext cx="608211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Результаты метрик оценки 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HTML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-шаблона изображения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нашим алгоритмом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95DFCFF-4FB8-4DBC-B5E1-87062952F62F}"/>
              </a:ext>
            </a:extLst>
          </p:cNvPr>
          <p:cNvPicPr/>
          <p:nvPr/>
        </p:nvPicPr>
        <p:blipFill rotWithShape="1">
          <a:blip r:embed="rId4"/>
          <a:srcRect r="1701"/>
          <a:stretch/>
        </p:blipFill>
        <p:spPr bwMode="auto">
          <a:xfrm>
            <a:off x="201408" y="950317"/>
            <a:ext cx="3323737" cy="23996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2CA145A-3CDB-40E2-8AFE-7166C2B9C24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327919" y="985916"/>
            <a:ext cx="3245485" cy="24155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3E7F832-AA42-4F05-97AB-736E10CED3B1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8327919" y="3838622"/>
            <a:ext cx="3245484" cy="23672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F96049C-BC7B-42B0-B24D-839C25080FF5}"/>
              </a:ext>
            </a:extLst>
          </p:cNvPr>
          <p:cNvPicPr/>
          <p:nvPr/>
        </p:nvPicPr>
        <p:blipFill rotWithShape="1">
          <a:blip r:embed="rId7"/>
          <a:srcRect l="1283" t="1692" r="647"/>
          <a:stretch/>
        </p:blipFill>
        <p:spPr bwMode="auto">
          <a:xfrm>
            <a:off x="3755073" y="894798"/>
            <a:ext cx="4188777" cy="25066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09926486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33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Экспериментальная проверка на бизнес-задаче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30A214E-D116-439F-B7FF-48BFBF51E36B}"/>
              </a:ext>
            </a:extLst>
          </p:cNvPr>
          <p:cNvPicPr/>
          <p:nvPr/>
        </p:nvPicPr>
        <p:blipFill rotWithShape="1">
          <a:blip r:embed="rId4"/>
          <a:srcRect b="21712"/>
          <a:stretch/>
        </p:blipFill>
        <p:spPr bwMode="auto">
          <a:xfrm>
            <a:off x="227113" y="894798"/>
            <a:ext cx="2209876" cy="31342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C9EAC7A-CFA2-4413-A4E2-651B7C3D62E6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873" y="894798"/>
            <a:ext cx="2019217" cy="31342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64FB043-4841-4875-878F-BF8D9C6C2E8D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5113975" y="894798"/>
            <a:ext cx="2209876" cy="3129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2C033BA-7BBB-4644-9B21-83157CBD441D}"/>
              </a:ext>
            </a:extLst>
          </p:cNvPr>
          <p:cNvSpPr txBox="1"/>
          <p:nvPr/>
        </p:nvSpPr>
        <p:spPr>
          <a:xfrm>
            <a:off x="7845097" y="798099"/>
            <a:ext cx="3902117" cy="55474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indent="269875" algn="just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основе даже такого простейшего примера бизнес-задачи, сэкономленное время составило 4 минуты, а это составляет 20% выигранного времени относительного ручного способа создания кода.</a:t>
            </a:r>
          </a:p>
          <a:p>
            <a:pPr indent="269875" algn="just">
              <a:lnSpc>
                <a:spcPct val="150000"/>
              </a:lnSpc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Отсюда можно подсчитать практическую значимость разработанного ПО. Допустим, если каждый рабочий день сотрудник тратит 2ч на верстку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HTML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а стоимость одного человека-часа составляет 3500 рублей, при этом всего рабочих дней в году 250, то за год данный сотрудник сэкономит около 100 часов своего рабочего времени, используя генератор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HTML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-шаблона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а это составляет 350.000 рублей в год. А если сотрудников больше, то и совокупная экономия времени и средств компании будет больше.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C723C99-F8C3-4B7D-ADE5-5F2B687C63F0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1015812" y="4420434"/>
            <a:ext cx="5759673" cy="16639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330004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34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Результаты тестирования функциональных характеристик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47BA71E-D719-4598-8133-277698725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936377"/>
              </p:ext>
            </p:extLst>
          </p:nvPr>
        </p:nvGraphicFramePr>
        <p:xfrm>
          <a:off x="356800" y="901260"/>
          <a:ext cx="11473249" cy="537893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09260">
                  <a:extLst>
                    <a:ext uri="{9D8B030D-6E8A-4147-A177-3AD203B41FA5}">
                      <a16:colId xmlns:a16="http://schemas.microsoft.com/office/drawing/2014/main" val="1071525486"/>
                    </a:ext>
                  </a:extLst>
                </a:gridCol>
                <a:gridCol w="2662973">
                  <a:extLst>
                    <a:ext uri="{9D8B030D-6E8A-4147-A177-3AD203B41FA5}">
                      <a16:colId xmlns:a16="http://schemas.microsoft.com/office/drawing/2014/main" val="52755639"/>
                    </a:ext>
                  </a:extLst>
                </a:gridCol>
                <a:gridCol w="2205024">
                  <a:extLst>
                    <a:ext uri="{9D8B030D-6E8A-4147-A177-3AD203B41FA5}">
                      <a16:colId xmlns:a16="http://schemas.microsoft.com/office/drawing/2014/main" val="1471306592"/>
                    </a:ext>
                  </a:extLst>
                </a:gridCol>
                <a:gridCol w="2206254">
                  <a:extLst>
                    <a:ext uri="{9D8B030D-6E8A-4147-A177-3AD203B41FA5}">
                      <a16:colId xmlns:a16="http://schemas.microsoft.com/office/drawing/2014/main" val="1873985249"/>
                    </a:ext>
                  </a:extLst>
                </a:gridCol>
                <a:gridCol w="2289738">
                  <a:extLst>
                    <a:ext uri="{9D8B030D-6E8A-4147-A177-3AD203B41FA5}">
                      <a16:colId xmlns:a16="http://schemas.microsoft.com/office/drawing/2014/main" val="3666312807"/>
                    </a:ext>
                  </a:extLst>
                </a:gridCol>
              </a:tblGrid>
              <a:tr h="501422">
                <a:tc>
                  <a:txBody>
                    <a:bodyPr/>
                    <a:lstStyle/>
                    <a:p>
                      <a:pPr indent="269875"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Дата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Тестируемое требование из ТЗ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Кто проводил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Способ тестирования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ctr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Результат </a:t>
                      </a:r>
                    </a:p>
                    <a:p>
                      <a:pPr indent="269875" algn="ctr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тестирования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extLst>
                  <a:ext uri="{0D108BD9-81ED-4DB2-BD59-A6C34878D82A}">
                    <a16:rowId xmlns:a16="http://schemas.microsoft.com/office/drawing/2014/main" val="2858483842"/>
                  </a:ext>
                </a:extLst>
              </a:tr>
              <a:tr h="766263"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25.04.2024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Скорость обработки изображения нейросетью не более 10-и секунд на изображение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Разработчик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Системное тестирование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Успех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extLst>
                  <a:ext uri="{0D108BD9-81ED-4DB2-BD59-A6C34878D82A}">
                    <a16:rowId xmlns:a16="http://schemas.microsoft.com/office/drawing/2014/main" val="4061627015"/>
                  </a:ext>
                </a:extLst>
              </a:tr>
              <a:tr h="1169076"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25.04.2024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Детектирование объектов классов «контейнер», «кнопка», «изображение», «заголовок», «текст», «ссылка», «пользовательский </a:t>
                      </a:r>
                      <a:r>
                        <a:rPr lang="en-US" sz="1200">
                          <a:effectLst/>
                        </a:rPr>
                        <a:t>HTML</a:t>
                      </a:r>
                      <a:r>
                        <a:rPr lang="ru-RU" sz="1200">
                          <a:effectLst/>
                        </a:rPr>
                        <a:t>»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Разработчик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Системное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Неудача, ошибка при детектировании кнопок. Исправлено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extLst>
                  <a:ext uri="{0D108BD9-81ED-4DB2-BD59-A6C34878D82A}">
                    <a16:rowId xmlns:a16="http://schemas.microsoft.com/office/drawing/2014/main" val="676990645"/>
                  </a:ext>
                </a:extLst>
              </a:tr>
              <a:tr h="766263"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25.04.2024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Формирование </a:t>
                      </a:r>
                      <a:r>
                        <a:rPr lang="en-US" sz="1200">
                          <a:effectLst/>
                        </a:rPr>
                        <a:t>HTML</a:t>
                      </a:r>
                      <a:r>
                        <a:rPr lang="ru-RU" sz="1200">
                          <a:effectLst/>
                        </a:rPr>
                        <a:t>-сетки с иерархической структурой вида строки-столбцы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Разработчик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Системное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Неудача, генерация избыточного </a:t>
                      </a:r>
                      <a:r>
                        <a:rPr lang="en-US" sz="1200">
                          <a:effectLst/>
                        </a:rPr>
                        <a:t>HTML</a:t>
                      </a:r>
                      <a:r>
                        <a:rPr lang="ru-RU" sz="1200">
                          <a:effectLst/>
                        </a:rPr>
                        <a:t>-кода. Исправлено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extLst>
                  <a:ext uri="{0D108BD9-81ED-4DB2-BD59-A6C34878D82A}">
                    <a16:rowId xmlns:a16="http://schemas.microsoft.com/office/drawing/2014/main" val="1883638446"/>
                  </a:ext>
                </a:extLst>
              </a:tr>
              <a:tr h="766263"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26.04.2024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Возможность выбора заготовленных шаблонов по категориям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Разработчик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Системное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Успех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extLst>
                  <a:ext uri="{0D108BD9-81ED-4DB2-BD59-A6C34878D82A}">
                    <a16:rowId xmlns:a16="http://schemas.microsoft.com/office/drawing/2014/main" val="1391036544"/>
                  </a:ext>
                </a:extLst>
              </a:tr>
              <a:tr h="501422"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26.04.2024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Возможность добавления и отображения новых блоков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Разработчик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Системное тестирование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Успех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660" marR="32660" marT="0" marB="0"/>
                </a:tc>
                <a:extLst>
                  <a:ext uri="{0D108BD9-81ED-4DB2-BD59-A6C34878D82A}">
                    <a16:rowId xmlns:a16="http://schemas.microsoft.com/office/drawing/2014/main" val="674925430"/>
                  </a:ext>
                </a:extLst>
              </a:tr>
              <a:tr h="762768"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27.04.2024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Инструменты для редактирования типовых элементов, редактирование контента и стилевых свойств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Разработчик</a:t>
                      </a:r>
                    </a:p>
                    <a:p>
                      <a:pPr indent="269875" algn="l">
                        <a:lnSpc>
                          <a:spcPct val="150000"/>
                        </a:lnSpc>
                      </a:pP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Системное тестирование</a:t>
                      </a:r>
                    </a:p>
                    <a:p>
                      <a:pPr indent="269875" algn="l">
                        <a:lnSpc>
                          <a:spcPct val="150000"/>
                        </a:lnSpc>
                      </a:pP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Неудача, инструменты не привязывались к 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HTML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-коду. Исправлено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6744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91926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35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Основные результаты</a:t>
            </a:r>
          </a:p>
        </p:txBody>
      </p:sp>
      <p:sp>
        <p:nvSpPr>
          <p:cNvPr id="14" name="Объект 12">
            <a:extLst>
              <a:ext uri="{FF2B5EF4-FFF2-40B4-BE49-F238E27FC236}">
                <a16:creationId xmlns:a16="http://schemas.microsoft.com/office/drawing/2014/main" id="{FD66EA79-731F-4A56-B6BF-7FBF5B999BD7}"/>
              </a:ext>
            </a:extLst>
          </p:cNvPr>
          <p:cNvSpPr txBox="1">
            <a:spLocks/>
          </p:cNvSpPr>
          <p:nvPr/>
        </p:nvSpPr>
        <p:spPr>
          <a:xfrm>
            <a:off x="388823" y="873253"/>
            <a:ext cx="11358391" cy="536629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marL="0" indent="0" hangingPunct="1">
              <a:buNone/>
            </a:pPr>
            <a:r>
              <a:rPr lang="ru-RU" sz="2000" b="1" dirty="0">
                <a:solidFill>
                  <a:srgbClr val="FF0000"/>
                </a:solidFill>
              </a:rPr>
              <a:t>ОСНОВНЫЕ РЕЗУЛЬТАТЫ</a:t>
            </a:r>
          </a:p>
          <a:p>
            <a:pPr marL="285750" indent="-285750" hangingPunct="1">
              <a:buFont typeface="Arial" panose="020B0604020202020204" pitchFamily="34" charset="0"/>
              <a:buChar char="•"/>
            </a:pPr>
            <a:r>
              <a:rPr lang="ru-RU" sz="2000" dirty="0"/>
              <a:t>Разработан алгоритм для генерации тестового набора изображений</a:t>
            </a:r>
            <a:r>
              <a:rPr lang="en-US" sz="2000" dirty="0"/>
              <a:t>;</a:t>
            </a:r>
          </a:p>
          <a:p>
            <a:pPr marL="285750" indent="-285750" hangingPunct="1">
              <a:buFont typeface="Arial" panose="020B0604020202020204" pitchFamily="34" charset="0"/>
              <a:buChar char="•"/>
            </a:pPr>
            <a:r>
              <a:rPr lang="ru-RU" sz="2000" dirty="0"/>
              <a:t>Реализована нейронная сеть для детектирования объектов на изображении</a:t>
            </a:r>
            <a:r>
              <a:rPr lang="en-US" sz="2000" dirty="0"/>
              <a:t>;</a:t>
            </a:r>
          </a:p>
          <a:p>
            <a:pPr marL="285750" indent="-285750" hangingPunct="1">
              <a:buFont typeface="Arial" panose="020B0604020202020204" pitchFamily="34" charset="0"/>
              <a:buChar char="•"/>
            </a:pPr>
            <a:r>
              <a:rPr lang="ru-RU" sz="2000" dirty="0"/>
              <a:t>Разработан алгоритм генерирования HTML-шаблона на основе рукописного рисунка-макета.</a:t>
            </a:r>
          </a:p>
          <a:p>
            <a:pPr marL="0" indent="0" hangingPunct="1">
              <a:buNone/>
            </a:pPr>
            <a:r>
              <a:rPr lang="ru-RU" sz="2000" b="1" dirty="0">
                <a:solidFill>
                  <a:srgbClr val="FF0000"/>
                </a:solidFill>
              </a:rPr>
              <a:t>АПРОБАЦИЯ</a:t>
            </a:r>
          </a:p>
          <a:p>
            <a:pPr marL="0" indent="0" hangingPunct="1">
              <a:buNone/>
            </a:pPr>
            <a:r>
              <a:rPr lang="ru-RU" sz="2000" dirty="0">
                <a:solidFill>
                  <a:schemeClr val="tx1"/>
                </a:solidFill>
              </a:rPr>
              <a:t>Результаты диссертационной работы докладывались на студенческих научных конференциях: ЧГУ СНК-2023, VI Всероссийская научно-практическая конференция «Современные информационные технологии. Теория и практика» (г. Череповец, 29 ноября 2023 г.), ЧГУ СНК-2024. Также по теме опубликована научная статья на тему «Применение сверточной нейронной сети в задаче генерирования </a:t>
            </a:r>
            <a:r>
              <a:rPr lang="en-US" sz="2000" dirty="0">
                <a:solidFill>
                  <a:schemeClr val="tx1"/>
                </a:solidFill>
              </a:rPr>
              <a:t>HTML</a:t>
            </a:r>
            <a:r>
              <a:rPr lang="ru-RU" sz="2000" dirty="0">
                <a:solidFill>
                  <a:schemeClr val="tx1"/>
                </a:solidFill>
              </a:rPr>
              <a:t>-шаблонов по рукописным рисункам-макетам» в рецензируемом научном журнале «Вестник Череповецкого государственного университета».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chemeClr val="tx1"/>
                </a:solidFill>
              </a:rPr>
              <a:t>Подготовлена заявка на регистрацию программного обеспечения №2024662486 от 03.06.2024.</a:t>
            </a:r>
          </a:p>
          <a:p>
            <a:pPr hangingPunct="1"/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908586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 двумя скругленными соседними углами 10"/>
          <p:cNvSpPr/>
          <p:nvPr/>
        </p:nvSpPr>
        <p:spPr bwMode="auto">
          <a:xfrm rot="16200000" flipV="1">
            <a:off x="4407211" y="-4179355"/>
            <a:ext cx="468126" cy="9282548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12" name="Прямоугольник с двумя скругленными соседними углами 11"/>
          <p:cNvSpPr/>
          <p:nvPr/>
        </p:nvSpPr>
        <p:spPr bwMode="auto">
          <a:xfrm rot="16200000">
            <a:off x="11663032" y="6187614"/>
            <a:ext cx="437882" cy="617137"/>
          </a:xfrm>
          <a:prstGeom prst="round2SameRect">
            <a:avLst>
              <a:gd name="adj1" fmla="val 50000"/>
              <a:gd name="adj2" fmla="val 0"/>
            </a:avLst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pic>
        <p:nvPicPr>
          <p:cNvPr id="9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7490" y="105293"/>
            <a:ext cx="1888217" cy="692806"/>
          </a:xfrm>
          <a:prstGeom prst="rect">
            <a:avLst/>
          </a:prstGeom>
        </p:spPr>
      </p:pic>
      <p:sp>
        <p:nvSpPr>
          <p:cNvPr id="10" name="Номер слайда 1"/>
          <p:cNvSpPr txBox="1">
            <a:spLocks/>
          </p:cNvSpPr>
          <p:nvPr/>
        </p:nvSpPr>
        <p:spPr>
          <a:xfrm>
            <a:off x="11747214" y="6277243"/>
            <a:ext cx="352425" cy="400188"/>
          </a:xfrm>
          <a:prstGeom prst="roundRect">
            <a:avLst>
              <a:gd name="adj" fmla="val 9526"/>
            </a:avLst>
          </a:prstGeom>
          <a:noFill/>
          <a:ln w="6350">
            <a:noFill/>
          </a:ln>
        </p:spPr>
        <p:txBody>
          <a:bodyPr vert="horz" lIns="0" tIns="0" rIns="0" bIns="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i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ru-RU" sz="1600" b="1" i="0" smtClean="0">
                <a:solidFill>
                  <a:schemeClr val="tx1"/>
                </a:solidFill>
                <a:latin typeface="+mn-lt"/>
              </a:rPr>
              <a:pPr/>
              <a:t>36</a:t>
            </a:fld>
            <a:endParaRPr lang="ru-RU" b="1" i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4" name="image5.pdf" descr="image5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5033" y="-108503"/>
            <a:ext cx="1003301" cy="100330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F035880-D753-4951-9EAB-43DFC11AFC8D}"/>
              </a:ext>
            </a:extLst>
          </p:cNvPr>
          <p:cNvSpPr/>
          <p:nvPr/>
        </p:nvSpPr>
        <p:spPr>
          <a:xfrm>
            <a:off x="356801" y="234317"/>
            <a:ext cx="950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1"/>
            <a:r>
              <a:rPr lang="ru-RU" sz="2400" b="1" kern="1200" dirty="0">
                <a:solidFill>
                  <a:srgbClr val="383838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Акт о внедрении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855C7BC-CCB7-4618-9E61-5E6B897C4ED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319111" y="1046745"/>
            <a:ext cx="3553777" cy="53318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0973727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 Rectángulo"/>
          <p:cNvSpPr/>
          <p:nvPr/>
        </p:nvSpPr>
        <p:spPr bwMode="auto">
          <a:xfrm flipV="1">
            <a:off x="6745736" y="1002307"/>
            <a:ext cx="4903035" cy="4903035"/>
          </a:xfrm>
          <a:prstGeom prst="ellipse">
            <a:avLst/>
          </a:prstGeom>
          <a:pattFill prst="ltUpDiag">
            <a:fgClr>
              <a:schemeClr val="bg1">
                <a:lumMod val="65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txBody>
          <a:bodyPr lIns="0" tIns="0" rIns="0" bIns="0" rtlCol="0" anchor="t"/>
          <a:lstStyle/>
          <a:p>
            <a:pPr algn="ctr"/>
            <a:endParaRPr lang="es-SV"/>
          </a:p>
        </p:txBody>
      </p:sp>
      <p:pic>
        <p:nvPicPr>
          <p:cNvPr id="14" name="Рисунок 85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72FF783-1124-4C33-86A8-29348DC9E8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29126" y="2686715"/>
            <a:ext cx="2743200" cy="1006508"/>
          </a:xfrm>
          <a:prstGeom prst="rect">
            <a:avLst/>
          </a:prstGeom>
        </p:spPr>
      </p:pic>
      <p:pic>
        <p:nvPicPr>
          <p:cNvPr id="19" name="Рисунок 4">
            <a:extLst>
              <a:ext uri="{FF2B5EF4-FFF2-40B4-BE49-F238E27FC236}">
                <a16:creationId xmlns:a16="http://schemas.microsoft.com/office/drawing/2014/main" id="{63A30E9A-9749-4AB8-A657-AE92AA316C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l="37058"/>
          <a:stretch/>
        </p:blipFill>
        <p:spPr>
          <a:xfrm>
            <a:off x="6878944" y="6889"/>
            <a:ext cx="5313056" cy="686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743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E9CF2B1B1D4404D9A7907E621950E20" ma:contentTypeVersion="3" ma:contentTypeDescription="Создание документа." ma:contentTypeScope="" ma:versionID="177a7d255090b30253b1a6fc9839eea5">
  <xsd:schema xmlns:xsd="http://www.w3.org/2001/XMLSchema" xmlns:xs="http://www.w3.org/2001/XMLSchema" xmlns:p="http://schemas.microsoft.com/office/2006/metadata/properties" xmlns:ns2="974e3fc0-7552-4410-92ea-fd6bd9f30c86" targetNamespace="http://schemas.microsoft.com/office/2006/metadata/properties" ma:root="true" ma:fieldsID="ce3f56804507bca880ec9c546776254e" ns2:_="">
    <xsd:import namespace="974e3fc0-7552-4410-92ea-fd6bd9f30c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4e3fc0-7552-4410-92ea-fd6bd9f30c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A65D36-32A0-4399-BE14-29B74DAEEB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C27A71-9648-4360-BE8C-58DFB4E283D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497D956-A7A2-4968-B849-68BB4DBF4C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4e3fc0-7552-4410-92ea-fd6bd9f30c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10541</TotalTime>
  <Words>1425</Words>
  <Application>Microsoft Office PowerPoint</Application>
  <PresentationFormat>Широкоэкранный</PresentationFormat>
  <Paragraphs>260</Paragraphs>
  <Slides>37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Calibri Light</vt:lpstr>
      <vt:lpstr>Helvetica</vt:lpstr>
      <vt:lpstr>Inter</vt:lpstr>
      <vt:lpstr>Lucida Grande</vt:lpstr>
      <vt:lpstr>Times New Roman</vt:lpstr>
      <vt:lpstr>White</vt:lpstr>
      <vt:lpstr>Презентация PowerPoint</vt:lpstr>
      <vt:lpstr>Презентация PowerPoint</vt:lpstr>
      <vt:lpstr>Презентация PowerPoint</vt:lpstr>
      <vt:lpstr>Задача 1 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Задача 2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Задача 3 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Задача 4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Anna</dc:creator>
  <cp:lastModifiedBy>Bogdan Zhakun</cp:lastModifiedBy>
  <cp:revision>466</cp:revision>
  <dcterms:modified xsi:type="dcterms:W3CDTF">2024-06-17T08:51:26Z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0x0101004E9CF2B1B1D4404D9A7907E621950E20</vt:lpwstr>
  </property>
</Properties>
</file>