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8"/>
  </p:notesMasterIdLst>
  <p:sldIdLst>
    <p:sldId id="266" r:id="rId5"/>
    <p:sldId id="284" r:id="rId6"/>
    <p:sldId id="340" r:id="rId7"/>
    <p:sldId id="304" r:id="rId8"/>
    <p:sldId id="293" r:id="rId9"/>
    <p:sldId id="328" r:id="rId10"/>
    <p:sldId id="313" r:id="rId11"/>
    <p:sldId id="314" r:id="rId12"/>
    <p:sldId id="339" r:id="rId13"/>
    <p:sldId id="345" r:id="rId14"/>
    <p:sldId id="286" r:id="rId15"/>
    <p:sldId id="341" r:id="rId16"/>
    <p:sldId id="346" r:id="rId17"/>
    <p:sldId id="342" r:id="rId18"/>
    <p:sldId id="331" r:id="rId19"/>
    <p:sldId id="347" r:id="rId20"/>
    <p:sldId id="287" r:id="rId21"/>
    <p:sldId id="348" r:id="rId22"/>
    <p:sldId id="296" r:id="rId23"/>
    <p:sldId id="298" r:id="rId24"/>
    <p:sldId id="299" r:id="rId25"/>
    <p:sldId id="325" r:id="rId26"/>
    <p:sldId id="302" r:id="rId27"/>
    <p:sldId id="288" r:id="rId28"/>
    <p:sldId id="349" r:id="rId29"/>
    <p:sldId id="327" r:id="rId30"/>
    <p:sldId id="329" r:id="rId31"/>
    <p:sldId id="336" r:id="rId32"/>
    <p:sldId id="343" r:id="rId33"/>
    <p:sldId id="344" r:id="rId34"/>
    <p:sldId id="317" r:id="rId35"/>
    <p:sldId id="285" r:id="rId36"/>
    <p:sldId id="264" r:id="rId37"/>
  </p:sldIdLst>
  <p:sldSz cx="9906000" cy="6858000" type="A4"/>
  <p:notesSz cx="6742113" cy="9872663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FF4B4B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2" autoAdjust="0"/>
    <p:restoredTop sz="91445" autoAdjust="0"/>
  </p:normalViewPr>
  <p:slideViewPr>
    <p:cSldViewPr>
      <p:cViewPr varScale="1">
        <p:scale>
          <a:sx n="116" d="100"/>
          <a:sy n="116" d="100"/>
        </p:scale>
        <p:origin x="1374" y="102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1056;&#1072;&#1073;&#1086;&#1095;&#1072;&#1103;\&#1052;&#1072;&#1075;&#1080;&#1089;&#1090;&#1088;&#1072;&#1090;&#1091;&#1088;&#1072;\&#1052;&#1072;&#1075;&#1056;&#1072;&#1073;\&#1101;&#1082;&#1089;&#1087;&#1077;&#1088;&#1077;&#1084;&#1077;&#1085;&#1090;\final\&#1056;&#1072;&#1089;&#1095;&#1105;&#1090;&#1099;.xls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&#1056;&#1072;&#1073;&#1086;&#1095;&#1072;&#1103;\&#1052;&#1072;&#1075;&#1080;&#1089;&#1090;&#1088;&#1072;&#1090;&#1091;&#1088;&#1072;\&#1052;&#1072;&#1075;&#1056;&#1072;&#1073;\&#1101;&#1082;&#1089;&#1087;&#1077;&#1088;&#1077;&#1084;&#1077;&#1085;&#1090;\final\&#1056;&#1072;&#1089;&#1095;&#1105;&#1090;&#1099;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Рекомендации предлагаемого алгоритма</a:t>
            </a:r>
            <a:r>
              <a:rPr lang="ru-RU" baseline="0"/>
              <a:t> к фактическим</a:t>
            </a:r>
            <a:endParaRPr lang="ru-RU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Лист6!$B$11</c:f>
              <c:strCache>
                <c:ptCount val="1"/>
                <c:pt idx="0">
                  <c:v>Рекомендуемые предлагаемым алгоритмом</c:v>
                </c:pt>
              </c:strCache>
            </c:strRef>
          </c:tx>
          <c:spPr>
            <a:ln w="28575" cap="rnd" cmpd="sng" algn="ctr">
              <a:solidFill>
                <a:srgbClr val="00B0F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0B0F0"/>
              </a:solidFill>
              <a:ln w="9525" cap="flat" cmpd="sng" algn="ctr">
                <a:solidFill>
                  <a:srgbClr val="00B0F0"/>
                </a:solidFill>
                <a:prstDash val="solid"/>
                <a:round/>
              </a:ln>
              <a:effectLst/>
            </c:spPr>
          </c:marker>
          <c:val>
            <c:numRef>
              <c:f>Лист6!$B$12:$B$110</c:f>
              <c:numCache>
                <c:formatCode>General</c:formatCode>
                <c:ptCount val="99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0</c:v>
                </c:pt>
                <c:pt idx="24">
                  <c:v>0</c:v>
                </c:pt>
                <c:pt idx="25">
                  <c:v>1</c:v>
                </c:pt>
                <c:pt idx="26">
                  <c:v>0</c:v>
                </c:pt>
                <c:pt idx="27">
                  <c:v>0</c:v>
                </c:pt>
                <c:pt idx="28">
                  <c:v>1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0</c:v>
                </c:pt>
                <c:pt idx="37">
                  <c:v>1</c:v>
                </c:pt>
                <c:pt idx="38">
                  <c:v>1</c:v>
                </c:pt>
                <c:pt idx="39">
                  <c:v>0</c:v>
                </c:pt>
                <c:pt idx="40">
                  <c:v>0</c:v>
                </c:pt>
                <c:pt idx="41">
                  <c:v>1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1</c:v>
                </c:pt>
                <c:pt idx="47">
                  <c:v>0</c:v>
                </c:pt>
                <c:pt idx="48">
                  <c:v>0</c:v>
                </c:pt>
                <c:pt idx="49">
                  <c:v>1</c:v>
                </c:pt>
                <c:pt idx="50">
                  <c:v>0</c:v>
                </c:pt>
                <c:pt idx="51">
                  <c:v>0</c:v>
                </c:pt>
                <c:pt idx="52">
                  <c:v>1</c:v>
                </c:pt>
                <c:pt idx="53">
                  <c:v>0</c:v>
                </c:pt>
                <c:pt idx="54">
                  <c:v>1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1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1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1</c:v>
                </c:pt>
                <c:pt idx="74">
                  <c:v>0</c:v>
                </c:pt>
                <c:pt idx="75">
                  <c:v>1</c:v>
                </c:pt>
                <c:pt idx="76">
                  <c:v>0</c:v>
                </c:pt>
                <c:pt idx="77">
                  <c:v>1</c:v>
                </c:pt>
                <c:pt idx="78">
                  <c:v>0</c:v>
                </c:pt>
                <c:pt idx="79">
                  <c:v>0</c:v>
                </c:pt>
                <c:pt idx="80">
                  <c:v>1</c:v>
                </c:pt>
                <c:pt idx="81">
                  <c:v>1</c:v>
                </c:pt>
                <c:pt idx="82">
                  <c:v>0</c:v>
                </c:pt>
                <c:pt idx="83">
                  <c:v>1</c:v>
                </c:pt>
                <c:pt idx="84">
                  <c:v>1</c:v>
                </c:pt>
                <c:pt idx="85">
                  <c:v>0</c:v>
                </c:pt>
                <c:pt idx="86">
                  <c:v>1</c:v>
                </c:pt>
                <c:pt idx="87">
                  <c:v>1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1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7AA-4A36-AB18-27168732405E}"/>
            </c:ext>
          </c:extLst>
        </c:ser>
        <c:ser>
          <c:idx val="1"/>
          <c:order val="1"/>
          <c:tx>
            <c:strRef>
              <c:f>Лист6!$C$11</c:f>
              <c:strCache>
                <c:ptCount val="1"/>
                <c:pt idx="0">
                  <c:v>Фактические</c:v>
                </c:pt>
              </c:strCache>
            </c:strRef>
          </c:tx>
          <c:spPr>
            <a:ln w="28575" cap="rnd" cmpd="sng" algn="ctr">
              <a:solidFill>
                <a:srgbClr val="FF4B4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 cap="flat" cmpd="sng" algn="ctr">
                <a:solidFill>
                  <a:schemeClr val="accent3">
                    <a:tint val="77000"/>
                    <a:shade val="95000"/>
                    <a:satMod val="105000"/>
                  </a:schemeClr>
                </a:solidFill>
                <a:prstDash val="solid"/>
                <a:round/>
              </a:ln>
              <a:effectLst/>
            </c:spPr>
          </c:marker>
          <c:val>
            <c:numRef>
              <c:f>Лист6!$C$12:$C$110</c:f>
              <c:numCache>
                <c:formatCode>General</c:formatCode>
                <c:ptCount val="99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0</c:v>
                </c:pt>
                <c:pt idx="24">
                  <c:v>1</c:v>
                </c:pt>
                <c:pt idx="25">
                  <c:v>1</c:v>
                </c:pt>
                <c:pt idx="26">
                  <c:v>0</c:v>
                </c:pt>
                <c:pt idx="27">
                  <c:v>0</c:v>
                </c:pt>
                <c:pt idx="28">
                  <c:v>1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0</c:v>
                </c:pt>
                <c:pt idx="37">
                  <c:v>1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1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1</c:v>
                </c:pt>
                <c:pt idx="47">
                  <c:v>0</c:v>
                </c:pt>
                <c:pt idx="48">
                  <c:v>0</c:v>
                </c:pt>
                <c:pt idx="49">
                  <c:v>1</c:v>
                </c:pt>
                <c:pt idx="50">
                  <c:v>0</c:v>
                </c:pt>
                <c:pt idx="51">
                  <c:v>0</c:v>
                </c:pt>
                <c:pt idx="52">
                  <c:v>1</c:v>
                </c:pt>
                <c:pt idx="53">
                  <c:v>0</c:v>
                </c:pt>
                <c:pt idx="54">
                  <c:v>1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1</c:v>
                </c:pt>
                <c:pt idx="60">
                  <c:v>0</c:v>
                </c:pt>
                <c:pt idx="61">
                  <c:v>1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1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1</c:v>
                </c:pt>
                <c:pt idx="74">
                  <c:v>0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0</c:v>
                </c:pt>
                <c:pt idx="79">
                  <c:v>0</c:v>
                </c:pt>
                <c:pt idx="80">
                  <c:v>1</c:v>
                </c:pt>
                <c:pt idx="81">
                  <c:v>1</c:v>
                </c:pt>
                <c:pt idx="82">
                  <c:v>0</c:v>
                </c:pt>
                <c:pt idx="83">
                  <c:v>1</c:v>
                </c:pt>
                <c:pt idx="84">
                  <c:v>1</c:v>
                </c:pt>
                <c:pt idx="85">
                  <c:v>0</c:v>
                </c:pt>
                <c:pt idx="86">
                  <c:v>1</c:v>
                </c:pt>
                <c:pt idx="87">
                  <c:v>1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1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7AA-4A36-AB18-2716873240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47580255"/>
        <c:axId val="1"/>
      </c:lineChart>
      <c:catAx>
        <c:axId val="1647580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47580255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/>
      <c:overlay val="0"/>
      <c:spPr>
        <a:noFill/>
        <a:ln>
          <a:solidFill>
            <a:srgbClr val="FF0000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 w="25400">
          <a:noFill/>
        </a:ln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7.0567147856517951E-2"/>
          <c:y val="0.33921296296296294"/>
          <c:w val="0.88498840769903764"/>
          <c:h val="0.562646908719743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Лист2!$B$25</c:f>
              <c:strCache>
                <c:ptCount val="1"/>
                <c:pt idx="0">
                  <c:v>Усреднённое кол-во корректных рекомендаций по всем пользователям выборки</c:v>
                </c:pt>
              </c:strCache>
            </c:strRef>
          </c:tx>
          <c:spPr>
            <a:solidFill>
              <a:srgbClr val="FF4B4B"/>
            </a:solidFill>
            <a:ln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(Лист2!$A$26,Лист2!$A$27)</c:f>
              <c:strCache>
                <c:ptCount val="2"/>
                <c:pt idx="0">
                  <c:v>Предлагаемый</c:v>
                </c:pt>
                <c:pt idx="1">
                  <c:v>Текущий</c:v>
                </c:pt>
              </c:strCache>
            </c:strRef>
          </c:cat>
          <c:val>
            <c:numRef>
              <c:f>Лист2!$B$26:$B$27</c:f>
              <c:numCache>
                <c:formatCode>0%</c:formatCode>
                <c:ptCount val="2"/>
                <c:pt idx="0">
                  <c:v>0.89</c:v>
                </c:pt>
                <c:pt idx="1">
                  <c:v>0.47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B4-450F-9B65-674BA0FB30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25612447"/>
        <c:axId val="1"/>
      </c:barChart>
      <c:catAx>
        <c:axId val="14256124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ln w="9525">
            <a:noFill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25612447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9525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E7EBBB4-8C2C-4111-A8AE-3FA00C3C98B5}" type="datetimeFigureOut">
              <a:rPr lang="ru-RU"/>
              <a:pPr>
                <a:defRPr/>
              </a:pPr>
              <a:t>17.06.2024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96913" y="739775"/>
            <a:ext cx="5348287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4688" y="4689475"/>
            <a:ext cx="5392737" cy="4443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9525" y="9377363"/>
            <a:ext cx="2921000" cy="493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EDFEA0FF-0F9B-4483-B741-75C8BD49777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614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EB8401C-0A34-4D7E-9101-BD3EA1AABE0C}" type="slidenum">
              <a:rPr lang="ru-RU" altLang="ru-RU" smtClean="0">
                <a:latin typeface="Calibri" panose="020F0502020204030204" pitchFamily="34" charset="0"/>
              </a:rPr>
              <a:pPr/>
              <a:t>1</a:t>
            </a:fld>
            <a:endParaRPr lang="ru-RU" altLang="ru-RU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819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0C2DF78-E7D4-4758-94B3-A46682639BEE}" type="slidenum">
              <a:rPr lang="ru-RU" altLang="ru-RU" smtClean="0">
                <a:latin typeface="Calibri" panose="020F0502020204030204" pitchFamily="34" charset="0"/>
              </a:rPr>
              <a:pPr/>
              <a:t>2</a:t>
            </a:fld>
            <a:endParaRPr lang="ru-RU" altLang="ru-RU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1024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B5E1D01-BF96-4936-BBE8-7F2742787BF8}" type="slidenum">
              <a:rPr lang="ru-RU" altLang="ru-RU" smtClean="0">
                <a:latin typeface="Calibri" panose="020F0502020204030204" pitchFamily="34" charset="0"/>
              </a:rPr>
              <a:pPr/>
              <a:t>3</a:t>
            </a:fld>
            <a:endParaRPr lang="ru-RU" altLang="ru-RU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dirty="0" smtClean="0"/>
          </a:p>
        </p:txBody>
      </p:sp>
      <p:sp>
        <p:nvSpPr>
          <p:cNvPr id="1229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4A35796-D014-490A-9424-4F135F9FF192}" type="slidenum">
              <a:rPr lang="ru-RU" altLang="ru-RU" smtClean="0">
                <a:latin typeface="Calibri" panose="020F0502020204030204" pitchFamily="34" charset="0"/>
              </a:rPr>
              <a:pPr/>
              <a:t>4</a:t>
            </a:fld>
            <a:endParaRPr lang="ru-RU" altLang="ru-RU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 dirty="0" smtClean="0"/>
              <a:t>Для решения поставленной задачи был проведен анализ следующих методов.</a:t>
            </a:r>
          </a:p>
        </p:txBody>
      </p:sp>
      <p:sp>
        <p:nvSpPr>
          <p:cNvPr id="1638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6B5B1F9-395C-499C-9671-C0895993AA92}" type="slidenum">
              <a:rPr lang="ru-RU" altLang="ru-RU" smtClean="0">
                <a:latin typeface="Calibri" panose="020F0502020204030204" pitchFamily="34" charset="0"/>
              </a:rPr>
              <a:pPr/>
              <a:t>7</a:t>
            </a:fld>
            <a:endParaRPr lang="ru-RU" altLang="ru-RU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dirty="0" smtClean="0"/>
          </a:p>
        </p:txBody>
      </p:sp>
      <p:sp>
        <p:nvSpPr>
          <p:cNvPr id="1843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08BAA82-5796-4D4B-AFB8-7CE15D899CF4}" type="slidenum">
              <a:rPr lang="ru-RU" altLang="ru-RU" smtClean="0">
                <a:latin typeface="Calibri" panose="020F0502020204030204" pitchFamily="34" charset="0"/>
              </a:rPr>
              <a:pPr/>
              <a:t>8</a:t>
            </a:fld>
            <a:endParaRPr lang="ru-RU" altLang="ru-RU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dirty="0" smtClean="0"/>
          </a:p>
        </p:txBody>
      </p:sp>
      <p:sp>
        <p:nvSpPr>
          <p:cNvPr id="2048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EB10B43-9E93-46B4-B15E-549D1D08ADC6}" type="slidenum">
              <a:rPr lang="ru-RU" altLang="ru-RU" smtClean="0">
                <a:latin typeface="Calibri" panose="020F0502020204030204" pitchFamily="34" charset="0"/>
              </a:rPr>
              <a:pPr/>
              <a:t>9</a:t>
            </a:fld>
            <a:endParaRPr lang="ru-RU" altLang="ru-RU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 smtClean="0"/>
              <a:t>Агрегировав всю вышеперечисленную информацию, были сформированы следующие задачи в данной работе:</a:t>
            </a:r>
          </a:p>
        </p:txBody>
      </p:sp>
      <p:sp>
        <p:nvSpPr>
          <p:cNvPr id="2048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EB10B43-9E93-46B4-B15E-549D1D08ADC6}" type="slidenum">
              <a:rPr lang="ru-RU" altLang="ru-RU" smtClean="0">
                <a:latin typeface="Calibri" panose="020F0502020204030204" pitchFamily="34" charset="0"/>
              </a:rPr>
              <a:pPr/>
              <a:t>10</a:t>
            </a:fld>
            <a:endParaRPr lang="ru-RU" altLang="ru-RU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773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dirty="0" smtClean="0"/>
          </a:p>
        </p:txBody>
      </p:sp>
      <p:sp>
        <p:nvSpPr>
          <p:cNvPr id="2355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7999D71-669A-4982-B95F-94861C3E0A58}" type="slidenum">
              <a:rPr lang="ru-RU" altLang="ru-RU" smtClean="0">
                <a:latin typeface="Calibri" panose="020F0502020204030204" pitchFamily="34" charset="0"/>
              </a:rPr>
              <a:pPr/>
              <a:t>12</a:t>
            </a:fld>
            <a:endParaRPr lang="ru-RU" altLang="ru-RU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dirty="0" smtClean="0"/>
          </a:p>
        </p:txBody>
      </p:sp>
      <p:sp>
        <p:nvSpPr>
          <p:cNvPr id="2867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448EE9F-5DE6-41DE-9312-F849C7CCE30B}" type="slidenum">
              <a:rPr lang="ru-RU" altLang="ru-RU" smtClean="0">
                <a:latin typeface="Calibri" panose="020F0502020204030204" pitchFamily="34" charset="0"/>
              </a:rPr>
              <a:pPr/>
              <a:t>13</a:t>
            </a:fld>
            <a:endParaRPr lang="ru-RU" altLang="ru-RU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0626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2560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C55D7B1-1A6B-439C-AAA5-4921327630FD}" type="slidenum">
              <a:rPr lang="ru-RU" altLang="ru-RU" smtClean="0">
                <a:latin typeface="Calibri" panose="020F0502020204030204" pitchFamily="34" charset="0"/>
              </a:rPr>
              <a:pPr/>
              <a:t>14</a:t>
            </a:fld>
            <a:endParaRPr lang="ru-RU" altLang="ru-RU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 smtClean="0"/>
              <a:t>ТУДУ алгоритмы для каждого типа формирвоания рекомендаций?</a:t>
            </a:r>
          </a:p>
        </p:txBody>
      </p:sp>
      <p:sp>
        <p:nvSpPr>
          <p:cNvPr id="2867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448EE9F-5DE6-41DE-9312-F849C7CCE30B}" type="slidenum">
              <a:rPr lang="ru-RU" altLang="ru-RU" smtClean="0">
                <a:latin typeface="Calibri" panose="020F0502020204030204" pitchFamily="34" charset="0"/>
              </a:rPr>
              <a:pPr/>
              <a:t>16</a:t>
            </a:fld>
            <a:endParaRPr lang="ru-RU" altLang="ru-RU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1943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 dirty="0" smtClean="0"/>
              <a:t>ТУДУ алгоритмы для каждого типа </a:t>
            </a:r>
            <a:r>
              <a:rPr lang="ru-RU" altLang="ru-RU" dirty="0" err="1" smtClean="0"/>
              <a:t>формирвоания</a:t>
            </a:r>
            <a:r>
              <a:rPr lang="ru-RU" altLang="ru-RU" dirty="0" smtClean="0"/>
              <a:t> рекомендаций?</a:t>
            </a:r>
          </a:p>
        </p:txBody>
      </p:sp>
      <p:sp>
        <p:nvSpPr>
          <p:cNvPr id="2867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448EE9F-5DE6-41DE-9312-F849C7CCE30B}" type="slidenum">
              <a:rPr lang="ru-RU" altLang="ru-RU" smtClean="0">
                <a:latin typeface="Calibri" panose="020F0502020204030204" pitchFamily="34" charset="0"/>
              </a:rPr>
              <a:pPr/>
              <a:t>18</a:t>
            </a:fld>
            <a:endParaRPr lang="ru-RU" altLang="ru-RU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9430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FEA0FF-0F9B-4483-B741-75C8BD49777D}" type="slidenum">
              <a:rPr lang="ru-RU" altLang="ru-RU" smtClean="0"/>
              <a:pPr>
                <a:defRPr/>
              </a:pPr>
              <a:t>25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776416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198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BDE9D7D-9A95-4939-B776-74196C8CAD06}" type="slidenum">
              <a:rPr lang="ru-RU" altLang="ru-RU" smtClean="0">
                <a:latin typeface="Calibri" panose="020F0502020204030204" pitchFamily="34" charset="0"/>
              </a:rPr>
              <a:pPr/>
              <a:t>27</a:t>
            </a:fld>
            <a:endParaRPr lang="ru-RU" altLang="ru-RU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FEA0FF-0F9B-4483-B741-75C8BD49777D}" type="slidenum">
              <a:rPr lang="ru-RU" altLang="ru-RU" smtClean="0"/>
              <a:pPr>
                <a:defRPr/>
              </a:pPr>
              <a:t>28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352053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FEA0FF-0F9B-4483-B741-75C8BD49777D}" type="slidenum">
              <a:rPr lang="ru-RU" altLang="ru-RU" smtClean="0"/>
              <a:pPr>
                <a:defRPr/>
              </a:pPr>
              <a:t>29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065565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FEA0FF-0F9B-4483-B741-75C8BD49777D}" type="slidenum">
              <a:rPr lang="ru-RU" altLang="ru-RU" smtClean="0"/>
              <a:pPr>
                <a:defRPr/>
              </a:pPr>
              <a:t>30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12168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6" descr="ЧГУ_0000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84"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108B79-1FD6-4E3B-901D-DDAE43E88F5C}" type="datetime1">
              <a:rPr lang="ru-RU"/>
              <a:pPr>
                <a:defRPr/>
              </a:pPr>
              <a:t>17.06.2024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9601B9-DA23-4B28-A87D-2696AD07B3F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44077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6" descr="ЧГУ_000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44"/>
          <a:stretch>
            <a:fillRect/>
          </a:stretch>
        </p:blipFill>
        <p:spPr bwMode="auto">
          <a:xfrm>
            <a:off x="-14288" y="0"/>
            <a:ext cx="992028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439702"/>
            <a:ext cx="8915400" cy="560406"/>
          </a:xfrm>
        </p:spPr>
        <p:txBody>
          <a:bodyPr>
            <a:normAutofit/>
          </a:bodyPr>
          <a:lstStyle>
            <a:lvl1pPr algn="r">
              <a:defRPr sz="2800" b="1">
                <a:solidFill>
                  <a:srgbClr val="C00000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9530" y="1285860"/>
            <a:ext cx="9101170" cy="4840304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+mn-lt"/>
                <a:cs typeface="Arial" pitchFamily="34" charset="0"/>
              </a:defRPr>
            </a:lvl1pPr>
            <a:lvl2pPr marL="0" indent="0">
              <a:buNone/>
              <a:defRPr sz="2400">
                <a:latin typeface="Arial" pitchFamily="34" charset="0"/>
                <a:cs typeface="Arial" pitchFamily="34" charset="0"/>
              </a:defRPr>
            </a:lvl2pPr>
            <a:lvl3pPr marL="0" indent="358775">
              <a:defRPr sz="2400">
                <a:latin typeface="Arial" pitchFamily="34" charset="0"/>
                <a:cs typeface="Arial" pitchFamily="34" charset="0"/>
              </a:defRPr>
            </a:lvl3pPr>
            <a:lvl4pPr marL="0" indent="358775">
              <a:defRPr sz="2400">
                <a:latin typeface="Arial" pitchFamily="34" charset="0"/>
                <a:cs typeface="Arial" pitchFamily="34" charset="0"/>
              </a:defRPr>
            </a:lvl4pPr>
            <a:lvl5pPr marL="0" indent="358775">
              <a:defRPr sz="24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0"/>
            <a:endParaRPr lang="ru-RU" dirty="0" smtClean="0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EADB90-9DF4-4782-BC2C-7B18EF4C2B03}" type="datetime1">
              <a:rPr lang="ru-RU"/>
              <a:pPr>
                <a:defRPr/>
              </a:pPr>
              <a:t>17.06.2024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594600" y="6492875"/>
            <a:ext cx="231140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1F2FA1E-0C1A-49D8-9202-21A4A245B46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38508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2AA4F6-9507-4AFF-955E-1E44FC234A5E}" type="datetime1">
              <a:rPr lang="ru-RU"/>
              <a:pPr>
                <a:defRPr/>
              </a:pPr>
              <a:t>17.06.2024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EBB7A2-762D-4EDF-9540-CF030F295B7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0719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57B3A6-5E0B-49B4-A27F-863758E5A06C}" type="datetime1">
              <a:rPr lang="ru-RU"/>
              <a:pPr>
                <a:defRPr/>
              </a:pPr>
              <a:t>17.06.2024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B3DC65-B38C-482D-9D66-625D5DBB520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76367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0FF17E-FBD9-4E77-ADF4-ED504D534365}" type="datetime1">
              <a:rPr lang="ru-RU"/>
              <a:pPr>
                <a:defRPr/>
              </a:pPr>
              <a:t>17.06.2024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FB3DEF-8703-4728-9445-92FD46840FC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32463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55B010-747D-4E9F-AB65-9979A1025C39}" type="datetime1">
              <a:rPr lang="ru-RU"/>
              <a:pPr>
                <a:defRPr/>
              </a:pPr>
              <a:t>17.06.2024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AB34DC-6351-4862-AC01-74BF4D709C5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9932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642543-2162-4736-BF08-4B54B9CB6060}" type="datetime1">
              <a:rPr lang="ru-RU"/>
              <a:pPr>
                <a:defRPr/>
              </a:pPr>
              <a:t>17.06.2024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F70203-380C-47EA-A1BF-AD9110F3F8B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51902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61A994-934D-4F70-980A-399C4B6EF7D6}" type="datetime1">
              <a:rPr lang="ru-RU"/>
              <a:pPr>
                <a:defRPr/>
              </a:pPr>
              <a:t>17.06.2024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FCE0C1-7806-46D9-B663-B8E49CAF4F0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60431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C7ABA6-B5FC-4BE7-9BEE-0CDA6E022FF7}" type="datetime1">
              <a:rPr lang="ru-RU"/>
              <a:pPr>
                <a:defRPr/>
              </a:pPr>
              <a:t>17.06.2024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681FAA-2CDF-4AF4-9702-0538681C52C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80536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DE9FDB-BED1-4A6B-BAE8-9FA36C377FC0}" type="datetime1">
              <a:rPr lang="ru-RU"/>
              <a:pPr>
                <a:defRPr/>
              </a:pPr>
              <a:t>17.06.2024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7E69F-D77A-4478-977E-D7D2F6F4AFD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2171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4BAB5-D05D-44E0-9F42-75AB24F34986}" type="datetime1">
              <a:rPr lang="ru-RU"/>
              <a:pPr>
                <a:defRPr/>
              </a:pPr>
              <a:t>17.06.2024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FFA70C-E867-4746-8B26-4814C658D3E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90639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6398F74-7930-4B3F-87DA-D0FC26FC78ED}" type="datetime1">
              <a:rPr lang="ru-RU"/>
              <a:pPr>
                <a:defRPr/>
              </a:pPr>
              <a:t>17.06.2024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48C734E-9257-4B18-8CF5-ABFE78576A4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25" r:id="rId1"/>
    <p:sldLayoutId id="2147484426" r:id="rId2"/>
    <p:sldLayoutId id="2147484416" r:id="rId3"/>
    <p:sldLayoutId id="2147484417" r:id="rId4"/>
    <p:sldLayoutId id="2147484418" r:id="rId5"/>
    <p:sldLayoutId id="2147484419" r:id="rId6"/>
    <p:sldLayoutId id="2147484420" r:id="rId7"/>
    <p:sldLayoutId id="2147484421" r:id="rId8"/>
    <p:sldLayoutId id="2147484422" r:id="rId9"/>
    <p:sldLayoutId id="2147484423" r:id="rId10"/>
    <p:sldLayoutId id="214748442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8.emf"/><Relationship Id="rId4" Type="http://schemas.openxmlformats.org/officeDocument/2006/relationships/oleObject" Target="../embeddings/oleObject1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Заголовок 1"/>
          <p:cNvSpPr txBox="1">
            <a:spLocks/>
          </p:cNvSpPr>
          <p:nvPr/>
        </p:nvSpPr>
        <p:spPr bwMode="auto">
          <a:xfrm>
            <a:off x="0" y="1125538"/>
            <a:ext cx="9921875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3600" b="1" dirty="0">
                <a:solidFill>
                  <a:srgbClr val="C00000"/>
                </a:solidFill>
              </a:rPr>
              <a:t>Программное обеспечение для анализа контента и формирования рекомендаций социальной сети на основе </a:t>
            </a:r>
            <a:r>
              <a:rPr lang="ru-RU" altLang="ru-RU" sz="3600" b="1" dirty="0" smtClean="0">
                <a:solidFill>
                  <a:srgbClr val="C00000"/>
                </a:solidFill>
              </a:rPr>
              <a:t>искусственных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3600" b="1" dirty="0">
                <a:solidFill>
                  <a:srgbClr val="C00000"/>
                </a:solidFill>
              </a:rPr>
              <a:t>н</a:t>
            </a:r>
            <a:r>
              <a:rPr lang="ru-RU" altLang="ru-RU" sz="3600" b="1" dirty="0" smtClean="0">
                <a:solidFill>
                  <a:srgbClr val="C00000"/>
                </a:solidFill>
              </a:rPr>
              <a:t>ейронных сетей</a:t>
            </a:r>
            <a:endParaRPr lang="ru-RU" altLang="ru-RU" sz="3600" b="1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8950" y="4076700"/>
            <a:ext cx="9144000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ru-RU" sz="2400" dirty="0">
                <a:latin typeface="+mj-lt"/>
                <a:cs typeface="Arial" charset="0"/>
              </a:rPr>
              <a:t>магистерская диссертация </a:t>
            </a:r>
          </a:p>
          <a:p>
            <a:pPr algn="ctr" eaLnBrk="1" hangingPunct="1">
              <a:defRPr/>
            </a:pPr>
            <a:r>
              <a:rPr lang="ru-RU" sz="2400" dirty="0">
                <a:latin typeface="+mj-lt"/>
                <a:cs typeface="Arial" charset="0"/>
              </a:rPr>
              <a:t>Викторов Д.А., 09.04.04 Программная инженерия</a:t>
            </a:r>
          </a:p>
          <a:p>
            <a:pPr algn="ctr" eaLnBrk="1" hangingPunct="1">
              <a:defRPr/>
            </a:pPr>
            <a:r>
              <a:rPr lang="ru-RU" sz="2400" dirty="0">
                <a:latin typeface="+mj-lt"/>
                <a:cs typeface="Arial" charset="0"/>
              </a:rPr>
              <a:t>гр. 1ПИм-03-1оп-22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39888" y="5407025"/>
            <a:ext cx="6842125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ru-RU" sz="2400" dirty="0">
                <a:latin typeface="+mj-lt"/>
                <a:cs typeface="Arial" charset="0"/>
              </a:rPr>
              <a:t>Научный руководитель: Ершов Е.В.,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доктор технических наук, профессор</a:t>
            </a:r>
            <a:endParaRPr lang="ru-RU" sz="2400" dirty="0">
              <a:latin typeface="+mj-lt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5"/>
          <p:cNvSpPr txBox="1">
            <a:spLocks noChangeArrowheads="1"/>
          </p:cNvSpPr>
          <p:nvPr/>
        </p:nvSpPr>
        <p:spPr bwMode="auto">
          <a:xfrm>
            <a:off x="136525" y="1879600"/>
            <a:ext cx="963295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None/>
            </a:pPr>
            <a:r>
              <a:rPr lang="ru-RU" sz="1800" dirty="0">
                <a:latin typeface="Arial" panose="020B0604020202020204" pitchFamily="34" charset="0"/>
              </a:rPr>
              <a:t>В условиях жесткой конкуренции между социальными сетями, компании постоянно ищут способы улучшения своих сервисов. Интеграция нейронных сетей для создания более точных и релевантных рекомендаций может стать значительным конкурентным преимуществом. Повышение качества рекомендаций напрямую влияет на удовлетворенность пользователей и увеличивает их активность в социальной сети. Более точные и релевантные рекомендации способствуют удержанию пользователей и их вовлеченности, что в конечном итоге положительно сказывается на монетизации платформы.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sp>
        <p:nvSpPr>
          <p:cNvPr id="7171" name="Номер слайда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E57C9F-2604-41B1-BC1E-6EE463704EE1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ru-RU" altLang="ru-RU" sz="1200" smtClean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 smtClean="0"/>
              <a:t>Актуальность темы.</a:t>
            </a:r>
            <a:br>
              <a:rPr lang="ru-RU" dirty="0" smtClean="0"/>
            </a:br>
            <a:r>
              <a:rPr lang="ru-RU" dirty="0" smtClean="0"/>
              <a:t>Объект и предмет исследования</a:t>
            </a:r>
            <a:endParaRPr lang="ru-RU" dirty="0"/>
          </a:p>
        </p:txBody>
      </p:sp>
      <p:grpSp>
        <p:nvGrpSpPr>
          <p:cNvPr id="7173" name="Группа 3"/>
          <p:cNvGrpSpPr>
            <a:grpSpLocks/>
          </p:cNvGrpSpPr>
          <p:nvPr/>
        </p:nvGrpSpPr>
        <p:grpSpPr bwMode="auto">
          <a:xfrm>
            <a:off x="69850" y="4321069"/>
            <a:ext cx="9688512" cy="778070"/>
            <a:chOff x="138997" y="4156683"/>
            <a:chExt cx="9687724" cy="775661"/>
          </a:xfrm>
        </p:grpSpPr>
        <p:sp>
          <p:nvSpPr>
            <p:cNvPr id="7178" name="TextBox 10"/>
            <p:cNvSpPr txBox="1">
              <a:spLocks noChangeArrowheads="1"/>
            </p:cNvSpPr>
            <p:nvPr/>
          </p:nvSpPr>
          <p:spPr bwMode="auto">
            <a:xfrm>
              <a:off x="138997" y="4156683"/>
              <a:ext cx="5281612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b="1" dirty="0">
                  <a:solidFill>
                    <a:srgbClr val="C00000"/>
                  </a:solidFill>
                  <a:latin typeface="Arial" panose="020B0604020202020204" pitchFamily="34" charset="0"/>
                </a:rPr>
                <a:t>Объект исследования</a:t>
              </a:r>
            </a:p>
          </p:txBody>
        </p:sp>
        <p:sp>
          <p:nvSpPr>
            <p:cNvPr id="7179" name="TextBox 6"/>
            <p:cNvSpPr txBox="1">
              <a:spLocks noChangeArrowheads="1"/>
            </p:cNvSpPr>
            <p:nvPr/>
          </p:nvSpPr>
          <p:spPr bwMode="auto">
            <a:xfrm>
              <a:off x="138997" y="4579497"/>
              <a:ext cx="9687724" cy="3528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just"/>
              <a:r>
                <a:rPr lang="ru-RU" altLang="ru-RU" sz="1700" dirty="0" smtClean="0"/>
                <a:t> Аналитическо-рекомендательная </a:t>
              </a:r>
              <a:r>
                <a:rPr lang="ru-RU" altLang="ru-RU" sz="1700" dirty="0"/>
                <a:t>система для социальной сети с медиа-публикациями. </a:t>
              </a:r>
            </a:p>
          </p:txBody>
        </p:sp>
      </p:grpSp>
      <p:grpSp>
        <p:nvGrpSpPr>
          <p:cNvPr id="7174" name="Группа 2"/>
          <p:cNvGrpSpPr>
            <a:grpSpLocks/>
          </p:cNvGrpSpPr>
          <p:nvPr/>
        </p:nvGrpSpPr>
        <p:grpSpPr bwMode="auto">
          <a:xfrm>
            <a:off x="69850" y="5408611"/>
            <a:ext cx="9699625" cy="791879"/>
            <a:chOff x="170108" y="4725144"/>
            <a:chExt cx="9697889" cy="792507"/>
          </a:xfrm>
        </p:grpSpPr>
        <p:sp>
          <p:nvSpPr>
            <p:cNvPr id="7176" name="TextBox 10"/>
            <p:cNvSpPr txBox="1">
              <a:spLocks noChangeArrowheads="1"/>
            </p:cNvSpPr>
            <p:nvPr/>
          </p:nvSpPr>
          <p:spPr bwMode="auto">
            <a:xfrm>
              <a:off x="170108" y="4725144"/>
              <a:ext cx="5281612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b="1">
                  <a:solidFill>
                    <a:srgbClr val="C00000"/>
                  </a:solidFill>
                  <a:latin typeface="Arial" panose="020B0604020202020204" pitchFamily="34" charset="0"/>
                </a:rPr>
                <a:t>Предмет исследования</a:t>
              </a:r>
            </a:p>
          </p:txBody>
        </p:sp>
        <p:sp>
          <p:nvSpPr>
            <p:cNvPr id="7177" name="TextBox 9"/>
            <p:cNvSpPr txBox="1">
              <a:spLocks noChangeArrowheads="1"/>
            </p:cNvSpPr>
            <p:nvPr/>
          </p:nvSpPr>
          <p:spPr bwMode="auto">
            <a:xfrm>
              <a:off x="181219" y="5163427"/>
              <a:ext cx="9686778" cy="354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just"/>
              <a:r>
                <a:rPr lang="ru-RU" altLang="ru-RU" sz="1700" dirty="0" smtClean="0"/>
                <a:t> Алгоритмическое обеспечение систем формирования рекомендаций и анализа контента.</a:t>
              </a:r>
              <a:endParaRPr lang="ru-RU" altLang="ru-RU" sz="1700" dirty="0"/>
            </a:p>
          </p:txBody>
        </p:sp>
      </p:grpSp>
      <p:sp>
        <p:nvSpPr>
          <p:cNvPr id="7175" name="TextBox 10"/>
          <p:cNvSpPr txBox="1">
            <a:spLocks noChangeArrowheads="1"/>
          </p:cNvSpPr>
          <p:nvPr/>
        </p:nvSpPr>
        <p:spPr bwMode="auto">
          <a:xfrm>
            <a:off x="80963" y="1438275"/>
            <a:ext cx="52816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>
                <a:solidFill>
                  <a:srgbClr val="C00000"/>
                </a:solidFill>
                <a:latin typeface="Arial" panose="020B0604020202020204" pitchFamily="34" charset="0"/>
              </a:rPr>
              <a:t>Актуальность темы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Группа 3"/>
          <p:cNvGrpSpPr>
            <a:grpSpLocks/>
          </p:cNvGrpSpPr>
          <p:nvPr/>
        </p:nvGrpSpPr>
        <p:grpSpPr bwMode="auto">
          <a:xfrm>
            <a:off x="238125" y="1818385"/>
            <a:ext cx="9505950" cy="1612854"/>
            <a:chOff x="284150" y="4746228"/>
            <a:chExt cx="9505137" cy="1612309"/>
          </a:xfrm>
        </p:grpSpPr>
        <p:sp>
          <p:nvSpPr>
            <p:cNvPr id="9223" name="TextBox 10"/>
            <p:cNvSpPr txBox="1">
              <a:spLocks noChangeArrowheads="1"/>
            </p:cNvSpPr>
            <p:nvPr/>
          </p:nvSpPr>
          <p:spPr bwMode="auto">
            <a:xfrm>
              <a:off x="284150" y="4746228"/>
              <a:ext cx="5281612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b="1" dirty="0">
                  <a:solidFill>
                    <a:srgbClr val="C00000"/>
                  </a:solidFill>
                  <a:latin typeface="Arial" panose="020B0604020202020204" pitchFamily="34" charset="0"/>
                </a:rPr>
                <a:t>Цель работы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84150" y="5352448"/>
              <a:ext cx="9505137" cy="100608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10000"/>
                </a:lnSpc>
                <a:defRPr/>
              </a:pPr>
              <a:r>
                <a:rPr lang="ru-RU" dirty="0"/>
                <a:t>Повышение </a:t>
              </a:r>
              <a:r>
                <a:rPr lang="ru-RU" dirty="0" smtClean="0"/>
                <a:t>точности и </a:t>
              </a:r>
              <a:r>
                <a:rPr lang="ru-RU" dirty="0"/>
                <a:t>релевантности рекомендаций в социальной сети с использованием современных методов искусственного интеллекта, </a:t>
              </a:r>
              <a:r>
                <a:rPr lang="ru-RU" dirty="0" smtClean="0"/>
                <a:t>которое приведёт </a:t>
              </a:r>
              <a:r>
                <a:rPr lang="ru-RU" dirty="0"/>
                <a:t>к улучшению пользовательского опыта и увеличению </a:t>
              </a:r>
              <a:r>
                <a:rPr lang="ru-RU" dirty="0" smtClean="0"/>
                <a:t>вовлеченности пользователей</a:t>
              </a:r>
              <a:endParaRPr lang="ru-RU" altLang="ru-RU" sz="1700" dirty="0">
                <a:latin typeface="+mn-lt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39713" y="4176713"/>
            <a:ext cx="9504362" cy="233602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defRPr/>
            </a:pPr>
            <a:r>
              <a:rPr lang="ru-RU" altLang="ru-RU" dirty="0"/>
              <a:t>Для достижения поставленной цели решены следующие задачи:</a:t>
            </a:r>
            <a:endParaRPr lang="en-US" altLang="ru-RU" dirty="0"/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ru-RU" dirty="0"/>
              <a:t>анализ предметной области </a:t>
            </a:r>
            <a:r>
              <a:rPr lang="ru-RU" dirty="0" smtClean="0"/>
              <a:t>систем формирования рекомендаций и анализа контента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ru-RU" dirty="0" smtClean="0"/>
              <a:t>теоретическое </a:t>
            </a:r>
            <a:r>
              <a:rPr lang="ru-RU" dirty="0"/>
              <a:t>обоснование решаемой задачи, описание </a:t>
            </a:r>
            <a:r>
              <a:rPr lang="ru-RU" dirty="0" smtClean="0"/>
              <a:t>модели</a:t>
            </a:r>
            <a:r>
              <a:rPr lang="en-US" dirty="0" smtClean="0"/>
              <a:t> </a:t>
            </a:r>
            <a:r>
              <a:rPr lang="ru-RU" dirty="0" smtClean="0"/>
              <a:t>анализа данных,  формирование рекомендательного алгоритма</a:t>
            </a:r>
            <a:r>
              <a:rPr lang="en-US" dirty="0" smtClean="0"/>
              <a:t>;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dirty="0" smtClean="0"/>
              <a:t>проектирование </a:t>
            </a:r>
            <a:r>
              <a:rPr lang="ru-RU" dirty="0"/>
              <a:t>программного обеспечения системы анализа </a:t>
            </a:r>
            <a:r>
              <a:rPr lang="ru-RU" dirty="0" smtClean="0"/>
              <a:t>контента и формирования рекомендаций</a:t>
            </a:r>
            <a:r>
              <a:rPr lang="en-US" dirty="0" smtClean="0"/>
              <a:t>;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dirty="0" smtClean="0"/>
              <a:t>экспериментальная </a:t>
            </a:r>
            <a:r>
              <a:rPr lang="ru-RU" dirty="0"/>
              <a:t>проверка разработанного программного решения. </a:t>
            </a:r>
          </a:p>
        </p:txBody>
      </p:sp>
      <p:sp>
        <p:nvSpPr>
          <p:cNvPr id="9220" name="TextBox 10"/>
          <p:cNvSpPr txBox="1">
            <a:spLocks noChangeArrowheads="1"/>
          </p:cNvSpPr>
          <p:nvPr/>
        </p:nvSpPr>
        <p:spPr bwMode="auto">
          <a:xfrm>
            <a:off x="239713" y="3624061"/>
            <a:ext cx="52816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 dirty="0">
                <a:solidFill>
                  <a:srgbClr val="C00000"/>
                </a:solidFill>
                <a:latin typeface="Arial" panose="020B0604020202020204" pitchFamily="34" charset="0"/>
              </a:rPr>
              <a:t>Задачи исследования</a:t>
            </a:r>
          </a:p>
        </p:txBody>
      </p:sp>
      <p:sp>
        <p:nvSpPr>
          <p:cNvPr id="9221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324F01-6945-4C02-8DEF-F9533761DFFE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ru-RU" altLang="ru-RU" sz="1200" smtClean="0"/>
          </a:p>
        </p:txBody>
      </p:sp>
      <p:sp>
        <p:nvSpPr>
          <p:cNvPr id="9222" name="Заголовок 1"/>
          <p:cNvSpPr txBox="1">
            <a:spLocks/>
          </p:cNvSpPr>
          <p:nvPr/>
        </p:nvSpPr>
        <p:spPr bwMode="auto">
          <a:xfrm>
            <a:off x="568325" y="433388"/>
            <a:ext cx="89154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ru-RU" altLang="ru-RU" sz="2500" b="1">
                <a:solidFill>
                  <a:srgbClr val="C00000"/>
                </a:solidFill>
              </a:rPr>
              <a:t>Цель и задачи работы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2CE28B-833C-402E-9DE0-EEEE0D6EE85B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ru-RU" altLang="ru-RU" sz="1200" smtClean="0"/>
          </a:p>
        </p:txBody>
      </p:sp>
      <p:sp>
        <p:nvSpPr>
          <p:cNvPr id="11267" name="Заголовок 1"/>
          <p:cNvSpPr txBox="1">
            <a:spLocks/>
          </p:cNvSpPr>
          <p:nvPr/>
        </p:nvSpPr>
        <p:spPr bwMode="auto">
          <a:xfrm>
            <a:off x="568325" y="433388"/>
            <a:ext cx="89154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ru-RU" altLang="ru-RU" sz="2500" b="1" dirty="0">
                <a:solidFill>
                  <a:srgbClr val="C00000"/>
                </a:solidFill>
              </a:rPr>
              <a:t>Научная </a:t>
            </a:r>
            <a:r>
              <a:rPr lang="ru-RU" altLang="ru-RU" sz="2500" b="1" dirty="0" smtClean="0">
                <a:solidFill>
                  <a:srgbClr val="C00000"/>
                </a:solidFill>
              </a:rPr>
              <a:t>новизна.</a:t>
            </a:r>
            <a:endParaRPr lang="ru-RU" altLang="ru-RU" sz="2500" b="1" dirty="0">
              <a:solidFill>
                <a:srgbClr val="C00000"/>
              </a:solidFill>
            </a:endParaRPr>
          </a:p>
          <a:p>
            <a:pPr algn="r">
              <a:spcBef>
                <a:spcPct val="0"/>
              </a:spcBef>
              <a:buFontTx/>
              <a:buNone/>
            </a:pPr>
            <a:r>
              <a:rPr lang="ru-RU" altLang="ru-RU" sz="2500" b="1" dirty="0">
                <a:solidFill>
                  <a:srgbClr val="C00000"/>
                </a:solidFill>
              </a:rPr>
              <a:t>Практическая значимость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17500" y="1989138"/>
            <a:ext cx="9399588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defRPr/>
            </a:pPr>
            <a:r>
              <a:rPr lang="ru-RU" sz="2000" dirty="0" smtClean="0"/>
              <a:t>Заключается в алгоритме формирования </a:t>
            </a:r>
            <a:r>
              <a:rPr lang="ru-RU" sz="2000" dirty="0"/>
              <a:t>рекомендаций публикаций пользователю, </a:t>
            </a:r>
            <a:r>
              <a:rPr lang="ru-RU" sz="2000" dirty="0" smtClean="0"/>
              <a:t>отличающемся </a:t>
            </a:r>
            <a:r>
              <a:rPr lang="ru-RU" sz="2000" dirty="0"/>
              <a:t>применением модифицированной косинусной </a:t>
            </a:r>
            <a:r>
              <a:rPr lang="ru-RU" sz="2000" dirty="0" smtClean="0"/>
              <a:t>меры</a:t>
            </a:r>
            <a:r>
              <a:rPr lang="en-US" sz="2000" dirty="0" smtClean="0"/>
              <a:t>,</a:t>
            </a:r>
            <a:r>
              <a:rPr lang="ru-RU" sz="2000" dirty="0"/>
              <a:t> методом k-ближайших соседей </a:t>
            </a:r>
            <a:r>
              <a:rPr lang="ru-RU" sz="2000" dirty="0" smtClean="0"/>
              <a:t>и моделью </a:t>
            </a:r>
            <a:r>
              <a:rPr lang="ru-RU" sz="2000" dirty="0"/>
              <a:t>машинного обучения </a:t>
            </a:r>
            <a:r>
              <a:rPr lang="en-US" sz="2000" dirty="0"/>
              <a:t>Vision </a:t>
            </a:r>
            <a:r>
              <a:rPr lang="en-US" sz="2000" dirty="0" smtClean="0"/>
              <a:t>Transformer</a:t>
            </a:r>
            <a:r>
              <a:rPr lang="ru-RU" sz="2000" dirty="0" smtClean="0"/>
              <a:t>, </a:t>
            </a:r>
            <a:r>
              <a:rPr lang="ru-RU" sz="2000" dirty="0" smtClean="0"/>
              <a:t>позволяющем </a:t>
            </a:r>
            <a:r>
              <a:rPr lang="ru-RU" sz="2000" dirty="0"/>
              <a:t>формировать </a:t>
            </a:r>
            <a:r>
              <a:rPr lang="ru-RU" sz="2000" dirty="0" smtClean="0"/>
              <a:t>релевантные персонализированные </a:t>
            </a:r>
            <a:r>
              <a:rPr lang="ru-RU" sz="2000" dirty="0"/>
              <a:t>списки рекомендаций </a:t>
            </a:r>
            <a:r>
              <a:rPr lang="ru-RU" sz="2000" dirty="0" smtClean="0"/>
              <a:t>в режиме реального времени.</a:t>
            </a:r>
          </a:p>
          <a:p>
            <a:pPr algn="just" eaLnBrk="1" hangingPunct="1">
              <a:lnSpc>
                <a:spcPct val="110000"/>
              </a:lnSpc>
              <a:defRPr/>
            </a:pPr>
            <a:endParaRPr lang="ru-RU" sz="2000" dirty="0" smtClean="0"/>
          </a:p>
          <a:p>
            <a:pPr algn="just" eaLnBrk="1" hangingPunct="1">
              <a:lnSpc>
                <a:spcPct val="110000"/>
              </a:lnSpc>
              <a:defRPr/>
            </a:pPr>
            <a:r>
              <a:rPr lang="ru-RU" altLang="ru-RU" sz="2000" b="1" dirty="0" smtClean="0">
                <a:solidFill>
                  <a:srgbClr val="C00000"/>
                </a:solidFill>
              </a:rPr>
              <a:t>Практическая </a:t>
            </a:r>
            <a:r>
              <a:rPr lang="ru-RU" altLang="ru-RU" sz="2000" b="1" dirty="0">
                <a:solidFill>
                  <a:srgbClr val="C00000"/>
                </a:solidFill>
              </a:rPr>
              <a:t>значимость </a:t>
            </a:r>
            <a:r>
              <a:rPr lang="ru-RU" sz="2000" dirty="0" smtClean="0"/>
              <a:t>работы </a:t>
            </a:r>
            <a:r>
              <a:rPr lang="ru-RU" sz="2000" dirty="0"/>
              <a:t>заключается в возможности применения полученного в ходе исследования программного продукта, </a:t>
            </a:r>
            <a:r>
              <a:rPr lang="ru-RU" sz="2000" dirty="0" smtClean="0"/>
              <a:t>ведущего к </a:t>
            </a:r>
            <a:r>
              <a:rPr lang="ru-RU" sz="2000" dirty="0"/>
              <a:t>значительному увеличению времени взаимодействия пользователей с платформой и количества их взаимодействий с контентом.</a:t>
            </a:r>
            <a:r>
              <a:rPr lang="ru-RU" sz="2000" dirty="0" smtClean="0"/>
              <a:t> Решение позволит анализировать </a:t>
            </a:r>
            <a:r>
              <a:rPr lang="ru-RU" sz="2000" dirty="0"/>
              <a:t>публикуемый контент в социальной сети и повысить качество </a:t>
            </a:r>
            <a:r>
              <a:rPr lang="ru-RU" sz="2000" dirty="0" smtClean="0"/>
              <a:t>рекомендаций</a:t>
            </a:r>
            <a:r>
              <a:rPr lang="ru-RU" sz="2000" dirty="0"/>
              <a:t>.</a:t>
            </a:r>
            <a:endParaRPr lang="ru-RU" dirty="0"/>
          </a:p>
        </p:txBody>
      </p:sp>
      <p:sp>
        <p:nvSpPr>
          <p:cNvPr id="11269" name="TextBox 10"/>
          <p:cNvSpPr txBox="1">
            <a:spLocks noChangeArrowheads="1"/>
          </p:cNvSpPr>
          <p:nvPr/>
        </p:nvSpPr>
        <p:spPr bwMode="auto">
          <a:xfrm>
            <a:off x="317500" y="1517650"/>
            <a:ext cx="52816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 dirty="0">
                <a:solidFill>
                  <a:srgbClr val="C00000"/>
                </a:solidFill>
                <a:latin typeface="Arial" panose="020B0604020202020204" pitchFamily="34" charset="0"/>
              </a:rPr>
              <a:t>Научная новизна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Заголовок 1"/>
          <p:cNvSpPr txBox="1">
            <a:spLocks/>
          </p:cNvSpPr>
          <p:nvPr/>
        </p:nvSpPr>
        <p:spPr bwMode="auto">
          <a:xfrm>
            <a:off x="-28575" y="3068638"/>
            <a:ext cx="9934575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3600" b="1" dirty="0">
                <a:solidFill>
                  <a:srgbClr val="C00000"/>
                </a:solidFill>
              </a:rPr>
              <a:t>ЗАДАЧА 1. </a:t>
            </a:r>
            <a:r>
              <a:rPr lang="ru-RU" altLang="ru-RU" sz="3600" b="1" dirty="0" smtClean="0">
                <a:solidFill>
                  <a:srgbClr val="C00000"/>
                </a:solidFill>
              </a:rPr>
              <a:t>Характеристика анализа </a:t>
            </a:r>
            <a:r>
              <a:rPr lang="ru-RU" altLang="ru-RU" sz="3600" b="1" dirty="0">
                <a:solidFill>
                  <a:srgbClr val="C00000"/>
                </a:solidFill>
              </a:rPr>
              <a:t>контента и формирования </a:t>
            </a:r>
            <a:r>
              <a:rPr lang="ru-RU" altLang="ru-RU" sz="3600" b="1" dirty="0" smtClean="0">
                <a:solidFill>
                  <a:srgbClr val="C00000"/>
                </a:solidFill>
              </a:rPr>
              <a:t>рекомендаций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3600" b="1" dirty="0" smtClean="0">
                <a:solidFill>
                  <a:srgbClr val="C00000"/>
                </a:solidFill>
              </a:rPr>
              <a:t> </a:t>
            </a:r>
            <a:r>
              <a:rPr lang="ru-RU" altLang="ru-RU" sz="3600" b="1" dirty="0">
                <a:solidFill>
                  <a:srgbClr val="C00000"/>
                </a:solidFill>
              </a:rPr>
              <a:t>социальной </a:t>
            </a:r>
            <a:r>
              <a:rPr lang="ru-RU" altLang="ru-RU" sz="3600" b="1" dirty="0" smtClean="0">
                <a:solidFill>
                  <a:srgbClr val="C00000"/>
                </a:solidFill>
              </a:rPr>
              <a:t>сети</a:t>
            </a:r>
            <a:endParaRPr lang="ru-RU" altLang="ru-RU" sz="36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/>
              <a:t>Анализ существующей проблемы</a:t>
            </a:r>
          </a:p>
        </p:txBody>
      </p:sp>
      <p:sp>
        <p:nvSpPr>
          <p:cNvPr id="14339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90CFEE-6CDB-4009-8179-C3EA045B9985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ru-RU" altLang="ru-RU" sz="1200" smtClean="0"/>
          </a:p>
        </p:txBody>
      </p:sp>
      <p:sp>
        <p:nvSpPr>
          <p:cNvPr id="7" name="Прямоугольник 6"/>
          <p:cNvSpPr/>
          <p:nvPr/>
        </p:nvSpPr>
        <p:spPr>
          <a:xfrm>
            <a:off x="487363" y="1392238"/>
            <a:ext cx="8923337" cy="2724150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defTabSz="895350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ru-RU" sz="1200" dirty="0" err="1">
              <a:solidFill>
                <a:schemeClr val="bg1"/>
              </a:solidFill>
            </a:endParaRPr>
          </a:p>
        </p:txBody>
      </p:sp>
      <p:sp>
        <p:nvSpPr>
          <p:cNvPr id="14341" name="Content Placeholder 8"/>
          <p:cNvSpPr txBox="1">
            <a:spLocks/>
          </p:cNvSpPr>
          <p:nvPr/>
        </p:nvSpPr>
        <p:spPr bwMode="auto">
          <a:xfrm>
            <a:off x="635000" y="1606550"/>
            <a:ext cx="8628063" cy="211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17550" indent="-274638" defTabSz="8826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04900" indent="-220663" defTabSz="88265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46225" indent="-220663" defTabSz="8826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989138" indent="-220663" defTabSz="88265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446338" indent="-220663" defTabSz="8826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03538" indent="-220663" defTabSz="8826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360738" indent="-220663" defTabSz="8826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17938" indent="-220663" defTabSz="8826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buFontTx/>
              <a:buNone/>
            </a:pPr>
            <a:r>
              <a:rPr lang="ru-RU" altLang="ru-RU" sz="1600" dirty="0">
                <a:latin typeface="Arial" panose="020B0604020202020204" pitchFamily="34" charset="0"/>
              </a:rPr>
              <a:t>Перед ООО «</a:t>
            </a:r>
            <a:r>
              <a:rPr lang="ru-RU" altLang="ru-RU" sz="1600" dirty="0" err="1">
                <a:latin typeface="Arial" panose="020B0604020202020204" pitchFamily="34" charset="0"/>
              </a:rPr>
              <a:t>Северотек</a:t>
            </a:r>
            <a:r>
              <a:rPr lang="ru-RU" altLang="ru-RU" sz="1600" dirty="0">
                <a:latin typeface="Arial" panose="020B0604020202020204" pitchFamily="34" charset="0"/>
              </a:rPr>
              <a:t>» стоит задача не только разработать и внедрить инструмент в социальную сеть, но и добиться повышения качества продукта. Текущий процент времени, проводимого пользователями социальной сети в разделе рекомендаций, крайне низок, несмотря на то, что данный раздел является </a:t>
            </a:r>
            <a:r>
              <a:rPr lang="ru-RU" altLang="ru-RU" sz="1600" dirty="0" smtClean="0">
                <a:latin typeface="Arial" panose="020B0604020202020204" pitchFamily="34" charset="0"/>
              </a:rPr>
              <a:t>основным по стратегии развития продукта. </a:t>
            </a:r>
            <a:r>
              <a:rPr lang="ru-RU" altLang="ru-RU" sz="1600" dirty="0">
                <a:latin typeface="Arial" panose="020B0604020202020204" pitchFamily="34" charset="0"/>
              </a:rPr>
              <a:t>Отсутствие интереса пользователю к рекомендациям понижает общее время использования </a:t>
            </a:r>
            <a:r>
              <a:rPr lang="ru-RU" altLang="ru-RU" sz="1600" dirty="0" smtClean="0">
                <a:latin typeface="Arial" panose="020B0604020202020204" pitchFamily="34" charset="0"/>
              </a:rPr>
              <a:t>платформы. </a:t>
            </a:r>
            <a:r>
              <a:rPr lang="ru-RU" altLang="ru-RU" sz="1600" dirty="0">
                <a:latin typeface="Arial" panose="020B0604020202020204" pitchFamily="34" charset="0"/>
              </a:rPr>
              <a:t>Повышение лояльности пользователя, путём улучшения качества рекомендаций поможет повысить время пользования продуктом текущих пользователей, вернуть ушедших </a:t>
            </a:r>
            <a:r>
              <a:rPr lang="ru-RU" altLang="ru-RU" sz="1600" dirty="0" smtClean="0">
                <a:latin typeface="Arial" panose="020B0604020202020204" pitchFamily="34" charset="0"/>
              </a:rPr>
              <a:t>и </a:t>
            </a:r>
            <a:r>
              <a:rPr lang="ru-RU" altLang="ru-RU" sz="1600" dirty="0">
                <a:latin typeface="Arial" panose="020B0604020202020204" pitchFamily="34" charset="0"/>
              </a:rPr>
              <a:t>привлечь новых </a:t>
            </a:r>
            <a:r>
              <a:rPr lang="ru-RU" altLang="ru-RU" sz="1600" dirty="0" smtClean="0">
                <a:latin typeface="Arial" panose="020B0604020202020204" pitchFamily="34" charset="0"/>
              </a:rPr>
              <a:t>пользователей </a:t>
            </a:r>
            <a:r>
              <a:rPr lang="ru-RU" altLang="ru-RU" sz="1600" dirty="0" smtClean="0">
                <a:latin typeface="Arial" panose="020B0604020202020204" pitchFamily="34" charset="0"/>
              </a:rPr>
              <a:t>и </a:t>
            </a:r>
            <a:r>
              <a:rPr lang="ru-RU" altLang="ru-RU" sz="1600" dirty="0" smtClean="0">
                <a:latin typeface="Arial" panose="020B0604020202020204" pitchFamily="34" charset="0"/>
              </a:rPr>
              <a:t>рекламодателей.</a:t>
            </a:r>
            <a:endParaRPr lang="ru-RU" altLang="ru-RU" sz="1600" dirty="0">
              <a:latin typeface="Arial" panose="020B0604020202020204" pitchFamily="34" charset="0"/>
            </a:endParaRPr>
          </a:p>
        </p:txBody>
      </p:sp>
      <p:pic>
        <p:nvPicPr>
          <p:cNvPr id="14342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63" y="4330700"/>
            <a:ext cx="8569325" cy="228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32720" y="116632"/>
            <a:ext cx="7265987" cy="12604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 smtClean="0"/>
              <a:t>Сравнительный </a:t>
            </a:r>
            <a:r>
              <a:rPr lang="ru-RU" dirty="0"/>
              <a:t>анализ методов </a:t>
            </a:r>
            <a:r>
              <a:rPr lang="ru-RU" dirty="0" smtClean="0"/>
              <a:t>и </a:t>
            </a:r>
            <a:r>
              <a:rPr lang="ru-RU" dirty="0"/>
              <a:t>средств решения задачи </a:t>
            </a:r>
            <a:r>
              <a:rPr lang="ru-RU" dirty="0" smtClean="0"/>
              <a:t>формирования рекомендаций</a:t>
            </a:r>
            <a:endParaRPr lang="ru-RU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2689423"/>
              </p:ext>
            </p:extLst>
          </p:nvPr>
        </p:nvGraphicFramePr>
        <p:xfrm>
          <a:off x="309563" y="1477963"/>
          <a:ext cx="9180512" cy="51559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4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2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214">
                <a:tc>
                  <a:txBody>
                    <a:bodyPr/>
                    <a:lstStyle/>
                    <a:p>
                      <a:pPr algn="ctr"/>
                      <a:r>
                        <a:rPr lang="ru-RU" sz="14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Метод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6" marR="91446" marT="45723" marB="45723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Плюсы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6" marR="91446" marT="45723" marB="45723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Минусы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6" marR="91446" marT="45723" marB="45723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0854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Основанный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на контенте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 требуется знание предметной области. Высокая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производительность алгоритма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Требует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анализа предмета рекомендации (описания предмета, который алгоритм будет рекомендовать). </a:t>
                      </a: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решает проблему «Холодного старта». Низкая 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релевантность и </a:t>
                      </a:r>
                      <a:r>
                        <a:rPr lang="ru-RU" sz="1200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персонализированность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ru-RU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6" marR="91446" marT="45723" marB="4572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2611">
                <a:tc>
                  <a:txBody>
                    <a:bodyPr/>
                    <a:lstStyle/>
                    <a:p>
                      <a:r>
                        <a:rPr lang="ru-RU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Коллаборативная фильтрация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 требуется знание предметной области. Высокая точность </a:t>
                      </a:r>
                      <a:r>
                        <a:rPr lang="ru-RU" sz="12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персонализированности</a:t>
                      </a: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рекомендаций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Низкая производительность.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решает проблему «Холодного старта». </a:t>
                      </a:r>
                      <a:endParaRPr lang="ru-RU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6" marR="91446" marT="45723" marB="4572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696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Основанный на статистике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скорость работы, простая реализация алгоритма. Решение задачи «Холодного старта»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Результат рекомендаций не является 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персонализированным и релевантным.</a:t>
                      </a:r>
                      <a:endParaRPr lang="ru-RU" sz="1200" baseline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6" marR="91446" marT="45723" marB="45723"/>
                </a:tc>
                <a:extLst>
                  <a:ext uri="{0D108BD9-81ED-4DB2-BD59-A6C34878D82A}">
                    <a16:rowId xmlns:a16="http://schemas.microsoft.com/office/drawing/2014/main" val="808859310"/>
                  </a:ext>
                </a:extLst>
              </a:tr>
              <a:tr h="834014">
                <a:tc>
                  <a:txBody>
                    <a:bodyPr/>
                    <a:lstStyle/>
                    <a:p>
                      <a:r>
                        <a:rPr lang="ru-RU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Нейронные сети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 эффективность и точность </a:t>
                      </a:r>
                      <a:r>
                        <a:rPr lang="ru-RU" sz="12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персонализированности</a:t>
                      </a: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рекомендаций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Отсутствие гибкости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и адаптации к изменениям и трендам без </a:t>
                      </a:r>
                      <a:r>
                        <a:rPr lang="ru-RU" sz="1200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дообучения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(высокая 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зависимость решения от предметной области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). </a:t>
                      </a:r>
                      <a:endParaRPr lang="ru-RU" sz="1200" baseline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6" marR="91446" marT="45723" marB="4572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05833">
                <a:tc>
                  <a:txBody>
                    <a:bodyPr/>
                    <a:lstStyle/>
                    <a:p>
                      <a:endParaRPr lang="ru-RU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Предлагаемый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</a:t>
                      </a: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мбинированный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метод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6" marR="91446" marT="45723" marB="45723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производительность, </a:t>
                      </a: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точность </a:t>
                      </a:r>
                      <a:r>
                        <a:rPr lang="ru-RU" sz="12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персонализированность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и релевантность</a:t>
                      </a: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рекомендаций. Адаптивность алгоритма в зависимости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от имеющихся данных об объекте и субъекте рекомендации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Гибкость к изменениям</a:t>
                      </a:r>
                      <a:endParaRPr lang="ru-RU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6" marR="91446" marT="45723" marB="45723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Требует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анализа предмета рекомендации (описания предмета, который алгоритм будет рекомендовать). 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6" marR="91446" marT="45723" marB="45723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393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FA20E4-3C10-456D-8BEC-44DE532F28DB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ru-RU" altLang="ru-RU" sz="12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 smtClean="0"/>
              <a:t>Анализ </a:t>
            </a:r>
            <a:r>
              <a:rPr lang="ru-RU" dirty="0"/>
              <a:t>существующих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программных </a:t>
            </a:r>
            <a:r>
              <a:rPr lang="ru-RU" dirty="0"/>
              <a:t>средств решения</a:t>
            </a:r>
          </a:p>
        </p:txBody>
      </p:sp>
      <p:sp>
        <p:nvSpPr>
          <p:cNvPr id="17411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B1849B-DF1F-45EA-9536-971D4803B4CC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ru-RU" altLang="ru-RU" sz="1200" smtClean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2776811"/>
              </p:ext>
            </p:extLst>
          </p:nvPr>
        </p:nvGraphicFramePr>
        <p:xfrm>
          <a:off x="309563" y="1285875"/>
          <a:ext cx="9101136" cy="48812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7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77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02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Название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4" marB="4570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Плюсы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4" marB="45704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Минусы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4" marB="45704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199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Рекомендательная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система продукта </a:t>
                      </a:r>
                      <a:r>
                        <a:rPr lang="ru-RU" sz="12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Яндекс.Станция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4" marB="4570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 точность рекомендаций.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ru-RU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 требуется знание предметной области. 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4" marB="4570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Требует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анализа предмета рекомендации. Н</a:t>
                      </a: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решает проблему «Холодного старта»</a:t>
                      </a:r>
                      <a:endParaRPr lang="ru-RU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4" marB="4570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31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Рекомендательная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система продукта </a:t>
                      </a:r>
                      <a:r>
                        <a:rPr lang="ru-RU" sz="1200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Яндекс.Дзен</a:t>
                      </a:r>
                      <a:endParaRPr lang="ru-RU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4" marB="4570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 точность рекомендаций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 требуется знание предметной области. </a:t>
                      </a:r>
                    </a:p>
                  </a:txBody>
                  <a:tcPr marT="45704" marB="4570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Требует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анализа предмета рекомендации</a:t>
                      </a: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решает проблему «Холодного старта». </a:t>
                      </a:r>
                      <a:endParaRPr lang="ru-RU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4" marB="4570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199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Рекомендательная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система продукта </a:t>
                      </a: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Netflix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4" marB="45704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 точность рекомендаций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4" marB="45704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Требует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анализа предмета рекомендации</a:t>
                      </a: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Требуется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высокая вычислительная мощность для работы системы. Проблема «Холодного старта»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4" marB="4570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7199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Рекомендательная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система продукта </a:t>
                      </a:r>
                      <a:r>
                        <a:rPr lang="en-US" sz="1200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Youtube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4" marB="45704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точность рекомендаций.</a:t>
                      </a:r>
                    </a:p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 требуется знание предметной области. 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4" marB="4570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Требует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анализа предмета рекомендации</a:t>
                      </a: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Требуется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высокая вычислительная мощность для работы системы. Проблема «Холодного старта»</a:t>
                      </a:r>
                      <a:endParaRPr lang="ru-RU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4" marB="4570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3024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Рекомендательная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система продукта 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Pinterest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4" marB="45704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 производительность.</a:t>
                      </a:r>
                    </a:p>
                    <a:p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 требуется знание предметной области. 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4" marB="4570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Требует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анализа предмета рекомендации</a:t>
                      </a: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Проблема «Холодного старта»</a:t>
                      </a:r>
                      <a:r>
                        <a:rPr lang="ru-RU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Медленная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200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адаптируемость</a:t>
                      </a:r>
                      <a:r>
                        <a:rPr lang="ru-RU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 изменением интересов пользователя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4" marB="45704"/>
                </a:tc>
                <a:extLst>
                  <a:ext uri="{0D108BD9-81ED-4DB2-BD59-A6C34878D82A}">
                    <a16:rowId xmlns:a16="http://schemas.microsoft.com/office/drawing/2014/main" val="114100143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7100" y="355601"/>
            <a:ext cx="8915400" cy="56038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	Описание </a:t>
            </a:r>
            <a:r>
              <a:rPr lang="ru-RU" dirty="0" smtClean="0"/>
              <a:t>контента </a:t>
            </a:r>
            <a:r>
              <a:rPr lang="ru-RU" dirty="0"/>
              <a:t>социальной сети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как </a:t>
            </a:r>
            <a:r>
              <a:rPr lang="ru-RU" dirty="0"/>
              <a:t>данных для формирования </a:t>
            </a:r>
            <a:r>
              <a:rPr lang="ru-RU" dirty="0" smtClean="0"/>
              <a:t>рекомендаций</a:t>
            </a:r>
            <a:endParaRPr lang="ru-RU" dirty="0"/>
          </a:p>
        </p:txBody>
      </p:sp>
      <p:sp>
        <p:nvSpPr>
          <p:cNvPr id="19459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D5EA56-6E03-4367-8AA6-CF2B3A0F139E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ru-RU" altLang="ru-RU" sz="1200" smtClean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3949559" y="1413513"/>
            <a:ext cx="1818969" cy="115212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600" dirty="0" smtClean="0"/>
              <a:t>Профиль пользователя социальной сети</a:t>
            </a:r>
            <a:endParaRPr lang="ru-RU" sz="1600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1813116" y="3112400"/>
            <a:ext cx="1224136" cy="11469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1965516" y="3264800"/>
            <a:ext cx="1224136" cy="11469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117916" y="3417200"/>
            <a:ext cx="1224136" cy="11469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2061788" y="3815791"/>
            <a:ext cx="133639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1600" dirty="0" smtClean="0">
                <a:solidFill>
                  <a:schemeClr val="bg1"/>
                </a:solidFill>
              </a:rPr>
              <a:t>Публикации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7" name="Облако 6"/>
          <p:cNvSpPr/>
          <p:nvPr/>
        </p:nvSpPr>
        <p:spPr>
          <a:xfrm>
            <a:off x="3882112" y="3264800"/>
            <a:ext cx="1656184" cy="1008112"/>
          </a:xfrm>
          <a:prstGeom prst="cloud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блако 25"/>
          <p:cNvSpPr/>
          <p:nvPr/>
        </p:nvSpPr>
        <p:spPr>
          <a:xfrm>
            <a:off x="4034512" y="3417200"/>
            <a:ext cx="1656184" cy="1008112"/>
          </a:xfrm>
          <a:prstGeom prst="cloud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блако 26"/>
          <p:cNvSpPr/>
          <p:nvPr/>
        </p:nvSpPr>
        <p:spPr>
          <a:xfrm>
            <a:off x="4186912" y="3569600"/>
            <a:ext cx="1656184" cy="1008112"/>
          </a:xfrm>
          <a:prstGeom prst="cloud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/>
          <p:cNvSpPr/>
          <p:nvPr/>
        </p:nvSpPr>
        <p:spPr>
          <a:xfrm>
            <a:off x="4296925" y="3815791"/>
            <a:ext cx="1479187" cy="338554"/>
          </a:xfrm>
          <a:prstGeom prst="rect">
            <a:avLst/>
          </a:prstGeom>
          <a:solidFill>
            <a:srgbClr val="C00000"/>
          </a:solidFill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1600" dirty="0" smtClean="0">
                <a:solidFill>
                  <a:schemeClr val="bg1"/>
                </a:solidFill>
              </a:rPr>
              <a:t>Комментарии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8" name="Блок-схема: несколько документов 7"/>
          <p:cNvSpPr/>
          <p:nvPr/>
        </p:nvSpPr>
        <p:spPr>
          <a:xfrm>
            <a:off x="1788300" y="5041151"/>
            <a:ext cx="1656184" cy="1166976"/>
          </a:xfrm>
          <a:prstGeom prst="flowChartMultidocumen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/>
          <p:cNvSpPr/>
          <p:nvPr/>
        </p:nvSpPr>
        <p:spPr>
          <a:xfrm>
            <a:off x="1739724" y="5518178"/>
            <a:ext cx="15320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1600" dirty="0" smtClean="0">
                <a:solidFill>
                  <a:schemeClr val="bg1"/>
                </a:solidFill>
              </a:rPr>
              <a:t> Изображения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13" name="7-конечная звезда 12"/>
          <p:cNvSpPr/>
          <p:nvPr/>
        </p:nvSpPr>
        <p:spPr>
          <a:xfrm>
            <a:off x="6160368" y="3052192"/>
            <a:ext cx="1296144" cy="1202432"/>
          </a:xfrm>
          <a:prstGeom prst="star7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7-конечная звезда 34"/>
          <p:cNvSpPr/>
          <p:nvPr/>
        </p:nvSpPr>
        <p:spPr>
          <a:xfrm>
            <a:off x="6312768" y="3204592"/>
            <a:ext cx="1296144" cy="1202432"/>
          </a:xfrm>
          <a:prstGeom prst="star7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7-конечная звезда 35"/>
          <p:cNvSpPr/>
          <p:nvPr/>
        </p:nvSpPr>
        <p:spPr>
          <a:xfrm>
            <a:off x="6465168" y="3356992"/>
            <a:ext cx="1296144" cy="1202432"/>
          </a:xfrm>
          <a:prstGeom prst="star7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/>
          <p:cNvSpPr/>
          <p:nvPr/>
        </p:nvSpPr>
        <p:spPr>
          <a:xfrm>
            <a:off x="6640224" y="3789224"/>
            <a:ext cx="8924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1600" dirty="0" smtClean="0">
                <a:solidFill>
                  <a:schemeClr val="bg1"/>
                </a:solidFill>
              </a:rPr>
              <a:t>Оценки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40" name="Прямоугольник 39"/>
          <p:cNvSpPr/>
          <p:nvPr/>
        </p:nvSpPr>
        <p:spPr>
          <a:xfrm>
            <a:off x="5463728" y="5041150"/>
            <a:ext cx="1289472" cy="12946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/>
        </p:nvSpPr>
        <p:spPr>
          <a:xfrm>
            <a:off x="5616128" y="5193550"/>
            <a:ext cx="1376536" cy="129932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5768528" y="5345950"/>
            <a:ext cx="1278210" cy="130556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/>
        </p:nvSpPr>
        <p:spPr>
          <a:xfrm>
            <a:off x="5696861" y="5549248"/>
            <a:ext cx="1421543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1400" dirty="0" smtClean="0">
                <a:solidFill>
                  <a:schemeClr val="bg1"/>
                </a:solidFill>
              </a:rPr>
              <a:t>Публикации</a:t>
            </a:r>
            <a:endParaRPr lang="ru-RU" sz="1400" dirty="0">
              <a:solidFill>
                <a:schemeClr val="bg1"/>
              </a:solidFill>
            </a:endParaRPr>
          </a:p>
          <a:p>
            <a:pPr algn="ctr">
              <a:defRPr/>
            </a:pPr>
            <a:r>
              <a:rPr lang="ru-RU" sz="1400" dirty="0">
                <a:solidFill>
                  <a:schemeClr val="bg1"/>
                </a:solidFill>
              </a:rPr>
              <a:t>д</a:t>
            </a:r>
            <a:r>
              <a:rPr lang="ru-RU" sz="1400" dirty="0" smtClean="0">
                <a:solidFill>
                  <a:schemeClr val="bg1"/>
                </a:solidFill>
              </a:rPr>
              <a:t>ругих</a:t>
            </a:r>
          </a:p>
          <a:p>
            <a:pPr algn="ctr">
              <a:defRPr/>
            </a:pPr>
            <a:r>
              <a:rPr lang="ru-RU" sz="1400" dirty="0" smtClean="0">
                <a:solidFill>
                  <a:schemeClr val="bg1"/>
                </a:solidFill>
              </a:rPr>
              <a:t>пользователей</a:t>
            </a:r>
          </a:p>
        </p:txBody>
      </p:sp>
      <p:cxnSp>
        <p:nvCxnSpPr>
          <p:cNvPr id="15" name="Прямая со стрелкой 14"/>
          <p:cNvCxnSpPr>
            <a:stCxn id="12" idx="2"/>
          </p:cNvCxnSpPr>
          <p:nvPr/>
        </p:nvCxnSpPr>
        <p:spPr>
          <a:xfrm>
            <a:off x="4859044" y="2565641"/>
            <a:ext cx="21948" cy="699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/>
          <p:cNvCxnSpPr>
            <a:stCxn id="12" idx="2"/>
          </p:cNvCxnSpPr>
          <p:nvPr/>
        </p:nvCxnSpPr>
        <p:spPr>
          <a:xfrm>
            <a:off x="4859044" y="2565641"/>
            <a:ext cx="1781180" cy="699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/>
          <p:cNvCxnSpPr>
            <a:stCxn id="12" idx="2"/>
          </p:cNvCxnSpPr>
          <p:nvPr/>
        </p:nvCxnSpPr>
        <p:spPr>
          <a:xfrm flipH="1">
            <a:off x="3037252" y="2565641"/>
            <a:ext cx="1821792" cy="546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/>
          <p:cNvCxnSpPr>
            <a:stCxn id="23" idx="2"/>
            <a:endCxn id="8" idx="0"/>
          </p:cNvCxnSpPr>
          <p:nvPr/>
        </p:nvCxnSpPr>
        <p:spPr>
          <a:xfrm>
            <a:off x="2729984" y="4564124"/>
            <a:ext cx="347" cy="477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/>
          <p:cNvCxnSpPr>
            <a:endCxn id="40" idx="0"/>
          </p:cNvCxnSpPr>
          <p:nvPr/>
        </p:nvCxnSpPr>
        <p:spPr>
          <a:xfrm>
            <a:off x="5104854" y="4559424"/>
            <a:ext cx="1003610" cy="481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/>
          <p:cNvCxnSpPr>
            <a:endCxn id="40" idx="0"/>
          </p:cNvCxnSpPr>
          <p:nvPr/>
        </p:nvCxnSpPr>
        <p:spPr>
          <a:xfrm flipH="1">
            <a:off x="6108464" y="4242361"/>
            <a:ext cx="531760" cy="798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/>
          <p:cNvCxnSpPr>
            <a:endCxn id="8" idx="3"/>
          </p:cNvCxnSpPr>
          <p:nvPr/>
        </p:nvCxnSpPr>
        <p:spPr>
          <a:xfrm flipH="1" flipV="1">
            <a:off x="3444484" y="5624639"/>
            <a:ext cx="2019244" cy="50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 smtClean="0"/>
              <a:t>Постановка задачи</a:t>
            </a:r>
            <a:endParaRPr lang="ru-RU" dirty="0"/>
          </a:p>
        </p:txBody>
      </p:sp>
      <p:sp>
        <p:nvSpPr>
          <p:cNvPr id="19459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D5EA56-6E03-4367-8AA6-CF2B3A0F139E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ru-RU" altLang="ru-RU" sz="1200" smtClean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2649538" y="1801813"/>
            <a:ext cx="5111750" cy="90487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altLang="ru-RU" sz="1600" b="1" dirty="0">
                <a:solidFill>
                  <a:schemeClr val="bg1"/>
                </a:solidFill>
              </a:rPr>
              <a:t>Программное обеспечение для анализа контента и </a:t>
            </a:r>
            <a:r>
              <a:rPr lang="ru-RU" altLang="ru-RU" sz="1600" b="1" dirty="0" smtClean="0">
                <a:solidFill>
                  <a:schemeClr val="bg1"/>
                </a:solidFill>
              </a:rPr>
              <a:t>формирования </a:t>
            </a:r>
            <a:r>
              <a:rPr lang="ru-RU" altLang="ru-RU" sz="1600" b="1" dirty="0">
                <a:solidFill>
                  <a:schemeClr val="bg1"/>
                </a:solidFill>
              </a:rPr>
              <a:t>рекомендаций социальной сети на </a:t>
            </a:r>
            <a:r>
              <a:rPr lang="ru-RU" altLang="ru-RU" sz="1600" b="1" dirty="0" smtClean="0">
                <a:solidFill>
                  <a:schemeClr val="bg1"/>
                </a:solidFill>
              </a:rPr>
              <a:t>основе </a:t>
            </a:r>
            <a:r>
              <a:rPr lang="ru-RU" altLang="ru-RU" sz="1600" b="1" dirty="0">
                <a:solidFill>
                  <a:schemeClr val="bg1"/>
                </a:solidFill>
              </a:rPr>
              <a:t>ИНС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1569243" y="3099166"/>
            <a:ext cx="2877343" cy="140995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600" dirty="0" smtClean="0"/>
              <a:t>Использование </a:t>
            </a:r>
            <a:r>
              <a:rPr lang="ru-RU" sz="1600" dirty="0"/>
              <a:t>модели тегирования изображений</a:t>
            </a:r>
          </a:p>
          <a:p>
            <a:pPr algn="ctr">
              <a:defRPr/>
            </a:pPr>
            <a:r>
              <a:rPr lang="ru-RU" sz="1600" dirty="0"/>
              <a:t>(анализ содержимого публикаций пользователя социальной сети)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5313040" y="3124200"/>
            <a:ext cx="2808610" cy="13849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600" dirty="0"/>
              <a:t>Создание комбинированного рекомендательного алгоритма</a:t>
            </a: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2719002" y="5102225"/>
            <a:ext cx="2938600" cy="144462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400" dirty="0"/>
              <a:t>Создание </a:t>
            </a:r>
            <a:r>
              <a:rPr lang="ru-RU" sz="1400" dirty="0" smtClean="0"/>
              <a:t>адаптивного алгоритма, использующего данные о </a:t>
            </a:r>
            <a:r>
              <a:rPr lang="ru-RU" sz="1400" dirty="0" smtClean="0"/>
              <a:t>пользователях, их взаимодействиях и публикациях</a:t>
            </a:r>
            <a:endParaRPr lang="ru-RU" sz="140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961063" y="5108575"/>
            <a:ext cx="3545522" cy="145573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400" dirty="0"/>
              <a:t>Усовершенствование и модификация методов используемых в алгоритмах формирования рекомендаций для оптимизации процесса и повышения качества результата</a:t>
            </a:r>
          </a:p>
        </p:txBody>
      </p:sp>
      <p:cxnSp>
        <p:nvCxnSpPr>
          <p:cNvPr id="18438" name="Скругленная соединительная линия 18437"/>
          <p:cNvCxnSpPr>
            <a:stCxn id="3" idx="2"/>
            <a:endCxn id="9" idx="0"/>
          </p:cNvCxnSpPr>
          <p:nvPr/>
        </p:nvCxnSpPr>
        <p:spPr>
          <a:xfrm rot="5400000">
            <a:off x="3910425" y="1804178"/>
            <a:ext cx="392478" cy="219749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Скругленная соединительная линия 38"/>
          <p:cNvCxnSpPr>
            <a:stCxn id="3" idx="2"/>
            <a:endCxn id="10" idx="0"/>
          </p:cNvCxnSpPr>
          <p:nvPr/>
        </p:nvCxnSpPr>
        <p:spPr>
          <a:xfrm rot="16200000" flipH="1">
            <a:off x="5752623" y="2159478"/>
            <a:ext cx="417512" cy="151193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Скругленная соединительная линия 42"/>
          <p:cNvCxnSpPr>
            <a:stCxn id="10" idx="2"/>
            <a:endCxn id="11" idx="0"/>
          </p:cNvCxnSpPr>
          <p:nvPr/>
        </p:nvCxnSpPr>
        <p:spPr>
          <a:xfrm rot="5400000">
            <a:off x="5156272" y="3541151"/>
            <a:ext cx="593105" cy="252904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Скругленная соединительная линия 48"/>
          <p:cNvCxnSpPr>
            <a:stCxn id="10" idx="2"/>
            <a:endCxn id="12" idx="0"/>
          </p:cNvCxnSpPr>
          <p:nvPr/>
        </p:nvCxnSpPr>
        <p:spPr>
          <a:xfrm rot="16200000" flipH="1">
            <a:off x="6925857" y="4300607"/>
            <a:ext cx="599455" cy="101647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Скругленный прямоугольник 41"/>
          <p:cNvSpPr/>
          <p:nvPr/>
        </p:nvSpPr>
        <p:spPr>
          <a:xfrm>
            <a:off x="286919" y="5100638"/>
            <a:ext cx="2231678" cy="1446212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400" dirty="0"/>
              <a:t>Формирование меры схожести между публикациями и </a:t>
            </a:r>
            <a:r>
              <a:rPr lang="ru-RU" sz="1400" dirty="0" smtClean="0"/>
              <a:t>между пользователями</a:t>
            </a:r>
            <a:endParaRPr lang="ru-RU" sz="1400" dirty="0"/>
          </a:p>
        </p:txBody>
      </p:sp>
      <p:cxnSp>
        <p:nvCxnSpPr>
          <p:cNvPr id="44" name="Скругленная соединительная линия 43"/>
          <p:cNvCxnSpPr>
            <a:stCxn id="10" idx="2"/>
            <a:endCxn id="42" idx="0"/>
          </p:cNvCxnSpPr>
          <p:nvPr/>
        </p:nvCxnSpPr>
        <p:spPr>
          <a:xfrm rot="5400000">
            <a:off x="3764293" y="2147586"/>
            <a:ext cx="591518" cy="531458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265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Заголовок 1"/>
          <p:cNvSpPr txBox="1">
            <a:spLocks/>
          </p:cNvSpPr>
          <p:nvPr/>
        </p:nvSpPr>
        <p:spPr bwMode="auto">
          <a:xfrm>
            <a:off x="201613" y="2565400"/>
            <a:ext cx="9504362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3600" b="1" dirty="0">
                <a:solidFill>
                  <a:srgbClr val="C00000"/>
                </a:solidFill>
              </a:rPr>
              <a:t>ЗАДАЧА 2. </a:t>
            </a:r>
            <a:r>
              <a:rPr lang="ru-RU" altLang="ru-RU" sz="3600" b="1" dirty="0" smtClean="0">
                <a:solidFill>
                  <a:srgbClr val="C00000"/>
                </a:solidFill>
              </a:rPr>
              <a:t>Разработка математического и алгоритмического обеспечения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3600" b="1" dirty="0" smtClean="0">
                <a:solidFill>
                  <a:srgbClr val="C00000"/>
                </a:solidFill>
              </a:rPr>
              <a:t>системы анализа контента и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3600" b="1" dirty="0" smtClean="0">
                <a:solidFill>
                  <a:srgbClr val="C00000"/>
                </a:solidFill>
              </a:rPr>
              <a:t>формирования рекомендаций</a:t>
            </a:r>
            <a:endParaRPr lang="ru-RU" altLang="ru-RU" sz="36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 smtClean="0"/>
              <a:t>Описание предлагаемого алгоритма</a:t>
            </a:r>
            <a:br>
              <a:rPr lang="ru-RU" dirty="0" smtClean="0"/>
            </a:br>
            <a:r>
              <a:rPr lang="ru-RU" dirty="0" smtClean="0"/>
              <a:t>решения задачи</a:t>
            </a:r>
            <a:endParaRPr lang="ru-RU" dirty="0"/>
          </a:p>
        </p:txBody>
      </p:sp>
      <p:sp>
        <p:nvSpPr>
          <p:cNvPr id="22531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EF86B6-E10E-4272-89FD-C150DB1F8B84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ru-RU" altLang="ru-RU" sz="1200" smtClean="0"/>
          </a:p>
        </p:txBody>
      </p:sp>
      <p:pic>
        <p:nvPicPr>
          <p:cNvPr id="22532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706" y="2780928"/>
            <a:ext cx="7748587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8544" y="383411"/>
            <a:ext cx="8915400" cy="56038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2400" dirty="0" smtClean="0"/>
              <a:t>Анализ контента социальной сети и </a:t>
            </a:r>
            <a:br>
              <a:rPr lang="ru-RU" sz="2400" dirty="0" smtClean="0"/>
            </a:br>
            <a:r>
              <a:rPr lang="ru-RU" sz="2400" dirty="0" smtClean="0"/>
              <a:t>формирование персональных рекомендаций </a:t>
            </a:r>
            <a:br>
              <a:rPr lang="ru-RU" sz="2400" dirty="0" smtClean="0"/>
            </a:br>
            <a:endParaRPr lang="ru-RU" sz="2400" dirty="0"/>
          </a:p>
        </p:txBody>
      </p:sp>
      <p:sp>
        <p:nvSpPr>
          <p:cNvPr id="27651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BD5138-BAE3-4BCA-A52D-2A43DAE8C0C9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ru-RU" altLang="ru-RU" sz="1200" smtClean="0"/>
          </a:p>
        </p:txBody>
      </p:sp>
      <p:sp>
        <p:nvSpPr>
          <p:cNvPr id="4" name="Шеврон 3"/>
          <p:cNvSpPr/>
          <p:nvPr/>
        </p:nvSpPr>
        <p:spPr>
          <a:xfrm>
            <a:off x="8049344" y="1971701"/>
            <a:ext cx="288032" cy="648072"/>
          </a:xfrm>
          <a:prstGeom prst="chevron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CC3300"/>
              </a:solidFill>
            </a:endParaRPr>
          </a:p>
        </p:txBody>
      </p:sp>
      <p:sp>
        <p:nvSpPr>
          <p:cNvPr id="9" name="Шеврон 8"/>
          <p:cNvSpPr/>
          <p:nvPr/>
        </p:nvSpPr>
        <p:spPr>
          <a:xfrm rot="10800000">
            <a:off x="7041232" y="1962945"/>
            <a:ext cx="288032" cy="648072"/>
          </a:xfrm>
          <a:prstGeom prst="chevron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CC3300"/>
              </a:solidFill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7374606" y="2458618"/>
            <a:ext cx="144016" cy="14401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CC3300"/>
              </a:solidFill>
            </a:endParaRPr>
          </a:p>
        </p:txBody>
      </p:sp>
      <p:sp>
        <p:nvSpPr>
          <p:cNvPr id="11" name="Овал 10"/>
          <p:cNvSpPr/>
          <p:nvPr/>
        </p:nvSpPr>
        <p:spPr>
          <a:xfrm>
            <a:off x="7633456" y="2458618"/>
            <a:ext cx="144016" cy="14401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CC3300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7884393" y="2467002"/>
            <a:ext cx="144016" cy="14401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CC3300"/>
              </a:solidFill>
            </a:endParaRPr>
          </a:p>
        </p:txBody>
      </p:sp>
      <p:sp>
        <p:nvSpPr>
          <p:cNvPr id="8" name="Блок-схема: несколько документов 7"/>
          <p:cNvSpPr/>
          <p:nvPr/>
        </p:nvSpPr>
        <p:spPr>
          <a:xfrm>
            <a:off x="704528" y="1844824"/>
            <a:ext cx="1584176" cy="1152128"/>
          </a:xfrm>
          <a:prstGeom prst="flowChartMultidocumen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CC3300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583196" y="2281219"/>
            <a:ext cx="15320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1600" dirty="0" smtClean="0">
                <a:solidFill>
                  <a:schemeClr val="bg1"/>
                </a:solidFill>
              </a:rPr>
              <a:t> Изображения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7037853" y="2803803"/>
            <a:ext cx="12995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1600" dirty="0" smtClean="0">
                <a:solidFill>
                  <a:srgbClr val="C00000"/>
                </a:solidFill>
              </a:rPr>
              <a:t>Описание </a:t>
            </a:r>
          </a:p>
          <a:p>
            <a:pPr algn="ctr">
              <a:defRPr/>
            </a:pPr>
            <a:r>
              <a:rPr lang="ru-RU" sz="1600" dirty="0" smtClean="0">
                <a:solidFill>
                  <a:srgbClr val="C00000"/>
                </a:solidFill>
              </a:rPr>
              <a:t>публикации</a:t>
            </a:r>
            <a:endParaRPr lang="ru-RU" sz="1600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4070164" y="1944266"/>
            <a:ext cx="1577380" cy="953243"/>
          </a:xfrm>
          <a:prstGeom prst="flowChartAlternateProces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ИНС</a:t>
            </a:r>
            <a:endParaRPr lang="ru-RU" dirty="0"/>
          </a:p>
        </p:txBody>
      </p:sp>
      <p:sp>
        <p:nvSpPr>
          <p:cNvPr id="18" name="Облако 17"/>
          <p:cNvSpPr/>
          <p:nvPr/>
        </p:nvSpPr>
        <p:spPr>
          <a:xfrm>
            <a:off x="2691452" y="4072501"/>
            <a:ext cx="1656184" cy="1008112"/>
          </a:xfrm>
          <a:prstGeom prst="cloud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блако 18"/>
          <p:cNvSpPr/>
          <p:nvPr/>
        </p:nvSpPr>
        <p:spPr>
          <a:xfrm>
            <a:off x="2843852" y="4224901"/>
            <a:ext cx="1656184" cy="1008112"/>
          </a:xfrm>
          <a:prstGeom prst="cloud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блако 19"/>
          <p:cNvSpPr/>
          <p:nvPr/>
        </p:nvSpPr>
        <p:spPr>
          <a:xfrm>
            <a:off x="2996252" y="4377301"/>
            <a:ext cx="1656184" cy="1008112"/>
          </a:xfrm>
          <a:prstGeom prst="cloud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3106265" y="4623492"/>
            <a:ext cx="1479187" cy="338554"/>
          </a:xfrm>
          <a:prstGeom prst="rect">
            <a:avLst/>
          </a:prstGeom>
          <a:solidFill>
            <a:srgbClr val="C00000"/>
          </a:solidFill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1600" dirty="0" smtClean="0">
                <a:solidFill>
                  <a:schemeClr val="bg1"/>
                </a:solidFill>
              </a:rPr>
              <a:t>Комментарии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22" name="7-конечная звезда 21"/>
          <p:cNvSpPr/>
          <p:nvPr/>
        </p:nvSpPr>
        <p:spPr>
          <a:xfrm>
            <a:off x="3504456" y="4953315"/>
            <a:ext cx="1296144" cy="1202432"/>
          </a:xfrm>
          <a:prstGeom prst="star7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7-конечная звезда 22"/>
          <p:cNvSpPr/>
          <p:nvPr/>
        </p:nvSpPr>
        <p:spPr>
          <a:xfrm>
            <a:off x="3656856" y="5105715"/>
            <a:ext cx="1296144" cy="1202432"/>
          </a:xfrm>
          <a:prstGeom prst="star7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3831912" y="5537947"/>
            <a:ext cx="8924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1600" dirty="0" smtClean="0">
                <a:solidFill>
                  <a:schemeClr val="bg1"/>
                </a:solidFill>
              </a:rPr>
              <a:t>Оценки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14" name="Стрелка вправо 13"/>
          <p:cNvSpPr/>
          <p:nvPr/>
        </p:nvSpPr>
        <p:spPr>
          <a:xfrm>
            <a:off x="2780508" y="2261616"/>
            <a:ext cx="821493" cy="205386"/>
          </a:xfrm>
          <a:prstGeom prst="rightArrow">
            <a:avLst/>
          </a:prstGeom>
          <a:solidFill>
            <a:srgbClr val="CC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Равно 16"/>
          <p:cNvSpPr/>
          <p:nvPr/>
        </p:nvSpPr>
        <p:spPr>
          <a:xfrm>
            <a:off x="6039928" y="2137102"/>
            <a:ext cx="676689" cy="482671"/>
          </a:xfrm>
          <a:prstGeom prst="mathEqual">
            <a:avLst/>
          </a:prstGeom>
          <a:solidFill>
            <a:srgbClr val="CC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5" name="Блок-схема: внутренняя память 24"/>
          <p:cNvSpPr/>
          <p:nvPr/>
        </p:nvSpPr>
        <p:spPr>
          <a:xfrm>
            <a:off x="7102210" y="3651494"/>
            <a:ext cx="1206508" cy="1038535"/>
          </a:xfrm>
          <a:prstGeom prst="flowChartInternalStorag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/>
          <p:cNvSpPr/>
          <p:nvPr/>
        </p:nvSpPr>
        <p:spPr>
          <a:xfrm>
            <a:off x="6353426" y="6201639"/>
            <a:ext cx="270407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1600" dirty="0" smtClean="0">
                <a:solidFill>
                  <a:srgbClr val="C00000"/>
                </a:solidFill>
              </a:rPr>
              <a:t>Популярность публикации</a:t>
            </a:r>
            <a:endParaRPr lang="ru-RU" sz="1600" dirty="0">
              <a:solidFill>
                <a:srgbClr val="C00000"/>
              </a:solidFill>
            </a:endParaRPr>
          </a:p>
        </p:txBody>
      </p:sp>
      <p:sp>
        <p:nvSpPr>
          <p:cNvPr id="26" name="4-конечная звезда 25"/>
          <p:cNvSpPr/>
          <p:nvPr/>
        </p:nvSpPr>
        <p:spPr>
          <a:xfrm>
            <a:off x="7246264" y="5280886"/>
            <a:ext cx="918399" cy="922734"/>
          </a:xfrm>
          <a:prstGeom prst="star4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/>
          <p:cNvSpPr/>
          <p:nvPr/>
        </p:nvSpPr>
        <p:spPr>
          <a:xfrm>
            <a:off x="6679357" y="4712080"/>
            <a:ext cx="201651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1600" dirty="0" smtClean="0">
                <a:solidFill>
                  <a:srgbClr val="C00000"/>
                </a:solidFill>
              </a:rPr>
              <a:t>Матрица схожести</a:t>
            </a:r>
            <a:endParaRPr lang="ru-RU" sz="1600" dirty="0">
              <a:solidFill>
                <a:srgbClr val="C00000"/>
              </a:solidFill>
            </a:endParaRPr>
          </a:p>
        </p:txBody>
      </p:sp>
      <p:sp>
        <p:nvSpPr>
          <p:cNvPr id="31" name="Стрелка вправо 30"/>
          <p:cNvSpPr/>
          <p:nvPr/>
        </p:nvSpPr>
        <p:spPr>
          <a:xfrm rot="19917483">
            <a:off x="5321081" y="4762014"/>
            <a:ext cx="821493" cy="205386"/>
          </a:xfrm>
          <a:prstGeom prst="rightArrow">
            <a:avLst/>
          </a:prstGeom>
          <a:solidFill>
            <a:srgbClr val="CC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Стрелка вправо 31"/>
          <p:cNvSpPr/>
          <p:nvPr/>
        </p:nvSpPr>
        <p:spPr>
          <a:xfrm rot="1592565">
            <a:off x="5329232" y="5349145"/>
            <a:ext cx="821493" cy="205386"/>
          </a:xfrm>
          <a:prstGeom prst="rightArrow">
            <a:avLst/>
          </a:prstGeom>
          <a:solidFill>
            <a:srgbClr val="CC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741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 smtClean="0"/>
              <a:t>Описание модели </a:t>
            </a:r>
            <a:br>
              <a:rPr lang="ru-RU" dirty="0" smtClean="0"/>
            </a:br>
            <a:r>
              <a:rPr lang="ru-RU" dirty="0" smtClean="0"/>
              <a:t>тегирования изображений</a:t>
            </a:r>
            <a:endParaRPr lang="ru-RU" dirty="0"/>
          </a:p>
        </p:txBody>
      </p:sp>
      <p:sp>
        <p:nvSpPr>
          <p:cNvPr id="24579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5AA8B9-8E6B-450B-9546-4F4A65189A4A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ru-RU" altLang="ru-RU" sz="1200" smtClean="0"/>
          </a:p>
        </p:txBody>
      </p:sp>
      <p:pic>
        <p:nvPicPr>
          <p:cNvPr id="24580" name="Picture 6" descr="Диаграмма без названия-Страница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550" y="1268413"/>
            <a:ext cx="3816350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2" descr="Диаграмма без названия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63" y="2022475"/>
            <a:ext cx="2854325" cy="417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2" name="Рисунок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84" b="5084"/>
          <a:stretch>
            <a:fillRect/>
          </a:stretch>
        </p:blipFill>
        <p:spPr bwMode="auto">
          <a:xfrm>
            <a:off x="957263" y="4862513"/>
            <a:ext cx="4824412" cy="67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3" name="Рисунок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38" r="26389"/>
          <a:stretch>
            <a:fillRect/>
          </a:stretch>
        </p:blipFill>
        <p:spPr bwMode="auto">
          <a:xfrm>
            <a:off x="1460500" y="5729288"/>
            <a:ext cx="3816350" cy="94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 smtClean="0"/>
              <a:t>Используемые методы </a:t>
            </a:r>
            <a:br>
              <a:rPr lang="ru-RU" dirty="0" smtClean="0"/>
            </a:br>
            <a:r>
              <a:rPr lang="ru-RU" dirty="0" smtClean="0"/>
              <a:t>для построения рекомендаций</a:t>
            </a:r>
            <a:endParaRPr lang="ru-RU" dirty="0"/>
          </a:p>
        </p:txBody>
      </p:sp>
      <p:sp>
        <p:nvSpPr>
          <p:cNvPr id="26627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B1B66D-329B-4A94-BF3E-4302A35C9199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ru-RU" altLang="ru-RU" sz="1200" smtClean="0"/>
          </a:p>
        </p:txBody>
      </p:sp>
      <p:sp>
        <p:nvSpPr>
          <p:cNvPr id="26629" name="Прямоугольник 7"/>
          <p:cNvSpPr>
            <a:spLocks noChangeArrowheads="1"/>
          </p:cNvSpPr>
          <p:nvPr/>
        </p:nvSpPr>
        <p:spPr bwMode="auto">
          <a:xfrm>
            <a:off x="344488" y="1558925"/>
            <a:ext cx="90344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600" dirty="0">
                <a:latin typeface="Arial" panose="020B0604020202020204" pitchFamily="34" charset="0"/>
              </a:rPr>
              <a:t>Модифицированный метод оценки схожести </a:t>
            </a:r>
            <a:r>
              <a:rPr lang="ru-RU" altLang="ru-RU" sz="1600" dirty="0" smtClean="0">
                <a:latin typeface="Arial" panose="020B0604020202020204" pitchFamily="34" charset="0"/>
              </a:rPr>
              <a:t>для </a:t>
            </a:r>
            <a:r>
              <a:rPr lang="ru-RU" altLang="ru-RU" sz="1600" dirty="0" err="1" smtClean="0">
                <a:latin typeface="Arial" panose="020B0604020202020204" pitchFamily="34" charset="0"/>
              </a:rPr>
              <a:t>коллаборативной</a:t>
            </a:r>
            <a:r>
              <a:rPr lang="ru-RU" altLang="ru-RU" sz="1600" dirty="0" smtClean="0">
                <a:latin typeface="Arial" panose="020B0604020202020204" pitchFamily="34" charset="0"/>
              </a:rPr>
              <a:t> фильтрации</a:t>
            </a:r>
            <a:r>
              <a:rPr lang="en-US" altLang="ru-RU" sz="1600" dirty="0" smtClean="0">
                <a:latin typeface="Arial" panose="020B0604020202020204" pitchFamily="34" charset="0"/>
              </a:rPr>
              <a:t>:</a:t>
            </a:r>
            <a:endParaRPr lang="ru-RU" altLang="ru-RU" sz="1600" dirty="0">
              <a:latin typeface="Arial" panose="020B0604020202020204" pitchFamily="34" charset="0"/>
            </a:endParaRPr>
          </a:p>
        </p:txBody>
      </p:sp>
      <p:sp>
        <p:nvSpPr>
          <p:cNvPr id="26631" name="Прямоугольник 7"/>
          <p:cNvSpPr>
            <a:spLocks noChangeArrowheads="1"/>
          </p:cNvSpPr>
          <p:nvPr/>
        </p:nvSpPr>
        <p:spPr bwMode="auto">
          <a:xfrm>
            <a:off x="344488" y="3432649"/>
            <a:ext cx="90344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600" dirty="0" smtClean="0">
                <a:latin typeface="Arial" panose="020B0604020202020204" pitchFamily="34" charset="0"/>
              </a:rPr>
              <a:t>Метод </a:t>
            </a:r>
            <a:r>
              <a:rPr lang="ru-RU" altLang="ru-RU" sz="1600" dirty="0">
                <a:latin typeface="Arial" panose="020B0604020202020204" pitchFamily="34" charset="0"/>
              </a:rPr>
              <a:t>определения взвешенной средней оценки публикации среди похожих пользователей</a:t>
            </a:r>
            <a:r>
              <a:rPr lang="en-US" altLang="ru-RU" sz="1600" dirty="0" smtClean="0">
                <a:latin typeface="Arial" panose="020B0604020202020204" pitchFamily="34" charset="0"/>
              </a:rPr>
              <a:t>:</a:t>
            </a:r>
            <a:endParaRPr lang="ru-RU" altLang="ru-RU" sz="1600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344488" y="3817743"/>
                <a:ext cx="2735749" cy="5650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ru-RU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sub>
                            </m:sSub>
                          </m:e>
                        </m:acc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r>
                      <a:rPr lang="ru-RU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 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b>
                          <m:sup/>
                          <m:e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ru-RU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 </m:t>
                            </m:r>
                            <m:acc>
                              <m:accPr>
                                <m:chr m:val="̅"/>
                                <m:ctrlPr>
                                  <a:rPr lang="ru-RU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b>
                          <m:sup/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ru-RU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den>
                    </m:f>
                  </m:oMath>
                </a14:m>
                <a:r>
                  <a:rPr lang="ru-RU" sz="1600" dirty="0">
                    <a:effectLst/>
                    <a:latin typeface="-apple-system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ru-RU" sz="1600" dirty="0"/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3817743"/>
                <a:ext cx="2735749" cy="565026"/>
              </a:xfrm>
              <a:prstGeom prst="rect">
                <a:avLst/>
              </a:prstGeom>
              <a:blipFill>
                <a:blip r:embed="rId2"/>
                <a:stretch>
                  <a:fillRect t="-58065" b="-849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-1383704" y="1710752"/>
                <a:ext cx="10397380" cy="14292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348740" indent="449580"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𝑎</m:t>
                        </m:r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ru-RU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𝑖</m:t>
                            </m:r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∈</m:t>
                            </m:r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𝐼</m:t>
                            </m:r>
                          </m:sub>
                          <m:sup/>
                          <m:e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𝑖</m:t>
                                </m:r>
                                <m: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,</m:t>
                                </m:r>
                                <m: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− </m:t>
                            </m:r>
                            <m:acc>
                              <m:accPr>
                                <m:chr m:val="̅"/>
                                <m:ctrlP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)(</m:t>
                            </m:r>
                            <m:sSub>
                              <m:sSubPr>
                                <m:ctrlP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𝑖</m:t>
                                </m:r>
                                <m: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,</m:t>
                                </m:r>
                                <m: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− </m:t>
                            </m:r>
                            <m:acc>
                              <m:accPr>
                                <m:chr m:val="̅"/>
                                <m:ctrlP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) </m:t>
                            </m:r>
                          </m:e>
                        </m:nary>
                      </m:num>
                      <m:den>
                        <m:rad>
                          <m:radPr>
                            <m:degHide m:val="on"/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supHide m:val="on"/>
                                    <m:ctrlP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𝑖</m:t>
                                    </m:r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∈</m:t>
                                    </m:r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𝐼</m:t>
                                    </m:r>
                                  </m:sub>
                                  <m:sup/>
                                  <m:e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  <m:t>𝑖</m:t>
                                        </m:r>
                                        <m:r>
                                          <a:rPr lang="ru-RU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ru-RU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  <m:t>𝑎</m:t>
                                        </m:r>
                                      </m:sub>
                                    </m:sSub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− 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ru-RU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ru-RU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  <m:sup>
                                <m: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ad>
                          <m:radPr>
                            <m:degHide m:val="on"/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supHide m:val="on"/>
                                    <m:ctrlP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𝑖</m:t>
                                    </m:r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∈</m:t>
                                    </m:r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𝐼</m:t>
                                    </m:r>
                                  </m:sub>
                                  <m:sup/>
                                  <m:e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  <m:t>𝑖</m:t>
                                        </m:r>
                                        <m:r>
                                          <a:rPr lang="ru-RU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ru-RU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− 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ru-RU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ru-RU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  <m:sup>
                                <m: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ru-RU" dirty="0">
                    <a:effectLst/>
                    <a:latin typeface="-apple-system"/>
                    <a:ea typeface="Times New Roman" panose="02020603050405020304" pitchFamily="18" charset="0"/>
                  </a:rPr>
                  <a:t>,</a:t>
                </a:r>
                <a:r>
                  <a:rPr lang="ru-RU" dirty="0">
                    <a:effectLst/>
                    <a:latin typeface="-apple-system"/>
                    <a:ea typeface="Calibri" panose="020F0502020204030204" pitchFamily="34" charset="0"/>
                  </a:rPr>
                  <a:t> </a:t>
                </a:r>
                <a:endParaRPr lang="ru-RU" dirty="0" smtClean="0">
                  <a:latin typeface="-apple-system"/>
                  <a:ea typeface="Calibri" panose="020F0502020204030204" pitchFamily="34" charset="0"/>
                </a:endParaRPr>
              </a:p>
              <a:p>
                <a:pPr marL="1348740" indent="449580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ru-RU" sz="16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множество пользователей, оценивших как a, так и b.</a:t>
                </a: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83704" y="1710752"/>
                <a:ext cx="10397380" cy="1429237"/>
              </a:xfrm>
              <a:prstGeom prst="rect">
                <a:avLst/>
              </a:prstGeom>
              <a:blipFill>
                <a:blip r:embed="rId3"/>
                <a:stretch>
                  <a:fillRect t="-855" b="-29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343830" y="5128890"/>
                <a:ext cx="9821316" cy="15127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600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𝑠𝑐𝑜𝑟𝑒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)= 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⋅(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ru-RU" i="1">
                        <a:latin typeface="Cambria Math" panose="02040503050406030204" pitchFamily="18" charset="0"/>
                      </a:rPr>
                      <m:t> ∗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𝑁𝑘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​(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​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​​, 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) )</m:t>
                        </m:r>
                      </m:e>
                    </m:nary>
                    <m:r>
                      <a:rPr lang="ru-RU" i="1">
                        <a:latin typeface="Cambria Math" panose="02040503050406030204" pitchFamily="18" charset="0"/>
                      </a:rPr>
                      <m:t> ​+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r>
                  <a:rPr lang="ru-RU" sz="1600" i="1" dirty="0"/>
                  <a:t> </a:t>
                </a:r>
                <a:r>
                  <a:rPr lang="ru-RU" sz="1600" dirty="0"/>
                  <a:t>, 	</a:t>
                </a:r>
                <a:endParaRPr lang="ru-RU" sz="1600" dirty="0" smtClean="0"/>
              </a:p>
              <a:p>
                <a:r>
                  <a:rPr lang="ru-RU" sz="1600" dirty="0"/>
                  <a:t>	</a:t>
                </a:r>
                <a:r>
                  <a:rPr lang="ru-RU" sz="1600" dirty="0" smtClean="0"/>
                  <a:t> </a:t>
                </a:r>
                <a:r>
                  <a:rPr lang="ru-RU" sz="1600" dirty="0"/>
                  <a:t> </a:t>
                </a:r>
              </a:p>
              <a:p>
                <a:r>
                  <a:rPr lang="ru-RU" sz="1600" dirty="0"/>
                  <a:t>где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</a:rPr>
                      <m:t>Nk</m:t>
                    </m:r>
                    <m:r>
                      <a:rPr lang="ru-RU" sz="1600">
                        <a:latin typeface="Cambria Math" panose="02040503050406030204" pitchFamily="18" charset="0"/>
                      </a:rPr>
                      <m:t>​(</m:t>
                    </m:r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</a:rPr>
                      <m:t>a</m:t>
                    </m:r>
                    <m:r>
                      <a:rPr lang="ru-RU" sz="1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1600" dirty="0"/>
                  <a:t> — множество k ближайших соседей элемента 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ru-RU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– рейтинг </a:t>
                </a:r>
                <a:r>
                  <a:rPr lang="ru-RU" sz="1600" dirty="0" err="1"/>
                  <a:t>коллаборативной</a:t>
                </a:r>
                <a:r>
                  <a:rPr lang="ru-RU" sz="1600" dirty="0"/>
                  <a:t> фильтрации для пользователя </a:t>
                </a:r>
                <a:r>
                  <a:rPr lang="en-US" sz="1600" dirty="0" err="1"/>
                  <a:t>i</a:t>
                </a:r>
                <a:r>
                  <a:rPr lang="ru-RU" sz="1600" dirty="0"/>
                  <a:t>, d(</a:t>
                </a:r>
                <a:r>
                  <a:rPr lang="en-US" sz="1600" dirty="0"/>
                  <a:t>v</a:t>
                </a:r>
                <a:r>
                  <a:rPr lang="ru-RU" sz="1600" baseline="-25000" dirty="0"/>
                  <a:t>a</a:t>
                </a:r>
                <a:r>
                  <a:rPr lang="ru-RU" sz="1600" dirty="0"/>
                  <a:t>, </a:t>
                </a:r>
                <a:r>
                  <a:rPr lang="en-US" sz="1600" dirty="0" err="1"/>
                  <a:t>v</a:t>
                </a:r>
                <a:r>
                  <a:rPr lang="en-US" sz="1600" baseline="-25000" dirty="0" err="1"/>
                  <a:t>j</a:t>
                </a:r>
                <a:r>
                  <a:rPr lang="ru-RU" sz="1600" dirty="0"/>
                  <a:t>) – косинусное расстояние для публикации </a:t>
                </a:r>
                <a:r>
                  <a:rPr lang="en-US" sz="1600" dirty="0"/>
                  <a:t>a</a:t>
                </a:r>
                <a:r>
                  <a:rPr lang="ru-RU" sz="1600" dirty="0"/>
                  <a:t>,  α и β — весовые коэффициенты, которые регулируют вклад каждого метода в итоговый рейтинг.</a:t>
                </a: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830" y="5128890"/>
                <a:ext cx="9821316" cy="1512722"/>
              </a:xfrm>
              <a:prstGeom prst="rect">
                <a:avLst/>
              </a:prstGeom>
              <a:blipFill>
                <a:blip r:embed="rId4"/>
                <a:stretch>
                  <a:fillRect l="-310" t="-25301" b="-40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311085" y="4544115"/>
            <a:ext cx="9511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1600" dirty="0"/>
              <a:t>Метод формирования оценки публикации для пользователя с использованием метода </a:t>
            </a:r>
            <a:r>
              <a:rPr lang="ru-RU" altLang="ru-RU" sz="1600" dirty="0" err="1"/>
              <a:t>kNN</a:t>
            </a:r>
            <a:r>
              <a:rPr lang="ru-RU" altLang="ru-RU" sz="1600" dirty="0"/>
              <a:t> и </a:t>
            </a:r>
            <a:r>
              <a:rPr lang="ru-RU" altLang="ru-RU" sz="1600" dirty="0" err="1"/>
              <a:t>коллаборативной</a:t>
            </a:r>
            <a:r>
              <a:rPr lang="ru-RU" altLang="ru-RU" sz="1600" dirty="0"/>
              <a:t> </a:t>
            </a:r>
            <a:r>
              <a:rPr lang="ru-RU" altLang="ru-RU" sz="1600" dirty="0" smtClean="0"/>
              <a:t>фильтрации</a:t>
            </a:r>
            <a:r>
              <a:rPr lang="en-US" altLang="ru-RU" sz="1600" dirty="0" smtClean="0"/>
              <a:t>:</a:t>
            </a:r>
            <a:endParaRPr lang="ru-RU" alt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 smtClean="0"/>
              <a:t>Адаптивный алгоритм формирования </a:t>
            </a:r>
            <a:br>
              <a:rPr lang="ru-RU" dirty="0" smtClean="0"/>
            </a:br>
            <a:r>
              <a:rPr lang="ru-RU" dirty="0" smtClean="0"/>
              <a:t>персональных рекомендаций</a:t>
            </a:r>
            <a:endParaRPr lang="ru-RU" dirty="0"/>
          </a:p>
        </p:txBody>
      </p:sp>
      <p:sp>
        <p:nvSpPr>
          <p:cNvPr id="27651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BD5138-BAE3-4BCA-A52D-2A43DAE8C0C9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ru-RU" altLang="ru-RU" sz="1200" smtClean="0"/>
          </a:p>
        </p:txBody>
      </p:sp>
      <p:pic>
        <p:nvPicPr>
          <p:cNvPr id="27652" name="Рисунок 6" descr="C:\Users\danyw\AppData\Local\Microsoft\Windows\INetCache\Content.Word\СА-Страница 6.drawi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27550"/>
          <a:stretch>
            <a:fillRect/>
          </a:stretch>
        </p:blipFill>
        <p:spPr bwMode="auto">
          <a:xfrm>
            <a:off x="2360712" y="1395882"/>
            <a:ext cx="4837113" cy="534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2360712" y="3068960"/>
            <a:ext cx="1080120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360712" y="4077760"/>
            <a:ext cx="1080120" cy="9354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033120" y="4221088"/>
            <a:ext cx="1071736" cy="720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9270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Заголовок 1"/>
          <p:cNvSpPr txBox="1">
            <a:spLocks/>
          </p:cNvSpPr>
          <p:nvPr/>
        </p:nvSpPr>
        <p:spPr bwMode="auto">
          <a:xfrm>
            <a:off x="177800" y="2708275"/>
            <a:ext cx="9505950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3600" b="1" dirty="0" smtClean="0">
                <a:solidFill>
                  <a:srgbClr val="C00000"/>
                </a:solidFill>
              </a:rPr>
              <a:t>ЗАДАЧА 3. Проектирования программного обеспечения системы анализа контента и формирования рекомендаций</a:t>
            </a:r>
            <a:endParaRPr lang="ru-RU" altLang="ru-RU" sz="36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>
            <a:normAutofit fontScale="90000"/>
          </a:bodyPr>
          <a:lstStyle/>
          <a:p>
            <a:r>
              <a:rPr lang="ru-RU" altLang="ru-RU" dirty="0"/>
              <a:t>Выбор инструментальных средств и</a:t>
            </a:r>
            <a:br>
              <a:rPr lang="ru-RU" altLang="ru-RU" dirty="0"/>
            </a:br>
            <a:r>
              <a:rPr lang="ru-RU" altLang="ru-RU" dirty="0"/>
              <a:t> подхода к проектированию</a:t>
            </a:r>
          </a:p>
        </p:txBody>
      </p:sp>
      <p:sp>
        <p:nvSpPr>
          <p:cNvPr id="27651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BD5138-BAE3-4BCA-A52D-2A43DAE8C0C9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ru-RU" altLang="ru-RU" sz="1200" smtClean="0"/>
          </a:p>
        </p:txBody>
      </p:sp>
      <p:sp>
        <p:nvSpPr>
          <p:cNvPr id="8" name="Заголовок 1"/>
          <p:cNvSpPr txBox="1">
            <a:spLocks/>
          </p:cNvSpPr>
          <p:nvPr/>
        </p:nvSpPr>
        <p:spPr bwMode="auto">
          <a:xfrm>
            <a:off x="212725" y="3379788"/>
            <a:ext cx="75438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rgbClr val="C00000"/>
                </a:solidFill>
                <a:latin typeface="Arial" panose="020B0604020202020204" pitchFamily="34" charset="0"/>
              </a:rPr>
              <a:t>СУБД:</a:t>
            </a:r>
            <a:r>
              <a:rPr lang="en-US" altLang="ru-RU" sz="2000">
                <a:latin typeface="Arial" panose="020B0604020202020204" pitchFamily="34" charset="0"/>
              </a:rPr>
              <a:t> PostgreSQL</a:t>
            </a:r>
            <a:endParaRPr lang="ru-RU" altLang="ru-RU" sz="200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200025" y="2511425"/>
            <a:ext cx="936148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ru-RU" altLang="ru-RU" sz="2000" dirty="0">
                <a:solidFill>
                  <a:srgbClr val="C00000"/>
                </a:solidFill>
                <a:latin typeface="Arial" panose="020B0604020202020204" pitchFamily="34" charset="0"/>
              </a:rPr>
              <a:t>СРЕДА РАЗРАБОТКИ ПО: </a:t>
            </a:r>
            <a:r>
              <a:rPr lang="en-US" altLang="ru-RU" sz="2000" dirty="0">
                <a:latin typeface="Arial" panose="020B0604020202020204" pitchFamily="34" charset="0"/>
              </a:rPr>
              <a:t>Visual Studio Code (Python), </a:t>
            </a:r>
            <a:r>
              <a:rPr lang="en-US" altLang="ru-RU" sz="2000" dirty="0" err="1" smtClean="0">
                <a:latin typeface="Arial" panose="020B0604020202020204" pitchFamily="34" charset="0"/>
              </a:rPr>
              <a:t>Intellij</a:t>
            </a:r>
            <a:r>
              <a:rPr lang="en-US" altLang="ru-RU" sz="2000" dirty="0" smtClean="0">
                <a:latin typeface="Arial" panose="020B0604020202020204" pitchFamily="34" charset="0"/>
              </a:rPr>
              <a:t> </a:t>
            </a:r>
            <a:r>
              <a:rPr lang="en-US" altLang="ru-RU" sz="2000" dirty="0">
                <a:latin typeface="Arial" panose="020B0604020202020204" pitchFamily="34" charset="0"/>
              </a:rPr>
              <a:t>Idea (Java</a:t>
            </a:r>
            <a:r>
              <a:rPr lang="en-US" altLang="ru-RU" sz="2000" dirty="0" smtClean="0">
                <a:latin typeface="Arial" panose="020B0604020202020204" pitchFamily="34" charset="0"/>
              </a:rPr>
              <a:t>)</a:t>
            </a:r>
            <a:endParaRPr lang="ru-RU" altLang="ru-RU" sz="2000" dirty="0">
              <a:latin typeface="Arial" panose="020B0604020202020204" pitchFamily="34" charset="0"/>
            </a:endParaRPr>
          </a:p>
        </p:txBody>
      </p:sp>
      <p:sp>
        <p:nvSpPr>
          <p:cNvPr id="10" name="Заголовок 1"/>
          <p:cNvSpPr txBox="1">
            <a:spLocks/>
          </p:cNvSpPr>
          <p:nvPr/>
        </p:nvSpPr>
        <p:spPr bwMode="auto">
          <a:xfrm>
            <a:off x="233363" y="1700213"/>
            <a:ext cx="93599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rgbClr val="C00000"/>
                </a:solidFill>
                <a:latin typeface="Arial" panose="020B0604020202020204" pitchFamily="34" charset="0"/>
              </a:rPr>
              <a:t>ТЕХНОЛОГИЯ ПРОЕКТИРОВАНИЯ: </a:t>
            </a:r>
            <a:r>
              <a:rPr lang="ru-RU" altLang="ru-RU" sz="2000">
                <a:latin typeface="Arial" panose="020B0604020202020204" pitchFamily="34" charset="0"/>
              </a:rPr>
              <a:t>Объектно-ориентированный подход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6736" y="4209971"/>
            <a:ext cx="4319588" cy="132343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ru-RU" sz="2000" dirty="0"/>
              <a:t>Rational Rose</a:t>
            </a:r>
            <a:r>
              <a:rPr lang="ru-RU" altLang="ru-RU" sz="2000" dirty="0"/>
              <a:t>, </a:t>
            </a:r>
            <a:endParaRPr lang="en-US" altLang="ru-RU" sz="2000" dirty="0"/>
          </a:p>
          <a:p>
            <a:pPr eaLnBrk="1" hangingPunct="1">
              <a:defRPr/>
            </a:pPr>
            <a:r>
              <a:rPr lang="en-US" altLang="ru-RU" sz="2000" dirty="0" err="1"/>
              <a:t>ERwin</a:t>
            </a:r>
            <a:r>
              <a:rPr lang="en-US" altLang="ru-RU" sz="2000" dirty="0"/>
              <a:t> Data Modeler 7.3,</a:t>
            </a:r>
          </a:p>
          <a:p>
            <a:pPr eaLnBrk="1" hangingPunct="1">
              <a:defRPr/>
            </a:pPr>
            <a:r>
              <a:rPr lang="en-US" altLang="ru-RU" sz="2000" dirty="0"/>
              <a:t>Draw.io,</a:t>
            </a:r>
          </a:p>
          <a:p>
            <a:pPr eaLnBrk="1" hangingPunct="1">
              <a:defRPr/>
            </a:pPr>
            <a:r>
              <a:rPr lang="en-US" altLang="ru-RU" sz="2000" dirty="0" err="1"/>
              <a:t>SoftwareIdeasModeler</a:t>
            </a:r>
            <a:endParaRPr lang="ru-RU" altLang="ru-RU" sz="2000" dirty="0"/>
          </a:p>
        </p:txBody>
      </p:sp>
      <p:sp>
        <p:nvSpPr>
          <p:cNvPr id="12" name="Заголовок 1"/>
          <p:cNvSpPr txBox="1">
            <a:spLocks/>
          </p:cNvSpPr>
          <p:nvPr/>
        </p:nvSpPr>
        <p:spPr bwMode="auto">
          <a:xfrm>
            <a:off x="240159" y="4149378"/>
            <a:ext cx="106680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ru-RU" sz="2000" dirty="0">
                <a:solidFill>
                  <a:srgbClr val="C00000"/>
                </a:solidFill>
                <a:latin typeface="Arial" panose="020B0604020202020204" pitchFamily="34" charset="0"/>
              </a:rPr>
              <a:t>CASE-</a:t>
            </a:r>
            <a:r>
              <a:rPr lang="ru-RU" altLang="ru-RU" sz="2000" dirty="0">
                <a:solidFill>
                  <a:srgbClr val="C00000"/>
                </a:solidFill>
                <a:latin typeface="Arial" panose="020B0604020202020204" pitchFamily="34" charset="0"/>
              </a:rPr>
              <a:t>СРЕДСТВА:</a:t>
            </a:r>
            <a:endParaRPr lang="ru-RU" altLang="ru-RU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870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Заголовок 1"/>
          <p:cNvSpPr txBox="1">
            <a:spLocks/>
          </p:cNvSpPr>
          <p:nvPr/>
        </p:nvSpPr>
        <p:spPr bwMode="auto">
          <a:xfrm>
            <a:off x="2720975" y="-26988"/>
            <a:ext cx="7185025" cy="106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ru-RU" altLang="ru-RU" sz="2400" b="1" dirty="0">
                <a:solidFill>
                  <a:srgbClr val="C00000"/>
                </a:solidFill>
              </a:rPr>
              <a:t>Концептуальное моделирование</a:t>
            </a:r>
            <a:endParaRPr lang="en-US" altLang="ru-RU" sz="2400" b="1" dirty="0">
              <a:solidFill>
                <a:srgbClr val="C00000"/>
              </a:solidFill>
            </a:endParaRPr>
          </a:p>
          <a:p>
            <a:pPr algn="r">
              <a:spcBef>
                <a:spcPct val="0"/>
              </a:spcBef>
              <a:buFontTx/>
              <a:buNone/>
            </a:pPr>
            <a:r>
              <a:rPr lang="ru-RU" altLang="ru-RU" sz="2400" b="1" dirty="0">
                <a:solidFill>
                  <a:srgbClr val="C00000"/>
                </a:solidFill>
              </a:rPr>
              <a:t>проектируемой системы</a:t>
            </a:r>
            <a:endParaRPr lang="ru-RU" altLang="ru-RU" sz="2400" dirty="0">
              <a:solidFill>
                <a:srgbClr val="C00000"/>
              </a:solidFill>
            </a:endParaRPr>
          </a:p>
        </p:txBody>
      </p:sp>
      <p:sp>
        <p:nvSpPr>
          <p:cNvPr id="31747" name="TextBox 3"/>
          <p:cNvSpPr txBox="1">
            <a:spLocks noChangeArrowheads="1"/>
          </p:cNvSpPr>
          <p:nvPr/>
        </p:nvSpPr>
        <p:spPr bwMode="auto">
          <a:xfrm>
            <a:off x="1265238" y="6519863"/>
            <a:ext cx="72723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400" dirty="0">
                <a:latin typeface="Arial" panose="020B0604020202020204" pitchFamily="34" charset="0"/>
              </a:rPr>
              <a:t>Диаграмма вариантов использования</a:t>
            </a:r>
          </a:p>
        </p:txBody>
      </p:sp>
      <p:sp>
        <p:nvSpPr>
          <p:cNvPr id="31748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2B1798-F36C-45A1-8804-30B5CD3FB114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ru-RU" altLang="ru-RU" sz="1200" smtClean="0"/>
          </a:p>
        </p:txBody>
      </p:sp>
      <p:pic>
        <p:nvPicPr>
          <p:cNvPr id="31749" name="Picture 6" descr="МАГИСТЕРСКАЯ-ДВ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196975"/>
            <a:ext cx="6181725" cy="516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Заголовок 1"/>
          <p:cNvSpPr txBox="1">
            <a:spLocks/>
          </p:cNvSpPr>
          <p:nvPr/>
        </p:nvSpPr>
        <p:spPr bwMode="auto">
          <a:xfrm>
            <a:off x="2720975" y="-26988"/>
            <a:ext cx="7185025" cy="106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ru-RU" altLang="ru-RU" sz="2400" b="1">
                <a:solidFill>
                  <a:srgbClr val="C00000"/>
                </a:solidFill>
              </a:rPr>
              <a:t>Контекстная диаграмма классов</a:t>
            </a:r>
            <a:endParaRPr lang="ru-RU" altLang="ru-RU" sz="2400">
              <a:solidFill>
                <a:srgbClr val="C00000"/>
              </a:solidFill>
            </a:endParaRPr>
          </a:p>
        </p:txBody>
      </p:sp>
      <p:sp>
        <p:nvSpPr>
          <p:cNvPr id="32771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69D310-3FCA-4F36-9B3C-63875DAA9877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ru-RU" altLang="ru-RU" sz="1200" smtClean="0"/>
          </a:p>
        </p:txBody>
      </p:sp>
      <p:pic>
        <p:nvPicPr>
          <p:cNvPr id="32772" name="Picture 5" descr="МАГИСТЕРСКАЯ-КД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1090613"/>
            <a:ext cx="5403850" cy="558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33795" name="Заголовок 1"/>
          <p:cNvSpPr txBox="1">
            <a:spLocks/>
          </p:cNvSpPr>
          <p:nvPr/>
        </p:nvSpPr>
        <p:spPr bwMode="auto">
          <a:xfrm>
            <a:off x="2720975" y="-26988"/>
            <a:ext cx="7185025" cy="106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ru-RU" altLang="ru-RU" sz="2400" b="1">
                <a:solidFill>
                  <a:srgbClr val="C00000"/>
                </a:solidFill>
              </a:rPr>
              <a:t>Диаграмма пакетов</a:t>
            </a:r>
            <a:endParaRPr lang="ru-RU" altLang="ru-RU" sz="2400">
              <a:solidFill>
                <a:srgbClr val="C00000"/>
              </a:solidFill>
            </a:endParaRPr>
          </a:p>
        </p:txBody>
      </p:sp>
      <p:sp>
        <p:nvSpPr>
          <p:cNvPr id="33796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458BA1-1782-41DB-82ED-29E951833407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ru-RU" altLang="ru-RU" sz="1200" smtClean="0"/>
          </a:p>
        </p:txBody>
      </p:sp>
      <p:pic>
        <p:nvPicPr>
          <p:cNvPr id="7" name="Рисунок 6" descr="D:\Рабочая\Загрузки\МАГИСТЕРСКАЯ-пакеты (1)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611" y="1063626"/>
            <a:ext cx="5738778" cy="5099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 smtClean="0"/>
              <a:t>Диаграмма компонентов.</a:t>
            </a:r>
            <a:br>
              <a:rPr lang="ru-RU" dirty="0" smtClean="0"/>
            </a:br>
            <a:r>
              <a:rPr lang="ru-RU" dirty="0" smtClean="0"/>
              <a:t>Диаграмма </a:t>
            </a:r>
            <a:r>
              <a:rPr lang="ru-RU" dirty="0"/>
              <a:t>развертывания</a:t>
            </a:r>
          </a:p>
        </p:txBody>
      </p:sp>
      <p:sp>
        <p:nvSpPr>
          <p:cNvPr id="34819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CCDE2A-5408-4A39-A289-A36CA5EFBBC1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ru-RU" altLang="ru-RU" sz="1200" smtClean="0"/>
          </a:p>
        </p:txBody>
      </p:sp>
      <p:pic>
        <p:nvPicPr>
          <p:cNvPr id="4" name="Рисунок 3" descr="C:\Users\danyw\AppData\Local\Microsoft\Windows\INetCache\Content.Word\МАГИСТЕРСКАЯ-компоненты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80" y="1412776"/>
            <a:ext cx="4752528" cy="2376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 descr="C:\Users\danyw\AppData\Local\Microsoft\Windows\INetCache\Content.Word\МАГИСТЕРСКАЯ-размещение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8864" y="3226070"/>
            <a:ext cx="5400600" cy="3371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Заголовок 1"/>
          <p:cNvSpPr txBox="1">
            <a:spLocks/>
          </p:cNvSpPr>
          <p:nvPr/>
        </p:nvSpPr>
        <p:spPr bwMode="auto">
          <a:xfrm>
            <a:off x="3081338" y="-11113"/>
            <a:ext cx="6824662" cy="106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ru-RU" altLang="ru-RU" sz="2400" b="1">
                <a:solidFill>
                  <a:srgbClr val="C00000"/>
                </a:solidFill>
              </a:rPr>
              <a:t>Разработка интерфейса</a:t>
            </a:r>
          </a:p>
        </p:txBody>
      </p:sp>
      <p:sp>
        <p:nvSpPr>
          <p:cNvPr id="36867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EAA05F-4D4C-4AAC-9C84-3B209A456EF3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ru-RU" altLang="ru-RU" sz="1200" smtClean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477464" y="1340768"/>
            <a:ext cx="4907584" cy="3024336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4520952" y="3105187"/>
            <a:ext cx="4896544" cy="30963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Заголовок 1"/>
          <p:cNvSpPr txBox="1">
            <a:spLocks/>
          </p:cNvSpPr>
          <p:nvPr/>
        </p:nvSpPr>
        <p:spPr bwMode="auto">
          <a:xfrm>
            <a:off x="57150" y="2492375"/>
            <a:ext cx="9753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3600" b="1" dirty="0">
                <a:solidFill>
                  <a:srgbClr val="C00000"/>
                </a:solidFill>
              </a:rPr>
              <a:t>ЗАДАЧА 4. </a:t>
            </a:r>
            <a:r>
              <a:rPr lang="ru-RU" altLang="ru-RU" sz="3600" b="1" dirty="0" smtClean="0">
                <a:solidFill>
                  <a:srgbClr val="C00000"/>
                </a:solidFill>
              </a:rPr>
              <a:t>Экспериментальная проверка системы анализа контента и формирования рекомендаций</a:t>
            </a:r>
            <a:endParaRPr lang="ru-RU" altLang="ru-RU" sz="36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8504" y="363124"/>
            <a:ext cx="8915400" cy="56038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 smtClean="0">
                <a:latin typeface="Arial" panose="020B0604020202020204" pitchFamily="34" charset="0"/>
              </a:rPr>
              <a:t>Метрики оценки </a:t>
            </a:r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8915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451CFF-2D36-4B2F-9CEF-39A5C6825C4A}" type="slidenum">
              <a:rPr lang="ru-RU" altLang="ru-RU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ru-RU" altLang="ru-RU" sz="1200" smtClean="0">
              <a:latin typeface="Arial" panose="020B0604020202020204" pitchFamily="34" charset="0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396316"/>
              </p:ext>
            </p:extLst>
          </p:nvPr>
        </p:nvGraphicFramePr>
        <p:xfrm>
          <a:off x="981075" y="1337869"/>
          <a:ext cx="8292405" cy="5296429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001750">
                  <a:extLst>
                    <a:ext uri="{9D8B030D-6E8A-4147-A177-3AD203B41FA5}">
                      <a16:colId xmlns:a16="http://schemas.microsoft.com/office/drawing/2014/main" val="952806074"/>
                    </a:ext>
                  </a:extLst>
                </a:gridCol>
                <a:gridCol w="1767449">
                  <a:extLst>
                    <a:ext uri="{9D8B030D-6E8A-4147-A177-3AD203B41FA5}">
                      <a16:colId xmlns:a16="http://schemas.microsoft.com/office/drawing/2014/main" val="3354412494"/>
                    </a:ext>
                  </a:extLst>
                </a:gridCol>
                <a:gridCol w="4523206">
                  <a:extLst>
                    <a:ext uri="{9D8B030D-6E8A-4147-A177-3AD203B41FA5}">
                      <a16:colId xmlns:a16="http://schemas.microsoft.com/office/drawing/2014/main" val="2958096525"/>
                    </a:ext>
                  </a:extLst>
                </a:gridCol>
              </a:tblGrid>
              <a:tr h="2786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Название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Формула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Описание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6480128"/>
                  </a:ext>
                </a:extLst>
              </a:tr>
              <a:tr h="68746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Mean Reciprocal Rank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На какой позиции списка рекомендаций пользователь находит первую полезную или понравившеюся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9200698"/>
                  </a:ext>
                </a:extLst>
              </a:tr>
              <a:tr h="68810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nDCG</a:t>
                      </a:r>
                      <a:r>
                        <a:rPr lang="en-US" sz="1200" dirty="0">
                          <a:effectLst/>
                        </a:rPr>
                        <a:t> (Normalized Discounted Cumulative Gain)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Информативность выдачи с учетом ранжирования </a:t>
                      </a:r>
                      <a:r>
                        <a:rPr lang="ru-RU" sz="1200" dirty="0" smtClean="0">
                          <a:effectLst/>
                        </a:rPr>
                        <a:t>рекомендаций</a:t>
                      </a:r>
                      <a:endParaRPr lang="ru-RU" sz="1200" dirty="0" smtClean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1690071"/>
                  </a:ext>
                </a:extLst>
              </a:tr>
              <a:tr h="55730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Precision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Доля рекомендаций, понравившихся пользователю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8056330"/>
                  </a:ext>
                </a:extLst>
              </a:tr>
              <a:tr h="75582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Accuracy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200" dirty="0" smtClean="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200" dirty="0" smtClean="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Доля правильных ответов алгоритма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6535693"/>
                  </a:ext>
                </a:extLst>
              </a:tr>
              <a:tr h="55730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Recall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Доля интересных пользователю публикаций, которая показана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2405110"/>
                  </a:ext>
                </a:extLst>
              </a:tr>
              <a:tr h="79439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RMSE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200" dirty="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Среднеквадратичная ошибка </a:t>
                      </a:r>
                      <a:endParaRPr lang="ru-RU" sz="1200" dirty="0" smtClean="0">
                        <a:effectLst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200" dirty="0" smtClean="0">
                        <a:effectLst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5567750"/>
                  </a:ext>
                </a:extLst>
              </a:tr>
              <a:tr h="83595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ROC AUC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Метрика описывающая процент публикаций, интересующих пользователя, среди первых элементов итогового набора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7508571"/>
                  </a:ext>
                </a:extLst>
              </a:tr>
            </a:tbl>
          </a:graphicData>
        </a:graphic>
      </p:graphicFrame>
      <p:pic>
        <p:nvPicPr>
          <p:cNvPr id="41993" name="Рисунок 130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1" t="5457" r="11708" b="14905"/>
          <a:stretch/>
        </p:blipFill>
        <p:spPr bwMode="auto">
          <a:xfrm>
            <a:off x="3500810" y="1675536"/>
            <a:ext cx="753241" cy="609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91" name="Рисунок 13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45" b="11021"/>
          <a:stretch>
            <a:fillRect/>
          </a:stretch>
        </p:blipFill>
        <p:spPr bwMode="auto">
          <a:xfrm>
            <a:off x="3138040" y="2410094"/>
            <a:ext cx="1474553" cy="547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97" name="Рисунок 12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8790" y="3069288"/>
            <a:ext cx="853939" cy="455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96" name="Рисунок 31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23"/>
          <a:stretch/>
        </p:blipFill>
        <p:spPr bwMode="auto">
          <a:xfrm>
            <a:off x="3083227" y="3624078"/>
            <a:ext cx="1584178" cy="59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95" name="Рисунок 12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173" y="4395799"/>
            <a:ext cx="821172" cy="445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94" name="Рисунок 2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295" y="4989957"/>
            <a:ext cx="1706041" cy="621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89" name="Рисунок 12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81075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88" name="Рисунок 3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95475" cy="59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87" name="Рисунок 12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00125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86" name="Рисунок 2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43050" cy="56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85" name="Рисунок 12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2000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0893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8544" y="288149"/>
            <a:ext cx="8915400" cy="54099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>
                <a:latin typeface="Arial" panose="020B0604020202020204" pitchFamily="34" charset="0"/>
              </a:rPr>
              <a:t>Подготовка экспериментальных </a:t>
            </a:r>
            <a:br>
              <a:rPr lang="ru-RU" dirty="0">
                <a:latin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</a:rPr>
              <a:t>данных для проверки системы </a:t>
            </a:r>
            <a:br>
              <a:rPr lang="ru-RU" dirty="0">
                <a:latin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</a:rPr>
              <a:t>рекомендаций </a:t>
            </a:r>
            <a:r>
              <a:rPr lang="ru-RU" dirty="0" smtClean="0">
                <a:latin typeface="Arial" panose="020B0604020202020204" pitchFamily="34" charset="0"/>
              </a:rPr>
              <a:t>и анализа контента</a:t>
            </a:r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8915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451CFF-2D36-4B2F-9CEF-39A5C6825C4A}" type="slidenum">
              <a:rPr lang="ru-RU" altLang="ru-RU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ru-RU" altLang="ru-RU" sz="1200" smtClean="0">
              <a:latin typeface="Arial" panose="020B0604020202020204" pitchFamily="34" charset="0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32808" y="3127104"/>
            <a:ext cx="4079896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9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Пример набора данных</a:t>
            </a:r>
            <a:r>
              <a:rPr kumimoji="0" lang="ru-RU" altLang="ru-RU" sz="1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о п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ользователях</a:t>
            </a:r>
            <a:r>
              <a:rPr kumimoji="0" lang="en-US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:</a:t>
            </a:r>
            <a:endParaRPr kumimoji="0" lang="ru-RU" alt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userId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kumimoji="0" lang="en-US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interestTags</a:t>
            </a:r>
            <a:endParaRPr kumimoji="0" lang="ru-RU" alt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1, 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['</a:t>
            </a:r>
            <a:r>
              <a:rPr kumimoji="0" lang="en-US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music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', '</a:t>
            </a:r>
            <a:r>
              <a:rPr kumimoji="0" lang="en-US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social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', '</a:t>
            </a:r>
            <a:r>
              <a:rPr kumimoji="0" lang="en-US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hobbies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', '</a:t>
            </a:r>
            <a:r>
              <a:rPr kumimoji="0" lang="en-US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life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']</a:t>
            </a:r>
            <a:endParaRPr kumimoji="0" lang="ru-RU" alt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2, ['fashion', 'style']</a:t>
            </a:r>
            <a:endParaRPr kumimoji="0" lang="ru-RU" alt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3, ['sports']</a:t>
            </a:r>
            <a:endParaRPr kumimoji="0" lang="ru-RU" alt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4, ['animals', 'nature', 'dogs']</a:t>
            </a:r>
            <a:endParaRPr kumimoji="0" lang="ru-RU" alt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5,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['</a:t>
            </a:r>
            <a:r>
              <a:rPr kumimoji="0" lang="en-US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travel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', '</a:t>
            </a:r>
            <a:r>
              <a:rPr kumimoji="0" lang="en-US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adventure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']</a:t>
            </a:r>
            <a:endParaRPr kumimoji="0" lang="en-US" altLang="ru-RU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ru-RU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О публикациях</a:t>
            </a:r>
            <a:r>
              <a:rPr kumimoji="0" lang="en-US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: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endParaRPr kumimoji="0" lang="ru-RU" alt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PublicationId</a:t>
            </a:r>
            <a:r>
              <a:rPr kumimoji="0" lang="en-US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, Tags, </a:t>
            </a:r>
            <a:r>
              <a:rPr kumimoji="0" lang="en-US" altLang="ru-RU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userId</a:t>
            </a:r>
            <a:r>
              <a:rPr kumimoji="0" lang="en-US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, Image117</a:t>
            </a:r>
            <a:endParaRPr kumimoji="0" lang="ru-RU" alt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1, ['food', 'dining'], 16, image1</a:t>
            </a:r>
            <a:endParaRPr kumimoji="0" lang="ru-RU" alt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2, [ 'film', '</a:t>
            </a:r>
            <a:r>
              <a:rPr kumimoji="0" lang="en-US" altLang="ru-RU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tv</a:t>
            </a:r>
            <a:r>
              <a:rPr kumimoji="0" lang="en-US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', 'video'], 16, image2</a:t>
            </a:r>
            <a:endParaRPr kumimoji="0" lang="ru-RU" alt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3, ['diaries', 'daily', 'life'], 14, image3</a:t>
            </a:r>
            <a:endParaRPr kumimoji="0" lang="ru-RU" alt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4, ['</a:t>
            </a:r>
            <a:r>
              <a:rPr kumimoji="0" lang="en-US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music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'], 1, </a:t>
            </a:r>
            <a:r>
              <a:rPr kumimoji="0" lang="en-US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image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4</a:t>
            </a:r>
            <a:endParaRPr kumimoji="0" lang="ru-RU" alt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5, ['</a:t>
            </a:r>
            <a:r>
              <a:rPr kumimoji="0" lang="en-US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cats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', '</a:t>
            </a:r>
            <a:r>
              <a:rPr kumimoji="0" lang="en-US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wild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'], 3, </a:t>
            </a:r>
            <a:r>
              <a:rPr kumimoji="0" lang="en-US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image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5</a:t>
            </a:r>
            <a:endParaRPr kumimoji="0" lang="ru-RU" alt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38917" name="Рисунок 62" descr="d86cf8c9-1193-4db6-88c2-3bc453c2ae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5048" y="2641618"/>
            <a:ext cx="3427809" cy="342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4862419" y="6249466"/>
            <a:ext cx="442050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9875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Пример изображения из публикации 1 (</a:t>
            </a:r>
            <a:r>
              <a:rPr kumimoji="0" lang="en-US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image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1)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273387"/>
            <a:ext cx="990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ru-RU" sz="1600" dirty="0" smtClean="0">
                <a:ea typeface="Calibri" panose="020F0502020204030204" pitchFamily="34" charset="0"/>
              </a:rPr>
              <a:t>Подготовлен </a:t>
            </a:r>
            <a:r>
              <a:rPr lang="ru-RU" sz="1600" dirty="0" err="1" smtClean="0">
                <a:ea typeface="Calibri" panose="020F0502020204030204" pitchFamily="34" charset="0"/>
              </a:rPr>
              <a:t>датасет</a:t>
            </a:r>
            <a:r>
              <a:rPr lang="ru-RU" sz="1600" dirty="0" smtClean="0">
                <a:ea typeface="Calibri" panose="020F0502020204030204" pitchFamily="34" charset="0"/>
              </a:rPr>
              <a:t>, состоящий из ста пользователей (их оценок и комментариев) и более двух тысяч публикаций. Выборка  делилась на основную часть и тестовую, из которой была убрана часть оценок для проверки работы алгоритма</a:t>
            </a:r>
            <a:endParaRPr lang="ru-RU" sz="1600" dirty="0">
              <a:effectLst/>
              <a:ea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 smtClean="0"/>
              <a:t>Промежуточные</a:t>
            </a:r>
            <a:br>
              <a:rPr lang="ru-RU" dirty="0" smtClean="0"/>
            </a:br>
            <a:r>
              <a:rPr lang="ru-RU" dirty="0" smtClean="0"/>
              <a:t>данные проверки рекомендательной системы</a:t>
            </a:r>
            <a:endParaRPr lang="ru-RU" dirty="0"/>
          </a:p>
        </p:txBody>
      </p:sp>
      <p:sp>
        <p:nvSpPr>
          <p:cNvPr id="40963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52979B-4D6A-4275-8AA3-59932AD9F10C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ru-RU" altLang="ru-RU" sz="1200" smtClean="0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416496" y="983492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956293"/>
              </p:ext>
            </p:extLst>
          </p:nvPr>
        </p:nvGraphicFramePr>
        <p:xfrm>
          <a:off x="939081" y="1696192"/>
          <a:ext cx="7739805" cy="3931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6" name="Двоичный лист" r:id="rId4" imgW="6714992" imgH="3819446" progId="Excel.SheetBinaryMacroEnabled.12">
                  <p:embed/>
                </p:oleObj>
              </mc:Choice>
              <mc:Fallback>
                <p:oleObj name="Двоичный лист" r:id="rId4" imgW="6714992" imgH="3819446" progId="Excel.SheetBinaryMacroEnabled.1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081" y="1696192"/>
                        <a:ext cx="7739805" cy="39319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56455" y="5883612"/>
            <a:ext cx="95050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>
              <a:lnSpc>
                <a:spcPct val="150000"/>
              </a:lnSpc>
              <a:spcAft>
                <a:spcPts val="0"/>
              </a:spcAft>
            </a:pPr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Матрица оценок публикаций-кандидатов для</a:t>
            </a: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рекомендаций разработанным алгоритмом</a:t>
            </a:r>
          </a:p>
          <a:p>
            <a:pPr indent="449580">
              <a:lnSpc>
                <a:spcPct val="150000"/>
              </a:lnSpc>
              <a:spcAft>
                <a:spcPts val="0"/>
              </a:spcAft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 smtClean="0"/>
              <a:t>Результаты экспериментальной</a:t>
            </a:r>
            <a:br>
              <a:rPr lang="ru-RU" dirty="0" smtClean="0"/>
            </a:br>
            <a:r>
              <a:rPr lang="ru-RU" dirty="0" smtClean="0"/>
              <a:t> проверки </a:t>
            </a:r>
            <a:r>
              <a:rPr lang="ru-RU" dirty="0"/>
              <a:t>рекомендательной системы</a:t>
            </a:r>
          </a:p>
        </p:txBody>
      </p:sp>
      <p:sp>
        <p:nvSpPr>
          <p:cNvPr id="43011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C1BE32-AE84-4C02-89E3-EED11F5EC0FE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ru-RU" altLang="ru-RU" sz="1200" smtClean="0"/>
          </a:p>
        </p:txBody>
      </p:sp>
      <p:graphicFrame>
        <p:nvGraphicFramePr>
          <p:cNvPr id="5" name="Диаграмма 4"/>
          <p:cNvGraphicFramePr/>
          <p:nvPr>
            <p:extLst>
              <p:ext uri="{D42A27DB-BD31-4B8C-83A1-F6EECF244321}">
                <p14:modId xmlns:p14="http://schemas.microsoft.com/office/powerpoint/2010/main" val="2133958437"/>
              </p:ext>
            </p:extLst>
          </p:nvPr>
        </p:nvGraphicFramePr>
        <p:xfrm>
          <a:off x="416496" y="177281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Диаграмма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8030259"/>
              </p:ext>
            </p:extLst>
          </p:nvPr>
        </p:nvGraphicFramePr>
        <p:xfrm>
          <a:off x="4860131" y="395510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 smtClean="0"/>
              <a:t>Результаты экспериментальной</a:t>
            </a:r>
            <a:br>
              <a:rPr lang="ru-RU" dirty="0" smtClean="0"/>
            </a:br>
            <a:r>
              <a:rPr lang="ru-RU" dirty="0" smtClean="0"/>
              <a:t> проверки </a:t>
            </a:r>
            <a:r>
              <a:rPr lang="ru-RU" dirty="0"/>
              <a:t>рекомендательной системы</a:t>
            </a:r>
          </a:p>
        </p:txBody>
      </p:sp>
      <p:sp>
        <p:nvSpPr>
          <p:cNvPr id="43011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C1BE32-AE84-4C02-89E3-EED11F5EC0FE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ru-RU" altLang="ru-RU" sz="1200" smtClean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058807"/>
              </p:ext>
            </p:extLst>
          </p:nvPr>
        </p:nvGraphicFramePr>
        <p:xfrm>
          <a:off x="1784648" y="1324364"/>
          <a:ext cx="6228494" cy="5168511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751198">
                  <a:extLst>
                    <a:ext uri="{9D8B030D-6E8A-4147-A177-3AD203B41FA5}">
                      <a16:colId xmlns:a16="http://schemas.microsoft.com/office/drawing/2014/main" val="3091140814"/>
                    </a:ext>
                  </a:extLst>
                </a:gridCol>
                <a:gridCol w="1526072">
                  <a:extLst>
                    <a:ext uri="{9D8B030D-6E8A-4147-A177-3AD203B41FA5}">
                      <a16:colId xmlns:a16="http://schemas.microsoft.com/office/drawing/2014/main" val="3108964745"/>
                    </a:ext>
                  </a:extLst>
                </a:gridCol>
                <a:gridCol w="1464614">
                  <a:extLst>
                    <a:ext uri="{9D8B030D-6E8A-4147-A177-3AD203B41FA5}">
                      <a16:colId xmlns:a16="http://schemas.microsoft.com/office/drawing/2014/main" val="2978548334"/>
                    </a:ext>
                  </a:extLst>
                </a:gridCol>
                <a:gridCol w="1486610">
                  <a:extLst>
                    <a:ext uri="{9D8B030D-6E8A-4147-A177-3AD203B41FA5}">
                      <a16:colId xmlns:a16="http://schemas.microsoft.com/office/drawing/2014/main" val="754446192"/>
                    </a:ext>
                  </a:extLst>
                </a:gridCol>
              </a:tblGrid>
              <a:tr h="7169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Наименование метрики или критерия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Текущая рекомендательная система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Требования к решению 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Предлагаемое решение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94938"/>
                  </a:ext>
                </a:extLst>
              </a:tr>
              <a:tr h="71699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Precision </a:t>
                      </a:r>
                      <a:r>
                        <a:rPr lang="ru-RU" sz="1100" dirty="0">
                          <a:effectLst/>
                        </a:rPr>
                        <a:t>рекомендательной системы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0.60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&gt;</a:t>
                      </a:r>
                      <a:r>
                        <a:rPr lang="ru-RU" sz="1200">
                          <a:effectLst/>
                        </a:rPr>
                        <a:t>0.</a:t>
                      </a:r>
                      <a:r>
                        <a:rPr lang="en-US" sz="1200">
                          <a:effectLst/>
                        </a:rPr>
                        <a:t>6</a:t>
                      </a:r>
                      <a:r>
                        <a:rPr lang="ru-RU" sz="1200">
                          <a:effectLst/>
                        </a:rPr>
                        <a:t>5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0.95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240540"/>
                  </a:ext>
                </a:extLst>
              </a:tr>
              <a:tr h="71699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Recall </a:t>
                      </a:r>
                      <a:r>
                        <a:rPr lang="ru-RU" sz="1100">
                          <a:effectLst/>
                        </a:rPr>
                        <a:t>рекомендательной системы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0.47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&gt;</a:t>
                      </a:r>
                      <a:r>
                        <a:rPr lang="ru-RU" sz="1200">
                          <a:effectLst/>
                        </a:rPr>
                        <a:t>0.</a:t>
                      </a:r>
                      <a:r>
                        <a:rPr lang="en-US" sz="1200">
                          <a:effectLst/>
                        </a:rPr>
                        <a:t>6</a:t>
                      </a:r>
                      <a:r>
                        <a:rPr lang="ru-RU" sz="1200">
                          <a:effectLst/>
                        </a:rPr>
                        <a:t>5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0.89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846612"/>
                  </a:ext>
                </a:extLst>
              </a:tr>
              <a:tr h="146046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Корректность ранжирования</a:t>
                      </a:r>
                      <a:endParaRPr lang="ru-RU" sz="1600">
                        <a:effectLst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(</a:t>
                      </a:r>
                      <a:r>
                        <a:rPr lang="en-US" sz="1100">
                          <a:effectLst/>
                        </a:rPr>
                        <a:t>nDCG</a:t>
                      </a:r>
                      <a:r>
                        <a:rPr lang="ru-RU" sz="1100">
                          <a:effectLst/>
                        </a:rPr>
                        <a:t>@5,</a:t>
                      </a:r>
                      <a:endParaRPr lang="ru-RU" sz="1600">
                        <a:effectLst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nDCG</a:t>
                      </a:r>
                      <a:r>
                        <a:rPr lang="ru-RU" sz="1100">
                          <a:effectLst/>
                        </a:rPr>
                        <a:t>@10,</a:t>
                      </a:r>
                      <a:endParaRPr lang="ru-RU" sz="1600">
                        <a:effectLst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AUC</a:t>
                      </a:r>
                      <a:r>
                        <a:rPr lang="ru-RU" sz="1100">
                          <a:effectLst/>
                        </a:rPr>
                        <a:t>,</a:t>
                      </a:r>
                      <a:endParaRPr lang="ru-RU" sz="1600">
                        <a:effectLst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MRR</a:t>
                      </a:r>
                      <a:r>
                        <a:rPr lang="ru-RU" sz="1100">
                          <a:effectLst/>
                        </a:rPr>
                        <a:t>)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Среднее = 0.35</a:t>
                      </a:r>
                      <a:endParaRPr lang="ru-RU" sz="1800">
                        <a:effectLst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(</a:t>
                      </a:r>
                      <a:r>
                        <a:rPr lang="en-US" sz="1200">
                          <a:effectLst/>
                        </a:rPr>
                        <a:t>nDCG</a:t>
                      </a:r>
                      <a:r>
                        <a:rPr lang="ru-RU" sz="1200">
                          <a:effectLst/>
                        </a:rPr>
                        <a:t>@5 = 0.08,</a:t>
                      </a:r>
                      <a:endParaRPr lang="ru-RU" sz="1800">
                        <a:effectLst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nDCG</a:t>
                      </a:r>
                      <a:r>
                        <a:rPr lang="ru-RU" sz="1200">
                          <a:effectLst/>
                        </a:rPr>
                        <a:t>@10 =0.07,</a:t>
                      </a:r>
                      <a:endParaRPr lang="ru-RU" sz="1800">
                        <a:effectLst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AUC</a:t>
                      </a:r>
                      <a:r>
                        <a:rPr lang="ru-RU" sz="1200">
                          <a:effectLst/>
                        </a:rPr>
                        <a:t> = 0.66,</a:t>
                      </a:r>
                      <a:endParaRPr lang="ru-RU" sz="180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MRR</a:t>
                      </a:r>
                      <a:r>
                        <a:rPr lang="ru-RU" sz="1200">
                          <a:effectLst/>
                        </a:rPr>
                        <a:t> = 0.61)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&gt;0.5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Среднее = 0.62</a:t>
                      </a:r>
                      <a:endParaRPr lang="ru-RU" sz="1800" dirty="0">
                        <a:effectLst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(</a:t>
                      </a:r>
                      <a:r>
                        <a:rPr lang="en-US" sz="1200" dirty="0" err="1">
                          <a:effectLst/>
                        </a:rPr>
                        <a:t>nDCG</a:t>
                      </a:r>
                      <a:r>
                        <a:rPr lang="ru-RU" sz="1200" dirty="0">
                          <a:effectLst/>
                        </a:rPr>
                        <a:t>@5 = 0.31,</a:t>
                      </a:r>
                      <a:endParaRPr lang="ru-RU" sz="1800" dirty="0">
                        <a:effectLst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nDCG</a:t>
                      </a:r>
                      <a:r>
                        <a:rPr lang="ru-RU" sz="1200" dirty="0">
                          <a:effectLst/>
                        </a:rPr>
                        <a:t>@10 =0.29,</a:t>
                      </a:r>
                      <a:endParaRPr lang="ru-RU" sz="1800" dirty="0">
                        <a:effectLst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AUC</a:t>
                      </a:r>
                      <a:r>
                        <a:rPr lang="ru-RU" sz="1200" dirty="0">
                          <a:effectLst/>
                        </a:rPr>
                        <a:t> = 0.93,</a:t>
                      </a:r>
                      <a:endParaRPr lang="ru-RU" sz="1800" dirty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MRR</a:t>
                      </a:r>
                      <a:r>
                        <a:rPr lang="ru-RU" sz="1200" dirty="0">
                          <a:effectLst/>
                        </a:rPr>
                        <a:t> = 0.95)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933453"/>
                  </a:ext>
                </a:extLst>
              </a:tr>
              <a:tr h="71699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Accuracy</a:t>
                      </a:r>
                      <a:r>
                        <a:rPr lang="ru-RU" sz="1100">
                          <a:effectLst/>
                        </a:rPr>
                        <a:t> модели тегирования изображений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&gt;=0.9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0.</a:t>
                      </a:r>
                      <a:r>
                        <a:rPr lang="en-US" sz="1200" dirty="0">
                          <a:effectLst/>
                        </a:rPr>
                        <a:t>95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895007"/>
                  </a:ext>
                </a:extLst>
              </a:tr>
              <a:tr h="71699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Precision</a:t>
                      </a:r>
                      <a:r>
                        <a:rPr lang="ru-RU" sz="1100" dirty="0">
                          <a:effectLst/>
                        </a:rPr>
                        <a:t> модели тегирования изображений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&gt;=</a:t>
                      </a:r>
                      <a:r>
                        <a:rPr lang="ru-RU" sz="1200">
                          <a:effectLst/>
                        </a:rPr>
                        <a:t>0.9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0.</a:t>
                      </a:r>
                      <a:r>
                        <a:rPr lang="en-US" sz="1200" dirty="0">
                          <a:effectLst/>
                        </a:rPr>
                        <a:t>94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3899" marR="53899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320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7741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 smtClean="0"/>
              <a:t>Результаты экспериментальной</a:t>
            </a:r>
            <a:br>
              <a:rPr lang="ru-RU" dirty="0" smtClean="0"/>
            </a:br>
            <a:r>
              <a:rPr lang="ru-RU" dirty="0" smtClean="0"/>
              <a:t> проверки </a:t>
            </a:r>
            <a:r>
              <a:rPr lang="ru-RU" dirty="0"/>
              <a:t>рекомендательной системы</a:t>
            </a:r>
          </a:p>
        </p:txBody>
      </p:sp>
      <p:sp>
        <p:nvSpPr>
          <p:cNvPr id="43011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C1BE32-AE84-4C02-89E3-EED11F5EC0FE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ru-RU" altLang="ru-RU" sz="1200" smtClean="0"/>
          </a:p>
        </p:txBody>
      </p:sp>
      <p:sp>
        <p:nvSpPr>
          <p:cNvPr id="43012" name="Объект 2"/>
          <p:cNvSpPr>
            <a:spLocks noGrp="1"/>
          </p:cNvSpPr>
          <p:nvPr>
            <p:ph idx="1"/>
          </p:nvPr>
        </p:nvSpPr>
        <p:spPr>
          <a:xfrm>
            <a:off x="309563" y="1285875"/>
            <a:ext cx="9101137" cy="4840288"/>
          </a:xfrm>
        </p:spPr>
        <p:txBody>
          <a:bodyPr/>
          <a:lstStyle/>
          <a:p>
            <a:endParaRPr lang="ru-RU" altLang="ru-RU" dirty="0" smtClean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28303"/>
              </p:ext>
            </p:extLst>
          </p:nvPr>
        </p:nvGraphicFramePr>
        <p:xfrm>
          <a:off x="311111" y="1243441"/>
          <a:ext cx="9322411" cy="5445835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232271">
                  <a:extLst>
                    <a:ext uri="{9D8B030D-6E8A-4147-A177-3AD203B41FA5}">
                      <a16:colId xmlns:a16="http://schemas.microsoft.com/office/drawing/2014/main" val="3320731192"/>
                    </a:ext>
                  </a:extLst>
                </a:gridCol>
                <a:gridCol w="813867">
                  <a:extLst>
                    <a:ext uri="{9D8B030D-6E8A-4147-A177-3AD203B41FA5}">
                      <a16:colId xmlns:a16="http://schemas.microsoft.com/office/drawing/2014/main" val="1696076001"/>
                    </a:ext>
                  </a:extLst>
                </a:gridCol>
                <a:gridCol w="970333">
                  <a:extLst>
                    <a:ext uri="{9D8B030D-6E8A-4147-A177-3AD203B41FA5}">
                      <a16:colId xmlns:a16="http://schemas.microsoft.com/office/drawing/2014/main" val="3545957973"/>
                    </a:ext>
                  </a:extLst>
                </a:gridCol>
                <a:gridCol w="965113">
                  <a:extLst>
                    <a:ext uri="{9D8B030D-6E8A-4147-A177-3AD203B41FA5}">
                      <a16:colId xmlns:a16="http://schemas.microsoft.com/office/drawing/2014/main" val="911155209"/>
                    </a:ext>
                  </a:extLst>
                </a:gridCol>
                <a:gridCol w="1041695">
                  <a:extLst>
                    <a:ext uri="{9D8B030D-6E8A-4147-A177-3AD203B41FA5}">
                      <a16:colId xmlns:a16="http://schemas.microsoft.com/office/drawing/2014/main" val="1160601001"/>
                    </a:ext>
                  </a:extLst>
                </a:gridCol>
                <a:gridCol w="1133940">
                  <a:extLst>
                    <a:ext uri="{9D8B030D-6E8A-4147-A177-3AD203B41FA5}">
                      <a16:colId xmlns:a16="http://schemas.microsoft.com/office/drawing/2014/main" val="1737955390"/>
                    </a:ext>
                  </a:extLst>
                </a:gridCol>
                <a:gridCol w="1030380">
                  <a:extLst>
                    <a:ext uri="{9D8B030D-6E8A-4147-A177-3AD203B41FA5}">
                      <a16:colId xmlns:a16="http://schemas.microsoft.com/office/drawing/2014/main" val="1548804042"/>
                    </a:ext>
                  </a:extLst>
                </a:gridCol>
                <a:gridCol w="1134812">
                  <a:extLst>
                    <a:ext uri="{9D8B030D-6E8A-4147-A177-3AD203B41FA5}">
                      <a16:colId xmlns:a16="http://schemas.microsoft.com/office/drawing/2014/main" val="1789130856"/>
                    </a:ext>
                  </a:extLst>
                </a:gridCol>
              </a:tblGrid>
              <a:tr h="5928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Алгоритмы</a:t>
                      </a:r>
                      <a:r>
                        <a:rPr lang="en-US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ru-RU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Модели</a:t>
                      </a:r>
                      <a:endParaRPr lang="ru-RU" sz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Precision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Recall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MAE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AUC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MRR</a:t>
                      </a:r>
                      <a:endParaRPr lang="ru-RU" sz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nDCG@5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nDCG@10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extLst>
                  <a:ext uri="{0D108BD9-81ED-4DB2-BD59-A6C34878D82A}">
                    <a16:rowId xmlns:a16="http://schemas.microsoft.com/office/drawing/2014/main" val="2161843379"/>
                  </a:ext>
                </a:extLst>
              </a:tr>
              <a:tr h="55029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Коллаборативная</a:t>
                      </a:r>
                      <a:r>
                        <a:rPr lang="ru-RU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фильтрация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0.65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0.87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extLst>
                  <a:ext uri="{0D108BD9-81ED-4DB2-BD59-A6C34878D82A}">
                    <a16:rowId xmlns:a16="http://schemas.microsoft.com/office/drawing/2014/main" val="4045645426"/>
                  </a:ext>
                </a:extLst>
              </a:tr>
              <a:tr h="55029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Рекомендации, основанные на сходстве пользователей </a:t>
                      </a:r>
                      <a:endParaRPr lang="ru-RU" sz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0.59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0.63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0.94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extLst>
                  <a:ext uri="{0D108BD9-81ED-4DB2-BD59-A6C34878D82A}">
                    <a16:rowId xmlns:a16="http://schemas.microsoft.com/office/drawing/2014/main" val="2278551512"/>
                  </a:ext>
                </a:extLst>
              </a:tr>
              <a:tr h="55029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Экспертная система (искусственный интеллект)</a:t>
                      </a:r>
                      <a:endParaRPr lang="ru-RU" sz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0.64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0.71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0.81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extLst>
                  <a:ext uri="{0D108BD9-81ED-4DB2-BD59-A6C34878D82A}">
                    <a16:rowId xmlns:a16="http://schemas.microsoft.com/office/drawing/2014/main" val="1231332083"/>
                  </a:ext>
                </a:extLst>
              </a:tr>
              <a:tr h="96591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Экспертная система (основанная на искусственном интеллекте и сходстве пользователей)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0.64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0.73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0.77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extLst>
                  <a:ext uri="{0D108BD9-81ED-4DB2-BD59-A6C34878D82A}">
                    <a16:rowId xmlns:a16="http://schemas.microsoft.com/office/drawing/2014/main" val="1624598694"/>
                  </a:ext>
                </a:extLst>
              </a:tr>
              <a:tr h="26565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EBNR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0.66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0.31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extLst>
                  <a:ext uri="{0D108BD9-81ED-4DB2-BD59-A6C34878D82A}">
                    <a16:rowId xmlns:a16="http://schemas.microsoft.com/office/drawing/2014/main" val="1444001441"/>
                  </a:ext>
                </a:extLst>
              </a:tr>
              <a:tr h="26565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DKN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0.65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0.31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extLst>
                  <a:ext uri="{0D108BD9-81ED-4DB2-BD59-A6C34878D82A}">
                    <a16:rowId xmlns:a16="http://schemas.microsoft.com/office/drawing/2014/main" val="2655817677"/>
                  </a:ext>
                </a:extLst>
              </a:tr>
              <a:tr h="26565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NPA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0.67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0.41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extLst>
                  <a:ext uri="{0D108BD9-81ED-4DB2-BD59-A6C34878D82A}">
                    <a16:rowId xmlns:a16="http://schemas.microsoft.com/office/drawing/2014/main" val="3201356069"/>
                  </a:ext>
                </a:extLst>
              </a:tr>
              <a:tr h="26565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NAML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0.67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0.41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extLst>
                  <a:ext uri="{0D108BD9-81ED-4DB2-BD59-A6C34878D82A}">
                    <a16:rowId xmlns:a16="http://schemas.microsoft.com/office/drawing/2014/main" val="3508672547"/>
                  </a:ext>
                </a:extLst>
              </a:tr>
              <a:tr h="26565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NRMS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0.68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0.33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0.42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extLst>
                  <a:ext uri="{0D108BD9-81ED-4DB2-BD59-A6C34878D82A}">
                    <a16:rowId xmlns:a16="http://schemas.microsoft.com/office/drawing/2014/main" val="1845055754"/>
                  </a:ext>
                </a:extLst>
              </a:tr>
              <a:tr h="26565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UniRec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0.68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0.33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0.42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/>
                </a:tc>
                <a:extLst>
                  <a:ext uri="{0D108BD9-81ED-4DB2-BD59-A6C34878D82A}">
                    <a16:rowId xmlns:a16="http://schemas.microsoft.com/office/drawing/2014/main" val="321565704"/>
                  </a:ext>
                </a:extLst>
              </a:tr>
              <a:tr h="55029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Предлагаемое решение</a:t>
                      </a:r>
                      <a:endParaRPr lang="ru-RU" sz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0.95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0.89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0.95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0.30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730" marR="3773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113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2736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 smtClean="0"/>
              <a:t>Тестирование итогового</a:t>
            </a:r>
            <a:br>
              <a:rPr lang="ru-RU" dirty="0" smtClean="0"/>
            </a:br>
            <a:r>
              <a:rPr lang="ru-RU" dirty="0" smtClean="0"/>
              <a:t>технического решения</a:t>
            </a:r>
            <a:endParaRPr lang="ru-RU" dirty="0"/>
          </a:p>
        </p:txBody>
      </p:sp>
      <p:sp>
        <p:nvSpPr>
          <p:cNvPr id="44035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A3A86A-078B-4E49-BB1C-F5EA8694BA43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ru-RU" altLang="ru-RU" sz="1200" smtClean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179680"/>
              </p:ext>
            </p:extLst>
          </p:nvPr>
        </p:nvGraphicFramePr>
        <p:xfrm>
          <a:off x="1064568" y="1256792"/>
          <a:ext cx="7632848" cy="4867252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908212">
                  <a:extLst>
                    <a:ext uri="{9D8B030D-6E8A-4147-A177-3AD203B41FA5}">
                      <a16:colId xmlns:a16="http://schemas.microsoft.com/office/drawing/2014/main" val="1913003834"/>
                    </a:ext>
                  </a:extLst>
                </a:gridCol>
                <a:gridCol w="1908212">
                  <a:extLst>
                    <a:ext uri="{9D8B030D-6E8A-4147-A177-3AD203B41FA5}">
                      <a16:colId xmlns:a16="http://schemas.microsoft.com/office/drawing/2014/main" val="462461955"/>
                    </a:ext>
                  </a:extLst>
                </a:gridCol>
                <a:gridCol w="1908212">
                  <a:extLst>
                    <a:ext uri="{9D8B030D-6E8A-4147-A177-3AD203B41FA5}">
                      <a16:colId xmlns:a16="http://schemas.microsoft.com/office/drawing/2014/main" val="2990687126"/>
                    </a:ext>
                  </a:extLst>
                </a:gridCol>
                <a:gridCol w="1908212">
                  <a:extLst>
                    <a:ext uri="{9D8B030D-6E8A-4147-A177-3AD203B41FA5}">
                      <a16:colId xmlns:a16="http://schemas.microsoft.com/office/drawing/2014/main" val="3322286614"/>
                    </a:ext>
                  </a:extLst>
                </a:gridCol>
              </a:tblGrid>
              <a:tr h="3720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теста</a:t>
                      </a:r>
                      <a:endParaRPr lang="ru-RU" sz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145" marR="471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Дата</a:t>
                      </a:r>
                      <a:endParaRPr lang="ru-RU" sz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145" marR="471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Проводивший тест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145" marR="471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Результат, описание</a:t>
                      </a:r>
                      <a:endParaRPr lang="ru-RU" sz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145" marR="47145" marT="0" marB="0"/>
                </a:tc>
                <a:extLst>
                  <a:ext uri="{0D108BD9-81ED-4DB2-BD59-A6C34878D82A}">
                    <a16:rowId xmlns:a16="http://schemas.microsoft.com/office/drawing/2014/main" val="1589614629"/>
                  </a:ext>
                </a:extLst>
              </a:tr>
              <a:tr h="117267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Проверка правильности расчёта матрицы оценок (</a:t>
                      </a:r>
                      <a:r>
                        <a:rPr lang="ru-RU" sz="105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коллаборативной</a:t>
                      </a:r>
                      <a:r>
                        <a:rPr lang="ru-RU" sz="10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фильтрации)</a:t>
                      </a:r>
                      <a:endParaRPr lang="ru-RU" sz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145" marR="4714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22.04.24</a:t>
                      </a:r>
                      <a:endParaRPr lang="ru-RU" sz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145" marR="4714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Викторов Д.А. - разработчик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145" marR="4714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Найдены ошибки в работе с индексами матрицы. После исправления проведено повторное тестирование 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145" marR="47145" marT="0" marB="0"/>
                </a:tc>
                <a:extLst>
                  <a:ext uri="{0D108BD9-81ED-4DB2-BD59-A6C34878D82A}">
                    <a16:rowId xmlns:a16="http://schemas.microsoft.com/office/drawing/2014/main" val="396547235"/>
                  </a:ext>
                </a:extLst>
              </a:tr>
              <a:tr h="97722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Проверка правильности расчёта фильтрации по контенту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145" marR="4714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22.04.24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145" marR="4714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Викторов Д.А. - разработчик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145" marR="4714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Корректный расчёт тегов контента из интересов пользователей и описания изображений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145" marR="47145" marT="0" marB="0"/>
                </a:tc>
                <a:extLst>
                  <a:ext uri="{0D108BD9-81ED-4DB2-BD59-A6C34878D82A}">
                    <a16:rowId xmlns:a16="http://schemas.microsoft.com/office/drawing/2014/main" val="2209786864"/>
                  </a:ext>
                </a:extLst>
              </a:tr>
              <a:tr h="97722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Проверка правильности расчёта фильтрации по статистике</a:t>
                      </a:r>
                      <a:endParaRPr lang="ru-RU" sz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145" marR="4714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23.04.24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145" marR="4714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Викторов Д.А. - разработчик</a:t>
                      </a:r>
                      <a:endParaRPr lang="ru-RU" sz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145" marR="4714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Корректное формирование списка рекомендаций по популярности изображений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145" marR="47145" marT="0" marB="0"/>
                </a:tc>
                <a:extLst>
                  <a:ext uri="{0D108BD9-81ED-4DB2-BD59-A6C34878D82A}">
                    <a16:rowId xmlns:a16="http://schemas.microsoft.com/office/drawing/2014/main" val="3917615905"/>
                  </a:ext>
                </a:extLst>
              </a:tr>
              <a:tr h="136811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Проверка исправной работы модели машинного обучения,  основанной на </a:t>
                      </a:r>
                      <a:r>
                        <a:rPr lang="en-US" sz="10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Visual Transformer</a:t>
                      </a:r>
                      <a:endParaRPr lang="ru-RU" sz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145" marR="4714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23.04.24</a:t>
                      </a:r>
                      <a:endParaRPr lang="ru-RU" sz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145" marR="4714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Викторов Д.А. - разработчик</a:t>
                      </a:r>
                      <a:endParaRPr lang="ru-RU" sz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145" marR="4714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 ходе тестов исправлена конфигурация по умолчанию для достижения более точных и правильных результатов работы</a:t>
                      </a:r>
                      <a:endParaRPr lang="ru-RU" sz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145" marR="47145" marT="0" marB="0"/>
                </a:tc>
                <a:extLst>
                  <a:ext uri="{0D108BD9-81ED-4DB2-BD59-A6C34878D82A}">
                    <a16:rowId xmlns:a16="http://schemas.microsoft.com/office/drawing/2014/main" val="2901168591"/>
                  </a:ext>
                </a:extLst>
              </a:tr>
            </a:tbl>
          </a:graphicData>
        </a:graphic>
      </p:graphicFrame>
      <p:sp>
        <p:nvSpPr>
          <p:cNvPr id="4" name="Rectangle 42"/>
          <p:cNvSpPr>
            <a:spLocks noChangeArrowheads="1"/>
          </p:cNvSpPr>
          <p:nvPr/>
        </p:nvSpPr>
        <p:spPr bwMode="auto">
          <a:xfrm>
            <a:off x="272480" y="6080243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Описание тестирования модуля </a:t>
            </a:r>
            <a:r>
              <a:rPr kumimoji="0" lang="en-US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Recommendations</a:t>
            </a:r>
            <a:endParaRPr kumimoji="0" lang="en-US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Заголовок 1"/>
          <p:cNvSpPr txBox="1">
            <a:spLocks/>
          </p:cNvSpPr>
          <p:nvPr/>
        </p:nvSpPr>
        <p:spPr bwMode="auto">
          <a:xfrm>
            <a:off x="2505075" y="60325"/>
            <a:ext cx="7400925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  <a:defRPr/>
            </a:pPr>
            <a:r>
              <a:rPr lang="ru-RU" altLang="ru-RU" sz="2500" b="1" dirty="0" smtClean="0">
                <a:solidFill>
                  <a:srgbClr val="C00000"/>
                </a:solidFill>
                <a:latin typeface="+mn-lt"/>
                <a:ea typeface="+mj-ea"/>
              </a:rPr>
              <a:t>Основные результаты работы и выводы</a:t>
            </a:r>
            <a:endParaRPr lang="ru-RU" altLang="ru-RU" sz="2500" b="1" dirty="0">
              <a:solidFill>
                <a:srgbClr val="C00000"/>
              </a:solidFill>
              <a:latin typeface="+mn-lt"/>
              <a:ea typeface="+mj-ea"/>
            </a:endParaRPr>
          </a:p>
        </p:txBody>
      </p:sp>
      <p:sp>
        <p:nvSpPr>
          <p:cNvPr id="45059" name="TextBox 10"/>
          <p:cNvSpPr txBox="1">
            <a:spLocks noChangeArrowheads="1"/>
          </p:cNvSpPr>
          <p:nvPr/>
        </p:nvSpPr>
        <p:spPr bwMode="auto">
          <a:xfrm>
            <a:off x="68263" y="1208088"/>
            <a:ext cx="52816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>
                <a:solidFill>
                  <a:srgbClr val="C00000"/>
                </a:solidFill>
                <a:latin typeface="Arial" panose="020B0604020202020204" pitchFamily="34" charset="0"/>
              </a:rPr>
              <a:t>ОСНОВНЫЕ РЕЗУЛЬТАТЫ</a:t>
            </a:r>
          </a:p>
        </p:txBody>
      </p:sp>
      <p:sp>
        <p:nvSpPr>
          <p:cNvPr id="45060" name="TextBox 10"/>
          <p:cNvSpPr txBox="1">
            <a:spLocks noChangeArrowheads="1"/>
          </p:cNvSpPr>
          <p:nvPr/>
        </p:nvSpPr>
        <p:spPr bwMode="auto">
          <a:xfrm>
            <a:off x="216025" y="4033523"/>
            <a:ext cx="52816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 dirty="0">
                <a:solidFill>
                  <a:srgbClr val="C00000"/>
                </a:solidFill>
                <a:latin typeface="Arial" panose="020B0604020202020204" pitchFamily="34" charset="0"/>
              </a:rPr>
              <a:t>АПРОБАЦИЯ</a:t>
            </a:r>
          </a:p>
        </p:txBody>
      </p:sp>
      <p:sp>
        <p:nvSpPr>
          <p:cNvPr id="45061" name="Номер слайда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98A7A1-E244-46FB-8533-C9E247201153}" type="slidenum">
              <a:rPr lang="ru-RU" altLang="ru-RU" sz="1200" smtClean="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ru-RU" altLang="ru-RU" sz="1200" smtClean="0"/>
          </a:p>
        </p:txBody>
      </p:sp>
      <p:sp>
        <p:nvSpPr>
          <p:cNvPr id="2" name="Прямоугольник 1"/>
          <p:cNvSpPr/>
          <p:nvPr/>
        </p:nvSpPr>
        <p:spPr>
          <a:xfrm>
            <a:off x="132260" y="4569271"/>
            <a:ext cx="963352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9875" algn="just">
              <a:spcAft>
                <a:spcPts val="0"/>
              </a:spcAft>
            </a:pPr>
            <a:r>
              <a:rPr lang="ru-RU" sz="1700" dirty="0">
                <a:ea typeface="Calibri" panose="020F0502020204030204" pitchFamily="34" charset="0"/>
              </a:rPr>
              <a:t>О</a:t>
            </a:r>
            <a:r>
              <a:rPr lang="ru-RU" sz="1700" dirty="0" smtClean="0">
                <a:effectLst/>
                <a:ea typeface="Calibri" panose="020F0502020204030204" pitchFamily="34" charset="0"/>
              </a:rPr>
              <a:t>публикована печатная работа в сборнике Современные информационные технологии. Теория и практика: Материалы VI Всероссийской научно-практической конференции «Современные информационные технологии. Теория и практика» (г. Череповец, 29 ноября 2023 г.) / под редакцией Е. В. Ершова. Череповец: ЧГУ, 2024 –   510 с. (ISBN 978-5-85341-963-6).</a:t>
            </a:r>
          </a:p>
          <a:p>
            <a:pPr indent="269875" algn="just">
              <a:spcAft>
                <a:spcPts val="0"/>
              </a:spcAft>
            </a:pPr>
            <a:r>
              <a:rPr lang="ru-RU" sz="1700" dirty="0" smtClean="0">
                <a:ea typeface="Calibri" panose="020F0502020204030204" pitchFamily="34" charset="0"/>
              </a:rPr>
              <a:t>Система, использованные в ней методы, модели и подходы были обсуждены на различных семинарах на кафедре МПО ЭВМ Череповецкого </a:t>
            </a:r>
            <a:r>
              <a:rPr lang="ru-RU" sz="1700" smtClean="0">
                <a:ea typeface="Calibri" panose="020F0502020204030204" pitchFamily="34" charset="0"/>
              </a:rPr>
              <a:t>Государственного </a:t>
            </a:r>
            <a:r>
              <a:rPr lang="ru-RU" sz="1700" smtClean="0">
                <a:ea typeface="Calibri" panose="020F0502020204030204" pitchFamily="34" charset="0"/>
              </a:rPr>
              <a:t>Университета.</a:t>
            </a:r>
            <a:endParaRPr lang="ru-RU" sz="1700" dirty="0">
              <a:effectLst/>
              <a:ea typeface="Calibri" panose="020F050202020403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16025" y="1605245"/>
            <a:ext cx="946599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700" dirty="0" smtClean="0">
                <a:ea typeface="Calibri" panose="020F0502020204030204" pitchFamily="34" charset="0"/>
              </a:rPr>
              <a:t>Сформирован </a:t>
            </a:r>
            <a:r>
              <a:rPr lang="ru-RU" sz="1700" dirty="0">
                <a:ea typeface="Calibri" panose="020F0502020204030204" pitchFamily="34" charset="0"/>
              </a:rPr>
              <a:t>и </a:t>
            </a:r>
            <a:r>
              <a:rPr lang="ru-RU" sz="1700" dirty="0" smtClean="0">
                <a:ea typeface="Calibri" panose="020F0502020204030204" pitchFamily="34" charset="0"/>
              </a:rPr>
              <a:t>реализован алгоритм </a:t>
            </a:r>
            <a:r>
              <a:rPr lang="ru-RU" sz="1700" dirty="0">
                <a:ea typeface="Calibri" panose="020F0502020204030204" pitchFamily="34" charset="0"/>
              </a:rPr>
              <a:t>для анализа контента и формирования персональных </a:t>
            </a:r>
            <a:r>
              <a:rPr lang="ru-RU" sz="1700" dirty="0" smtClean="0">
                <a:ea typeface="Calibri" panose="020F0502020204030204" pitchFamily="34" charset="0"/>
              </a:rPr>
              <a:t>рекомендаций</a:t>
            </a:r>
            <a:r>
              <a:rPr lang="en-US" sz="1700" dirty="0" smtClean="0">
                <a:ea typeface="Calibri" panose="020F0502020204030204" pitchFamily="34" charset="0"/>
              </a:rPr>
              <a:t>,</a:t>
            </a:r>
            <a:r>
              <a:rPr lang="ru-RU" sz="1700" dirty="0" smtClean="0">
                <a:ea typeface="Calibri" panose="020F0502020204030204" pitchFamily="34" charset="0"/>
              </a:rPr>
              <a:t> </a:t>
            </a:r>
            <a:r>
              <a:rPr lang="ru-RU" sz="1700" dirty="0"/>
              <a:t>с</a:t>
            </a:r>
            <a:r>
              <a:rPr lang="ru-RU" sz="1700" dirty="0" smtClean="0"/>
              <a:t> использованием гибридного метода </a:t>
            </a:r>
            <a:r>
              <a:rPr lang="ru-RU" sz="1700" dirty="0" err="1" smtClean="0"/>
              <a:t>коллаборативной</a:t>
            </a:r>
            <a:r>
              <a:rPr lang="ru-RU" sz="1700" dirty="0" smtClean="0"/>
              <a:t> фильтрации, и модели машинного обучения </a:t>
            </a:r>
            <a:r>
              <a:rPr lang="ru-RU" sz="1700" dirty="0" err="1" smtClean="0"/>
              <a:t>Vision</a:t>
            </a:r>
            <a:r>
              <a:rPr lang="ru-RU" sz="1700" dirty="0" smtClean="0"/>
              <a:t> </a:t>
            </a:r>
            <a:r>
              <a:rPr lang="ru-RU" sz="1700" dirty="0" err="1" smtClean="0"/>
              <a:t>Transformer</a:t>
            </a:r>
            <a:r>
              <a:rPr lang="ru-RU" sz="1700" dirty="0" smtClean="0"/>
              <a:t> и метода</a:t>
            </a:r>
            <a:r>
              <a:rPr lang="en-US" sz="1700" dirty="0" smtClean="0"/>
              <a:t> </a:t>
            </a:r>
            <a:r>
              <a:rPr lang="en-US" sz="1700" dirty="0" err="1" smtClean="0"/>
              <a:t>kNN</a:t>
            </a:r>
            <a:r>
              <a:rPr lang="ru-RU" sz="1700" dirty="0" smtClean="0"/>
              <a:t>, позволяющий формировать персональные рекомендации высокой точности и  должным уровнем производительности</a:t>
            </a:r>
            <a:r>
              <a:rPr lang="en-US" sz="1700" dirty="0" smtClean="0"/>
              <a:t>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700" dirty="0"/>
              <a:t>с</a:t>
            </a:r>
            <a:r>
              <a:rPr lang="ru-RU" sz="1700" dirty="0" smtClean="0"/>
              <a:t>истема позволяет улучшить пользовательский опыт, предлагая персонализированный контент и рекомендации на основе предыдущего поведения и предпочтений </a:t>
            </a:r>
            <a:r>
              <a:rPr lang="ru-RU" sz="1700" dirty="0" smtClean="0"/>
              <a:t>пользователя.</a:t>
            </a:r>
            <a:endParaRPr lang="ru-RU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 smtClean="0">
                <a:solidFill>
                  <a:srgbClr val="FF0000"/>
                </a:solidFill>
              </a:rPr>
              <a:t> </a:t>
            </a:r>
            <a:br>
              <a:rPr lang="ru-RU" dirty="0" smtClean="0">
                <a:solidFill>
                  <a:srgbClr val="FF0000"/>
                </a:solidFill>
              </a:rPr>
            </a:b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6083" name="Номер слайда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55257A-99F8-4938-9F9D-8116181FD1E0}" type="slidenum">
              <a:rPr lang="ru-RU" altLang="ru-RU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ru-RU" altLang="ru-RU" sz="1200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4E9CF2B1B1D4404D9A7907E621950E20" ma:contentTypeVersion="3" ma:contentTypeDescription="Создание документа." ma:contentTypeScope="" ma:versionID="177a7d255090b30253b1a6fc9839eea5">
  <xsd:schema xmlns:xsd="http://www.w3.org/2001/XMLSchema" xmlns:xs="http://www.w3.org/2001/XMLSchema" xmlns:p="http://schemas.microsoft.com/office/2006/metadata/properties" xmlns:ns2="974e3fc0-7552-4410-92ea-fd6bd9f30c86" targetNamespace="http://schemas.microsoft.com/office/2006/metadata/properties" ma:root="true" ma:fieldsID="ce3f56804507bca880ec9c546776254e" ns2:_="">
    <xsd:import namespace="974e3fc0-7552-4410-92ea-fd6bd9f30c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4e3fc0-7552-4410-92ea-fd6bd9f30c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2461D18-F6B5-4167-852C-02F70179F0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4e3fc0-7552-4410-92ea-fd6bd9f30c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CEE69B-BEAF-460E-AD98-020C02E3B5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2B2DCE-FEC0-4401-B4D8-575B886BDF64}">
  <ds:schemaRefs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dcmitype/"/>
    <ds:schemaRef ds:uri="http://purl.org/dc/elements/1.1/"/>
    <ds:schemaRef ds:uri="974e3fc0-7552-4410-92ea-fd6bd9f30c86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10656</TotalTime>
  <Words>1798</Words>
  <Application>Microsoft Office PowerPoint</Application>
  <PresentationFormat>Лист A4 (210x297 мм)</PresentationFormat>
  <Paragraphs>394</Paragraphs>
  <Slides>33</Slides>
  <Notes>18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1" baseType="lpstr">
      <vt:lpstr>-apple-system</vt:lpstr>
      <vt:lpstr>Arial</vt:lpstr>
      <vt:lpstr>Calibri</vt:lpstr>
      <vt:lpstr>Cambria Math</vt:lpstr>
      <vt:lpstr>Times New Roman</vt:lpstr>
      <vt:lpstr>Wingdings</vt:lpstr>
      <vt:lpstr>Тема Office</vt:lpstr>
      <vt:lpstr>Двоичный лист</vt:lpstr>
      <vt:lpstr>Презентация PowerPoint</vt:lpstr>
      <vt:lpstr>Актуальность темы. Объект и предмет исследования</vt:lpstr>
      <vt:lpstr>Презентация PowerPoint</vt:lpstr>
      <vt:lpstr>Презентация PowerPoint</vt:lpstr>
      <vt:lpstr>Презентация PowerPoint</vt:lpstr>
      <vt:lpstr>Анализ существующей проблемы</vt:lpstr>
      <vt:lpstr>Сравнительный анализ методов и средств решения задачи формирования рекомендаций</vt:lpstr>
      <vt:lpstr>Анализ существующих  программных средств решения</vt:lpstr>
      <vt:lpstr> Описание контента социальной сети  как данных для формирования рекомендаций</vt:lpstr>
      <vt:lpstr>Постановка задачи</vt:lpstr>
      <vt:lpstr>Презентация PowerPoint</vt:lpstr>
      <vt:lpstr>Описание предлагаемого алгоритма решения задачи</vt:lpstr>
      <vt:lpstr>Анализ контента социальной сети и  формирование персональных рекомендаций  </vt:lpstr>
      <vt:lpstr>Описание модели  тегирования изображений</vt:lpstr>
      <vt:lpstr>Используемые методы  для построения рекомендаций</vt:lpstr>
      <vt:lpstr>Адаптивный алгоритм формирования  персональных рекомендаций</vt:lpstr>
      <vt:lpstr>Презентация PowerPoint</vt:lpstr>
      <vt:lpstr>Выбор инструментальных средств и  подхода к проектированию</vt:lpstr>
      <vt:lpstr>Презентация PowerPoint</vt:lpstr>
      <vt:lpstr>Презентация PowerPoint</vt:lpstr>
      <vt:lpstr>Презентация PowerPoint</vt:lpstr>
      <vt:lpstr>Диаграмма компонентов. Диаграмма развертывания</vt:lpstr>
      <vt:lpstr>Презентация PowerPoint</vt:lpstr>
      <vt:lpstr>Презентация PowerPoint</vt:lpstr>
      <vt:lpstr>Метрики оценки </vt:lpstr>
      <vt:lpstr>Подготовка экспериментальных  данных для проверки системы  рекомендаций и анализа контента</vt:lpstr>
      <vt:lpstr>Промежуточные данные проверки рекомендательной системы</vt:lpstr>
      <vt:lpstr>Результаты экспериментальной  проверки рекомендательной системы</vt:lpstr>
      <vt:lpstr>Результаты экспериментальной  проверки рекомендательной системы</vt:lpstr>
      <vt:lpstr>Результаты экспериментальной  проверки рекомендательной системы</vt:lpstr>
      <vt:lpstr>Тестирование итогового технического решения</vt:lpstr>
      <vt:lpstr>Презентация PowerPoint</vt:lpstr>
      <vt:lpstr>   </vt:lpstr>
    </vt:vector>
  </TitlesOfParts>
  <Company>ГОУ ВПО ЧГУ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изменений структуры административно-правового управления</dc:title>
  <dc:creator>Илона</dc:creator>
  <cp:lastModifiedBy>Викторов Даниил</cp:lastModifiedBy>
  <cp:revision>529</cp:revision>
  <cp:lastPrinted>2015-06-16T17:09:07Z</cp:lastPrinted>
  <dcterms:created xsi:type="dcterms:W3CDTF">2010-07-28T13:49:31Z</dcterms:created>
  <dcterms:modified xsi:type="dcterms:W3CDTF">2024-06-17T11:22:08Z</dcterms:modified>
</cp:coreProperties>
</file>