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60" r:id="rId2"/>
    <p:sldId id="261" r:id="rId3"/>
    <p:sldId id="268" r:id="rId4"/>
    <p:sldId id="267" r:id="rId5"/>
    <p:sldId id="301" r:id="rId6"/>
    <p:sldId id="303" r:id="rId7"/>
    <p:sldId id="307" r:id="rId8"/>
    <p:sldId id="312" r:id="rId9"/>
    <p:sldId id="318" r:id="rId10"/>
    <p:sldId id="319" r:id="rId11"/>
    <p:sldId id="306" r:id="rId12"/>
    <p:sldId id="269" r:id="rId13"/>
    <p:sldId id="314" r:id="rId14"/>
    <p:sldId id="320" r:id="rId15"/>
    <p:sldId id="321" r:id="rId16"/>
    <p:sldId id="308" r:id="rId17"/>
    <p:sldId id="328" r:id="rId18"/>
    <p:sldId id="315" r:id="rId19"/>
    <p:sldId id="322" r:id="rId20"/>
    <p:sldId id="323" r:id="rId21"/>
    <p:sldId id="310" r:id="rId22"/>
    <p:sldId id="309" r:id="rId23"/>
    <p:sldId id="316" r:id="rId24"/>
    <p:sldId id="324" r:id="rId25"/>
    <p:sldId id="304" r:id="rId26"/>
    <p:sldId id="311" r:id="rId27"/>
    <p:sldId id="317" r:id="rId28"/>
    <p:sldId id="326" r:id="rId29"/>
    <p:sldId id="327" r:id="rId30"/>
    <p:sldId id="271" r:id="rId31"/>
    <p:sldId id="272" r:id="rId32"/>
    <p:sldId id="329" r:id="rId33"/>
    <p:sldId id="273" r:id="rId34"/>
    <p:sldId id="334" r:id="rId35"/>
    <p:sldId id="341" r:id="rId36"/>
    <p:sldId id="340" r:id="rId37"/>
    <p:sldId id="339" r:id="rId38"/>
    <p:sldId id="338" r:id="rId39"/>
    <p:sldId id="331" r:id="rId40"/>
    <p:sldId id="332" r:id="rId41"/>
    <p:sldId id="342" r:id="rId42"/>
    <p:sldId id="335" r:id="rId43"/>
    <p:sldId id="336" r:id="rId44"/>
    <p:sldId id="285" r:id="rId45"/>
    <p:sldId id="337" r:id="rId46"/>
    <p:sldId id="287" r:id="rId47"/>
    <p:sldId id="302" r:id="rId48"/>
    <p:sldId id="289" r:id="rId49"/>
    <p:sldId id="264" r:id="rId50"/>
  </p:sldIdLst>
  <p:sldSz cx="9906000" cy="6858000" type="A4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7FD7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1416" y="15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404DC86-C4A2-4431-8DD6-9FF2008DD9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46014C-8717-4E76-BDBA-40FAB324FC7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2FF432C-B3EA-4F28-947F-98A525B31E33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D6AA4584-1940-490E-9610-71FAA666B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9ECC1585-4E36-434F-B6EA-01218DD4F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2D4034-610A-4777-AE33-593460945F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4C8FD7-7324-4708-A9AA-DD998E42C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18EA2591-21A1-457D-82CA-1EAE353C8160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6" descr="ЧГУ_0000.jpg">
            <a:extLst>
              <a:ext uri="{FF2B5EF4-FFF2-40B4-BE49-F238E27FC236}">
                <a16:creationId xmlns:a16="http://schemas.microsoft.com/office/drawing/2014/main" id="{07455E69-7029-97AA-4AB0-4B5FE400C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84"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5355FF28-9E2F-8B91-ABAB-A753F733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79A40-5902-4BC4-BC82-4004F1F7A14D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52A6100F-3FCB-DE19-64EF-FEC11FDE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4FBDD548-F330-6532-0FB0-BE147EE9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412FF-87E2-446B-8832-E3D727E43A5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9122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6" descr="ЧГУ_0001.jpg">
            <a:extLst>
              <a:ext uri="{FF2B5EF4-FFF2-40B4-BE49-F238E27FC236}">
                <a16:creationId xmlns:a16="http://schemas.microsoft.com/office/drawing/2014/main" id="{0C449952-9801-F3FB-22DD-D66701556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4"/>
          <a:stretch>
            <a:fillRect/>
          </a:stretch>
        </p:blipFill>
        <p:spPr bwMode="auto">
          <a:xfrm>
            <a:off x="-14288" y="0"/>
            <a:ext cx="99202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02"/>
            <a:ext cx="8915400" cy="560406"/>
          </a:xfrm>
        </p:spPr>
        <p:txBody>
          <a:bodyPr>
            <a:normAutofit/>
          </a:bodyPr>
          <a:lstStyle>
            <a:lvl1pPr algn="r">
              <a:defRPr sz="2800" b="1">
                <a:solidFill>
                  <a:srgbClr val="C0000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9530" y="1285860"/>
            <a:ext cx="9101170" cy="484030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n-lt"/>
                <a:cs typeface="Arial" pitchFamily="34" charset="0"/>
              </a:defRPr>
            </a:lvl1pPr>
            <a:lvl2pPr marL="0" indent="0">
              <a:buNone/>
              <a:defRPr sz="2400">
                <a:latin typeface="Arial" pitchFamily="34" charset="0"/>
                <a:cs typeface="Arial" pitchFamily="34" charset="0"/>
              </a:defRPr>
            </a:lvl2pPr>
            <a:lvl3pPr marL="0" indent="358775">
              <a:defRPr sz="2400">
                <a:latin typeface="Arial" pitchFamily="34" charset="0"/>
                <a:cs typeface="Arial" pitchFamily="34" charset="0"/>
              </a:defRPr>
            </a:lvl3pPr>
            <a:lvl4pPr marL="0" indent="358775">
              <a:defRPr sz="2400">
                <a:latin typeface="Arial" pitchFamily="34" charset="0"/>
                <a:cs typeface="Arial" pitchFamily="34" charset="0"/>
              </a:defRPr>
            </a:lvl4pPr>
            <a:lvl5pPr marL="0" indent="358775">
              <a:defRPr sz="24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0"/>
            <a:endParaRPr lang="ru-RU"/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431314D-6C8C-04C8-6211-D6F271D3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636C6-0135-4EC9-8795-BA938F1B772F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6F97EB0-AC77-19DA-5B3F-8AFFD181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E657F9A-787B-2142-6F7B-1DD8CB7C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D27B3B33-1B76-4B65-A667-FB4FF365265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1163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F5651D-1770-211D-71A1-F91FD1B1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ACB49-F428-470A-8D4D-033CD78A4992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CDDDE6-1EA0-979A-E06D-0C2DBE80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4D8FD-D95C-38D4-B34F-2AFCEE64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7637B-AF43-4AE5-94E5-C9623CD9B94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4975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A7116E4B-DED3-F8E8-3E16-FBF5C5AB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BDBB5-FE16-40BB-8709-C1E123E64CDA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7AE4BAD4-CD16-0FC7-6953-B30689363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474CC978-1732-655F-68A1-B1D5CD0E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75026B-D562-46E3-A0AE-7617142E07E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2546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609A7224-DCC0-AEE4-7C71-5D9C9613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6CBF7-6A94-488F-8E1B-FC4959336AA2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265D3DAF-0EE2-9768-60DD-691F474F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FEEF3173-FBCA-B0F1-E3E6-CC065133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C6E11-962F-4542-B8C8-93F410DEEF2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2785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B03A2CF7-2904-A7CA-7E1C-16AFD5C1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F15F0-0892-4B4D-A41F-BFCB32A3FE49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EC3F9E28-DDF1-F76C-24CC-84AD6A8D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B509D6D-8727-B76E-6919-B0B94D8B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817251-3B7E-4258-ABC1-85DBEFA1A4E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6937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AD520167-6C8E-DAC9-E30F-E98FF26B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1DD02B-D054-4CE5-8AC8-63CCAB68CAA4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1D5E7CE5-BCB7-8689-2870-7686334B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DF499D9-AA56-CAF9-F14A-0E79997E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5BA4F-516E-4BB5-8B6E-E4497E5BCC4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7364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DF39C08A-8380-4DDE-22AD-5819AFADE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91F53-31AE-4B29-9007-B48574C8C44E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B2DF7C-A285-20B1-4C1A-8C5A707C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B00EE41-184C-B7ED-B702-29DBAC21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5B361B-5678-4622-B0DE-4E6F0980D5A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9242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4F5D45C-CB42-E9E6-ACC0-956B38BC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DAF60-0303-4442-A185-239B93C17C03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CC47766-6457-7CB8-ED5E-CEFA4C7C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6F19DE8-F004-9F6E-37CE-118B3A50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B01EE4-A0D7-4C44-9F7F-16730279A3A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1920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113611-2C15-7273-DDED-7BF29EF1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82310-E231-4020-ABF0-71E5F6BE1ABF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AC681B-00B0-7A9E-6B79-9F8C4EE9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5F56BA-544C-F21D-5753-D4FD48AF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B4903-11CA-432B-ABA6-D8473A72CF1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543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B85966-3E38-4545-F1D6-CE080C7CE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FCDD0-868E-4BBC-8AB0-C8E1DFBE5CEE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912DDE-B03A-5547-2E78-522E36A8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D40ACF-F076-0BA6-DFFD-F98388CF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52AEF-15B9-4878-A83D-DFDCA54BB79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1858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0AD4013C-178D-6378-0FC8-E47E6593FC3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5C0AF737-D0AE-07BF-7728-5AAFFC1A53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DE7000-6670-4C2A-ACC7-B65237C32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C5AFA70-90CE-4E18-B9CF-8CD91FC6117D}" type="datetimeFigureOut">
              <a:rPr lang="ru-RU"/>
              <a:pPr>
                <a:defRPr/>
              </a:pPr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B3F619-1E2A-42A8-BD26-A52BDD145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B44D94-8499-4FA8-AFDD-B7010E8A8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352E122B-9A0A-4DE3-A4B8-D9DB92794CD0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EDF5C94-3B6F-4D7B-82FF-515C8363DBC5}"/>
              </a:ext>
            </a:extLst>
          </p:cNvPr>
          <p:cNvSpPr txBox="1">
            <a:spLocks/>
          </p:cNvSpPr>
          <p:nvPr/>
        </p:nvSpPr>
        <p:spPr bwMode="auto">
          <a:xfrm>
            <a:off x="876527" y="1522639"/>
            <a:ext cx="8313737" cy="158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>
            <a:normAutofit fontScale="97500"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C00000"/>
                </a:solidFill>
                <a:latin typeface="+mn-lt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игры-симулятора по отработке приёмов отказов от различных зависимостей среди школьников</a:t>
            </a:r>
            <a:endParaRPr lang="ru-RU" b="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123" name="TextBox 2">
            <a:extLst>
              <a:ext uri="{FF2B5EF4-FFF2-40B4-BE49-F238E27FC236}">
                <a16:creationId xmlns:a16="http://schemas.microsoft.com/office/drawing/2014/main" id="{2D65BC3C-5F45-0CA9-3658-37B67A9E7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426506"/>
            <a:ext cx="9626147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pPr algn="r" eaLnBrk="1" hangingPunct="1">
              <a:spcBef>
                <a:spcPct val="0"/>
              </a:spcBef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 гр. 1ПИб-02-1оп-22</a:t>
            </a:r>
            <a:b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Белоус Глеб Петрович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– Сценарий 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“</a:t>
            </a:r>
            <a:r>
              <a:rPr lang="ru-RU" alt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Слово сильнее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”</a:t>
            </a:r>
            <a:endParaRPr lang="ru-RU" altLang="ru-RU" sz="1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r">
              <a:spcBef>
                <a:spcPct val="0"/>
              </a:spcBef>
              <a:buNone/>
            </a:pPr>
            <a: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Костылев Иван Владимирович – Сценарий 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“</a:t>
            </a:r>
            <a:r>
              <a:rPr lang="ru-RU" alt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Секрет, которого не должно быть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”</a:t>
            </a:r>
            <a:endParaRPr lang="ru-RU" altLang="ru-RU" sz="1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r">
              <a:spcBef>
                <a:spcPct val="0"/>
              </a:spcBef>
              <a:buNone/>
            </a:pPr>
            <a: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Остапенко Степан Ярославович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– Сценарий 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“</a:t>
            </a:r>
            <a:r>
              <a:rPr lang="ru-RU" alt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Выключаю чат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”</a:t>
            </a:r>
            <a:b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Новиков Игорь Станиславович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– Сценарий 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“</a:t>
            </a:r>
            <a:r>
              <a:rPr lang="ru-RU" alt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Решай с умом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”</a:t>
            </a:r>
            <a:endParaRPr lang="ru-RU" altLang="ru-RU" sz="1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r">
              <a:spcBef>
                <a:spcPct val="0"/>
              </a:spcBef>
              <a:buNone/>
            </a:pPr>
            <a: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Харламов Денис Алексеевич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– Сценарий 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“</a:t>
            </a:r>
            <a:r>
              <a:rPr lang="ru-RU" altLang="ru-RU" sz="1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Не бойся быть другим</a:t>
            </a:r>
            <a:r>
              <a:rPr lang="en-US" alt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”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endParaRPr lang="ru-RU" altLang="ru-RU" sz="1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д.т.н., профессор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Ершов Евгений Валентинович</a:t>
            </a:r>
          </a:p>
        </p:txBody>
      </p:sp>
      <p:sp>
        <p:nvSpPr>
          <p:cNvPr id="5124" name="TextBox 1">
            <a:extLst>
              <a:ext uri="{FF2B5EF4-FFF2-40B4-BE49-F238E27FC236}">
                <a16:creationId xmlns:a16="http://schemas.microsoft.com/office/drawing/2014/main" id="{085CABBC-5216-22A1-DE6C-D96FBBCF1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2706" y="6237312"/>
            <a:ext cx="21605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Череповец,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4DDA2-E070-42AC-B99F-268EB9B4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57188"/>
            <a:ext cx="8915400" cy="560387"/>
          </a:xfrm>
        </p:spPr>
        <p:txBody>
          <a:bodyPr/>
          <a:lstStyle/>
          <a:p>
            <a:pPr eaLnBrk="1" hangingPunct="1">
              <a:defRPr/>
            </a:pPr>
            <a:r>
              <a:rPr lang="ru-RU"/>
              <a:t>Постановка задачи</a:t>
            </a:r>
          </a:p>
        </p:txBody>
      </p:sp>
      <p:sp>
        <p:nvSpPr>
          <p:cNvPr id="6147" name="Содержимое 2">
            <a:extLst>
              <a:ext uri="{FF2B5EF4-FFF2-40B4-BE49-F238E27FC236}">
                <a16:creationId xmlns:a16="http://schemas.microsoft.com/office/drawing/2014/main" id="{3BFA3A1D-B9BD-4534-BD02-0167D3DA3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1142252"/>
            <a:ext cx="9101137" cy="5275409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just">
              <a:defRPr/>
            </a:pPr>
            <a:r>
              <a:rPr lang="ru-RU" sz="2000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Заказчиком (ИПЦ «Зеленая планета ФосАгро») было выдано следующее задание: Разработать программную реализацию игры-симулятора для отработки приемов отказа от наиболее распространенных видов зависимостей (в т.ч. употребления ПАВ) у детей младшего и среднего школьного возраста.</a:t>
            </a:r>
            <a:endParaRPr lang="ru-RU" dirty="0">
              <a:ea typeface="Calibri"/>
            </a:endParaRPr>
          </a:p>
          <a:p>
            <a:pPr algn="just">
              <a:spcBef>
                <a:spcPts val="20"/>
              </a:spcBef>
              <a:defRPr/>
            </a:pPr>
            <a:r>
              <a:rPr lang="ru-RU" sz="2000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Цели:</a:t>
            </a:r>
            <a:endParaRPr lang="ru-RU" dirty="0"/>
          </a:p>
          <a:p>
            <a:pPr marL="342900" indent="-342900" algn="just">
              <a:spcBef>
                <a:spcPts val="20"/>
              </a:spcBef>
              <a:buChar char="•"/>
              <a:defRPr/>
            </a:pPr>
            <a:r>
              <a:rPr lang="ru-RU" sz="2000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Программная реализация игры-симулятора для формирования навыков социальной безопасности и поведения.</a:t>
            </a:r>
            <a:endParaRPr lang="ru-RU" dirty="0">
              <a:ea typeface="Calibri"/>
            </a:endParaRPr>
          </a:p>
          <a:p>
            <a:pPr algn="just">
              <a:spcBef>
                <a:spcPts val="20"/>
              </a:spcBef>
              <a:defRPr/>
            </a:pPr>
            <a:r>
              <a:rPr lang="ru-RU" sz="2000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Задачи:</a:t>
            </a:r>
            <a:endParaRPr lang="ru-RU" dirty="0">
              <a:ea typeface="Calibri"/>
            </a:endParaRPr>
          </a:p>
          <a:p>
            <a:pPr marL="342900" indent="-342900" algn="just">
              <a:spcBef>
                <a:spcPts val="20"/>
              </a:spcBef>
              <a:buChar char="•"/>
              <a:defRPr/>
            </a:pPr>
            <a:r>
              <a:rPr lang="ru-RU" sz="2000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Провести анализ предметной области (психологические аспекты зависимостей, методики отказа).</a:t>
            </a:r>
            <a:endParaRPr lang="ru-RU" dirty="0">
              <a:ea typeface="Calibri"/>
            </a:endParaRPr>
          </a:p>
          <a:p>
            <a:pPr marL="342900" indent="-342900" algn="just">
              <a:spcBef>
                <a:spcPts val="20"/>
              </a:spcBef>
              <a:buChar char="•"/>
              <a:defRPr/>
            </a:pPr>
            <a:r>
              <a:rPr lang="ru-RU" sz="2000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Провести сравнительный анализ существующих интерактивно-познавательных решений и аналогов.</a:t>
            </a:r>
            <a:endParaRPr lang="ru-RU" dirty="0">
              <a:ea typeface="Calibri"/>
            </a:endParaRPr>
          </a:p>
          <a:p>
            <a:pPr marL="342900" indent="-342900" algn="just">
              <a:spcBef>
                <a:spcPts val="20"/>
              </a:spcBef>
              <a:buChar char="•"/>
              <a:defRPr/>
            </a:pPr>
            <a:r>
              <a:rPr lang="ru-RU" sz="2000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Выбрать технологии, среду разработки и инструменты для создания игры (IT-решение).</a:t>
            </a:r>
            <a:endParaRPr lang="ru-RU" dirty="0">
              <a:ea typeface="Calibri"/>
            </a:endParaRPr>
          </a:p>
          <a:p>
            <a:pPr marL="342900" indent="-342900" algn="just">
              <a:spcBef>
                <a:spcPts val="20"/>
              </a:spcBef>
              <a:buChar char="•"/>
              <a:defRPr/>
            </a:pPr>
            <a:r>
              <a:rPr lang="ru-RU" sz="2000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Реализовать прототип игры и провести тестирование (включая проверку времени прохождения 5–7 мин).</a:t>
            </a:r>
            <a:endParaRPr lang="ru-RU" dirty="0">
              <a:ea typeface="Calibri"/>
            </a:endParaRPr>
          </a:p>
          <a:p>
            <a:pPr algn="just">
              <a:defRPr/>
            </a:pPr>
            <a:endParaRPr lang="ru-RU" altLang="ru-RU" sz="2000" dirty="0">
              <a:latin typeface="Roboto"/>
              <a:ea typeface="Roboto"/>
            </a:endParaRPr>
          </a:p>
        </p:txBody>
      </p:sp>
      <p:sp>
        <p:nvSpPr>
          <p:cNvPr id="6148" name="TextBox 2">
            <a:extLst>
              <a:ext uri="{FF2B5EF4-FFF2-40B4-BE49-F238E27FC236}">
                <a16:creationId xmlns:a16="http://schemas.microsoft.com/office/drawing/2014/main" id="{D3E005C2-2BF4-5E57-8197-54E7FD77A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4522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3FECF-4EB5-412C-AFF6-A2E04950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/>
              <a:t>Аналоги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9AB6C79-E872-4ED3-BA93-92A30308F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544043"/>
              </p:ext>
            </p:extLst>
          </p:nvPr>
        </p:nvGraphicFramePr>
        <p:xfrm>
          <a:off x="277586" y="1237034"/>
          <a:ext cx="9354239" cy="468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623">
                  <a:extLst>
                    <a:ext uri="{9D8B030D-6E8A-4147-A177-3AD203B41FA5}">
                      <a16:colId xmlns:a16="http://schemas.microsoft.com/office/drawing/2014/main" val="4115590114"/>
                    </a:ext>
                  </a:extLst>
                </a:gridCol>
                <a:gridCol w="3744181">
                  <a:extLst>
                    <a:ext uri="{9D8B030D-6E8A-4147-A177-3AD203B41FA5}">
                      <a16:colId xmlns:a16="http://schemas.microsoft.com/office/drawing/2014/main" val="4097453379"/>
                    </a:ext>
                  </a:extLst>
                </a:gridCol>
                <a:gridCol w="3383435">
                  <a:extLst>
                    <a:ext uri="{9D8B030D-6E8A-4147-A177-3AD203B41FA5}">
                      <a16:colId xmlns:a16="http://schemas.microsoft.com/office/drawing/2014/main" val="1234898553"/>
                    </a:ext>
                  </a:extLst>
                </a:gridCol>
              </a:tblGrid>
              <a:tr h="56277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Наименование ПО</a:t>
                      </a:r>
                      <a:endParaRPr lang="ru-RU"/>
                    </a:p>
                    <a:p>
                      <a:pPr lvl="0" algn="ctr">
                        <a:buNone/>
                      </a:pPr>
                      <a:endParaRPr lang="ru-RU" sz="140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Описание</a:t>
                      </a:r>
                      <a:endParaRPr lang="ru-RU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Недостатки</a:t>
                      </a:r>
                      <a:endParaRPr lang="ru-RU"/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2030931438"/>
                  </a:ext>
                </a:extLst>
              </a:tr>
              <a:tr h="1046570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ru-RU" sz="18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Курс «</a:t>
                      </a:r>
                      <a:r>
                        <a:rPr lang="ru-RU" sz="1800" b="0" i="0" u="none" strike="noStrike" kern="1200" baseline="0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Антинаркотик</a:t>
                      </a:r>
                      <a:r>
                        <a:rPr lang="ru-RU" sz="18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» (РЭШ)</a:t>
                      </a:r>
                      <a:endParaRPr lang="ru-RU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ru-RU" sz="16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Модульные уроки с видео и тестами на государственной платформе «Российская электронная школа».</a:t>
                      </a:r>
                      <a:endParaRPr lang="ru-RU" sz="16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400" b="0" i="0" u="none" strike="noStrike" kern="1200" baseline="0" noProof="0">
                          <a:solidFill>
                            <a:srgbClr val="000000"/>
                          </a:solidFill>
                          <a:latin typeface="Calibri"/>
                        </a:rPr>
                        <a:t>• Формальный, академический подход.</a:t>
                      </a:r>
                    </a:p>
                    <a:p>
                      <a:pPr lvl="0">
                        <a:buNone/>
                      </a:pPr>
                      <a:r>
                        <a:rPr lang="ru-RU" sz="1400" b="0" i="0" u="none" strike="noStrike" kern="1200" baseline="0" noProof="0">
                          <a:solidFill>
                            <a:srgbClr val="000000"/>
                          </a:solidFill>
                          <a:latin typeface="Calibri"/>
                        </a:rPr>
                        <a:t>• Тренирует память, а не навыки поведения.</a:t>
                      </a:r>
                      <a:endParaRPr lang="ru-RU"/>
                    </a:p>
                    <a:p>
                      <a:pPr lvl="0">
                        <a:buNone/>
                      </a:pPr>
                      <a:r>
                        <a:rPr lang="ru-RU" sz="1400" b="0" i="0" u="none" strike="noStrike" kern="1200" baseline="0" noProof="0">
                          <a:solidFill>
                            <a:srgbClr val="000000"/>
                          </a:solidFill>
                          <a:latin typeface="Calibri"/>
                        </a:rPr>
                        <a:t>• Воспринимается подростками как навязанная обязанность.</a:t>
                      </a:r>
                      <a:endParaRPr lang="ru-RU"/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665558133"/>
                  </a:ext>
                </a:extLst>
              </a:tr>
              <a:tr h="117310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МП «Цифровой антинаркотический ликбез»</a:t>
                      </a:r>
                      <a:endParaRPr lang="ru-RU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ru-RU" sz="1600" b="0" i="0" u="none" strike="noStrike" kern="1200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Приложение-агрегатор статей и видеоматериалов от структур МВД.</a:t>
                      </a:r>
                      <a:endParaRPr lang="ru-RU" sz="16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• Односторонняя коммуникация (только информирование).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• Запретительно-запугивающая риторика.</a:t>
                      </a:r>
                      <a:endParaRPr lang="ru-RU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• Отсутствие интерактивности и симуляции.</a:t>
                      </a:r>
                      <a:endParaRPr lang="ru-RU" dirty="0"/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630936171"/>
                  </a:ext>
                </a:extLst>
              </a:tr>
              <a:tr h="179568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Онлайн-тренажёр «Стоп-игра»</a:t>
                      </a:r>
                      <a:endParaRPr lang="ru-RU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ru-RU" sz="16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Игровой веб-ресурс НКО для обучения отказу от вредных привычек.</a:t>
                      </a:r>
                      <a:endParaRPr lang="ru-RU" sz="16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 indent="0" algn="just">
                        <a:lnSpc>
                          <a:spcPct val="100000"/>
                        </a:lnSpc>
                        <a:buNone/>
                      </a:pPr>
                      <a:r>
                        <a:rPr lang="ru-RU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• Примитивная интерактивность и линейные сценарии.</a:t>
                      </a:r>
                      <a:endParaRPr lang="ru-RU" dirty="0"/>
                    </a:p>
                    <a:p>
                      <a:pPr lvl="0" indent="0" algn="just">
                        <a:lnSpc>
                          <a:spcPct val="100000"/>
                        </a:lnSpc>
                        <a:buNone/>
                      </a:pPr>
                      <a:r>
                        <a:rPr lang="ru-RU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• Иллюзорность выбора (все сводится к успеху или провалу).</a:t>
                      </a:r>
                      <a:endParaRPr lang="ru-RU" dirty="0"/>
                    </a:p>
                    <a:p>
                      <a:pPr lvl="0" indent="0" algn="just">
                        <a:lnSpc>
                          <a:spcPct val="100000"/>
                        </a:lnSpc>
                        <a:buNone/>
                      </a:pPr>
                      <a:r>
                        <a:rPr lang="ru-RU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• Не моделирует реальное социальное давление.</a:t>
                      </a:r>
                      <a:endParaRPr lang="ru-RU" dirty="0"/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609615147"/>
                  </a:ext>
                </a:extLst>
              </a:tr>
            </a:tbl>
          </a:graphicData>
        </a:graphic>
      </p:graphicFrame>
      <p:sp>
        <p:nvSpPr>
          <p:cNvPr id="7196" name="TextBox 6">
            <a:extLst>
              <a:ext uri="{FF2B5EF4-FFF2-40B4-BE49-F238E27FC236}">
                <a16:creationId xmlns:a16="http://schemas.microsoft.com/office/drawing/2014/main" id="{7790CC41-63EC-6BEB-3846-0386CFA35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6338"/>
            <a:ext cx="31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0504B-5C15-446A-803B-ECFF4C76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413" y="439738"/>
            <a:ext cx="6618287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Описание используемых средств разработки</a:t>
            </a:r>
          </a:p>
        </p:txBody>
      </p:sp>
      <p:sp>
        <p:nvSpPr>
          <p:cNvPr id="8201" name="TextBox 2">
            <a:extLst>
              <a:ext uri="{FF2B5EF4-FFF2-40B4-BE49-F238E27FC236}">
                <a16:creationId xmlns:a16="http://schemas.microsoft.com/office/drawing/2014/main" id="{6E7CF77F-33EF-4857-AA50-DA477867A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340768"/>
            <a:ext cx="892175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Arial"/>
                <a:cs typeface="Arial"/>
              </a:rPr>
              <a:t>Модель жизненного цикла: </a:t>
            </a:r>
            <a:r>
              <a:rPr lang="ru-RU" altLang="ru-RU" sz="2400" dirty="0" err="1">
                <a:latin typeface="Arial"/>
                <a:cs typeface="Arial"/>
              </a:rPr>
              <a:t>Scrum</a:t>
            </a:r>
            <a:endParaRPr lang="ru-RU" altLang="ru-RU" sz="2400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Arial"/>
                <a:cs typeface="Arial"/>
              </a:rPr>
              <a:t>Подход к разработке: объектно-ориентированный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Arial"/>
                <a:cs typeface="Arial"/>
              </a:rPr>
              <a:t>Методология проектирования:  UML</a:t>
            </a:r>
          </a:p>
          <a:p>
            <a:pPr>
              <a:spcBef>
                <a:spcPct val="0"/>
              </a:spcBef>
              <a:buNone/>
            </a:pPr>
            <a:r>
              <a:rPr lang="ru-RU" altLang="ru-RU" sz="2400" dirty="0">
                <a:latin typeface="Arial"/>
                <a:cs typeface="Arial"/>
              </a:rPr>
              <a:t>Среды разработки:  VS Code</a:t>
            </a:r>
            <a:endParaRPr lang="en-US" altLang="ru-RU" sz="2400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ru-RU" altLang="ru-RU" sz="2400" dirty="0">
                <a:latin typeface="Arial"/>
                <a:cs typeface="Arial"/>
              </a:rPr>
              <a:t>Язык программирования: </a:t>
            </a:r>
            <a:r>
              <a:rPr lang="en-US" altLang="ru-RU" sz="2400" dirty="0">
                <a:latin typeface="Arial"/>
                <a:cs typeface="Arial"/>
              </a:rPr>
              <a:t>Python, React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8202" name="TextBox 9">
            <a:extLst>
              <a:ext uri="{FF2B5EF4-FFF2-40B4-BE49-F238E27FC236}">
                <a16:creationId xmlns:a16="http://schemas.microsoft.com/office/drawing/2014/main" id="{339CA7FE-41AE-85C2-3ADA-4AE9DB266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4</a:t>
            </a:r>
          </a:p>
        </p:txBody>
      </p:sp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5279A6D5-555E-475F-91EB-759DC0687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56" y="5216701"/>
            <a:ext cx="4808984" cy="139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 descr="React Logo, Component, Framework, Library, Modern PNG">
            <a:extLst>
              <a:ext uri="{FF2B5EF4-FFF2-40B4-BE49-F238E27FC236}">
                <a16:creationId xmlns:a16="http://schemas.microsoft.com/office/drawing/2014/main" id="{D9875A3D-2A5C-CACC-680C-BCDAEF4FC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50" y="3349529"/>
            <a:ext cx="1653631" cy="1680437"/>
          </a:xfrm>
          <a:prstGeom prst="rect">
            <a:avLst/>
          </a:prstGeom>
        </p:spPr>
      </p:pic>
      <p:pic>
        <p:nvPicPr>
          <p:cNvPr id="8" name="Рисунок 7" descr="PostgreSQL - NamuWiki">
            <a:extLst>
              <a:ext uri="{FF2B5EF4-FFF2-40B4-BE49-F238E27FC236}">
                <a16:creationId xmlns:a16="http://schemas.microsoft.com/office/drawing/2014/main" id="{EB30DE07-2FBB-BBFD-EF61-1647E23DA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988" y="5347347"/>
            <a:ext cx="3388094" cy="1128284"/>
          </a:xfrm>
          <a:prstGeom prst="rect">
            <a:avLst/>
          </a:prstGeom>
        </p:spPr>
      </p:pic>
      <p:pic>
        <p:nvPicPr>
          <p:cNvPr id="10" name="Рисунок 9" descr="What Is FastAPI: The Future of Modern Web Development">
            <a:extLst>
              <a:ext uri="{FF2B5EF4-FFF2-40B4-BE49-F238E27FC236}">
                <a16:creationId xmlns:a16="http://schemas.microsoft.com/office/drawing/2014/main" id="{AF2EDB9A-4E67-5E6A-7499-3ACD48D01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836" y="3291827"/>
            <a:ext cx="3091029" cy="17431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2B1DC00-E06C-2CF3-3308-0EEF71A15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4920" y="3345440"/>
            <a:ext cx="1552575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3E1B8-48C2-4507-B1D6-EC30B4A3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cs typeface="Calibri"/>
              </a:rPr>
              <a:t>Математический аппарат</a:t>
            </a:r>
            <a:endParaRPr lang="ru-RU"/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B9FF90A4-12A5-C136-9A38-3B2A952AE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535E1F9-C002-7193-9F05-544179056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30" y="1206691"/>
            <a:ext cx="9101170" cy="557261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80000"/>
              </a:lnSpc>
              <a:spcBef>
                <a:spcPts val="20"/>
              </a:spcBef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Векторная оценка профиля риска</a:t>
            </a:r>
            <a:br>
              <a:rPr lang="ru-RU" sz="1800" dirty="0">
                <a:latin typeface="+mn-lt"/>
                <a:ea typeface="+mn-lt"/>
                <a:cs typeface="+mn-lt"/>
              </a:rPr>
            </a:br>
            <a:r>
              <a:rPr lang="ru-RU" sz="18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Задача первичной диагностики сводится к формированию вектора состояния пользователя P, где каждая компонента отражает степень предрасположенности к конкретному виду зависимости (из 5 категорий).</a:t>
            </a:r>
            <a:endParaRPr lang="ru-RU" dirty="0">
              <a:latin typeface="Calibri"/>
              <a:ea typeface="Calibri"/>
            </a:endParaRPr>
          </a:p>
          <a:p>
            <a:pPr algn="ctr"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P = {p₁, p₂, p₃, p₄, p₅}</a:t>
            </a:r>
            <a:endParaRPr lang="ru-RU" dirty="0">
              <a:ea typeface="Calibri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Значение каждой компоненты pₖ рассчитывается как сумма бинарных ответов пользователя (xᵢ ∈ {0,1}) на вопросы соответствующей категории Qₖ:</a:t>
            </a:r>
            <a:endParaRPr lang="ru-RU" dirty="0"/>
          </a:p>
          <a:p>
            <a:pPr algn="ctr"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pₖ = Σ xᵢ , где i ∈ Qₖ</a:t>
            </a:r>
            <a:endParaRPr lang="ru-RU" dirty="0">
              <a:ea typeface="Calibri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2. Алгоритм валидации данных (Шкала лжи)</a:t>
            </a:r>
            <a:br>
              <a:rPr lang="ru-RU" sz="1800" dirty="0">
                <a:ea typeface="+mn-lt"/>
                <a:cs typeface="+mn-lt"/>
              </a:rPr>
            </a:b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Для исключения недостоверных результатов используется аддитивный фильтр валидации. Рассчитывается индекс искренности L по контрольной группе вопросов (последние 5 вопросов </a:t>
            </a:r>
            <a:r>
              <a:rPr lang="ru-RU" sz="1800" dirty="0" err="1">
                <a:solidFill>
                  <a:srgbClr val="000000"/>
                </a:solidFill>
                <a:ea typeface="+mn-lt"/>
                <a:cs typeface="+mn-lt"/>
              </a:rPr>
              <a:t>Q_lie</a:t>
            </a: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):</a:t>
            </a:r>
            <a:endParaRPr lang="ru-RU" dirty="0"/>
          </a:p>
          <a:p>
            <a:pPr algn="ctr"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L = Σ xⱼ , где j ∈ </a:t>
            </a:r>
            <a:r>
              <a:rPr lang="ru-RU" sz="1800" dirty="0" err="1">
                <a:solidFill>
                  <a:srgbClr val="000000"/>
                </a:solidFill>
                <a:ea typeface="+mn-lt"/>
                <a:cs typeface="+mn-lt"/>
              </a:rPr>
              <a:t>Q_lie</a:t>
            </a:r>
            <a:endParaRPr lang="ru-RU" dirty="0">
              <a:ea typeface="Calibri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Пороговая фильтрация результатов:</a:t>
            </a:r>
            <a:endParaRPr lang="ru-RU" dirty="0"/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Если L &gt; </a:t>
            </a:r>
            <a:r>
              <a:rPr lang="ru-RU" sz="1800" dirty="0" err="1">
                <a:solidFill>
                  <a:srgbClr val="000000"/>
                </a:solidFill>
                <a:ea typeface="+mn-lt"/>
                <a:cs typeface="+mn-lt"/>
              </a:rPr>
              <a:t>L_threshold</a:t>
            </a: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 (критический порог), результаты аннулируются как недостоверные.</a:t>
            </a:r>
            <a:endParaRPr lang="ru-RU" dirty="0"/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Если L ≤ </a:t>
            </a:r>
            <a:r>
              <a:rPr lang="ru-RU" sz="1800" dirty="0" err="1">
                <a:solidFill>
                  <a:srgbClr val="000000"/>
                </a:solidFill>
                <a:ea typeface="+mn-lt"/>
                <a:cs typeface="+mn-lt"/>
              </a:rPr>
              <a:t>L_threshold</a:t>
            </a: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, система переходит к этапу классификации.</a:t>
            </a:r>
            <a:endParaRPr lang="ru-RU" dirty="0"/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3. Детерминированный выбор сценария</a:t>
            </a:r>
            <a:br>
              <a:rPr lang="ru-RU" sz="1800" dirty="0">
                <a:ea typeface="+mn-lt"/>
                <a:cs typeface="+mn-lt"/>
              </a:rPr>
            </a:b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Выбор обучающего контента (сценария S) осуществляется на основе функции максимизации риска. Система выбирает категорию с наибольшим весом в векторе P:</a:t>
            </a:r>
            <a:endParaRPr lang="ru-RU" dirty="0"/>
          </a:p>
          <a:p>
            <a:pPr algn="ctr">
              <a:lnSpc>
                <a:spcPct val="80000"/>
              </a:lnSpc>
              <a:spcBef>
                <a:spcPts val="20"/>
              </a:spcBef>
            </a:pPr>
            <a:r>
              <a:rPr lang="ru-RU" sz="1800" dirty="0" err="1">
                <a:solidFill>
                  <a:srgbClr val="000000"/>
                </a:solidFill>
                <a:ea typeface="+mn-lt"/>
                <a:cs typeface="+mn-lt"/>
              </a:rPr>
              <a:t>S_target</a:t>
            </a: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 = </a:t>
            </a:r>
            <a:r>
              <a:rPr lang="ru-RU" sz="1800" dirty="0" err="1">
                <a:solidFill>
                  <a:srgbClr val="000000"/>
                </a:solidFill>
                <a:ea typeface="+mn-lt"/>
                <a:cs typeface="+mn-lt"/>
              </a:rPr>
              <a:t>arg</a:t>
            </a: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sz="1800" dirty="0" err="1">
                <a:solidFill>
                  <a:srgbClr val="000000"/>
                </a:solidFill>
                <a:ea typeface="+mn-lt"/>
                <a:cs typeface="+mn-lt"/>
              </a:rPr>
              <a:t>max</a:t>
            </a: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 (pₖ)</a:t>
            </a:r>
            <a:endParaRPr lang="ru-RU" dirty="0">
              <a:ea typeface="Calibri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800" dirty="0">
                <a:solidFill>
                  <a:srgbClr val="000000"/>
                </a:solidFill>
                <a:ea typeface="+mn-lt"/>
                <a:cs typeface="+mn-lt"/>
              </a:rPr>
              <a:t>В случае равенства максимальных значений (pᵢ = pⱼ) выбор осуществляется согласно встроенному приоритету социальной опасности зависимости.</a:t>
            </a:r>
            <a:endParaRPr lang="ru-RU" dirty="0"/>
          </a:p>
          <a:p>
            <a:pPr>
              <a:lnSpc>
                <a:spcPct val="80000"/>
              </a:lnSpc>
              <a:spcBef>
                <a:spcPts val="20"/>
              </a:spcBef>
            </a:pPr>
            <a:endParaRPr lang="ru-RU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735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04252-7210-F30F-202B-03954F3E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cs typeface="Arial"/>
              </a:rPr>
              <a:t>Агрессивное виктимное поведение</a:t>
            </a:r>
            <a:endParaRPr lang="ru-RU">
              <a:ea typeface="Calibr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91015-AB0C-81DE-CD6D-474303057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30" y="1278637"/>
            <a:ext cx="9101170" cy="5139661"/>
          </a:xfrm>
        </p:spPr>
        <p:txBody>
          <a:bodyPr>
            <a:normAutofit/>
          </a:bodyPr>
          <a:lstStyle/>
          <a:p>
            <a:pPr algn="just">
              <a:spcBef>
                <a:spcPts val="20"/>
              </a:spcBef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Агрессивное </a:t>
            </a:r>
            <a:r>
              <a:rPr lang="ru-RU" sz="2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виктимное</a:t>
            </a: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поведение – это провокация опасных ситуаций для маскировки внутренней неуверенности и потребности в признании. Подростки ведут себя грубо и нарушают правила, стремясь к конфликтам и риску, чтобы получить эмоциональную разрядку или внимание.</a:t>
            </a:r>
          </a:p>
          <a:p>
            <a:pPr algn="just">
              <a:spcBef>
                <a:spcPts val="20"/>
              </a:spcBef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spcBef>
                <a:spcPts val="20"/>
              </a:spcBef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профилактике зависимостей эта группа особенно уязвима: они могут начать употреблять психоактивные вещества, видя в них символ «взрослости» и силы. Ключевым триггером становятся манипуляции сверстников (типа проверок «на слабо»), вынуждающие подростка соглашаться на опасные действия ради доказательства своего статуса в группе.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54A6508-8BC4-14EA-C324-82405CC3A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/>
                <a:cs typeface="Arial"/>
              </a:rPr>
              <a:t>6</a:t>
            </a: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21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EF70D-A571-A565-1AB7-499455E9A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Calibri"/>
                <a:cs typeface="Arial"/>
              </a:rPr>
              <a:t>Сценарий "Слово сильнее"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0EC85E-A15D-4744-BCB6-193A95B21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30" y="1285860"/>
            <a:ext cx="9101170" cy="5139661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Сюжет: Азот видит, как Бульдозер выгоняет малышей из песочницы. Задача игрока — вмешаться.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Ключевой выбор: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Правильный путь (</a:t>
            </a:r>
            <a:r>
              <a:rPr lang="ru-RU" sz="16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Ассертивность</a:t>
            </a: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): Ответить спокойно («Хочу, чтобы все играли спокойно»). Это приводит к мирному разрешению и игре с другими.</a:t>
            </a: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Ошибочный путь (Агрессия): Ответить угрозой («Сам получишь!»). Конфликт усугубляется, дети разбегаются, после чего игрок анализирует ситуацию с наставником.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Тренажёр «Разреши спор»: Мини-игра, где нужно выбирать мирные фразы («Давайте играть по очереди») и избегать провокационных.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Итог: Успешное прохождение закрепляет мысль: «Спокойствие = Сила». Контроль над эмоциями и умение договориться — признаки зрелости, агрессия — слабость. Игрок получает достижение «Мастер спокойствия».</a:t>
            </a:r>
            <a:endParaRPr lang="ru-RU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E22148-E361-60CC-1866-23B3414B1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/>
                <a:cs typeface="Arial"/>
              </a:rPr>
              <a:t>7</a:t>
            </a: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04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051AA-D431-F12B-552C-7801FD478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D3FF5-1A78-94B4-8194-DDB9B01A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Arial"/>
              </a:rPr>
              <a:t>Сценарий "Слово сильнее"</a:t>
            </a:r>
            <a:endParaRPr lang="ru-RU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2E2CA2C-38AD-7DD9-84A8-416AF0C01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8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12" name="Рисунок 11" descr="Изображение выглядит как текст, одежда, челове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1DFBDD-7A70-6D0C-9498-8D8977FB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23" y="1085534"/>
            <a:ext cx="7233717" cy="491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52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B83F-4471-D887-256C-0197FD86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6E9EF-F7EE-ADA2-44B2-495C1A517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Arial"/>
              </a:rPr>
              <a:t>Сценарий "Слово сильнее"</a:t>
            </a:r>
            <a:endParaRPr lang="ru-RU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23483D01-667E-343E-FE1B-EFF0EF99E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9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07AA9D-05C9-43CF-6E05-510751139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28" y="1320893"/>
            <a:ext cx="7677427" cy="420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8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C1DE8-94BE-DD7C-B635-476DFF69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83740-2315-C44C-C969-74B97C643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Arial"/>
              </a:rPr>
              <a:t>Сценарий "Слово сильнее"</a:t>
            </a:r>
            <a:endParaRPr lang="ru-RU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A1B428B-9943-CCB9-E412-142E5E3BF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10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7" name="Рисунок 6" descr="Изображение выглядит как текст, снимок экрана, Мультфильм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D25C5E-910F-A8DB-BD86-93247BE8B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63" y="1160403"/>
            <a:ext cx="8703439" cy="490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58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564388-1FB5-14F0-F338-D4CE3E1B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Зависимое и беспомощное поведение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43547E-D24C-7117-D659-09A70D83A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30" y="1285860"/>
            <a:ext cx="9101170" cy="4968953"/>
          </a:xfrm>
        </p:spPr>
        <p:txBody>
          <a:bodyPr>
            <a:normAutofit/>
          </a:bodyPr>
          <a:lstStyle/>
          <a:p>
            <a:pPr algn="just"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Зависимое и беспомощное поведение — это пассивность, неспособность к самостоятельным решениям и полная зависимость от мнения окружающих. Основные причины: неуверенность в себе, страх ответственности и «выученная беспомощность» — вера в то, что от действий подростка ничего не зависит.</a:t>
            </a:r>
          </a:p>
          <a:p>
            <a:pPr algn="just"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Поведение проявляется как высокая податливость влиянию группы и постоянный поиск одобрения. Подросток готов жертвовать своими интересами и безопасностью, лишь бы не быть отвергнутым. Он не умеет отстаивать границы, а разногласия с группой воспринимает как угрозу своему социальному существованию.</a:t>
            </a:r>
          </a:p>
          <a:p>
            <a:pPr algn="just"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Уязвимость к зависимостям здесь связана не с поиском острых ощущений, а со страхом «быть не как все». Подросток соглашается на употребление психоактивных веществ или опасные действия, чтобы не потерять связь с группой и её покровительство. Он становится лёгкой жертвой манипуляций, так как не может сказать «нет».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FA3C5A7-437D-7945-BCBD-FE482D256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240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60647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3E1B8-48C2-4507-B1D6-EC30B4A3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>
                <a:cs typeface="Calibri"/>
              </a:rPr>
              <a:t>Сценарий </a:t>
            </a:r>
            <a:r>
              <a:rPr lang="ru-RU" dirty="0">
                <a:ea typeface="Calibri"/>
                <a:cs typeface="Calibri"/>
              </a:rPr>
              <a:t>"</a:t>
            </a:r>
            <a:r>
              <a:rPr lang="ru-RU" dirty="0">
                <a:cs typeface="Calibri"/>
              </a:rPr>
              <a:t>Не бойся быть другим"</a:t>
            </a:r>
            <a:endParaRPr lang="ru-RU" b="0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8226D2-77AC-43C4-B42F-0917F6169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1107746"/>
            <a:ext cx="9258300" cy="551262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Сюжет: На уроке выбирают команды. Лидер Артём собирает вокруг себя почти всех. Азот должен решить, как поступить, чувствуя давление большинства и страх остаться в одиночестве.</a:t>
            </a:r>
          </a:p>
          <a:p>
            <a:pPr>
              <a:lnSpc>
                <a:spcPct val="80000"/>
              </a:lnSpc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Варианты:</a:t>
            </a:r>
          </a:p>
          <a:p>
            <a:pPr>
              <a:lnSpc>
                <a:spcPct val="80000"/>
              </a:lnSpc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Автономия (верный путь): Собрать свою команду. Показано, что главное — не победа, а собственный выбор и самоуважение.</a:t>
            </a: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Конформизм (идти за всеми): Присоединиться к лидеру. Герой теряет возможность влиять на игру и чувствует неудовлетворённость.</a:t>
            </a: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Избегание (ничего не делать): Уйти от решения. Это приводит к исключению и усиливает чувство беспомощности.</a:t>
            </a:r>
          </a:p>
          <a:p>
            <a:pPr>
              <a:lnSpc>
                <a:spcPct val="80000"/>
              </a:lnSpc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Тренажёр уверенности: Мини-игра, где нужно правильно ответить на манипуляции (типа «Ты с нами или против?»). Цель — научиться отстаивать своё мнение, показывая, что отличаться от других — это нормально.</a:t>
            </a:r>
          </a:p>
          <a:p>
            <a:pPr>
              <a:lnSpc>
                <a:spcPct val="80000"/>
              </a:lnSpc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Итог: Сценарий учит самостоятельности и смелости быть собой. Ключевой вывод: важно оставаться собой, даже если это значит идти против большинства. Игрок получает награду за умение принимать независимые решения.</a:t>
            </a:r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B9FF90A4-12A5-C136-9A38-3B2A952AE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12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32AF9-F8E4-8683-C926-752609156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D73FE-B62F-3703-32F8-6AD8FF26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Calibri"/>
                <a:cs typeface="Calibri"/>
              </a:rPr>
              <a:t>Сценарий "Не бойся быть другим"</a:t>
            </a:r>
            <a:endParaRPr lang="ru-RU" b="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5BF605-9DFB-A31A-61C3-CEC12D4B6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13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снимок экрана, Человеческое лицо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318380-70C8-59D6-D604-15FCEBE4C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58" y="1078682"/>
            <a:ext cx="8340250" cy="469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94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67EF8-84B8-D1FF-571A-DEBE7EBC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F60B-C780-A852-4B47-479DE45B3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Сценарий "Не бойся быть другим"</a:t>
            </a:r>
            <a:endParaRPr lang="ru-RU" b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E46D2C7-20E9-8491-CFED-34B3B5713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14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одежда, Человеческое лицо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0D2834-3DD4-DE6B-95AA-A5B66E07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9" y="1060484"/>
            <a:ext cx="8421967" cy="473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62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A2C6A-FABA-C30A-471C-736BDFD3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94CA5-D1CC-DDF4-0F68-A6376B2F6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Сценарий "Не бойся быть другим"</a:t>
            </a:r>
            <a:endParaRPr lang="ru-RU" b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E98F667-FF9B-9E76-6DA8-102C03004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15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снимок экрана, одежда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B962C5-B9D8-161E-702D-5CCDCD54A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9" y="1060485"/>
            <a:ext cx="8421967" cy="473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75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441AF5-5638-25BC-ADC1-648CE94C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Некритичное поведение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050FC4-EE5C-7C57-87C5-0DBC1CDB0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30" y="1097835"/>
            <a:ext cx="9101170" cy="562209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just"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Некритичное поведение — это социальная наивность, внушаемость и неспособность анализировать информацию. Подросток с таким типом мышления принимает слова и действия окружающих за чистую правду, не задаваясь вопросом об их истинных мотивах. Он живёт с иллюзией безопасности, недооценивая риски.</a:t>
            </a:r>
          </a:p>
          <a:p>
            <a:pPr algn="just"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поведении это проявляется как лёгкая </a:t>
            </a:r>
            <a:r>
              <a:rPr lang="ru-RU" sz="16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вовлекаемость</a:t>
            </a: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в сомнительные мероприятия, если они привлекательно преподнесены. Такой человек легко поддаётся влиянию моды, рекламы или мнения авторитетов, не имея внутреннего «фильтра», чтобы отличить правду от манипуляции. Он безоговорочно верит распространённым в молодёжной среде мифам.</a:t>
            </a:r>
          </a:p>
          <a:p>
            <a:pPr algn="just"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Уязвимость к зависимостям здесь связана с когнитивными искажениями и неосведомлённостью. Подросток может начать употреблять психоактивные вещества не из-за травмы или давления, а из любопытства и доверия к ложным установкам вроде «это безопасно, потому что все так делают». Главная опасность в том, что он не видит угрозы, считая, что полностью контролирует ситуацию, даже когда зависимость уже формируется.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EFE8A2F-87F9-DE13-8301-537146980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16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45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527E67-BFAE-0089-06D5-1A2E1029D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Calibri"/>
                <a:cs typeface="Calibri"/>
              </a:rPr>
              <a:t>Сценарий "Секрет, которого..."</a:t>
            </a:r>
            <a:endParaRPr lang="ru-RU" b="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BB71F0-00D8-6C64-20DE-1D1198635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Сюжет: Азота возле дома останавливает незнакомый взрослый, который дружелюбно предлагает пойти с ним за «сюрпризом». Задача — распознать скрытую угрозу в доверительной ситуации и сделать безопасный выбор.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Варианты выбора: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Осознанность (лучший выбор): «Извините, я вас не знаю. Я пойду домой». Это уверенный и спокойный отказ, который родители одобряют.</a:t>
            </a: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Обращение за помощью (верный путь): «Сейчас позвоню маме и спрошу». Действие демонстрирует важность советоваться со взрослыми в неясных ситуациях.</a:t>
            </a: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Интерес (рискованный путь): «А что за сюрприз?». Герой проявляет любопытство, но мини-игра сразу же обучает его видеть тревожные сигналы («Только никому не говори»), после чего он всё равно уходит, сделав правильный вывод.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Тренажёр «Проверка предложений»: Мини-игра, где нужно отличать опасные фразы незнакомцев («Приходи один», «Это между нами») от безопасных. Цель — развить критическое мышление и «внутренний фильтр» против манипуляций.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Итог: Сценарий учит доверять своей интуиции и правилам безопасности. Закрепляется мысль: Осторожность и умение сказать «нет» незнакомцу — это не трусость, а забота о себе. Игрок получает достижение за способность анализировать ситуацию и делать безопасный выбор.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42A90EC-BBD6-22E7-B740-9829AB711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17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023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ED54-111B-9700-2E2E-86366309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D6AFC-25FB-4274-ACB6-F00868FC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>
                <a:cs typeface="Calibri"/>
              </a:rPr>
              <a:t>Сценарий "Секрет, которого..."</a:t>
            </a:r>
            <a:endParaRPr lang="ru-RU" b="0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66360D9B-10E9-DA8B-0F20-BA49E3E04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18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одежда, челове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B6AC33-8432-1066-FF73-FB4C744BB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93" y="1178569"/>
            <a:ext cx="8013379" cy="450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685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F4AA-379E-D085-6362-801329276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E66DF-8D74-3DB8-ADAD-64CFE0EF9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>
                <a:cs typeface="Calibri"/>
              </a:rPr>
              <a:t>Сценарий "Секрет, которого..."</a:t>
            </a:r>
            <a:endParaRPr lang="ru-RU" b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C6E9832B-9F31-E91F-57E4-3DA89148A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19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4" name="Рисунок 3" descr="Изображение выглядит как одежда, текст, человек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6D1C18-9D15-1FD8-D61F-3C7326D8D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93" y="1251237"/>
            <a:ext cx="8013380" cy="450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17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25D75-2CDD-8E06-DC28-DCC0A953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AC799-016F-B386-4285-C85FAEF79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>
                <a:cs typeface="Calibri"/>
              </a:rPr>
              <a:t>Сценарий "Секрет, которого..."</a:t>
            </a:r>
            <a:endParaRPr lang="ru-RU" b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B1562EB0-9D04-4401-FC04-C820EB036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20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мультфильм, одежд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D575BB-75A3-0897-2A6D-D436496C5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49" y="1114985"/>
            <a:ext cx="9130186" cy="513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3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408B6-8631-2BF4-4FCA-88CA7AC43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Реализованная виктимность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EFDE0A-3674-B671-71ED-F29FB717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30" y="1285860"/>
            <a:ext cx="9101170" cy="5058018"/>
          </a:xfrm>
        </p:spPr>
        <p:txBody>
          <a:bodyPr>
            <a:normAutofit/>
          </a:bodyPr>
          <a:lstStyle/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Реализованная виктимность — это состояние, сформированное опытом жестокого обращения, травли или отвержения. Подросток принимает роль «жертвы», живя с чувством ущербности, невезучести и ожидая от мира только враждебности.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Поведение характеризуется социальной изоляцией, подавленностью и недоверием. Подросток избегает здорового общения, но может примыкать к маргинальным группам, где его статус «изгоя» становится нормой. Он часто не верит, что может что-то изменить.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Уязвимость к зависимостям здесь — это попытка «заглушить» душевную боль. Психоактивные вещества используются как бегство от реальности и способ справиться со стрессом. Иногда употребление становится «пропуском» в асоциальную среду, где подросток находит искажённое принятие, окончательно закрепляя свою изоляцию от нормального общества.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1CEBA71-001F-9C05-0DFA-066BD5A65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21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127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FA6C7-5341-F6C3-DC89-AE9F3A0E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Сценарий "Выключаю чат"</a:t>
            </a:r>
            <a:endParaRPr lang="ru-RU" b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A41469-B862-7682-FE6A-9404661FC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30" y="1095361"/>
            <a:ext cx="9101170" cy="553880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Сюжет: Азот видит в школьном чате унизительные сообщения в свой адрес, которые перерастают в открытую травлю. Задача — отреагировать на агрессию, не теряя самоуважения и не усугубляя конфликт.</a:t>
            </a:r>
          </a:p>
          <a:p>
            <a:pPr>
              <a:lnSpc>
                <a:spcPct val="80000"/>
              </a:lnSpc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Варианты выбора:</a:t>
            </a:r>
          </a:p>
          <a:p>
            <a:pPr>
              <a:lnSpc>
                <a:spcPct val="80000"/>
              </a:lnSpc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Уход с достоинством (оптимальный выбор): «Вы мне неприятны. Я выхожу из чата». Спокойный выход из токсичного пространства ведёт к поддержке от других.</a:t>
            </a: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Спокойствие (верный путь): «Мне не по себе… но я не хочу ссориться». Молчание как сила, которое приводит к неожиданной поддержке одноклассника.</a:t>
            </a: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Агрессия (ошибочный путь): «Сам ты бот!». Грубый ответ вызывает эскалацию травли и чувство беспомощности.</a:t>
            </a: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Эскалация (ошибочный путь): «Окей. Сейчас я покажу!». Попытка ответить тем же только усиливает издевательства и чувство одиночества.</a:t>
            </a:r>
          </a:p>
          <a:p>
            <a:pPr>
              <a:lnSpc>
                <a:spcPct val="80000"/>
              </a:lnSpc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Тренажёр «Как сказать — и остаться собой»: Мини-игра, где нужно выбрать фразы, отстаивающие личные границы без агрессии. Цель — научиться защищать себя конструктивно.</a:t>
            </a:r>
          </a:p>
          <a:p>
            <a:pPr>
              <a:lnSpc>
                <a:spcPct val="80000"/>
              </a:lnSpc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Итог: Сценарий учит управлять реакцией на травлю. Закрепляется мысль: Сила — в умении отказаться от участия в унизительной ситуации и сохранить самоуважение, а не в ответной агрессии или молчаливом страдании. Игрок получает достижение за способность выбирать себя, а не конфликт.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70D5701-E78C-499C-1A7B-A3695D057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22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306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AE14-C251-AED9-5E71-DDF56556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FF82B-12B9-9E40-4261-B8F1B9D1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Calibri"/>
                <a:cs typeface="Calibri"/>
              </a:rPr>
              <a:t>Сценарий "Выключаю чат"</a:t>
            </a:r>
            <a:endParaRPr lang="ru-RU" b="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3F158E6-F699-51B8-C565-43DD1F6F2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23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снимок экрана, Человеческое лицо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0E3F77-6DEC-2C2C-82D4-C8A27EC2B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16" y="1124069"/>
            <a:ext cx="8204053" cy="461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3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BE779-5C09-8712-18D3-27D93B06A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88CF2-571D-734F-C31A-FE3792341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Сценарий "Выключаю чат"</a:t>
            </a:r>
            <a:endParaRPr lang="ru-RU" b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292A8078-0871-C904-B40D-20B07D1B0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24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4" name="Рисунок 3" descr="Изображение выглядит как текст, мультфильм, Человеческое лицо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6B7537-5C63-D153-5DCD-A9742D23E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16" y="1124069"/>
            <a:ext cx="8204054" cy="461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8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363E7-C023-679F-CB28-8CF50245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Calibri"/>
                <a:cs typeface="Calibri"/>
              </a:rPr>
              <a:t>Саморазрушительное поведение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E819F9-9DFF-6A31-351F-AEAEF9A8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30" y="1285860"/>
            <a:ext cx="9101170" cy="5139661"/>
          </a:xfrm>
        </p:spPr>
        <p:txBody>
          <a:bodyPr>
            <a:normAutofit/>
          </a:bodyPr>
          <a:lstStyle/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Саморазрушительное поведение — это причинение вреда своему физическому или психическому здоровью. Оно возникает из-за чувства вины, подавленности, низкой самооценки и ощущения собственной ненужности.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Внешне это проявляется как пренебрежение безопасностью: отказ от лечения, поиск опасных ситуаций, экстремальные развлечения без подготовки. В отличие от демонстративного поведения, здесь риск — не способ привлечь внимание, а следствие безразличия к своей жизни.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При риске зависимостей такие подростки ищут способ «убежать» от реальности. Психоактивные вещества или игры становятся для них «эмоциональной анестезией», заглушающей душевную боль. Аргументы о вреде здоровья часто не работают — они могут воспринимать последствия как заслуженное наказание.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CA789CC-5A26-0B27-8681-F127775F7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25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846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424BC-020B-2570-72F5-B5D69C9C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Сценарий "Решай с умом"</a:t>
            </a:r>
            <a:endParaRPr lang="ru-RU" b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F2EA97-B504-3407-2667-B50669670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30" y="1087938"/>
            <a:ext cx="9101170" cy="5533031"/>
          </a:xfrm>
        </p:spPr>
        <p:txBody>
          <a:bodyPr>
            <a:normAutofit lnSpcReduction="10000"/>
          </a:bodyPr>
          <a:lstStyle/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Сюжет: Азота после школы друг предлагает рискованное «испытание на смелость» — залезть на крышу для фото. Задача — принять решение, преодолевая страх отвержения группой и внутренний голос самосохранения.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Варианты выбора: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Уверенный отказ (оптимальный выбор): «Я не полезу. Это опасно. Пошли лучше соберём трассу!». Твёрдое предложение безопасной альтернативы приводит к уважению со стороны друга.</a:t>
            </a: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Преодоление сомнения (верный путь): «Хм… Я не знаю». Герой колеблется, но вспоминает слова взрослых и отказывается, демонстрируя победу разума над страхом.</a:t>
            </a: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Подчинение давлению (ошибочный путь): «Конечно! Я докажу, что не слабак!». Согласие приводит к моделированию негативных последствий (испуг, стресс) и последующему осознанию ошибки с поддержкой родителей.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Тренажёр «Опасно или нет?»: Мини-игра, где нужно классифицировать активности на опасные (</a:t>
            </a:r>
            <a:r>
              <a:rPr lang="ru-RU" sz="16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руфинг</a:t>
            </a: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прыжки с высоты) и безопасные (постройка трасс, поход в парк). Цель — сформировать навык быстрой оценки рисков.</a:t>
            </a:r>
          </a:p>
          <a:p>
            <a:pPr>
              <a:spcBef>
                <a:spcPts val="20"/>
              </a:spcBef>
            </a:pPr>
            <a:endParaRPr lang="ru-RU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Итог: Сценарий переоценивает понятие смелости. Закрепляется мысль: «Быть смелым — это не рисковать жизнью ради одобрения, а умение говорить "нет" под давлением и выбирать безопасную альтернативу». Игрок получает достижение за разумное и ответственное поведение.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48505B6-C3BA-3603-88DA-A5EFCAF01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26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142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22A5B-93B7-0C56-CC20-AB2345E9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C8DC7-A59B-0D63-E4E8-FA337235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Сценарий "Решай с умом"</a:t>
            </a:r>
            <a:endParaRPr lang="ru-RU" b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E1BE52C-4CC1-8B7E-BA14-0874EC1AE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27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одежда, человек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64EDD45-8022-FB86-67FC-96D9689D6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86" y="1099359"/>
            <a:ext cx="8903194" cy="514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51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AE23-F6BF-5D5E-3E10-9DB22D6BB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80341-DB4D-42B6-5196-3C5060A8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Сценарий "Решай с умом"</a:t>
            </a:r>
            <a:endParaRPr lang="ru-RU" b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010C0F5-A097-3E8F-9602-8F16F97B7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28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4" name="Рисунок 3" descr="Изображение выглядит как текст, аниме, мультфильм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5908B6-BD49-ED6E-E8B1-69E42D9E7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67" y="1192707"/>
            <a:ext cx="8821034" cy="495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23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4645-92B0-3C09-9DA8-173B0EE8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4834A-2C77-9114-8811-6E1AD64FF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Calibri"/>
                <a:cs typeface="Calibri"/>
              </a:rPr>
              <a:t>Сценарий "Решай с умом"</a:t>
            </a:r>
            <a:endParaRPr lang="ru-RU" b="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B6F1AD6-203F-8A24-5492-41141F4F5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29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снимок экрана, Мультфильм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51CC87-CEF9-7096-9F76-265E4FD0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1" y="1260321"/>
            <a:ext cx="8558164" cy="485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38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FEA3E-92FD-460D-BCA9-FA577AB8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538" y="439738"/>
            <a:ext cx="6761162" cy="757237"/>
          </a:xfrm>
        </p:spPr>
        <p:txBody>
          <a:bodyPr/>
          <a:lstStyle/>
          <a:p>
            <a:pPr>
              <a:defRPr/>
            </a:pPr>
            <a:r>
              <a:rPr lang="ru-RU"/>
              <a:t>Диаграмма вариантов использования</a:t>
            </a:r>
          </a:p>
        </p:txBody>
      </p:sp>
      <p:sp>
        <p:nvSpPr>
          <p:cNvPr id="11268" name="TextBox 3">
            <a:extLst>
              <a:ext uri="{FF2B5EF4-FFF2-40B4-BE49-F238E27FC236}">
                <a16:creationId xmlns:a16="http://schemas.microsoft.com/office/drawing/2014/main" id="{68AB9B6E-E54C-7ACC-8755-D9BE7DEC3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30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47274B-8EB6-4120-A6E0-46335DC6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98" y="1252350"/>
            <a:ext cx="9053204" cy="494384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623E7-36C0-41D7-8F30-1D11D727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/>
              <a:t>Описание предметной области</a:t>
            </a:r>
          </a:p>
        </p:txBody>
      </p:sp>
      <p:sp>
        <p:nvSpPr>
          <p:cNvPr id="12292" name="TextBox 3">
            <a:extLst>
              <a:ext uri="{FF2B5EF4-FFF2-40B4-BE49-F238E27FC236}">
                <a16:creationId xmlns:a16="http://schemas.microsoft.com/office/drawing/2014/main" id="{D6047D56-1770-ED30-CAF8-E087A48FB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31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снимок экрана, Прямоугольник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3FE817-DA26-6736-2FD7-FC03C54CE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71" y="1103082"/>
            <a:ext cx="9268811" cy="5073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FEA3E-92FD-460D-BCA9-FA577AB8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949" y="354013"/>
            <a:ext cx="6761162" cy="7572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Диаграмма деятельности</a:t>
            </a:r>
          </a:p>
        </p:txBody>
      </p:sp>
      <p:sp>
        <p:nvSpPr>
          <p:cNvPr id="11268" name="TextBox 3">
            <a:extLst>
              <a:ext uri="{FF2B5EF4-FFF2-40B4-BE49-F238E27FC236}">
                <a16:creationId xmlns:a16="http://schemas.microsoft.com/office/drawing/2014/main" id="{68AB9B6E-E54C-7ACC-8755-D9BE7DEC3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32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2C68B96-503F-263E-6FDD-D3D483ACD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123" y="927919"/>
            <a:ext cx="5263753" cy="576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1948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2E7A7-7405-4EEE-B2F4-3008FF7A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Диаграмма пакетов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9D49466-8FF3-01B4-48D2-FCDD956FC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3" y="1989138"/>
            <a:ext cx="12819062" cy="4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55D46FD6-5CE8-96AD-6F07-5ABFA8BB3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33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4D2BBB-8805-462A-80ED-767E2E6B0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8" y="1295524"/>
            <a:ext cx="8941682" cy="469314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2E7A7-7405-4EEE-B2F4-3008FF7A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306388"/>
            <a:ext cx="8915400" cy="72231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Детальная диаграмма классов пакета</a:t>
            </a:r>
            <a:br>
              <a:rPr lang="ru-RU" dirty="0"/>
            </a:br>
            <a:r>
              <a:rPr lang="en-US" dirty="0"/>
              <a:t>Scenario</a:t>
            </a:r>
            <a:r>
              <a:rPr lang="ru-RU" dirty="0"/>
              <a:t> </a:t>
            </a:r>
            <a:r>
              <a:rPr lang="en-US" dirty="0"/>
              <a:t>“</a:t>
            </a:r>
            <a:r>
              <a:rPr lang="ru-RU" dirty="0">
                <a:ea typeface="Calibri"/>
                <a:cs typeface="Arial"/>
              </a:rPr>
              <a:t>Слово сильнее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55D46FD6-5CE8-96AD-6F07-5ABFA8BB3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34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FC01B04-140F-8CB7-9CF7-FF1E7F118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091643"/>
            <a:ext cx="6374278" cy="539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435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2835-9F2B-D339-7C69-999B85C97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C9712-4662-C29C-A00F-AD76CC0C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306388"/>
            <a:ext cx="8915400" cy="72231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Детальная диаграмма классов пакета</a:t>
            </a:r>
            <a:br>
              <a:rPr lang="ru-RU" dirty="0"/>
            </a:br>
            <a:r>
              <a:rPr lang="en-US" dirty="0"/>
              <a:t>Scenario</a:t>
            </a:r>
            <a:r>
              <a:rPr lang="ru-RU" dirty="0"/>
              <a:t> </a:t>
            </a:r>
            <a:r>
              <a:rPr lang="en-US" dirty="0"/>
              <a:t>“</a:t>
            </a:r>
            <a:r>
              <a:rPr lang="ru-RU" dirty="0">
                <a:cs typeface="Calibri"/>
              </a:rPr>
              <a:t>Не бойся быть другим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C4AEE6CA-AAA7-1CE6-8057-E7208F80E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35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0FD4D65-47C4-BE47-4D28-2E53591E3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024" y="1080017"/>
            <a:ext cx="6017073" cy="535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9CE120-446F-5542-AC91-F73DC4102D4B}"/>
              </a:ext>
            </a:extLst>
          </p:cNvPr>
          <p:cNvSpPr/>
          <p:nvPr/>
        </p:nvSpPr>
        <p:spPr>
          <a:xfrm>
            <a:off x="4797425" y="2778125"/>
            <a:ext cx="663575" cy="146050"/>
          </a:xfrm>
          <a:prstGeom prst="rect">
            <a:avLst/>
          </a:prstGeom>
          <a:solidFill>
            <a:srgbClr val="327F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1FA229-382E-FDAE-3D0D-909EE8C9A4A7}"/>
              </a:ext>
            </a:extLst>
          </p:cNvPr>
          <p:cNvSpPr txBox="1"/>
          <p:nvPr/>
        </p:nvSpPr>
        <p:spPr>
          <a:xfrm>
            <a:off x="4874800" y="2728039"/>
            <a:ext cx="5116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Scene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300649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2188F-D970-DB85-1B08-A6B8DD57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BB8F6-D579-30BB-CCAE-A1937785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306388"/>
            <a:ext cx="8915400" cy="72231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Детальная диаграмма классов пакета</a:t>
            </a:r>
            <a:br>
              <a:rPr lang="ru-RU" dirty="0"/>
            </a:br>
            <a:r>
              <a:rPr lang="en-US" dirty="0"/>
              <a:t>Scenario</a:t>
            </a:r>
            <a:r>
              <a:rPr lang="ru-RU" dirty="0"/>
              <a:t> </a:t>
            </a:r>
            <a:r>
              <a:rPr lang="en-US" dirty="0"/>
              <a:t>“</a:t>
            </a:r>
            <a:r>
              <a:rPr lang="ru-RU" dirty="0">
                <a:ea typeface="Calibri"/>
                <a:cs typeface="Calibri"/>
              </a:rPr>
              <a:t>Секрет, которого …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68803946-8047-01F3-1569-5D264C96F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36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B9BA51-13D4-07C6-5A8C-549346460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682" y="1169987"/>
            <a:ext cx="6372718" cy="494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10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2B1A-EEB4-0349-25CA-47151719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4FC52-4DD8-FF49-A960-5EF19EB5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306388"/>
            <a:ext cx="8915400" cy="72231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Детальная диаграмма классов пакета</a:t>
            </a:r>
            <a:br>
              <a:rPr lang="ru-RU" dirty="0"/>
            </a:br>
            <a:r>
              <a:rPr lang="en-US" dirty="0"/>
              <a:t>Scenario</a:t>
            </a:r>
            <a:r>
              <a:rPr lang="ru-RU" dirty="0"/>
              <a:t> </a:t>
            </a:r>
            <a:r>
              <a:rPr lang="en-US" dirty="0"/>
              <a:t>“</a:t>
            </a:r>
            <a:r>
              <a:rPr lang="ru-RU" dirty="0">
                <a:ea typeface="Calibri"/>
                <a:cs typeface="Calibri"/>
              </a:rPr>
              <a:t>Выключаю чат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4ECEC7D1-6BD9-63C4-2838-86318199B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37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B3191D3-AA58-E546-36F9-15805E4FD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109" y="1094621"/>
            <a:ext cx="4777782" cy="5341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34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C6A82-0492-74B2-2796-30C158CB0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1AE05-399D-AE9D-10F7-CCAAF654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306388"/>
            <a:ext cx="8915400" cy="72231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Детальная диаграмма классов пакета</a:t>
            </a:r>
            <a:br>
              <a:rPr lang="ru-RU" dirty="0"/>
            </a:br>
            <a:r>
              <a:rPr lang="en-US" dirty="0"/>
              <a:t>Scenario</a:t>
            </a:r>
            <a:r>
              <a:rPr lang="ru-RU" dirty="0"/>
              <a:t> </a:t>
            </a:r>
            <a:r>
              <a:rPr lang="en-US" dirty="0"/>
              <a:t>“</a:t>
            </a:r>
            <a:r>
              <a:rPr lang="ru-RU" dirty="0">
                <a:ea typeface="Calibri"/>
                <a:cs typeface="Calibri"/>
              </a:rPr>
              <a:t>Решай с умом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E5EDD234-B050-465F-F2DF-63DACF1C0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38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9A0AC2-820F-1DAF-450F-D0895156E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1203359"/>
            <a:ext cx="9286875" cy="5048216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D085CB2-216A-C5AB-F5D5-872F0AAFF611}"/>
              </a:ext>
            </a:extLst>
          </p:cNvPr>
          <p:cNvCxnSpPr>
            <a:cxnSpLocks/>
          </p:cNvCxnSpPr>
          <p:nvPr/>
        </p:nvCxnSpPr>
        <p:spPr>
          <a:xfrm>
            <a:off x="6281928" y="1207008"/>
            <a:ext cx="9411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5639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2E7A7-7405-4EEE-B2F4-3008FF7A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94915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Диаграмма последовательностей действий</a:t>
            </a:r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55D46FD6-5CE8-96AD-6F07-5ABFA8BB3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39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D52AC2-06AF-4DEC-9BC6-D8CC9A8204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5134" y="1730935"/>
            <a:ext cx="9475732" cy="4520640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33D3AB-D649-464F-A9BA-DCCDF836DEB6}"/>
              </a:ext>
            </a:extLst>
          </p:cNvPr>
          <p:cNvSpPr txBox="1">
            <a:spLocks/>
          </p:cNvSpPr>
          <p:nvPr/>
        </p:nvSpPr>
        <p:spPr bwMode="auto">
          <a:xfrm>
            <a:off x="5553635" y="801216"/>
            <a:ext cx="435236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C00000"/>
                </a:solidFill>
                <a:latin typeface="+mn-lt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dirty="0"/>
              <a:t>Нормальный ход событий</a:t>
            </a:r>
          </a:p>
        </p:txBody>
      </p:sp>
    </p:spTree>
    <p:extLst>
      <p:ext uri="{BB962C8B-B14F-4D97-AF65-F5344CB8AC3E}">
        <p14:creationId xmlns:p14="http://schemas.microsoft.com/office/powerpoint/2010/main" val="60075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2E7A7-7405-4EEE-B2F4-3008FF7A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94915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Диаграмма последовательностей действий</a:t>
            </a:r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55D46FD6-5CE8-96AD-6F07-5ABFA8BB3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40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73097E2-8AAC-4CFD-9E7B-B92FB91A71D1}"/>
              </a:ext>
            </a:extLst>
          </p:cNvPr>
          <p:cNvSpPr txBox="1">
            <a:spLocks/>
          </p:cNvSpPr>
          <p:nvPr/>
        </p:nvSpPr>
        <p:spPr bwMode="auto">
          <a:xfrm>
            <a:off x="4736592" y="731911"/>
            <a:ext cx="5329687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C00000"/>
                </a:solidFill>
                <a:latin typeface="+mn-lt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ru-RU" dirty="0"/>
              <a:t>Прерывание процесса системой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BFDE4E-18D7-37BC-DCA7-8555904BE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" y="1354938"/>
            <a:ext cx="9253538" cy="489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448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FB45-8770-281D-0EE5-CAE943D7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92EA2-19D4-CB68-F935-29F54F561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94915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Диаграмма последовательностей действий</a:t>
            </a:r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98F59418-BC67-11B5-3DCD-F572AB7B2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41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19DCC8E-08DC-5698-BB25-394EA8E03155}"/>
              </a:ext>
            </a:extLst>
          </p:cNvPr>
          <p:cNvSpPr txBox="1">
            <a:spLocks/>
          </p:cNvSpPr>
          <p:nvPr/>
        </p:nvSpPr>
        <p:spPr bwMode="auto">
          <a:xfrm>
            <a:off x="3802380" y="772180"/>
            <a:ext cx="610362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C00000"/>
                </a:solidFill>
                <a:latin typeface="+mn-lt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ru-RU" dirty="0"/>
              <a:t>Прерывание процесса пользователем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D8E4BF-DF0A-E287-E24A-8D3DC9892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83" y="1583741"/>
            <a:ext cx="9126433" cy="44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22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2E7A7-7405-4EEE-B2F4-3008FF7A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Модульная диаграмма</a:t>
            </a:r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55D46FD6-5CE8-96AD-6F07-5ABFA8BB3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42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0CEC5D-FEC6-4230-8350-B1744D789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8" y="1161438"/>
            <a:ext cx="7458635" cy="525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057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2E7A7-7405-4EEE-B2F4-3008FF7A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Карта </a:t>
            </a:r>
            <a:r>
              <a:rPr lang="ru-RU" dirty="0" err="1"/>
              <a:t>Константайна</a:t>
            </a:r>
            <a:endParaRPr lang="ru-RU" dirty="0"/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55D46FD6-5CE8-96AD-6F07-5ABFA8BB3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43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5D0D1D-1A64-4CBF-A6FD-32A2B8E7D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24" y="1000125"/>
            <a:ext cx="7523191" cy="550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51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F62BA-162A-421B-BF24-D21FE22CA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9"/>
            <a:ext cx="8915400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Диаграмма компонентов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A996D0A-8EE2-D416-6272-8BF59444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2276475"/>
            <a:ext cx="11755437" cy="4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3557" name="TextBox 4">
            <a:extLst>
              <a:ext uri="{FF2B5EF4-FFF2-40B4-BE49-F238E27FC236}">
                <a16:creationId xmlns:a16="http://schemas.microsoft.com/office/drawing/2014/main" id="{5FC6EA6A-43B7-F0F3-7BB6-C1E4C5F5B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44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CCF19D1-569F-60BE-974B-17816048F47B}"/>
              </a:ext>
            </a:extLst>
          </p:cNvPr>
          <p:cNvGrpSpPr/>
          <p:nvPr/>
        </p:nvGrpSpPr>
        <p:grpSpPr>
          <a:xfrm>
            <a:off x="806449" y="1336357"/>
            <a:ext cx="8604251" cy="4702493"/>
            <a:chOff x="806449" y="1336357"/>
            <a:chExt cx="8604251" cy="4702493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B2182D6-EDDB-7796-B86D-40915AF65A03}"/>
                </a:ext>
              </a:extLst>
            </p:cNvPr>
            <p:cNvGrpSpPr/>
            <p:nvPr/>
          </p:nvGrpSpPr>
          <p:grpSpPr>
            <a:xfrm>
              <a:off x="806449" y="1336357"/>
              <a:ext cx="8604251" cy="4702493"/>
              <a:chOff x="806449" y="1336357"/>
              <a:chExt cx="8604251" cy="4702493"/>
            </a:xfrm>
          </p:grpSpPr>
          <p:pic>
            <p:nvPicPr>
              <p:cNvPr id="4" name="Рисунок 3">
                <a:extLst>
                  <a:ext uri="{FF2B5EF4-FFF2-40B4-BE49-F238E27FC236}">
                    <a16:creationId xmlns:a16="http://schemas.microsoft.com/office/drawing/2014/main" id="{60B70678-29FF-752D-E1F3-77C49ABA5B76}"/>
                  </a:ext>
                </a:extLst>
              </p:cNvPr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6449" y="1336357"/>
                <a:ext cx="8604251" cy="4702493"/>
              </a:xfrm>
              <a:prstGeom prst="rect">
                <a:avLst/>
              </a:prstGeom>
            </p:spPr>
          </p:pic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724915F0-50F7-E8D8-AE7B-999E7BC6C04E}"/>
                  </a:ext>
                </a:extLst>
              </p:cNvPr>
              <p:cNvSpPr/>
              <p:nvPr/>
            </p:nvSpPr>
            <p:spPr>
              <a:xfrm>
                <a:off x="4238625" y="4143375"/>
                <a:ext cx="1400175" cy="4476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637C836D-4628-5EFB-8BFE-751D5EFA46CD}"/>
                  </a:ext>
                </a:extLst>
              </p:cNvPr>
              <p:cNvSpPr/>
              <p:nvPr/>
            </p:nvSpPr>
            <p:spPr>
              <a:xfrm>
                <a:off x="5505450" y="4371975"/>
                <a:ext cx="257175" cy="2190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1C1747-FD8F-B61B-E9C8-2A840E1FF34C}"/>
                </a:ext>
              </a:extLst>
            </p:cNvPr>
            <p:cNvSpPr txBox="1"/>
            <p:nvPr/>
          </p:nvSpPr>
          <p:spPr>
            <a:xfrm>
              <a:off x="4586578" y="4213323"/>
              <a:ext cx="8435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/>
                <a:t>Scenario</a:t>
              </a:r>
              <a:endParaRPr lang="ru-RU" sz="1300" dirty="0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63D0F-EB41-3C49-5AA6-F36B50C7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82B65-4614-9331-1E54-94E14E7C1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Диаграмма размещения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EFE5BFA-59DF-1157-FD71-3A42E09AC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2276475"/>
            <a:ext cx="11755437" cy="4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3557" name="TextBox 4">
            <a:extLst>
              <a:ext uri="{FF2B5EF4-FFF2-40B4-BE49-F238E27FC236}">
                <a16:creationId xmlns:a16="http://schemas.microsoft.com/office/drawing/2014/main" id="{E85C5D30-11E8-AFCE-B3DB-5B0A2B00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45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1F30AC-7832-7FBF-F6AC-79AB06E8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04594"/>
            <a:ext cx="9096375" cy="502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6566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AEE99-5712-4152-855A-8E44C184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/>
              <a:t>Тестирование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DEE30F1-4FE3-4B07-876E-30F3EA447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65197"/>
              </p:ext>
            </p:extLst>
          </p:nvPr>
        </p:nvGraphicFramePr>
        <p:xfrm>
          <a:off x="95148" y="1003867"/>
          <a:ext cx="9715576" cy="5402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233">
                  <a:extLst>
                    <a:ext uri="{9D8B030D-6E8A-4147-A177-3AD203B41FA5}">
                      <a16:colId xmlns:a16="http://schemas.microsoft.com/office/drawing/2014/main" val="32720054"/>
                    </a:ext>
                  </a:extLst>
                </a:gridCol>
                <a:gridCol w="3606542">
                  <a:extLst>
                    <a:ext uri="{9D8B030D-6E8A-4147-A177-3AD203B41FA5}">
                      <a16:colId xmlns:a16="http://schemas.microsoft.com/office/drawing/2014/main" val="1447757586"/>
                    </a:ext>
                  </a:extLst>
                </a:gridCol>
                <a:gridCol w="1251248">
                  <a:extLst>
                    <a:ext uri="{9D8B030D-6E8A-4147-A177-3AD203B41FA5}">
                      <a16:colId xmlns:a16="http://schemas.microsoft.com/office/drawing/2014/main" val="3943565709"/>
                    </a:ext>
                  </a:extLst>
                </a:gridCol>
                <a:gridCol w="1987277">
                  <a:extLst>
                    <a:ext uri="{9D8B030D-6E8A-4147-A177-3AD203B41FA5}">
                      <a16:colId xmlns:a16="http://schemas.microsoft.com/office/drawing/2014/main" val="1353792887"/>
                    </a:ext>
                  </a:extLst>
                </a:gridCol>
                <a:gridCol w="1987276">
                  <a:extLst>
                    <a:ext uri="{9D8B030D-6E8A-4147-A177-3AD203B41FA5}">
                      <a16:colId xmlns:a16="http://schemas.microsoft.com/office/drawing/2014/main" val="104550708"/>
                    </a:ext>
                  </a:extLst>
                </a:gridCol>
              </a:tblGrid>
              <a:tr h="42049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j-lt"/>
                        </a:rPr>
                        <a:t>Дата и время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j-lt"/>
                        </a:rPr>
                        <a:t>Тестируемое требование из ТЗ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latin typeface="+mj-lt"/>
                        </a:rPr>
                        <a:t>Кто проводил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latin typeface="+mj-lt"/>
                        </a:rPr>
                        <a:t>Способ тестирования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latin typeface="+mj-lt"/>
                        </a:rPr>
                        <a:t>Результаты тестирования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590755358"/>
                  </a:ext>
                </a:extLst>
              </a:tr>
              <a:tr h="40180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09.04.2026</a:t>
                      </a:r>
                      <a:endParaRPr lang="ru-RU" dirty="0"/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Регистрация и создание профиля пользователя</a:t>
                      </a:r>
                      <a:endParaRPr lang="ru-RU" dirty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Тестировщик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Системное тестирование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Успех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902854737"/>
                  </a:ext>
                </a:extLst>
              </a:tr>
              <a:tr h="728856"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09.04.2026</a:t>
                      </a:r>
                      <a:endParaRPr lang="ru-RU" dirty="0"/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Проведение входного опросника с определением сценария</a:t>
                      </a:r>
                      <a:endParaRPr lang="ru-RU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200" b="0" i="0" u="none" strike="noStrike" noProof="0" dirty="0">
                        <a:effectLst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Тестировщик</a:t>
                      </a:r>
                      <a:endParaRPr lang="ru-RU" sz="140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Системное тестирование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Неудача – сценарий выбирался случайно</a:t>
                      </a:r>
                      <a:endParaRPr lang="ru-RU" dirty="0"/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434004790"/>
                  </a:ext>
                </a:extLst>
              </a:tr>
              <a:tr h="567032"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09.04.2026</a:t>
                      </a:r>
                      <a:endParaRPr lang="ru-RU" dirty="0"/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Survey (Шкала лжи)</a:t>
                      </a:r>
                      <a:endParaRPr lang="ru-RU" b="0" i="0" u="none" strike="noStrike" noProof="0" dirty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Тестировщик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Системное тестирование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Успех – добавлен алгоритм приоритета 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217702146"/>
                  </a:ext>
                </a:extLst>
              </a:tr>
              <a:tr h="498747"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11.11.2026</a:t>
                      </a:r>
                      <a:endParaRPr lang="ru-RU" dirty="0"/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Корректная работа шкалы лжи</a:t>
                      </a:r>
                      <a:endParaRPr lang="ru-RU" dirty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Тестировщик</a:t>
                      </a:r>
                      <a:endParaRPr lang="ru-RU" sz="140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Системное тестирование</a:t>
                      </a:r>
                      <a:endParaRPr lang="ru-RU" sz="140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Успех</a:t>
                      </a:r>
                      <a:endParaRPr lang="ru-RU" b="0" i="0" u="none" strike="noStrike" noProof="0" dirty="0"/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694760289"/>
                  </a:ext>
                </a:extLst>
              </a:tr>
              <a:tr h="711723"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14.11.2026</a:t>
                      </a:r>
                      <a:endParaRPr lang="ru-RU" dirty="0"/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Проведение входного опросника (30 вопросов) с определением сценария</a:t>
                      </a:r>
                      <a:endParaRPr lang="ru-RU" dirty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Тестировщик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Системное тестирование</a:t>
                      </a:r>
                      <a:endParaRPr lang="ru-RU" sz="140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Успех</a:t>
                      </a:r>
                      <a:endParaRPr lang="ru-RU" dirty="0"/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06947381"/>
                  </a:ext>
                </a:extLst>
              </a:tr>
              <a:tr h="632445"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16.11.2026</a:t>
                      </a:r>
                      <a:endParaRPr lang="ru-RU" dirty="0"/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>
                          <a:effectLst/>
                          <a:latin typeface="Times New Roman"/>
                        </a:rPr>
                        <a:t>Запуск соответствующего сценарием</a:t>
                      </a:r>
                      <a:endParaRPr lang="ru-RU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Тестировщик</a:t>
                      </a:r>
                      <a:endParaRPr lang="ru-RU" sz="140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Системное тестирование</a:t>
                      </a:r>
                      <a:endParaRPr lang="ru-RU" sz="140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Успех</a:t>
                      </a:r>
                      <a:endParaRPr lang="ru-RU" dirty="0"/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083559563"/>
                  </a:ext>
                </a:extLst>
              </a:tr>
              <a:tr h="626069"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18.11.2026</a:t>
                      </a:r>
                      <a:endParaRPr lang="ru-RU" dirty="0"/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Функционирование мини-игры на соотнесение слов внутри сценария</a:t>
                      </a:r>
                      <a:endParaRPr lang="ru-RU" dirty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Тестировщик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Системное тестирование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Ошибка, дублирование элементов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686433103"/>
                  </a:ext>
                </a:extLst>
              </a:tr>
              <a:tr h="626069"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21.11.2026</a:t>
                      </a:r>
                      <a:endParaRPr lang="ru-RU" dirty="0"/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effectLst/>
                          <a:latin typeface="Times New Roman"/>
                        </a:rPr>
                        <a:t>Функционирование мини-игры на соотнесение слов внутри сценария</a:t>
                      </a:r>
                      <a:endParaRPr lang="ru-RU" dirty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Тестировщик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sz="1200" dirty="0"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Системное тестирование</a:t>
                      </a:r>
                      <a:endParaRPr lang="ru-RU" sz="1400" dirty="0">
                        <a:effectLst/>
                        <a:latin typeface="Times New Roman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Успех – исправлена ошибка</a:t>
                      </a: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104339771"/>
                  </a:ext>
                </a:extLst>
              </a:tr>
            </a:tbl>
          </a:graphicData>
        </a:graphic>
      </p:graphicFrame>
      <p:sp>
        <p:nvSpPr>
          <p:cNvPr id="25665" name="TextBox 3">
            <a:extLst>
              <a:ext uri="{FF2B5EF4-FFF2-40B4-BE49-F238E27FC236}">
                <a16:creationId xmlns:a16="http://schemas.microsoft.com/office/drawing/2014/main" id="{F29C70E2-32DA-D371-C223-099E5660B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9578" y="6418262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46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F0878-F27F-4595-9758-B7E8F030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>
                <a:cs typeface="Arial"/>
              </a:rPr>
              <a:t>Экономическое обоснование бюджета</a:t>
            </a:r>
            <a:endParaRPr lang="ru-RU"/>
          </a:p>
        </p:txBody>
      </p:sp>
      <p:sp>
        <p:nvSpPr>
          <p:cNvPr id="27652" name="TextBox 3">
            <a:extLst>
              <a:ext uri="{FF2B5EF4-FFF2-40B4-BE49-F238E27FC236}">
                <a16:creationId xmlns:a16="http://schemas.microsoft.com/office/drawing/2014/main" id="{3699663B-54AD-9C30-9090-219652BED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47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39C7B-2B78-6584-4F1D-5D9B1E7CAED6}"/>
              </a:ext>
            </a:extLst>
          </p:cNvPr>
          <p:cNvSpPr txBox="1"/>
          <p:nvPr/>
        </p:nvSpPr>
        <p:spPr>
          <a:xfrm>
            <a:off x="493317" y="1109966"/>
            <a:ext cx="891936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l">
              <a:buFont typeface=""/>
              <a:buChar char="•"/>
            </a:pPr>
            <a:r>
              <a:rPr lang="en-US" b="1" dirty="0"/>
              <a:t>Затраты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разработку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Полная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программного</a:t>
            </a:r>
            <a:r>
              <a:rPr lang="en-US" dirty="0"/>
              <a:t> </a:t>
            </a:r>
            <a:r>
              <a:rPr lang="en-US" dirty="0" err="1"/>
              <a:t>продукта</a:t>
            </a:r>
            <a:r>
              <a:rPr lang="en-US" dirty="0"/>
              <a:t> с </a:t>
            </a:r>
            <a:r>
              <a:rPr lang="en-US" dirty="0" err="1"/>
              <a:t>учетом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статей</a:t>
            </a:r>
            <a:r>
              <a:rPr lang="en-US" dirty="0"/>
              <a:t> </a:t>
            </a:r>
            <a:r>
              <a:rPr lang="en-US" dirty="0" err="1"/>
              <a:t>бюджета</a:t>
            </a:r>
            <a:r>
              <a:rPr lang="en-US" dirty="0"/>
              <a:t> и </a:t>
            </a:r>
            <a:r>
              <a:rPr lang="en-US" dirty="0" err="1"/>
              <a:t>рентабельности</a:t>
            </a:r>
            <a:r>
              <a:rPr lang="en-US" dirty="0"/>
              <a:t> </a:t>
            </a:r>
            <a:r>
              <a:rPr lang="en-US" dirty="0" err="1"/>
              <a:t>составляет</a:t>
            </a:r>
            <a:r>
              <a:rPr lang="en-US" dirty="0"/>
              <a:t> </a:t>
            </a:r>
            <a:r>
              <a:rPr lang="en-US" b="1" dirty="0"/>
              <a:t>900 545</a:t>
            </a:r>
            <a:r>
              <a:rPr lang="ru-RU" b="1" dirty="0"/>
              <a:t> </a:t>
            </a:r>
            <a:r>
              <a:rPr lang="en-US" b="1" dirty="0" err="1"/>
              <a:t>руб</a:t>
            </a:r>
            <a:r>
              <a:rPr lang="en-US" b="1" dirty="0"/>
              <a:t>.</a:t>
            </a:r>
          </a:p>
          <a:p>
            <a:pPr marL="228600" indent="-228600" algn="l">
              <a:buFont typeface=""/>
              <a:buChar char="•"/>
            </a:pPr>
            <a:r>
              <a:rPr lang="en-US" b="1" dirty="0" err="1"/>
              <a:t>Снижение</a:t>
            </a:r>
            <a:r>
              <a:rPr lang="en-US" b="1" dirty="0"/>
              <a:t> </a:t>
            </a:r>
            <a:r>
              <a:rPr lang="en-US" b="1" dirty="0" err="1"/>
              <a:t>издержек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счет</a:t>
            </a:r>
            <a:r>
              <a:rPr lang="en-US" dirty="0"/>
              <a:t> </a:t>
            </a:r>
            <a:r>
              <a:rPr lang="en-US" dirty="0" err="1"/>
              <a:t>внедрения</a:t>
            </a:r>
            <a:r>
              <a:rPr lang="en-US" dirty="0"/>
              <a:t> </a:t>
            </a:r>
            <a:r>
              <a:rPr lang="en-US" dirty="0" err="1"/>
              <a:t>цифрового</a:t>
            </a:r>
            <a:r>
              <a:rPr lang="en-US" dirty="0"/>
              <a:t> </a:t>
            </a:r>
            <a:r>
              <a:rPr lang="en-US" dirty="0" err="1"/>
              <a:t>симулятора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проведения</a:t>
            </a:r>
            <a:r>
              <a:rPr lang="en-US" dirty="0"/>
              <a:t> </a:t>
            </a:r>
            <a:r>
              <a:rPr lang="en-US" dirty="0" err="1"/>
              <a:t>дорогостоящих</a:t>
            </a:r>
            <a:r>
              <a:rPr lang="en-US" dirty="0"/>
              <a:t> очных </a:t>
            </a:r>
            <a:r>
              <a:rPr lang="en-US" dirty="0" err="1"/>
              <a:t>семинаров</a:t>
            </a:r>
            <a:r>
              <a:rPr lang="en-US" dirty="0"/>
              <a:t> и </a:t>
            </a:r>
            <a:r>
              <a:rPr lang="en-US" dirty="0" err="1"/>
              <a:t>тренингов</a:t>
            </a:r>
            <a:r>
              <a:rPr lang="en-US" dirty="0"/>
              <a:t> </a:t>
            </a:r>
            <a:r>
              <a:rPr lang="en-US" dirty="0" err="1"/>
              <a:t>прогнозируемая</a:t>
            </a:r>
            <a:r>
              <a:rPr lang="en-US" dirty="0"/>
              <a:t> </a:t>
            </a:r>
            <a:r>
              <a:rPr lang="en-US" dirty="0" err="1"/>
              <a:t>экономия</a:t>
            </a:r>
            <a:r>
              <a:rPr lang="en-US" dirty="0"/>
              <a:t> </a:t>
            </a:r>
            <a:r>
              <a:rPr lang="en-US" dirty="0" err="1"/>
              <a:t>эксплуатационных</a:t>
            </a:r>
            <a:r>
              <a:rPr lang="en-US" dirty="0"/>
              <a:t> </a:t>
            </a:r>
            <a:r>
              <a:rPr lang="en-US" dirty="0" err="1"/>
              <a:t>расходов</a:t>
            </a:r>
            <a:r>
              <a:rPr lang="en-US" dirty="0"/>
              <a:t> </a:t>
            </a:r>
            <a:r>
              <a:rPr lang="en-US" dirty="0" err="1"/>
              <a:t>достигает</a:t>
            </a:r>
            <a:r>
              <a:rPr lang="ru-RU" dirty="0"/>
              <a:t> </a:t>
            </a:r>
            <a:r>
              <a:rPr lang="ru-RU" b="1" dirty="0"/>
              <a:t>566 708</a:t>
            </a:r>
            <a:r>
              <a:rPr lang="en-US" b="1" dirty="0"/>
              <a:t> </a:t>
            </a:r>
            <a:r>
              <a:rPr lang="en-US" b="1" dirty="0" err="1"/>
              <a:t>руб</a:t>
            </a:r>
            <a:r>
              <a:rPr lang="en-US" b="1" dirty="0"/>
              <a:t>.</a:t>
            </a:r>
            <a:r>
              <a:rPr lang="en-US" dirty="0"/>
              <a:t> в </a:t>
            </a:r>
            <a:r>
              <a:rPr lang="en-US" dirty="0" err="1"/>
              <a:t>год</a:t>
            </a:r>
            <a:r>
              <a:rPr lang="en-US" dirty="0"/>
              <a:t>.</a:t>
            </a:r>
          </a:p>
          <a:p>
            <a:pPr marL="228600" indent="-228600" algn="l">
              <a:buFont typeface=""/>
              <a:buChar char="•"/>
            </a:pPr>
            <a:r>
              <a:rPr lang="en-US" b="1" dirty="0" err="1"/>
              <a:t>Окупаемость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Инвестиции</a:t>
            </a:r>
            <a:r>
              <a:rPr lang="en-US" dirty="0"/>
              <a:t> в </a:t>
            </a:r>
            <a:r>
              <a:rPr lang="en-US" dirty="0" err="1"/>
              <a:t>разработку</a:t>
            </a:r>
            <a:r>
              <a:rPr lang="en-US" dirty="0"/>
              <a:t> </a:t>
            </a:r>
            <a:r>
              <a:rPr lang="en-US" dirty="0" err="1"/>
              <a:t>игры-симулятора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окупаются</a:t>
            </a:r>
            <a:r>
              <a:rPr lang="en-US" dirty="0"/>
              <a:t> в </a:t>
            </a:r>
            <a:r>
              <a:rPr lang="en-US" dirty="0" err="1"/>
              <a:t>течение</a:t>
            </a:r>
            <a:r>
              <a:rPr lang="en-US" dirty="0"/>
              <a:t> </a:t>
            </a:r>
            <a:r>
              <a:rPr lang="ru-RU" b="1" dirty="0"/>
              <a:t>1,96</a:t>
            </a:r>
            <a:r>
              <a:rPr lang="en-US" b="1" dirty="0"/>
              <a:t> </a:t>
            </a:r>
            <a:r>
              <a:rPr lang="en-US" b="1" dirty="0" err="1"/>
              <a:t>года</a:t>
            </a:r>
            <a:r>
              <a:rPr lang="en-US" dirty="0"/>
              <a:t> (</a:t>
            </a:r>
            <a:r>
              <a:rPr lang="en-US" dirty="0" err="1"/>
              <a:t>около</a:t>
            </a:r>
            <a:r>
              <a:rPr lang="en-US" dirty="0"/>
              <a:t> </a:t>
            </a:r>
            <a:r>
              <a:rPr lang="ru-RU" dirty="0"/>
              <a:t>24</a:t>
            </a:r>
            <a:r>
              <a:rPr lang="en-US" dirty="0"/>
              <a:t> </a:t>
            </a:r>
            <a:r>
              <a:rPr lang="en-US" dirty="0" err="1"/>
              <a:t>месяцев</a:t>
            </a:r>
            <a:r>
              <a:rPr lang="en-US" dirty="0"/>
              <a:t>),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высоким</a:t>
            </a:r>
            <a:r>
              <a:rPr lang="en-US" dirty="0"/>
              <a:t> </a:t>
            </a:r>
            <a:r>
              <a:rPr lang="en-US" dirty="0" err="1"/>
              <a:t>показателем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образовательных</a:t>
            </a:r>
            <a:r>
              <a:rPr lang="en-US" dirty="0"/>
              <a:t> IT-</a:t>
            </a:r>
            <a:r>
              <a:rPr lang="en-US" dirty="0" err="1"/>
              <a:t>проектов</a:t>
            </a:r>
            <a:r>
              <a:rPr lang="en-US" dirty="0"/>
              <a:t>.</a:t>
            </a:r>
          </a:p>
          <a:p>
            <a:pPr marL="228600" indent="-228600" algn="l">
              <a:buFont typeface=""/>
              <a:buChar char="•"/>
            </a:pPr>
            <a:r>
              <a:rPr lang="en-US" b="1" dirty="0" err="1"/>
              <a:t>Экономический</a:t>
            </a:r>
            <a:r>
              <a:rPr lang="en-US" b="1" dirty="0"/>
              <a:t> </a:t>
            </a:r>
            <a:r>
              <a:rPr lang="en-US" b="1" dirty="0" err="1"/>
              <a:t>эффект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Годовой</a:t>
            </a:r>
            <a:r>
              <a:rPr lang="en-US" dirty="0"/>
              <a:t> </a:t>
            </a:r>
            <a:r>
              <a:rPr lang="en-US" dirty="0" err="1"/>
              <a:t>чистый</a:t>
            </a:r>
            <a:r>
              <a:rPr lang="en-US" dirty="0"/>
              <a:t> </a:t>
            </a:r>
            <a:r>
              <a:rPr lang="en-US" dirty="0" err="1"/>
              <a:t>экономический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организации-заказчика</a:t>
            </a:r>
            <a:r>
              <a:rPr lang="en-US" dirty="0"/>
              <a:t> </a:t>
            </a:r>
            <a:r>
              <a:rPr lang="en-US" dirty="0" err="1"/>
              <a:t>составляет</a:t>
            </a:r>
            <a:r>
              <a:rPr lang="en-US" dirty="0"/>
              <a:t> </a:t>
            </a:r>
            <a:r>
              <a:rPr lang="ru-RU" b="1" dirty="0"/>
              <a:t>400 504</a:t>
            </a:r>
            <a:r>
              <a:rPr lang="en-US" b="1" dirty="0"/>
              <a:t> </a:t>
            </a:r>
            <a:r>
              <a:rPr lang="en-US" b="1" dirty="0" err="1"/>
              <a:t>руб</a:t>
            </a:r>
            <a:r>
              <a:rPr lang="en-US" b="1" dirty="0"/>
              <a:t>.</a:t>
            </a:r>
          </a:p>
          <a:p>
            <a:endParaRPr lang="en-US" dirty="0"/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1021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F0878-F27F-4595-9758-B7E8F030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/>
              <a:t>Выводы</a:t>
            </a:r>
          </a:p>
        </p:txBody>
      </p:sp>
      <p:sp>
        <p:nvSpPr>
          <p:cNvPr id="27651" name="Объект 2">
            <a:extLst>
              <a:ext uri="{FF2B5EF4-FFF2-40B4-BE49-F238E27FC236}">
                <a16:creationId xmlns:a16="http://schemas.microsoft.com/office/drawing/2014/main" id="{6F9F2145-7D04-836A-2ED3-BE899E470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1285875"/>
            <a:ext cx="9101137" cy="4840288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just">
              <a:spcBef>
                <a:spcPts val="20"/>
              </a:spcBef>
            </a:pP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В результате выполнения работы была создана программная реализация игры-симулятора для отработки приемов отказа от различных видов зависимостей у детей школьного возраста.</a:t>
            </a:r>
            <a:endParaRPr lang="ru-RU" dirty="0">
              <a:ea typeface="Calibri"/>
            </a:endParaRPr>
          </a:p>
          <a:p>
            <a:pPr algn="just">
              <a:spcBef>
                <a:spcPts val="20"/>
              </a:spcBef>
            </a:pP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Программный продукт успешно передан заказчику (ИПЦ «Зеленая планета ФосАгро») для пилотного внедрения. По результатам работы подготовлена и подана статья для публикации в научном сборнике.</a:t>
            </a:r>
            <a:endParaRPr lang="en-US" dirty="0"/>
          </a:p>
          <a:p>
            <a:pPr algn="just">
              <a:spcBef>
                <a:spcPts val="20"/>
              </a:spcBef>
            </a:pP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Ожидается, что внедрение ПО позволит повысить вовлеченность школьников в процесс изучения социальной безопасности на 30–40% и существенно сократить затраты на организацию очных тренингов с привлечением сторонних специалистов.</a:t>
            </a:r>
            <a:endParaRPr lang="en-US" dirty="0"/>
          </a:p>
          <a:p>
            <a:pPr algn="just">
              <a:spcBef>
                <a:spcPts val="20"/>
              </a:spcBef>
            </a:pP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Разработанная система отвечает требованиям технического задания и специфике предметной области.</a:t>
            </a:r>
            <a:endParaRPr lang="ru-RU" dirty="0"/>
          </a:p>
          <a:p>
            <a:pPr algn="just"/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ru-RU" altLang="ru-RU" dirty="0"/>
          </a:p>
        </p:txBody>
      </p:sp>
      <p:sp>
        <p:nvSpPr>
          <p:cNvPr id="27652" name="TextBox 3">
            <a:extLst>
              <a:ext uri="{FF2B5EF4-FFF2-40B4-BE49-F238E27FC236}">
                <a16:creationId xmlns:a16="http://schemas.microsoft.com/office/drawing/2014/main" id="{3699663B-54AD-9C30-9090-219652BED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/>
                <a:cs typeface="Arial"/>
              </a:rPr>
              <a:t>48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F62B1-3A83-4153-A9FC-016772212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88913"/>
            <a:ext cx="8420100" cy="147002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>
                <a:solidFill>
                  <a:srgbClr val="C00000"/>
                </a:solidFill>
                <a:latin typeface="Roboto"/>
              </a:rPr>
              <a:t> </a:t>
            </a:r>
            <a:br>
              <a:rPr lang="ru-RU">
                <a:solidFill>
                  <a:srgbClr val="C00000"/>
                </a:solidFill>
                <a:latin typeface="Roboto"/>
              </a:rPr>
            </a:br>
            <a:br>
              <a:rPr lang="ru-RU">
                <a:solidFill>
                  <a:srgbClr val="C00000"/>
                </a:solidFill>
                <a:latin typeface="Roboto"/>
              </a:rPr>
            </a:br>
            <a:r>
              <a:rPr lang="ru-RU">
                <a:solidFill>
                  <a:srgbClr val="C00000"/>
                </a:solidFill>
                <a:latin typeface="Roboto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2684</Words>
  <Application>Microsoft Office PowerPoint</Application>
  <PresentationFormat>Лист A4 (210x297 мм)</PresentationFormat>
  <Paragraphs>295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Arial</vt:lpstr>
      <vt:lpstr>Calibri</vt:lpstr>
      <vt:lpstr>Roboto</vt:lpstr>
      <vt:lpstr>Times New Roman</vt:lpstr>
      <vt:lpstr>Тема Office</vt:lpstr>
      <vt:lpstr>Презентация PowerPoint</vt:lpstr>
      <vt:lpstr>Постановка задачи</vt:lpstr>
      <vt:lpstr>Аналоги</vt:lpstr>
      <vt:lpstr>Описание используемых средств разработки</vt:lpstr>
      <vt:lpstr>Математический аппарат</vt:lpstr>
      <vt:lpstr>Агрессивное виктимное поведение</vt:lpstr>
      <vt:lpstr>Сценарий "Слово сильнее"</vt:lpstr>
      <vt:lpstr>Сценарий "Слово сильнее"</vt:lpstr>
      <vt:lpstr>Сценарий "Слово сильнее"</vt:lpstr>
      <vt:lpstr>Сценарий "Слово сильнее"</vt:lpstr>
      <vt:lpstr>Зависимое и беспомощное поведение</vt:lpstr>
      <vt:lpstr>Сценарий "Не бойся быть другим"</vt:lpstr>
      <vt:lpstr>Сценарий "Не бойся быть другим"</vt:lpstr>
      <vt:lpstr>Сценарий "Не бойся быть другим"</vt:lpstr>
      <vt:lpstr>Сценарий "Не бойся быть другим"</vt:lpstr>
      <vt:lpstr>Некритичное поведение</vt:lpstr>
      <vt:lpstr>Сценарий "Секрет, которого..."</vt:lpstr>
      <vt:lpstr>Сценарий "Секрет, которого..."</vt:lpstr>
      <vt:lpstr>Сценарий "Секрет, которого..."</vt:lpstr>
      <vt:lpstr>Сценарий "Секрет, которого..."</vt:lpstr>
      <vt:lpstr>Реализованная виктимность</vt:lpstr>
      <vt:lpstr>Сценарий "Выключаю чат"</vt:lpstr>
      <vt:lpstr>Сценарий "Выключаю чат"</vt:lpstr>
      <vt:lpstr>Сценарий "Выключаю чат"</vt:lpstr>
      <vt:lpstr>Саморазрушительное поведение</vt:lpstr>
      <vt:lpstr>Сценарий "Решай с умом"</vt:lpstr>
      <vt:lpstr>Сценарий "Решай с умом"</vt:lpstr>
      <vt:lpstr>Сценарий "Решай с умом"</vt:lpstr>
      <vt:lpstr>Сценарий "Решай с умом"</vt:lpstr>
      <vt:lpstr>Диаграмма вариантов использования</vt:lpstr>
      <vt:lpstr>Описание предметной области</vt:lpstr>
      <vt:lpstr>Диаграмма деятельности</vt:lpstr>
      <vt:lpstr>Диаграмма пакетов</vt:lpstr>
      <vt:lpstr>Детальная диаграмма классов пакета Scenario “Слово сильнее”</vt:lpstr>
      <vt:lpstr>Детальная диаграмма классов пакета Scenario “Не бойся быть другим”</vt:lpstr>
      <vt:lpstr>Детальная диаграмма классов пакета Scenario “Секрет, которого …”</vt:lpstr>
      <vt:lpstr>Детальная диаграмма классов пакета Scenario “Выключаю чат”</vt:lpstr>
      <vt:lpstr>Детальная диаграмма классов пакета Scenario “Решай с умом”</vt:lpstr>
      <vt:lpstr>Диаграмма последовательностей действий</vt:lpstr>
      <vt:lpstr>Диаграмма последовательностей действий</vt:lpstr>
      <vt:lpstr>Диаграмма последовательностей действий</vt:lpstr>
      <vt:lpstr>Модульная диаграмма</vt:lpstr>
      <vt:lpstr>Карта Константайна</vt:lpstr>
      <vt:lpstr>Диаграмма компонентов</vt:lpstr>
      <vt:lpstr>Диаграмма размещения</vt:lpstr>
      <vt:lpstr>Тестирование</vt:lpstr>
      <vt:lpstr>Экономическое обоснование бюджета</vt:lpstr>
      <vt:lpstr>Выводы</vt:lpstr>
      <vt:lpstr>   Спасибо за внимание!</vt:lpstr>
    </vt:vector>
  </TitlesOfParts>
  <Company>ГОУ ВПО ЧГУ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изменений структуры административно-правового управления</dc:title>
  <dc:creator>Илона</dc:creator>
  <cp:lastModifiedBy>Sindy Allen</cp:lastModifiedBy>
  <cp:revision>189</cp:revision>
  <dcterms:created xsi:type="dcterms:W3CDTF">2010-07-28T13:49:31Z</dcterms:created>
  <dcterms:modified xsi:type="dcterms:W3CDTF">2026-04-09T20:29:59Z</dcterms:modified>
</cp:coreProperties>
</file>