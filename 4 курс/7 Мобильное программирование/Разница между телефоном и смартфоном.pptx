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8" r:id="rId6"/>
    <p:sldId id="263" r:id="rId7"/>
    <p:sldId id="262" r:id="rId8"/>
    <p:sldId id="264" r:id="rId9"/>
    <p:sldId id="259" r:id="rId10"/>
    <p:sldId id="260" r:id="rId11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01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ru-RU" b="0" i="0" dirty="0"/>
            <a:t>Наличие операционной системы</a:t>
          </a:r>
          <a:endParaRPr lang="ru-RU" noProof="0" dirty="0"/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ru-RU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ru-RU" noProof="0" dirty="0"/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ru-RU" b="0" i="0" dirty="0"/>
            <a:t>Наличие процессора</a:t>
          </a:r>
          <a:endParaRPr lang="ru-RU" noProof="0" dirty="0"/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ru-RU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ru-RU" noProof="0" dirty="0"/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ru-RU" b="0" i="0" dirty="0"/>
            <a:t>Универсальность "софта"</a:t>
          </a:r>
          <a:endParaRPr lang="ru-RU" noProof="0" dirty="0"/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ru-RU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ru-RU" noProof="0" dirty="0"/>
        </a:p>
      </dgm:t>
    </dgm:pt>
    <dgm:pt modelId="{99DC39F8-F086-46ED-8398-1439A6DA631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ru-RU" b="0" i="0" dirty="0"/>
            <a:t>Сетевые возможности</a:t>
          </a:r>
          <a:endParaRPr lang="ru-RU" noProof="0" dirty="0"/>
        </a:p>
      </dgm:t>
    </dgm:pt>
    <dgm:pt modelId="{58C681B0-CCC2-47A5-9B2D-5A63D97B901C}" type="parTrans" cxnId="{CA139AFC-E0CE-4EDF-9B3C-1DF2AF08ABD4}">
      <dgm:prSet/>
      <dgm:spPr/>
      <dgm:t>
        <a:bodyPr/>
        <a:lstStyle/>
        <a:p>
          <a:endParaRPr lang="ru-RU"/>
        </a:p>
      </dgm:t>
    </dgm:pt>
    <dgm:pt modelId="{B80E38CA-F526-4EC1-ABDB-A4337EB5B647}" type="sibTrans" cxnId="{CA139AFC-E0CE-4EDF-9B3C-1DF2AF08ABD4}">
      <dgm:prSet/>
      <dgm:spPr/>
      <dgm:t>
        <a:bodyPr/>
        <a:lstStyle/>
        <a:p>
          <a:endParaRPr lang="ru-RU"/>
        </a:p>
      </dgm:t>
    </dgm:pt>
    <dgm:pt modelId="{D1364701-A3C8-409F-92EF-1ED7A00FC9CB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ru-RU" b="0" i="0" dirty="0"/>
            <a:t>Назначение </a:t>
          </a:r>
          <a:endParaRPr lang="ru-RU" noProof="0" dirty="0"/>
        </a:p>
      </dgm:t>
    </dgm:pt>
    <dgm:pt modelId="{84E813C3-E769-448D-9647-96660FE0C267}" type="parTrans" cxnId="{215EF7B4-29E4-4B41-93C6-EA26F0F80F27}">
      <dgm:prSet/>
      <dgm:spPr/>
      <dgm:t>
        <a:bodyPr/>
        <a:lstStyle/>
        <a:p>
          <a:endParaRPr lang="ru-RU"/>
        </a:p>
      </dgm:t>
    </dgm:pt>
    <dgm:pt modelId="{E21B5656-BF9D-496C-8D04-F52D10060762}" type="sibTrans" cxnId="{215EF7B4-29E4-4B41-93C6-EA26F0F80F27}">
      <dgm:prSet/>
      <dgm:spPr/>
      <dgm:t>
        <a:bodyPr/>
        <a:lstStyle/>
        <a:p>
          <a:endParaRPr lang="ru-RU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5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5"/>
      <dgm:spPr/>
    </dgm:pt>
    <dgm:pt modelId="{429CABD1-4116-474B-81BF-735E2CA9DD00}" type="pres">
      <dgm:prSet presAssocID="{7E5AA53B-3EEE-4DE4-BB81-9044890C2946}" presName="dstNode" presStyleLbl="node1" presStyleIdx="0" presStyleCnt="5"/>
      <dgm:spPr/>
    </dgm:pt>
    <dgm:pt modelId="{58319267-C71E-43C9-94E1-827D0616C7A7}" type="pres">
      <dgm:prSet presAssocID="{6750AC01-D39D-4F3A-9DC8-2A211EE986A2}" presName="text_1" presStyleLbl="node1" presStyleIdx="0" presStyleCnt="5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5"/>
      <dgm:spPr/>
    </dgm:pt>
    <dgm:pt modelId="{95DE6538-27BD-44AF-A1A8-CA8F6B10FDD2}" type="pres">
      <dgm:prSet presAssocID="{0BEF68B8-1228-47BB-83B5-7B9CD1E3F84E}" presName="text_2" presStyleLbl="node1" presStyleIdx="1" presStyleCnt="5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5"/>
      <dgm:spPr/>
    </dgm:pt>
    <dgm:pt modelId="{E131CE4A-9776-44F4-BC03-867682E21374}" type="pres">
      <dgm:prSet presAssocID="{5605D28D-2CE6-4513-8566-952984E21E14}" presName="text_3" presStyleLbl="node1" presStyleIdx="2" presStyleCnt="5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5"/>
      <dgm:spPr/>
    </dgm:pt>
    <dgm:pt modelId="{9B52BDB4-F373-43F1-9AB7-5C3FC66686B7}" type="pres">
      <dgm:prSet presAssocID="{99DC39F8-F086-46ED-8398-1439A6DA631E}" presName="text_4" presStyleLbl="node1" presStyleIdx="3" presStyleCnt="5">
        <dgm:presLayoutVars>
          <dgm:bulletEnabled val="1"/>
        </dgm:presLayoutVars>
      </dgm:prSet>
      <dgm:spPr/>
    </dgm:pt>
    <dgm:pt modelId="{0245B06E-8D09-47B1-8934-43F28D69EECA}" type="pres">
      <dgm:prSet presAssocID="{99DC39F8-F086-46ED-8398-1439A6DA631E}" presName="accent_4" presStyleCnt="0"/>
      <dgm:spPr/>
    </dgm:pt>
    <dgm:pt modelId="{EE0B3264-D0FC-41D9-9C87-E5326851657E}" type="pres">
      <dgm:prSet presAssocID="{99DC39F8-F086-46ED-8398-1439A6DA631E}" presName="accentRepeatNode" presStyleLbl="solidFgAcc1" presStyleIdx="3" presStyleCnt="5"/>
      <dgm:spPr/>
    </dgm:pt>
    <dgm:pt modelId="{CAC45373-2A84-4479-9576-4DB838BB502F}" type="pres">
      <dgm:prSet presAssocID="{D1364701-A3C8-409F-92EF-1ED7A00FC9CB}" presName="text_5" presStyleLbl="node1" presStyleIdx="4" presStyleCnt="5">
        <dgm:presLayoutVars>
          <dgm:bulletEnabled val="1"/>
        </dgm:presLayoutVars>
      </dgm:prSet>
      <dgm:spPr/>
    </dgm:pt>
    <dgm:pt modelId="{E87AAC8E-782C-410E-8BA1-26D51FB85175}" type="pres">
      <dgm:prSet presAssocID="{D1364701-A3C8-409F-92EF-1ED7A00FC9CB}" presName="accent_5" presStyleCnt="0"/>
      <dgm:spPr/>
    </dgm:pt>
    <dgm:pt modelId="{43260A6F-C33E-431B-84B8-4F29DADB0592}" type="pres">
      <dgm:prSet presAssocID="{D1364701-A3C8-409F-92EF-1ED7A00FC9CB}" presName="accentRepeatNode" presStyleLbl="solidFgAcc1" presStyleIdx="4" presStyleCnt="5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66D6964A-044D-439C-9707-447B73A82AA5}" type="presOf" srcId="{D1364701-A3C8-409F-92EF-1ED7A00FC9CB}" destId="{CAC45373-2A84-4479-9576-4DB838BB502F}" srcOrd="0" destOrd="0" presId="urn:microsoft.com/office/officeart/2008/layout/VerticalCurvedList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207C7F9B-D49A-479F-9830-96683F003B5F}" type="presOf" srcId="{99DC39F8-F086-46ED-8398-1439A6DA631E}" destId="{9B52BDB4-F373-43F1-9AB7-5C3FC66686B7}" srcOrd="0" destOrd="0" presId="urn:microsoft.com/office/officeart/2008/layout/VerticalCurvedList"/>
    <dgm:cxn modelId="{215EF7B4-29E4-4B41-93C6-EA26F0F80F27}" srcId="{7E5AA53B-3EEE-4DE4-BB81-9044890C2946}" destId="{D1364701-A3C8-409F-92EF-1ED7A00FC9CB}" srcOrd="4" destOrd="0" parTransId="{84E813C3-E769-448D-9647-96660FE0C267}" sibTransId="{E21B5656-BF9D-496C-8D04-F52D10060762}"/>
    <dgm:cxn modelId="{CA139AFC-E0CE-4EDF-9B3C-1DF2AF08ABD4}" srcId="{7E5AA53B-3EEE-4DE4-BB81-9044890C2946}" destId="{99DC39F8-F086-46ED-8398-1439A6DA631E}" srcOrd="3" destOrd="0" parTransId="{58C681B0-CCC2-47A5-9B2D-5A63D97B901C}" sibTransId="{B80E38CA-F526-4EC1-ABDB-A4337EB5B647}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  <dgm:cxn modelId="{E6DC52C2-116E-4362-A93B-B8A1FF90974B}" type="presParOf" srcId="{90561C55-3C6E-4D53-85E1-2C50BCDDA392}" destId="{9B52BDB4-F373-43F1-9AB7-5C3FC66686B7}" srcOrd="7" destOrd="0" presId="urn:microsoft.com/office/officeart/2008/layout/VerticalCurvedList"/>
    <dgm:cxn modelId="{E7CBC9B2-EC55-466B-8F71-A44830FD5F72}" type="presParOf" srcId="{90561C55-3C6E-4D53-85E1-2C50BCDDA392}" destId="{0245B06E-8D09-47B1-8934-43F28D69EECA}" srcOrd="8" destOrd="0" presId="urn:microsoft.com/office/officeart/2008/layout/VerticalCurvedList"/>
    <dgm:cxn modelId="{BFDBB495-143A-43B7-9848-3B11E9189CA6}" type="presParOf" srcId="{0245B06E-8D09-47B1-8934-43F28D69EECA}" destId="{EE0B3264-D0FC-41D9-9C87-E5326851657E}" srcOrd="0" destOrd="0" presId="urn:microsoft.com/office/officeart/2008/layout/VerticalCurvedList"/>
    <dgm:cxn modelId="{856E06F3-69CC-4494-9A83-340754B2814B}" type="presParOf" srcId="{90561C55-3C6E-4D53-85E1-2C50BCDDA392}" destId="{CAC45373-2A84-4479-9576-4DB838BB502F}" srcOrd="9" destOrd="0" presId="urn:microsoft.com/office/officeart/2008/layout/VerticalCurvedList"/>
    <dgm:cxn modelId="{92666418-87F1-40F8-ABDA-1C7F3C2C3639}" type="presParOf" srcId="{90561C55-3C6E-4D53-85E1-2C50BCDDA392}" destId="{E87AAC8E-782C-410E-8BA1-26D51FB85175}" srcOrd="10" destOrd="0" presId="urn:microsoft.com/office/officeart/2008/layout/VerticalCurvedList"/>
    <dgm:cxn modelId="{4CD7C4B4-8719-4545-AC4B-A55B71257A61}" type="presParOf" srcId="{E87AAC8E-782C-410E-8BA1-26D51FB85175}" destId="{43260A6F-C33E-431B-84B8-4F29DADB059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338329" y="222674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3340" rIns="53340" bIns="53340" numCol="1" spcCol="1270" rtlCol="0" anchor="ctr" anchorCtr="0">
          <a:noAutofit/>
        </a:bodyPr>
        <a:lstStyle/>
        <a:p>
          <a:pPr marL="0" lvl="0" indent="0" algn="l" defTabSz="9334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Наличие операционной системы</a:t>
          </a:r>
          <a:endParaRPr lang="ru-RU" sz="2100" kern="1200" noProof="0" dirty="0"/>
        </a:p>
      </dsp:txBody>
      <dsp:txXfrm>
        <a:off x="338329" y="222674"/>
        <a:ext cx="6468629" cy="445634"/>
      </dsp:txXfrm>
    </dsp:sp>
    <dsp:sp modelId="{07CB3071-D555-47DA-A36A-69EB91531FD8}">
      <dsp:nvSpPr>
        <dsp:cNvPr id="0" name=""/>
        <dsp:cNvSpPr/>
      </dsp:nvSpPr>
      <dsp:spPr>
        <a:xfrm>
          <a:off x="59807" y="166970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657658" y="890913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3340" rIns="53340" bIns="53340" numCol="1" spcCol="1270" rtlCol="0" anchor="ctr" anchorCtr="0">
          <a:noAutofit/>
        </a:bodyPr>
        <a:lstStyle/>
        <a:p>
          <a:pPr marL="0" lvl="0" indent="0" algn="l" defTabSz="9334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Наличие процессора</a:t>
          </a:r>
          <a:endParaRPr lang="ru-RU" sz="2100" kern="1200" noProof="0" dirty="0"/>
        </a:p>
      </dsp:txBody>
      <dsp:txXfrm>
        <a:off x="657658" y="890913"/>
        <a:ext cx="6149301" cy="445634"/>
      </dsp:txXfrm>
    </dsp:sp>
    <dsp:sp modelId="{3F8116AC-FAC3-4E95-9865-93CCFEB191B9}">
      <dsp:nvSpPr>
        <dsp:cNvPr id="0" name=""/>
        <dsp:cNvSpPr/>
      </dsp:nvSpPr>
      <dsp:spPr>
        <a:xfrm>
          <a:off x="379136" y="835208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755666" y="1559151"/>
          <a:ext cx="6051292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3340" rIns="53340" bIns="53340" numCol="1" spcCol="1270" rtlCol="0" anchor="ctr" anchorCtr="0">
          <a:noAutofit/>
        </a:bodyPr>
        <a:lstStyle/>
        <a:p>
          <a:pPr marL="0" lvl="0" indent="0" algn="l" defTabSz="9334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Универсальность "софта"</a:t>
          </a:r>
          <a:endParaRPr lang="ru-RU" sz="2100" kern="1200" noProof="0" dirty="0"/>
        </a:p>
      </dsp:txBody>
      <dsp:txXfrm>
        <a:off x="755666" y="1559151"/>
        <a:ext cx="6051292" cy="445634"/>
      </dsp:txXfrm>
    </dsp:sp>
    <dsp:sp modelId="{A965097E-32F1-4AB8-8C4E-2814A7596B2F}">
      <dsp:nvSpPr>
        <dsp:cNvPr id="0" name=""/>
        <dsp:cNvSpPr/>
      </dsp:nvSpPr>
      <dsp:spPr>
        <a:xfrm>
          <a:off x="477144" y="1503447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52BDB4-F373-43F1-9AB7-5C3FC66686B7}">
      <dsp:nvSpPr>
        <dsp:cNvPr id="0" name=""/>
        <dsp:cNvSpPr/>
      </dsp:nvSpPr>
      <dsp:spPr>
        <a:xfrm>
          <a:off x="657658" y="2227389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Сетевые возможности</a:t>
          </a:r>
          <a:endParaRPr lang="ru-RU" sz="2100" kern="1200" noProof="0" dirty="0"/>
        </a:p>
      </dsp:txBody>
      <dsp:txXfrm>
        <a:off x="657658" y="2227389"/>
        <a:ext cx="6149301" cy="445634"/>
      </dsp:txXfrm>
    </dsp:sp>
    <dsp:sp modelId="{EE0B3264-D0FC-41D9-9C87-E5326851657E}">
      <dsp:nvSpPr>
        <dsp:cNvPr id="0" name=""/>
        <dsp:cNvSpPr/>
      </dsp:nvSpPr>
      <dsp:spPr>
        <a:xfrm>
          <a:off x="379136" y="2171685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45373-2A84-4479-9576-4DB838BB502F}">
      <dsp:nvSpPr>
        <dsp:cNvPr id="0" name=""/>
        <dsp:cNvSpPr/>
      </dsp:nvSpPr>
      <dsp:spPr>
        <a:xfrm>
          <a:off x="338329" y="2895628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Назначение </a:t>
          </a:r>
          <a:endParaRPr lang="ru-RU" sz="2100" kern="1200" noProof="0" dirty="0"/>
        </a:p>
      </dsp:txBody>
      <dsp:txXfrm>
        <a:off x="338329" y="2895628"/>
        <a:ext cx="6468629" cy="445634"/>
      </dsp:txXfrm>
    </dsp:sp>
    <dsp:sp modelId="{43260A6F-C33E-431B-84B8-4F29DADB0592}">
      <dsp:nvSpPr>
        <dsp:cNvPr id="0" name=""/>
        <dsp:cNvSpPr/>
      </dsp:nvSpPr>
      <dsp:spPr>
        <a:xfrm>
          <a:off x="59807" y="2839923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379FFB6-878B-4D89-A9F1-908C5F95EE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2E99EC-6DAC-40C4-9CB0-839F706897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BDA83-60F2-4E0C-99F1-3B198C71DA2A}" type="datetimeFigureOut">
              <a:rPr lang="ru-RU" smtClean="0"/>
              <a:t>11.11.2025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36B973-D323-4241-8653-DEF1D8539A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A8A117-4B44-48FF-836C-74493A3812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6BC633-CCA9-47F5-BCED-A56AA433DC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7140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E1020-F5BA-43CF-AAA9-C04B3B12EF98}" type="datetimeFigureOut">
              <a:rPr lang="ru-RU" smtClean="0"/>
              <a:t>11.11.2025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73D1A-6084-4304-99B6-284B940079F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3641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3D1A-6084-4304-99B6-284B940079FF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3175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3D1A-6084-4304-99B6-284B940079F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1286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3D1A-6084-4304-99B6-284B940079FF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7533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3D1A-6084-4304-99B6-284B940079FF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3330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 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5C8F0DE-DCFB-4354-8112-588B45C19F1A}" type="datetime1">
              <a:rPr lang="ru-RU" smtClean="0"/>
              <a:t>11.11.2025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 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87B0E0-754C-4477-80CA-88F8319B7DB8}" type="datetime1">
              <a:rPr lang="ru-RU" smtClean="0"/>
              <a:t>11.11.2025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317EAC1-6C84-442C-8E88-63BE1308B9AD}" type="datetime1">
              <a:rPr lang="ru-RU" smtClean="0"/>
              <a:t>11.11.2025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 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Дата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B404C7-1C11-4173-AE97-ACE1CDB1DA83}" type="datetime1">
              <a:rPr lang="ru-RU" smtClean="0"/>
              <a:t>11.11.2025</a:t>
            </a:fld>
            <a:endParaRPr lang="ru-RU" dirty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 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1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 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 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Дата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1A08C9A-F61E-410C-8D06-F83B63A4711B}" type="datetime1">
              <a:rPr lang="ru-RU" smtClean="0"/>
              <a:t>11.11.2025</a:t>
            </a:fld>
            <a:endParaRPr lang="ru-RU" dirty="0"/>
          </a:p>
        </p:txBody>
      </p:sp>
      <p:sp>
        <p:nvSpPr>
          <p:cNvPr id="8" name="Нижний колонтитул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D3CD88-AC87-4FC1-8AA2-0F05556AC852}" type="datetime1">
              <a:rPr lang="ru-RU" smtClean="0"/>
              <a:t>11.11.2025</a:t>
            </a:fld>
            <a:endParaRPr lang="ru-RU" dirty="0"/>
          </a:p>
        </p:txBody>
      </p:sp>
      <p:sp>
        <p:nvSpPr>
          <p:cNvPr id="4" name="Нижний колонтитул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оугольник 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8" name="Заголовок 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 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B0009C-43A7-442E-9A53-3E5FB03870F2}" type="datetime1">
              <a:rPr lang="ru-RU" smtClean="0"/>
              <a:t>11.11.2025</a:t>
            </a:fld>
            <a:endParaRPr lang="ru-RU" dirty="0"/>
          </a:p>
        </p:txBody>
      </p:sp>
      <p:sp>
        <p:nvSpPr>
          <p:cNvPr id="3" name="Нижний колонтитул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 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9AADAC3-179B-49AA-A8D7-B2E70D0E899B}" type="datetime1">
              <a:rPr lang="ru-RU" smtClean="0"/>
              <a:t>11.11.2025</a:t>
            </a:fld>
            <a:endParaRPr lang="ru-RU" dirty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Щелкните значок, чтобы добавить изображение</a:t>
            </a:r>
            <a:endParaRPr lang="ru-RU" dirty="0"/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E95E6D-EE8A-4AB4-A6E4-CDAE9E775FB7}" type="datetime1">
              <a:rPr lang="ru-RU" smtClean="0"/>
              <a:t>11.11.2025</a:t>
            </a:fld>
            <a:endParaRPr lang="ru-RU" dirty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9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DB28829-F9CE-4A60-BAD2-B30F1BE4EFBD}" type="datetime1">
              <a:rPr lang="ru-RU" smtClean="0"/>
              <a:t>11.11.2025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 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7638BE5-3B62-4C03-A438-E1216F2C074B}" type="datetime1">
              <a:rPr lang="ru-RU" smtClean="0"/>
              <a:t>11.11.2025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585DD959-E34E-4321-8E46-EA4484D707DA}" type="datetime1">
              <a:rPr lang="ru-RU" smtClean="0"/>
              <a:t>11.11.2025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Прямоугольник 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10" name="Прямоугольник 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11" name="Прямоугольник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7.jpeg"/><Relationship Id="rId4" Type="http://schemas.openxmlformats.org/officeDocument/2006/relationships/diagramData" Target="../diagrams/data1.xml"/><Relationship Id="rId9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Прямоугольник 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pic>
        <p:nvPicPr>
          <p:cNvPr id="7" name="Рисунок 6" descr="Цифровые подключения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Группа 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Прямоугольник 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Прямоугольник 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Прямоугольник 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Прямоугольник 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88" y="4566431"/>
            <a:ext cx="10993549" cy="1181551"/>
          </a:xfrm>
        </p:spPr>
        <p:txBody>
          <a:bodyPr rtlCol="0">
            <a:noAutofit/>
          </a:bodyPr>
          <a:lstStyle/>
          <a:p>
            <a:pPr rtl="0"/>
            <a:r>
              <a:rPr lang="ru-RU" sz="4000" dirty="0">
                <a:solidFill>
                  <a:schemeClr val="bg1"/>
                </a:solidFill>
              </a:rPr>
              <a:t>Разница между</a:t>
            </a:r>
            <a:br>
              <a:rPr lang="ru-RU" sz="4000" dirty="0">
                <a:solidFill>
                  <a:schemeClr val="bg1"/>
                </a:solidFill>
              </a:rPr>
            </a:br>
            <a:r>
              <a:rPr lang="ru-RU" sz="4000" dirty="0">
                <a:solidFill>
                  <a:schemeClr val="bg1"/>
                </a:solidFill>
              </a:rPr>
              <a:t>телефоном и смартфоном</a:t>
            </a:r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1" y="5747983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ru-RU" sz="1000" dirty="0">
                <a:solidFill>
                  <a:srgbClr val="7CEBFF"/>
                </a:solidFill>
              </a:rPr>
              <a:t>Выполнил Микуцких Григорий за </a:t>
            </a:r>
            <a:r>
              <a:rPr lang="ru-RU" sz="1000" dirty="0" err="1">
                <a:solidFill>
                  <a:srgbClr val="7CEBFF"/>
                </a:solidFill>
              </a:rPr>
              <a:t>нефильтрацию</a:t>
            </a:r>
            <a:r>
              <a:rPr lang="ru-RU" sz="1000" dirty="0">
                <a:solidFill>
                  <a:srgbClr val="7CEBFF"/>
                </a:solidFill>
              </a:rPr>
              <a:t> своего потока мыслей (трижды)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ru-RU" sz="3200" dirty="0"/>
              <a:t>Понятие «телефон»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96AD14-0AC0-036A-AEA9-A2CDDBED49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Stella Sans"/>
              </a:rPr>
              <a:t>Понятие</a:t>
            </a:r>
            <a:r>
              <a:rPr lang="ru-RU" sz="2000" b="0" i="0" dirty="0">
                <a:effectLst/>
                <a:latin typeface="Stella Sans"/>
              </a:rPr>
              <a:t> «телефон» появилось в конце 19 века, хотя реальное развитие мы увидели только в начале 20 века. </a:t>
            </a:r>
            <a:endParaRPr lang="ru-RU" sz="2000" dirty="0">
              <a:latin typeface="Stella Sans"/>
            </a:endParaRPr>
          </a:p>
          <a:p>
            <a:r>
              <a:rPr lang="ru-RU" sz="2000" b="0" i="0" dirty="0">
                <a:effectLst/>
                <a:latin typeface="Stella Sans"/>
              </a:rPr>
              <a:t>Суть устройства скрыта в его названии:</a:t>
            </a:r>
            <a:br>
              <a:rPr lang="ru-RU" sz="2000" b="0" i="0" dirty="0">
                <a:effectLst/>
                <a:latin typeface="Stella Sans"/>
              </a:rPr>
            </a:br>
            <a:r>
              <a:rPr lang="ru-RU" sz="2000" dirty="0">
                <a:latin typeface="Stella Sans"/>
              </a:rPr>
              <a:t>1. </a:t>
            </a:r>
            <a:r>
              <a:rPr lang="ru-RU" sz="2000" b="0" i="0" dirty="0">
                <a:effectLst/>
                <a:latin typeface="Stella Sans"/>
              </a:rPr>
              <a:t>«теле» (</a:t>
            </a:r>
            <a:r>
              <a:rPr lang="el-GR" sz="2000" b="0" i="0" dirty="0">
                <a:effectLst/>
                <a:latin typeface="Stella Sans"/>
              </a:rPr>
              <a:t>τῆλε</a:t>
            </a:r>
            <a:r>
              <a:rPr lang="ru-RU" sz="2000" b="0" i="0" dirty="0">
                <a:effectLst/>
                <a:latin typeface="Stella Sans"/>
              </a:rPr>
              <a:t>) – расстояние, далеко;</a:t>
            </a:r>
            <a:br>
              <a:rPr lang="ru-RU" sz="2000" dirty="0">
                <a:latin typeface="Stella Sans"/>
              </a:rPr>
            </a:br>
            <a:r>
              <a:rPr lang="ru-RU" sz="2000" dirty="0">
                <a:latin typeface="Stella Sans"/>
              </a:rPr>
              <a:t>2. </a:t>
            </a:r>
            <a:r>
              <a:rPr lang="ru-RU" sz="2000" b="0" i="0" dirty="0">
                <a:effectLst/>
                <a:latin typeface="Stella Sans"/>
              </a:rPr>
              <a:t>«фон» (</a:t>
            </a:r>
            <a:r>
              <a:rPr lang="el-GR" sz="2000" b="0" i="0" dirty="0">
                <a:effectLst/>
                <a:latin typeface="Stella Sans"/>
              </a:rPr>
              <a:t>φωνή</a:t>
            </a:r>
            <a:r>
              <a:rPr lang="ru-RU" sz="2000" b="0" i="0" dirty="0">
                <a:effectLst/>
                <a:latin typeface="Stella Sans"/>
              </a:rPr>
              <a:t>) – звук, голос.</a:t>
            </a:r>
            <a:endParaRPr lang="ru-RU" sz="2000" dirty="0">
              <a:latin typeface="Stella Sans"/>
            </a:endParaRPr>
          </a:p>
          <a:p>
            <a:r>
              <a:rPr lang="ru-RU" sz="2000" dirty="0">
                <a:latin typeface="Stella Sans"/>
              </a:rPr>
              <a:t>«Телефон» =</a:t>
            </a:r>
            <a:r>
              <a:rPr lang="ru-RU" sz="2000" b="0" i="0" dirty="0">
                <a:effectLst/>
                <a:latin typeface="Stella Sans"/>
              </a:rPr>
              <a:t> передача звука на расстоянии. Первые устройства были стационарными, а после добавили «мобильность».</a:t>
            </a:r>
            <a:endParaRPr lang="ru-RU" sz="2000" dirty="0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0043FA40-AD8A-77C9-32AB-5C2681B4382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36" y="2674102"/>
            <a:ext cx="5457478" cy="274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ED1AD-B81A-0410-1B24-15AB57BFC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81530"/>
            <a:ext cx="11029616" cy="1107163"/>
          </a:xfrm>
        </p:spPr>
        <p:txBody>
          <a:bodyPr>
            <a:normAutofit/>
          </a:bodyPr>
          <a:lstStyle/>
          <a:p>
            <a:r>
              <a:rPr lang="ru-RU" sz="3200" dirty="0"/>
              <a:t>Одна из множества принципиальных схем проводного телефона</a:t>
            </a:r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99CF90B8-8197-1A77-D8FA-6BBD21ED6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63" y="2044976"/>
            <a:ext cx="9095874" cy="4356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49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61772E-D911-C908-C6C2-921F9829B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Понятие «Смартфон»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19374B-BB72-9B9D-B333-7E07B3EA1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691270" cy="3900339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Stella Sans"/>
              </a:rPr>
              <a:t>П</a:t>
            </a:r>
            <a:r>
              <a:rPr lang="ru-RU" sz="2000" b="0" i="0" dirty="0">
                <a:effectLst/>
                <a:latin typeface="Stella Sans"/>
              </a:rPr>
              <a:t>ервый «смартфон» появился в 2000 году и назывался Ericsson R380s. Приставка «смарт» обозначала, что устройство является «умным».</a:t>
            </a:r>
          </a:p>
          <a:p>
            <a:r>
              <a:rPr lang="ru-RU" sz="2000" b="0" i="0" dirty="0">
                <a:effectLst/>
                <a:latin typeface="Stella Sans"/>
              </a:rPr>
              <a:t>Со временем начали появляться более продвинутые модели с функциями портативного ПК.</a:t>
            </a:r>
          </a:p>
          <a:p>
            <a:r>
              <a:rPr lang="ru-RU" sz="2000" dirty="0"/>
              <a:t>Мобильный телефон – это переносное средство связи. Позволяет производить и получать звонки и SMS-/MMS-сообщения, имеет выход в Интернет, предоставляет возможность играть в игры. 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0518A121-4A90-7E11-4038-2335F12ED72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075" y="2246872"/>
            <a:ext cx="5422900" cy="359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785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2F8DC-5C80-6E8B-B617-B0203FEC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 ВИДОВ телефонов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743B39-4A41-8480-132E-DFF1824FB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9180" y="1860885"/>
            <a:ext cx="11742820" cy="4828673"/>
          </a:xfrm>
        </p:spPr>
        <p:txBody>
          <a:bodyPr>
            <a:noAutofit/>
          </a:bodyPr>
          <a:lstStyle/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ТЕЛЕФОННЫЕ АППАРАТЫ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├─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I.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СТАЦИОНАРНЫЕ (С начала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XX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века)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├─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II.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МОБИЛЬНЫЕ ТЕЛЕФОНЫ (Эволюция сотовой связи)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├── А. ПЕРВЫЕ МОБИЛЬНЫЕ (1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G/0G) (1970-1990-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е)  (Аналоговая связь) 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│ 	├─ Автомобильные телефоны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│	└─ Первые Портативные "кирпичи" (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Motorola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DynaTAC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├──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Б. КНОПОЧНЫЕ ТЕЛЕФОНЫ 2.2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G/2.5G (1990-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е – ранние 2000-е) (Цифровая связь,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SMS, WAP, GPRS/EDGE)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│	├─ Классические Моноблоки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│	├─ Раскладушки/Слайдеры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│	├─ Бизнес-класс (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Nokia Communicator, T-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серия)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│	└─ Имиджевые/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Fashion-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модели (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Nokia 8800)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├──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В. КОММУНИКАТОРЫ И РАННИЕ СМАРТФОНЫ (Конец 90-х – Середина 2000-х) (Попытки объединить телефон и КПК, ОС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Symbian, Windows Mobile)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│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└─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Устройства с сенсорным/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стилусным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вводом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└── Г. СОВРЕМЕННЫЕ СМАРТФОНЫ (3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G/4G/5G) (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С 2007 года) (Полноценные ОС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Android/iOS,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широкополосный интернет, приложения)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	└── Классификация по назначению и цене: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		├─ Бюджетные/Начального уровня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		├─ Средний класс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		├─ ФЛАГМАНЫ (Премиум)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			└─ СПЕЦИАЛИЗИРОВАННЫЕ: Складные (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Foldable)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, Игровые (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Gaming)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Защищенные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Rugged)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037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Прямоугольник 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pic>
        <p:nvPicPr>
          <p:cNvPr id="8" name="Объект 4" descr="Синяя абстракция, изображающая поток данных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02" b="780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Группа 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Прямоугольник 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Прямоугольник 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Прямоугольник 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63" y="614511"/>
            <a:ext cx="7308069" cy="1703573"/>
          </a:xfrm>
        </p:spPr>
        <p:txBody>
          <a:bodyPr rtlCol="0" anchor="ctr">
            <a:normAutofit fontScale="90000"/>
          </a:bodyPr>
          <a:lstStyle/>
          <a:p>
            <a:pPr rtl="0"/>
            <a:r>
              <a:rPr lang="ru-RU" dirty="0"/>
              <a:t>Ключевые отличия смартфонов 21 века от классических телефонов (мобильных, кнопочных, стационарных)</a:t>
            </a:r>
          </a:p>
        </p:txBody>
      </p:sp>
      <p:graphicFrame>
        <p:nvGraphicFramePr>
          <p:cNvPr id="6" name="Объект 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5564148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2EE39598-D429-7248-73A0-D4F75B845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5425" y="955807"/>
            <a:ext cx="3823012" cy="215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E38B9A85-B806-DFEA-0FA0-747D53BE9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484" y="3429000"/>
            <a:ext cx="3812953" cy="2640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Прямоугольник 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pic>
        <p:nvPicPr>
          <p:cNvPr id="5" name="Рисунок 4" descr="Числа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Прямоугольник 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ru-RU" dirty="0">
                <a:solidFill>
                  <a:srgbClr val="FFFFFF"/>
                </a:solidFill>
              </a:rPr>
              <a:t>Спасибо за внимание!</a:t>
            </a:r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algn="r" rtl="0"/>
            <a:r>
              <a:rPr lang="ru-RU" sz="1100" dirty="0">
                <a:solidFill>
                  <a:schemeClr val="bg2"/>
                </a:solidFill>
              </a:rPr>
              <a:t>Фильтруйте свой поток мыслей.</a:t>
            </a:r>
          </a:p>
        </p:txBody>
      </p:sp>
      <p:grpSp>
        <p:nvGrpSpPr>
          <p:cNvPr id="14" name="Группа 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Прямоугольник 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Прямоугольник 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Прямоугольник 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Шаблон «Дивиденд» для ИТ-бизнеса</Template>
  <TotalTime>89</TotalTime>
  <Words>464</Words>
  <Application>Microsoft Office PowerPoint</Application>
  <PresentationFormat>Широкоэкранный</PresentationFormat>
  <Paragraphs>43</Paragraphs>
  <Slides>7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Corbel</vt:lpstr>
      <vt:lpstr>Stella Sans</vt:lpstr>
      <vt:lpstr>Wingdings 2</vt:lpstr>
      <vt:lpstr>Дивиденд</vt:lpstr>
      <vt:lpstr>Разница между телефоном и смартфоном</vt:lpstr>
      <vt:lpstr>Понятие «телефон»</vt:lpstr>
      <vt:lpstr>Одна из множества принципиальных схем проводного телефона</vt:lpstr>
      <vt:lpstr>Понятие «Смартфон»</vt:lpstr>
      <vt:lpstr>Иерархия ВИДОВ телефонов</vt:lpstr>
      <vt:lpstr>Ключевые отличия смартфонов 21 века от классических телефонов (мобильных, кнопочных, стационарных)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Григорий Микуцких</dc:creator>
  <cp:lastModifiedBy>Григорий Микуцких</cp:lastModifiedBy>
  <cp:revision>5</cp:revision>
  <dcterms:created xsi:type="dcterms:W3CDTF">2025-11-10T07:39:30Z</dcterms:created>
  <dcterms:modified xsi:type="dcterms:W3CDTF">2025-11-11T07:32:29Z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