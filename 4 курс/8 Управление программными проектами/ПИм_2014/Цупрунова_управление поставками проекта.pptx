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7" r:id="rId5"/>
    <p:sldId id="263" r:id="rId6"/>
    <p:sldId id="269" r:id="rId7"/>
    <p:sldId id="261" r:id="rId8"/>
    <p:sldId id="262" r:id="rId9"/>
    <p:sldId id="259" r:id="rId10"/>
    <p:sldId id="264" r:id="rId11"/>
    <p:sldId id="260" r:id="rId12"/>
    <p:sldId id="270" r:id="rId13"/>
    <p:sldId id="266" r:id="rId14"/>
    <p:sldId id="265" r:id="rId15"/>
    <p:sldId id="267" r:id="rId16"/>
    <p:sldId id="268" r:id="rId17"/>
    <p:sldId id="271" r:id="rId18"/>
  </p:sldIdLst>
  <p:sldSz cx="12192000" cy="6858000"/>
  <p:notesSz cx="7023100" cy="93091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82424" autoAdjust="0"/>
  </p:normalViewPr>
  <p:slideViewPr>
    <p:cSldViewPr snapToGrid="0">
      <p:cViewPr varScale="1">
        <p:scale>
          <a:sx n="91" d="100"/>
          <a:sy n="91" d="100"/>
        </p:scale>
        <p:origin x="-126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48"/>
    </p:cViewPr>
  </p:sorterViewPr>
  <p:notesViewPr>
    <p:cSldViewPr snapToGrid="0">
      <p:cViewPr varScale="1">
        <p:scale>
          <a:sx n="68" d="100"/>
          <a:sy n="68" d="100"/>
        </p:scale>
        <p:origin x="3414" y="78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ru-RU"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ru-RU" sz="1200"/>
            </a:lvl1pPr>
          </a:lstStyle>
          <a:p>
            <a:fld id="{2BCAFC7A-71DD-4C2C-B63D-60FDC7DD5449}" type="datetimeFigureOut">
              <a:rPr lang="ru-RU" smtClean="0"/>
              <a:pPr/>
              <a:t>29.10.2014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ru-RU"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ru-RU" sz="1200"/>
            </a:lvl1pPr>
          </a:lstStyle>
          <a:p>
            <a:fld id="{DA6FC261-E491-4C42-A663-B95247CC46D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22031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ru-RU"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ru-RU" sz="1200"/>
            </a:lvl1pPr>
          </a:lstStyle>
          <a:p>
            <a:fld id="{D85ECAFD-F005-4163-B10D-85806DC43F93}" type="datetimeFigureOut">
              <a:rPr/>
              <a:pPr/>
              <a:t>29.11.2013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ru-RU"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ru-RU" sz="1200"/>
            </a:lvl1pPr>
          </a:lstStyle>
          <a:p>
            <a:fld id="{333E963C-1534-4F8D-B2A7-66D81AA25953}" type="slidenum">
              <a:rPr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1185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8792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32057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37284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22894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24450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24427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83063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E963C-1534-4F8D-B2A7-66D81AA2595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14507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64181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43886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04919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57B995-136A-4A15-87A5-26420C3C1021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487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 latinLnBrk="0">
              <a:defRPr lang="ru-RU"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 latinLnBrk="0">
              <a:buNone/>
              <a:defRPr lang="ru-RU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ru-RU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 latinLnBrk="0">
              <a:defRPr lang="ru-RU" sz="4000" b="0" cap="none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ru-RU"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 latinLnBrk="0">
              <a:defRPr lang="ru-RU" sz="1800"/>
            </a:lvl1pPr>
            <a:lvl2pPr latinLnBrk="0">
              <a:defRPr lang="ru-RU" sz="1600"/>
            </a:lvl2pPr>
            <a:lvl3pPr latinLnBrk="0">
              <a:defRPr lang="ru-RU" sz="1400"/>
            </a:lvl3pPr>
            <a:lvl4pPr latinLnBrk="0">
              <a:defRPr lang="ru-RU" sz="1200"/>
            </a:lvl4pPr>
            <a:lvl5pPr latinLnBrk="0">
              <a:defRPr lang="ru-RU" sz="1200"/>
            </a:lvl5pPr>
            <a:lvl6pPr latinLnBrk="0">
              <a:defRPr lang="ru-RU" sz="1200"/>
            </a:lvl6pPr>
            <a:lvl7pPr latinLnBrk="0">
              <a:defRPr lang="ru-RU" sz="1200"/>
            </a:lvl7pPr>
            <a:lvl8pPr latinLnBrk="0">
              <a:defRPr lang="ru-RU" sz="1200"/>
            </a:lvl8pPr>
            <a:lvl9pPr latinLnBrk="0">
              <a:defRPr lang="ru-RU" sz="12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 latinLnBrk="0">
              <a:defRPr lang="ru-RU" sz="1800"/>
            </a:lvl1pPr>
            <a:lvl2pPr latinLnBrk="0">
              <a:defRPr lang="ru-RU" sz="1600"/>
            </a:lvl2pPr>
            <a:lvl3pPr latinLnBrk="0">
              <a:defRPr lang="ru-RU" sz="1400"/>
            </a:lvl3pPr>
            <a:lvl4pPr latinLnBrk="0">
              <a:defRPr lang="ru-RU" sz="1200"/>
            </a:lvl4pPr>
            <a:lvl5pPr latinLnBrk="0">
              <a:defRPr lang="ru-RU" sz="1200"/>
            </a:lvl5pPr>
            <a:lvl6pPr latinLnBrk="0">
              <a:defRPr lang="ru-RU" sz="1200"/>
            </a:lvl6pPr>
            <a:lvl7pPr latinLnBrk="0">
              <a:defRPr lang="ru-RU" sz="1200"/>
            </a:lvl7pPr>
            <a:lvl8pPr latinLnBrk="0">
              <a:defRPr lang="ru-RU" sz="1200"/>
            </a:lvl8pPr>
            <a:lvl9pPr latinLnBrk="0">
              <a:defRPr lang="ru-RU" sz="12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ru-RU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ru-RU" sz="1800"/>
            </a:lvl1pPr>
            <a:lvl2pPr latinLnBrk="0">
              <a:defRPr lang="ru-RU" sz="1600"/>
            </a:lvl2pPr>
            <a:lvl3pPr latinLnBrk="0">
              <a:defRPr lang="ru-RU" sz="1400"/>
            </a:lvl3pPr>
            <a:lvl4pPr latinLnBrk="0">
              <a:defRPr lang="ru-RU" sz="1200"/>
            </a:lvl4pPr>
            <a:lvl5pPr latinLnBrk="0">
              <a:defRPr lang="ru-RU" sz="1200"/>
            </a:lvl5pPr>
            <a:lvl6pPr latinLnBrk="0">
              <a:defRPr lang="ru-RU" sz="1200"/>
            </a:lvl6pPr>
            <a:lvl7pPr latinLnBrk="0">
              <a:defRPr lang="ru-RU" sz="1200"/>
            </a:lvl7pPr>
            <a:lvl8pPr latinLnBrk="0">
              <a:defRPr lang="ru-RU" sz="1200"/>
            </a:lvl8pPr>
            <a:lvl9pPr latinLnBrk="0">
              <a:defRPr lang="ru-RU"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ru-RU" sz="1800"/>
            </a:lvl1pPr>
            <a:lvl2pPr latinLnBrk="0">
              <a:defRPr lang="ru-RU" sz="1600"/>
            </a:lvl2pPr>
            <a:lvl3pPr latinLnBrk="0">
              <a:defRPr lang="ru-RU" sz="1400"/>
            </a:lvl3pPr>
            <a:lvl4pPr latinLnBrk="0">
              <a:defRPr lang="ru-RU" sz="1200"/>
            </a:lvl4pPr>
            <a:lvl5pPr latinLnBrk="0">
              <a:defRPr lang="ru-RU" sz="1200"/>
            </a:lvl5pPr>
            <a:lvl6pPr latinLnBrk="0">
              <a:defRPr lang="ru-RU" sz="1200"/>
            </a:lvl6pPr>
            <a:lvl7pPr latinLnBrk="0">
              <a:defRPr lang="ru-RU" sz="1200"/>
            </a:lvl7pPr>
            <a:lvl8pPr latinLnBrk="0">
              <a:defRPr lang="ru-RU" sz="1200"/>
            </a:lvl8pPr>
            <a:lvl9pPr latinLnBrk="0">
              <a:defRPr lang="ru-RU" sz="12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 знач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 latinLnBrk="0">
              <a:defRPr lang="ru-RU" sz="2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 latinLnBrk="0">
              <a:defRPr lang="ru-RU" sz="2000"/>
            </a:lvl1pPr>
            <a:lvl2pPr latinLnBrk="0">
              <a:defRPr lang="ru-RU" sz="1800"/>
            </a:lvl2pPr>
            <a:lvl3pPr latinLnBrk="0">
              <a:defRPr lang="ru-RU" sz="1600"/>
            </a:lvl3pPr>
            <a:lvl4pPr latinLnBrk="0">
              <a:defRPr lang="ru-RU" sz="1400"/>
            </a:lvl4pPr>
            <a:lvl5pPr latinLnBrk="0">
              <a:defRPr lang="ru-RU" sz="1400"/>
            </a:lvl5pPr>
            <a:lvl6pPr latinLnBrk="0">
              <a:defRPr lang="ru-RU" sz="1400"/>
            </a:lvl6pPr>
            <a:lvl7pPr latinLnBrk="0">
              <a:defRPr lang="ru-RU" sz="1400"/>
            </a:lvl7pPr>
            <a:lvl8pPr latinLnBrk="0">
              <a:defRPr lang="ru-RU" sz="1400"/>
            </a:lvl8pPr>
            <a:lvl9pPr latinLnBrk="0">
              <a:defRPr lang="ru-RU"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 latinLnBrk="0">
              <a:defRPr lang="ru-RU" sz="3600" b="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ru-RU" sz="1600"/>
            </a:lvl1pPr>
            <a:lvl2pPr marL="457200" indent="0" latinLnBrk="0">
              <a:buNone/>
              <a:defRPr lang="ru-RU" sz="2800"/>
            </a:lvl2pPr>
            <a:lvl3pPr marL="914400" indent="0" latinLnBrk="0">
              <a:buNone/>
              <a:defRPr lang="ru-RU" sz="2400"/>
            </a:lvl3pPr>
            <a:lvl4pPr marL="1371600" indent="0" latinLnBrk="0">
              <a:buNone/>
              <a:defRPr lang="ru-RU" sz="2000"/>
            </a:lvl4pPr>
            <a:lvl5pPr marL="1828800" indent="0" latinLnBrk="0">
              <a:buNone/>
              <a:defRPr lang="ru-RU" sz="2000"/>
            </a:lvl5pPr>
            <a:lvl6pPr marL="2286000" indent="0" latinLnBrk="0">
              <a:buNone/>
              <a:defRPr lang="ru-RU" sz="2000"/>
            </a:lvl6pPr>
            <a:lvl7pPr marL="2743200" indent="0" latinLnBrk="0">
              <a:buNone/>
              <a:defRPr lang="ru-RU" sz="2000"/>
            </a:lvl7pPr>
            <a:lvl8pPr marL="3200400" indent="0" latinLnBrk="0">
              <a:buNone/>
              <a:defRPr lang="ru-RU" sz="2000"/>
            </a:lvl8pPr>
            <a:lvl9pPr marL="3657600" indent="0" latinLnBrk="0">
              <a:buNone/>
              <a:defRPr lang="ru-RU" sz="2000"/>
            </a:lvl9pPr>
          </a:lstStyle>
          <a:p>
            <a:r>
              <a:rPr lang="ru-RU" dirty="0"/>
              <a:t>Щелкните значок, чтобы добавить рисунок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Панорамное изобра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 latinLnBrk="0">
              <a:defRPr lang="ru-RU" sz="2400" b="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ru-RU" sz="1600"/>
            </a:lvl1pPr>
            <a:lvl2pPr marL="457200" indent="0" latinLnBrk="0">
              <a:buNone/>
              <a:defRPr lang="ru-RU" sz="2800"/>
            </a:lvl2pPr>
            <a:lvl3pPr marL="914400" indent="0" latinLnBrk="0">
              <a:buNone/>
              <a:defRPr lang="ru-RU" sz="2400"/>
            </a:lvl3pPr>
            <a:lvl4pPr marL="1371600" indent="0" latinLnBrk="0">
              <a:buNone/>
              <a:defRPr lang="ru-RU" sz="2000"/>
            </a:lvl4pPr>
            <a:lvl5pPr marL="1828800" indent="0" latinLnBrk="0">
              <a:buNone/>
              <a:defRPr lang="ru-RU" sz="2000"/>
            </a:lvl5pPr>
            <a:lvl6pPr marL="2286000" indent="0" latinLnBrk="0">
              <a:buNone/>
              <a:defRPr lang="ru-RU" sz="2000"/>
            </a:lvl6pPr>
            <a:lvl7pPr marL="2743200" indent="0" latinLnBrk="0">
              <a:buNone/>
              <a:defRPr lang="ru-RU" sz="2000"/>
            </a:lvl7pPr>
            <a:lvl8pPr marL="3200400" indent="0" latinLnBrk="0">
              <a:buNone/>
              <a:defRPr lang="ru-RU" sz="2000"/>
            </a:lvl8pPr>
            <a:lvl9pPr marL="3657600" indent="0" latinLnBrk="0">
              <a:buNone/>
              <a:defRPr lang="ru-RU" sz="2000"/>
            </a:lvl9pPr>
          </a:lstStyle>
          <a:p>
            <a:r>
              <a:rPr lang="ru-RU"/>
              <a:t>Щелкните значок, чтобы добавить рисунок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 latinLnBrk="0">
              <a:buNone/>
              <a:defRPr lang="ru-RU" sz="12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ние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ru-RU" sz="4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ru-RU" sz="18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едло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574801" y="1650993"/>
            <a:ext cx="7999315" cy="2006608"/>
          </a:xfrm>
        </p:spPr>
        <p:txBody>
          <a:bodyPr/>
          <a:lstStyle>
            <a:lvl1pPr latinLnBrk="0">
              <a:defRPr lang="ru-RU" sz="48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ru-RU" sz="18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Текст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latinLnBrk="0">
              <a:defRPr lang="ru-RU" sz="1400" cap="sm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Поле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r" latinLnBrk="0">
              <a:defRPr lang="ru-RU"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«</a:t>
            </a:r>
          </a:p>
        </p:txBody>
      </p:sp>
      <p:sp>
        <p:nvSpPr>
          <p:cNvPr id="15" name="Поле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r" latinLnBrk="0">
              <a:defRPr lang="ru-RU"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ru-RU"/>
              <a:t>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Именная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 latinLnBrk="0">
              <a:defRPr lang="ru-RU" sz="4000" b="0" cap="none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 latinLnBrk="0">
              <a:buNone/>
              <a:defRPr lang="ru-RU"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ru-RU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ru-RU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менная карточка с предло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574801" y="1678708"/>
            <a:ext cx="7999315" cy="3124201"/>
          </a:xfrm>
        </p:spPr>
        <p:txBody>
          <a:bodyPr/>
          <a:lstStyle>
            <a:lvl1pPr latinLnBrk="0">
              <a:defRPr lang="ru-RU" sz="4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8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Поле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algn="r" latinLnBrk="0">
              <a:defRPr lang="ru-RU"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ru-RU"/>
              <a:t>«</a:t>
            </a:r>
          </a:p>
        </p:txBody>
      </p:sp>
      <p:sp>
        <p:nvSpPr>
          <p:cNvPr id="15" name="Поле 14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lvl="0" algn="r" latinLnBrk="0">
              <a:defRPr lang="ru-RU"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ru-RU"/>
              <a:t>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ru-RU" sz="4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8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Текст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ru-RU" sz="3600" b="0" i="0" kern="1200" cap="none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ru-RU"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Текст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Текст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Текст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толбца с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ru-RU"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ru-RU"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latinLnBrk="0">
              <a:buNone/>
              <a:defRPr lang="ru-RU" sz="2000" b="1"/>
            </a:lvl2pPr>
            <a:lvl3pPr marL="914400" indent="0" latinLnBrk="0">
              <a:buNone/>
              <a:defRPr lang="ru-RU" sz="1800" b="1"/>
            </a:lvl3pPr>
            <a:lvl4pPr marL="1371600" indent="0" latinLnBrk="0">
              <a:buNone/>
              <a:defRPr lang="ru-RU" sz="1600" b="1"/>
            </a:lvl4pPr>
            <a:lvl5pPr marL="1828800" indent="0" latinLnBrk="0">
              <a:buNone/>
              <a:defRPr lang="ru-RU" sz="1600" b="1"/>
            </a:lvl5pPr>
            <a:lvl6pPr marL="2286000" indent="0" latinLnBrk="0">
              <a:buNone/>
              <a:defRPr lang="ru-RU" sz="1600" b="1"/>
            </a:lvl6pPr>
            <a:lvl7pPr marL="2743200" indent="0" latinLnBrk="0">
              <a:buNone/>
              <a:defRPr lang="ru-RU" sz="1600" b="1"/>
            </a:lvl7pPr>
            <a:lvl8pPr marL="3200400" indent="0" latinLnBrk="0">
              <a:buNone/>
              <a:defRPr lang="ru-RU" sz="1600" b="1"/>
            </a:lvl8pPr>
            <a:lvl9pPr marL="3657600" indent="0" latinLnBrk="0">
              <a:buNone/>
              <a:defRPr lang="ru-RU"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Текст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Текст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ru-RU" sz="1400"/>
            </a:lvl1pPr>
            <a:lvl2pPr marL="457200" indent="0" latinLnBrk="0">
              <a:buNone/>
              <a:defRPr lang="ru-RU" sz="1200"/>
            </a:lvl2pPr>
            <a:lvl3pPr marL="914400" indent="0" latinLnBrk="0">
              <a:buNone/>
              <a:defRPr lang="ru-RU" sz="1000"/>
            </a:lvl3pPr>
            <a:lvl4pPr marL="1371600" indent="0" latinLnBrk="0">
              <a:buNone/>
              <a:defRPr lang="ru-RU" sz="900"/>
            </a:lvl4pPr>
            <a:lvl5pPr marL="1828800" indent="0" latinLnBrk="0">
              <a:buNone/>
              <a:defRPr lang="ru-RU" sz="900"/>
            </a:lvl5pPr>
            <a:lvl6pPr marL="2286000" indent="0" latinLnBrk="0">
              <a:buNone/>
              <a:defRPr lang="ru-RU" sz="900"/>
            </a:lvl6pPr>
            <a:lvl7pPr marL="2743200" indent="0" latinLnBrk="0">
              <a:buNone/>
              <a:defRPr lang="ru-RU" sz="900"/>
            </a:lvl7pPr>
            <a:lvl8pPr marL="3200400" indent="0" latinLnBrk="0">
              <a:buNone/>
              <a:defRPr lang="ru-RU" sz="900"/>
            </a:lvl8pPr>
            <a:lvl9pPr marL="3657600" indent="0" latinLnBrk="0">
              <a:buNone/>
              <a:defRPr lang="ru-RU"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Рисунок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ru-RU" sz="1600"/>
            </a:lvl1pPr>
            <a:lvl2pPr marL="457200" indent="0" latinLnBrk="0">
              <a:buNone/>
              <a:defRPr lang="ru-RU" sz="2800"/>
            </a:lvl2pPr>
            <a:lvl3pPr marL="914400" indent="0" latinLnBrk="0">
              <a:buNone/>
              <a:defRPr lang="ru-RU" sz="2400"/>
            </a:lvl3pPr>
            <a:lvl4pPr marL="1371600" indent="0" latinLnBrk="0">
              <a:buNone/>
              <a:defRPr lang="ru-RU" sz="2000"/>
            </a:lvl4pPr>
            <a:lvl5pPr marL="1828800" indent="0" latinLnBrk="0">
              <a:buNone/>
              <a:defRPr lang="ru-RU" sz="2000"/>
            </a:lvl5pPr>
            <a:lvl6pPr marL="2286000" indent="0" latinLnBrk="0">
              <a:buNone/>
              <a:defRPr lang="ru-RU" sz="2000"/>
            </a:lvl6pPr>
            <a:lvl7pPr marL="2743200" indent="0" latinLnBrk="0">
              <a:buNone/>
              <a:defRPr lang="ru-RU" sz="2000"/>
            </a:lvl7pPr>
            <a:lvl8pPr marL="3200400" indent="0" latinLnBrk="0">
              <a:buNone/>
              <a:defRPr lang="ru-RU" sz="2000"/>
            </a:lvl8pPr>
            <a:lvl9pPr marL="3657600" indent="0" latinLnBrk="0">
              <a:buNone/>
              <a:defRPr lang="ru-RU" sz="2000"/>
            </a:lvl9pPr>
          </a:lstStyle>
          <a:p>
            <a:r>
              <a:rPr lang="ru-RU" dirty="0"/>
              <a:t>Щелкните значок, чтобы добавить рисунок</a:t>
            </a:r>
          </a:p>
        </p:txBody>
      </p:sp>
      <p:sp>
        <p:nvSpPr>
          <p:cNvPr id="30" name="Рисунок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ru-RU" sz="1600"/>
            </a:lvl1pPr>
            <a:lvl2pPr marL="457200" indent="0" latinLnBrk="0">
              <a:buNone/>
              <a:defRPr lang="ru-RU" sz="2800"/>
            </a:lvl2pPr>
            <a:lvl3pPr marL="914400" indent="0" latinLnBrk="0">
              <a:buNone/>
              <a:defRPr lang="ru-RU" sz="2400"/>
            </a:lvl3pPr>
            <a:lvl4pPr marL="1371600" indent="0" latinLnBrk="0">
              <a:buNone/>
              <a:defRPr lang="ru-RU" sz="2000"/>
            </a:lvl4pPr>
            <a:lvl5pPr marL="1828800" indent="0" latinLnBrk="0">
              <a:buNone/>
              <a:defRPr lang="ru-RU" sz="2000"/>
            </a:lvl5pPr>
            <a:lvl6pPr marL="2286000" indent="0" latinLnBrk="0">
              <a:buNone/>
              <a:defRPr lang="ru-RU" sz="2000"/>
            </a:lvl6pPr>
            <a:lvl7pPr marL="2743200" indent="0" latinLnBrk="0">
              <a:buNone/>
              <a:defRPr lang="ru-RU" sz="2000"/>
            </a:lvl7pPr>
            <a:lvl8pPr marL="3200400" indent="0" latinLnBrk="0">
              <a:buNone/>
              <a:defRPr lang="ru-RU" sz="2000"/>
            </a:lvl8pPr>
            <a:lvl9pPr marL="3657600" indent="0" latinLnBrk="0">
              <a:buNone/>
              <a:defRPr lang="ru-RU" sz="2000"/>
            </a:lvl9pPr>
          </a:lstStyle>
          <a:p>
            <a:r>
              <a:rPr lang="ru-RU" dirty="0"/>
              <a:t>Щелкните значок, чтобы добавить рисунок</a:t>
            </a:r>
          </a:p>
        </p:txBody>
      </p:sp>
      <p:sp>
        <p:nvSpPr>
          <p:cNvPr id="31" name="Рисунок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ru-RU" sz="1600"/>
            </a:lvl1pPr>
            <a:lvl2pPr marL="457200" indent="0" latinLnBrk="0">
              <a:buNone/>
              <a:defRPr lang="ru-RU" sz="2800"/>
            </a:lvl2pPr>
            <a:lvl3pPr marL="914400" indent="0" latinLnBrk="0">
              <a:buNone/>
              <a:defRPr lang="ru-RU" sz="2400"/>
            </a:lvl3pPr>
            <a:lvl4pPr marL="1371600" indent="0" latinLnBrk="0">
              <a:buNone/>
              <a:defRPr lang="ru-RU" sz="2000"/>
            </a:lvl4pPr>
            <a:lvl5pPr marL="1828800" indent="0" latinLnBrk="0">
              <a:buNone/>
              <a:defRPr lang="ru-RU" sz="2000"/>
            </a:lvl5pPr>
            <a:lvl6pPr marL="2286000" indent="0" latinLnBrk="0">
              <a:buNone/>
              <a:defRPr lang="ru-RU" sz="2000"/>
            </a:lvl6pPr>
            <a:lvl7pPr marL="2743200" indent="0" latinLnBrk="0">
              <a:buNone/>
              <a:defRPr lang="ru-RU" sz="2000"/>
            </a:lvl7pPr>
            <a:lvl8pPr marL="3200400" indent="0" latinLnBrk="0">
              <a:buNone/>
              <a:defRPr lang="ru-RU" sz="2000"/>
            </a:lvl8pPr>
            <a:lvl9pPr marL="3657600" indent="0" latinLnBrk="0">
              <a:buNone/>
              <a:defRPr lang="ru-RU" sz="2000"/>
            </a:lvl9pPr>
          </a:lstStyle>
          <a:p>
            <a:r>
              <a:rPr lang="ru-RU"/>
              <a:t>Щелкните значок, чтобы добавить рисунок</a:t>
            </a: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Название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ое назван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ое название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52463" y="430213"/>
            <a:ext cx="7423149" cy="5826125"/>
          </a:xfrm>
        </p:spPr>
        <p:txBody>
          <a:bodyPr vert="eaVert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Овал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latinLnBrk="0">
              <a:defRPr lang="ru-RU"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ru-RU" smtClean="0"/>
              <a:t>29.11.2013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ru-RU"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latinLnBrk="0">
              <a:defRPr lang="ru-RU"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3" r:id="rId14"/>
    <p:sldLayoutId id="2147483665" r:id="rId15"/>
    <p:sldLayoutId id="2147483669" r:id="rId16"/>
    <p:sldLayoutId id="2147483670" r:id="rId17"/>
    <p:sldLayoutId id="2147483658" r:id="rId18"/>
    <p:sldLayoutId id="2147483659" r:id="rId19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lang="ru-RU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lang="ru-RU">
          <a:solidFill>
            <a:schemeClr val="tx2"/>
          </a:solidFill>
        </a:defRPr>
      </a:lvl2pPr>
      <a:lvl3pPr eaLnBrk="1" latinLnBrk="0" hangingPunct="1">
        <a:defRPr lang="ru-RU">
          <a:solidFill>
            <a:schemeClr val="tx2"/>
          </a:solidFill>
        </a:defRPr>
      </a:lvl3pPr>
      <a:lvl4pPr eaLnBrk="1" latinLnBrk="0" hangingPunct="1">
        <a:defRPr lang="ru-RU">
          <a:solidFill>
            <a:schemeClr val="tx2"/>
          </a:solidFill>
        </a:defRPr>
      </a:lvl4pPr>
      <a:lvl5pPr eaLnBrk="1" latinLnBrk="0" hangingPunct="1">
        <a:defRPr lang="ru-RU">
          <a:solidFill>
            <a:schemeClr val="tx2"/>
          </a:solidFill>
        </a:defRPr>
      </a:lvl5pPr>
      <a:lvl6pPr eaLnBrk="1" latinLnBrk="0" hangingPunct="1">
        <a:defRPr lang="ru-RU">
          <a:solidFill>
            <a:schemeClr val="tx2"/>
          </a:solidFill>
        </a:defRPr>
      </a:lvl6pPr>
      <a:lvl7pPr eaLnBrk="1" latinLnBrk="0" hangingPunct="1">
        <a:defRPr lang="ru-RU">
          <a:solidFill>
            <a:schemeClr val="tx2"/>
          </a:solidFill>
        </a:defRPr>
      </a:lvl7pPr>
      <a:lvl8pPr eaLnBrk="1" latinLnBrk="0" hangingPunct="1">
        <a:defRPr lang="ru-RU">
          <a:solidFill>
            <a:schemeClr val="tx2"/>
          </a:solidFill>
        </a:defRPr>
      </a:lvl8pPr>
      <a:lvl9pPr eaLnBrk="1" latinLnBrk="0" hangingPunct="1">
        <a:defRPr lang="ru-RU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2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2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2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lang="ru-RU" sz="12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ru-RU"/>
      </a:defPPr>
      <a:lvl1pPr marL="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954479" cy="3329581"/>
          </a:xfrm>
        </p:spPr>
        <p:txBody>
          <a:bodyPr/>
          <a:lstStyle/>
          <a:p>
            <a:r>
              <a:rPr lang="ru-RU" dirty="0" smtClean="0"/>
              <a:t>Управление поставками проекта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>
          <a:xfrm>
            <a:off x="330800" y="126897"/>
            <a:ext cx="9404723" cy="1400530"/>
          </a:xfrm>
        </p:spPr>
        <p:txBody>
          <a:bodyPr/>
          <a:lstStyle/>
          <a:p>
            <a:r>
              <a:rPr lang="ru-RU" dirty="0" smtClean="0"/>
              <a:t>Управление поставками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>
          <a:xfrm>
            <a:off x="357352" y="1460938"/>
            <a:ext cx="10930758" cy="478746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800" dirty="0" smtClean="0"/>
              <a:t>  </a:t>
            </a:r>
            <a:r>
              <a:rPr lang="ru-RU" sz="3200" dirty="0" smtClean="0"/>
              <a:t>Управление поставками проекта включает в </a:t>
            </a:r>
            <a:r>
              <a:rPr lang="ru-RU" sz="3200" dirty="0" smtClean="0"/>
              <a:t>себя </a:t>
            </a:r>
            <a:r>
              <a:rPr lang="ru-RU" sz="32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процессы </a:t>
            </a:r>
            <a:r>
              <a:rPr lang="ru-RU" sz="32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покупки или приобретения </a:t>
            </a:r>
            <a:r>
              <a:rPr lang="ru-RU" sz="3200" dirty="0" smtClean="0"/>
              <a:t>тех </a:t>
            </a:r>
            <a:r>
              <a:rPr lang="ru-RU" sz="3200" dirty="0" smtClean="0"/>
              <a:t>необходимых продуктов</a:t>
            </a:r>
            <a:r>
              <a:rPr lang="ru-RU" sz="3200" dirty="0" smtClean="0"/>
              <a:t>, услуг или результатов, </a:t>
            </a:r>
            <a:r>
              <a:rPr lang="ru-RU" sz="3200" dirty="0" smtClean="0"/>
              <a:t>которые производятся </a:t>
            </a:r>
            <a:r>
              <a:rPr lang="ru-RU" sz="3200" dirty="0" smtClean="0"/>
              <a:t>вне исполняющей организации.</a:t>
            </a:r>
          </a:p>
          <a:p>
            <a:pPr>
              <a:buNone/>
              <a:defRPr/>
            </a:pPr>
            <a:r>
              <a:rPr lang="ru-RU" sz="3200" dirty="0" smtClean="0"/>
              <a:t>Поставки рассматриваются с двух точек зрения: </a:t>
            </a:r>
            <a:r>
              <a:rPr lang="ru-RU" sz="32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продавца и покупателя. </a:t>
            </a:r>
            <a:r>
              <a:rPr lang="ru-RU" sz="3200" dirty="0" smtClean="0"/>
              <a:t>Согласно условиям контракта организация может выступать в качестве продавца или покупателя продукта, услуги или результатов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177159" y="286407"/>
            <a:ext cx="8912771" cy="1074057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chemeClr val="tx1"/>
                </a:solidFill>
              </a:rPr>
              <a:t>Пример значимости управления поставками  </a:t>
            </a: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702676" y="1594626"/>
            <a:ext cx="7871440" cy="3292685"/>
          </a:xfrm>
        </p:spPr>
        <p:txBody>
          <a:bodyPr/>
          <a:lstStyle/>
          <a:p>
            <a:r>
              <a:rPr lang="ru-RU" sz="2000" dirty="0" smtClean="0"/>
              <a:t>Фирма по торговле живыми цветами, Голландия</a:t>
            </a:r>
            <a:br>
              <a:rPr lang="ru-RU" sz="2000" dirty="0" smtClean="0"/>
            </a:br>
            <a:r>
              <a:rPr lang="ru-RU" sz="2000" dirty="0" smtClean="0"/>
              <a:t>• Цветы доставляются за 24 часа из любой </a:t>
            </a:r>
            <a:r>
              <a:rPr lang="ru-RU" sz="2000" dirty="0" smtClean="0"/>
              <a:t>точки мира </a:t>
            </a:r>
            <a:r>
              <a:rPr lang="ru-RU" sz="2000" dirty="0" smtClean="0"/>
              <a:t>в Голландию</a:t>
            </a:r>
            <a:br>
              <a:rPr lang="ru-RU" sz="2000" dirty="0" smtClean="0"/>
            </a:br>
            <a:r>
              <a:rPr lang="ru-RU" sz="2000" dirty="0" smtClean="0"/>
              <a:t>• Цветы доставляются к конечным продавцам в </a:t>
            </a:r>
            <a:r>
              <a:rPr lang="ru-RU" sz="2000" dirty="0" smtClean="0"/>
              <a:t>50 странах </a:t>
            </a:r>
            <a:r>
              <a:rPr lang="ru-RU" sz="2000" dirty="0" smtClean="0"/>
              <a:t>за 24 часа</a:t>
            </a:r>
            <a:br>
              <a:rPr lang="ru-RU" sz="2000" dirty="0" smtClean="0"/>
            </a:br>
            <a:r>
              <a:rPr lang="ru-RU" sz="2000" dirty="0" smtClean="0"/>
              <a:t>• За это время они проходят контроль </a:t>
            </a:r>
            <a:r>
              <a:rPr lang="ru-RU" sz="2000" dirty="0" smtClean="0"/>
              <a:t>качества, сортируются</a:t>
            </a:r>
            <a:r>
              <a:rPr lang="ru-RU" sz="2000" dirty="0" smtClean="0"/>
              <a:t>, проходят аукцион , </a:t>
            </a:r>
            <a:r>
              <a:rPr lang="ru-RU" sz="2000" dirty="0" smtClean="0"/>
              <a:t>упаковываются, доставляются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• Сотни поставщиков </a:t>
            </a:r>
            <a:r>
              <a:rPr lang="ru-RU" sz="2000" dirty="0" smtClean="0"/>
              <a:t>цветов, сотни </a:t>
            </a:r>
            <a:r>
              <a:rPr lang="ru-RU" sz="2000" dirty="0" smtClean="0"/>
              <a:t>наименований цветов</a:t>
            </a:r>
            <a:br>
              <a:rPr lang="ru-RU" sz="2000" dirty="0" smtClean="0"/>
            </a:br>
            <a:r>
              <a:rPr lang="ru-RU" sz="2000" dirty="0" smtClean="0"/>
              <a:t>• 50 экспортеров, участвующих в аукционах</a:t>
            </a:r>
            <a:br>
              <a:rPr lang="ru-RU" sz="2000" dirty="0" smtClean="0"/>
            </a:br>
            <a:r>
              <a:rPr lang="ru-RU" sz="2000" dirty="0" smtClean="0"/>
              <a:t>• 10-20 миллионов стеблей в сутки!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xmlns="" val="3108204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>
          <a:xfrm>
            <a:off x="341311" y="158428"/>
            <a:ext cx="9404723" cy="1400530"/>
          </a:xfrm>
        </p:spPr>
        <p:txBody>
          <a:bodyPr/>
          <a:lstStyle/>
          <a:p>
            <a:r>
              <a:rPr lang="ru-RU" dirty="0" smtClean="0"/>
              <a:t>Управление поставками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>
          <a:xfrm>
            <a:off x="241738" y="1429407"/>
            <a:ext cx="11130455" cy="5171089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ru-RU" sz="2600" dirty="0" smtClean="0"/>
              <a:t>Управление поставками проекта включает в себя процессы управления контрактом и управления изменениями, необходимые для администрирования контрактов или заказов на покупку, подготовленных членами команды проекта</a:t>
            </a:r>
            <a:r>
              <a:rPr lang="ru-RU" sz="2600" dirty="0" smtClean="0"/>
              <a:t>.</a:t>
            </a:r>
          </a:p>
          <a:p>
            <a:pPr>
              <a:buFont typeface="Arial" pitchFamily="34" charset="0"/>
              <a:buChar char="•"/>
              <a:defRPr/>
            </a:pPr>
            <a:endParaRPr lang="ru-RU" sz="2600" dirty="0" smtClean="0"/>
          </a:p>
          <a:p>
            <a:pPr>
              <a:buFont typeface="Arial" pitchFamily="34" charset="0"/>
              <a:buChar char="•"/>
              <a:defRPr/>
            </a:pPr>
            <a:r>
              <a:rPr lang="ru-RU" sz="2600" dirty="0" smtClean="0"/>
              <a:t>Управление поставками проекта также предусматривает администрирование всех контрактов на приобретение, заключенных сторонней организацией (покупателем) с исполняющей организацией (продавцом), а также администрирование контрактных обязательств команды проекта</a:t>
            </a:r>
            <a:r>
              <a:rPr lang="ru-RU" sz="2600" dirty="0" smtClean="0"/>
              <a:t>.</a:t>
            </a:r>
            <a:endParaRPr lang="ru-RU" sz="26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процессы у</a:t>
            </a:r>
            <a:r>
              <a:rPr lang="ru-RU" dirty="0" smtClean="0"/>
              <a:t>правления поставками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2800" dirty="0" smtClean="0"/>
              <a:t>• 12.1 Планирование покупок и приобретений</a:t>
            </a:r>
          </a:p>
          <a:p>
            <a:pPr>
              <a:buNone/>
            </a:pPr>
            <a:r>
              <a:rPr lang="ru-RU" sz="2800" dirty="0" smtClean="0"/>
              <a:t>• 12.2 Планирование контрактов</a:t>
            </a:r>
          </a:p>
          <a:p>
            <a:pPr>
              <a:buNone/>
            </a:pPr>
            <a:r>
              <a:rPr lang="ru-RU" sz="2800" dirty="0" smtClean="0"/>
              <a:t>• 12.3 Запрос информации у продавцов</a:t>
            </a:r>
          </a:p>
          <a:p>
            <a:pPr>
              <a:buNone/>
            </a:pPr>
            <a:r>
              <a:rPr lang="ru-RU" sz="2800" dirty="0" smtClean="0"/>
              <a:t>• 12.4 Выбор продавцов</a:t>
            </a:r>
          </a:p>
          <a:p>
            <a:pPr>
              <a:buNone/>
            </a:pPr>
            <a:r>
              <a:rPr lang="ru-RU" sz="2800" dirty="0" smtClean="0"/>
              <a:t>• 12.5 Администрирование контрактов</a:t>
            </a:r>
          </a:p>
          <a:p>
            <a:pPr>
              <a:buNone/>
            </a:pPr>
            <a:r>
              <a:rPr lang="ru-RU" sz="2800" dirty="0" smtClean="0"/>
              <a:t>• 12.6 Закрытие контрактов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Планирование покупок и приобретений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>
          <a:xfrm>
            <a:off x="588580" y="2052918"/>
            <a:ext cx="10625958" cy="419548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3200" dirty="0" smtClean="0"/>
              <a:t>В процессе планирования покупок и приобретений устанавливается, какие нужды проекта можно удовлетворить путем закупок товаров, услуг или результатов у сторонних по отношению к проекту организаций, а какие нужды проекта можно удовлетворить силами команды проекта в процессе выполнения проекта.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>
          <a:xfrm>
            <a:off x="425394" y="189960"/>
            <a:ext cx="9404723" cy="1400530"/>
          </a:xfrm>
        </p:spPr>
        <p:txBody>
          <a:bodyPr/>
          <a:lstStyle/>
          <a:p>
            <a:r>
              <a:rPr lang="ru-RU" dirty="0" smtClean="0"/>
              <a:t>Планирование покупок и </a:t>
            </a:r>
            <a:r>
              <a:rPr lang="ru-RU" dirty="0" smtClean="0"/>
              <a:t>приобретений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 smtClean="0"/>
          </a:p>
          <a:p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1228" y="2128345"/>
            <a:ext cx="11666482" cy="472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>
            <a:spLocks noGrp="1"/>
          </p:cNvSpPr>
          <p:nvPr>
            <p:ph type="title"/>
          </p:nvPr>
        </p:nvSpPr>
        <p:spPr>
          <a:xfrm>
            <a:off x="341311" y="284552"/>
            <a:ext cx="9404723" cy="1400530"/>
          </a:xfrm>
        </p:spPr>
        <p:txBody>
          <a:bodyPr/>
          <a:lstStyle/>
          <a:p>
            <a:r>
              <a:rPr lang="ru-RU" sz="4400" dirty="0" smtClean="0"/>
              <a:t>Планирование контрактов</a:t>
            </a:r>
            <a:endParaRPr lang="ru-RU" dirty="0"/>
          </a:p>
        </p:txBody>
      </p:sp>
      <p:sp>
        <p:nvSpPr>
          <p:cNvPr id="5" name="Прямоугольник 4"/>
          <p:cNvSpPr>
            <a:spLocks noGrp="1"/>
          </p:cNvSpPr>
          <p:nvPr>
            <p:ph idx="1"/>
          </p:nvPr>
        </p:nvSpPr>
        <p:spPr>
          <a:xfrm>
            <a:off x="640857" y="1201582"/>
            <a:ext cx="9985102" cy="1110696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В процессе планирования контрактов происходит подготовка документов, необходимых для поддержки запроса информации у продавцов и выбора продавцов.</a:t>
            </a:r>
            <a:endParaRPr lang="ru-RU" dirty="0" smtClean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143" y="2281350"/>
            <a:ext cx="11624443" cy="4462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336331" y="333811"/>
            <a:ext cx="10184524" cy="1148148"/>
          </a:xfrm>
        </p:spPr>
        <p:txBody>
          <a:bodyPr/>
          <a:lstStyle/>
          <a:p>
            <a:r>
              <a:rPr lang="ru-RU" sz="4400" dirty="0" smtClean="0"/>
              <a:t>Запрос информации у продавцов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315310" y="1156138"/>
            <a:ext cx="11151475" cy="1292773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Запрос информации у продавцов подразумевает получение от предполагаемых поставщиков ответов в виде предложений цены и заявок на удовлетворение требований проекта.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654" y="2144110"/>
            <a:ext cx="11561379" cy="4503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114842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>
            <a:spLocks noGrp="1"/>
          </p:cNvSpPr>
          <p:nvPr>
            <p:ph type="title"/>
          </p:nvPr>
        </p:nvSpPr>
        <p:spPr>
          <a:xfrm>
            <a:off x="225697" y="147918"/>
            <a:ext cx="9404723" cy="1400530"/>
          </a:xfrm>
        </p:spPr>
        <p:txBody>
          <a:bodyPr/>
          <a:lstStyle/>
          <a:p>
            <a:r>
              <a:rPr lang="ru-RU" sz="4400" dirty="0" smtClean="0"/>
              <a:t>Выбор продавцов</a:t>
            </a:r>
            <a:endParaRPr lang="ru-RU" dirty="0"/>
          </a:p>
        </p:txBody>
      </p:sp>
      <p:sp>
        <p:nvSpPr>
          <p:cNvPr id="5" name="Прямоугольник 4"/>
          <p:cNvSpPr>
            <a:spLocks noGrp="1"/>
          </p:cNvSpPr>
          <p:nvPr>
            <p:ph idx="1"/>
          </p:nvPr>
        </p:nvSpPr>
        <p:spPr>
          <a:xfrm>
            <a:off x="220717" y="1114098"/>
            <a:ext cx="11140965" cy="1324302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В процессе выбора продавцов получаются заявки или предложения от продавцов, которые оцениваются на основании выработанных критериев для выбора одного или нескольких поставщиков, которых можно рассматривать и как квалифицированных и как приемлемых (по цене) продавцов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123" y="2361772"/>
            <a:ext cx="11655973" cy="4350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>
          <a:xfrm>
            <a:off x="388883" y="452718"/>
            <a:ext cx="9661951" cy="1400530"/>
          </a:xfrm>
        </p:spPr>
        <p:txBody>
          <a:bodyPr/>
          <a:lstStyle/>
          <a:p>
            <a:r>
              <a:rPr lang="ru-RU" sz="4400" dirty="0" smtClean="0"/>
              <a:t>Администрирование контрактов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>
          <a:xfrm>
            <a:off x="336057" y="1233112"/>
            <a:ext cx="10794398" cy="1867440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И покупатель, и продавец при администрировании контрактов преследую одни и те же цели. Каждая сторона желает убедиться в том, что он сам и партнер выполняют свои обязанности, предусмотренные контрактом, и в том, что их юридические права защищены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675" y="2591872"/>
            <a:ext cx="11372193" cy="4266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2096"/>
          </a:xfrm>
        </p:spPr>
        <p:txBody>
          <a:bodyPr/>
          <a:lstStyle/>
          <a:p>
            <a:r>
              <a:rPr lang="ru-RU" sz="4400" dirty="0" smtClean="0"/>
              <a:t>Закрытие контрактов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>
          <a:xfrm>
            <a:off x="336057" y="1180560"/>
            <a:ext cx="10205819" cy="12683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Процесс закрытия контракта поддерживает процесс завершения проекта, поскольку </a:t>
            </a:r>
            <a:r>
              <a:rPr lang="ru-RU" dirty="0" smtClean="0"/>
              <a:t>включает в себя подтверждение того, что все работы и результаты выполнены в надлежащем виде и могут быть приняты.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945" y="2464940"/>
            <a:ext cx="11004331" cy="4235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Прямоугольник 2"/>
          <p:cNvSpPr>
            <a:spLocks noGrp="1"/>
          </p:cNvSpPr>
          <p:nvPr>
            <p:ph idx="1"/>
          </p:nvPr>
        </p:nvSpPr>
        <p:spPr>
          <a:xfrm>
            <a:off x="367861" y="1271752"/>
            <a:ext cx="11130455" cy="5013434"/>
          </a:xfrm>
        </p:spPr>
        <p:txBody>
          <a:bodyPr>
            <a:normAutofit/>
          </a:bodyPr>
          <a:lstStyle/>
          <a:p>
            <a:r>
              <a:rPr lang="ru-RU" dirty="0" smtClean="0"/>
              <a:t>Управление поставками – важный процесс </a:t>
            </a:r>
            <a:r>
              <a:rPr lang="ru-RU" dirty="0" smtClean="0"/>
              <a:t>управления проектами</a:t>
            </a:r>
            <a:r>
              <a:rPr lang="ru-RU" dirty="0" smtClean="0"/>
              <a:t>. Планирование поставок необходимо </a:t>
            </a:r>
            <a:r>
              <a:rPr lang="ru-RU" dirty="0" smtClean="0"/>
              <a:t>производить до </a:t>
            </a:r>
            <a:r>
              <a:rPr lang="ru-RU" dirty="0" smtClean="0"/>
              <a:t>окончания планирования </a:t>
            </a:r>
            <a:r>
              <a:rPr lang="ru-RU" dirty="0" smtClean="0"/>
              <a:t>самого проекта, а так же его бюджета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Управление поставками включает: планирование </a:t>
            </a:r>
            <a:r>
              <a:rPr lang="ru-RU" dirty="0" smtClean="0"/>
              <a:t>закупок, планирование </a:t>
            </a:r>
            <a:r>
              <a:rPr lang="ru-RU" dirty="0" smtClean="0"/>
              <a:t>контрактов, запрос информации, </a:t>
            </a:r>
            <a:r>
              <a:rPr lang="ru-RU" dirty="0" smtClean="0"/>
              <a:t>выбор поставщиков</a:t>
            </a:r>
            <a:r>
              <a:rPr lang="ru-RU" dirty="0" smtClean="0"/>
              <a:t>, администрирование и закрытие контрактов</a:t>
            </a:r>
          </a:p>
          <a:p>
            <a:r>
              <a:rPr lang="ru-RU" dirty="0" smtClean="0"/>
              <a:t> </a:t>
            </a:r>
            <a:r>
              <a:rPr lang="ru-RU" dirty="0" smtClean="0"/>
              <a:t>Необходима деятельность по оценке качества </a:t>
            </a:r>
            <a:r>
              <a:rPr lang="ru-RU" dirty="0" smtClean="0"/>
              <a:t>контрактов поставщиков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Взаимодействие с поставщиками должно проводиться </a:t>
            </a:r>
            <a:r>
              <a:rPr lang="ru-RU" dirty="0" smtClean="0"/>
              <a:t>на постоянной </a:t>
            </a:r>
            <a:r>
              <a:rPr lang="ru-RU" dirty="0" smtClean="0"/>
              <a:t>плановой основе, пока не закончен </a:t>
            </a:r>
            <a:r>
              <a:rPr lang="ru-RU" dirty="0" smtClean="0"/>
              <a:t>контракт. Необходимо заинтересовать </a:t>
            </a:r>
            <a:r>
              <a:rPr lang="ru-RU" dirty="0" smtClean="0"/>
              <a:t>поставщика заранее давать информацию </a:t>
            </a:r>
            <a:r>
              <a:rPr lang="ru-RU" dirty="0" smtClean="0"/>
              <a:t>о проблемах</a:t>
            </a:r>
            <a:r>
              <a:rPr lang="ru-RU" dirty="0" smtClean="0"/>
              <a:t>, повышающих риски.</a:t>
            </a:r>
          </a:p>
          <a:p>
            <a:r>
              <a:rPr lang="ru-RU" dirty="0" smtClean="0"/>
              <a:t> </a:t>
            </a:r>
            <a:r>
              <a:rPr lang="ru-RU" dirty="0" smtClean="0"/>
              <a:t>Правильное управление поставками может и </a:t>
            </a:r>
            <a:r>
              <a:rPr lang="ru-RU" dirty="0" smtClean="0"/>
              <a:t>должно </a:t>
            </a:r>
            <a:r>
              <a:rPr lang="ru-RU" b="1" dirty="0" smtClean="0"/>
              <a:t>снижать </a:t>
            </a:r>
            <a:r>
              <a:rPr lang="ru-RU" b="1" dirty="0" smtClean="0"/>
              <a:t>риски проекта.</a:t>
            </a:r>
          </a:p>
          <a:p>
            <a:r>
              <a:rPr lang="ru-RU" dirty="0" smtClean="0"/>
              <a:t> </a:t>
            </a:r>
            <a:r>
              <a:rPr lang="ru-RU" dirty="0" smtClean="0"/>
              <a:t>Организация, постоянно осуществляющая закупки, </a:t>
            </a:r>
            <a:r>
              <a:rPr lang="ru-RU" dirty="0" smtClean="0"/>
              <a:t>должна иметь </a:t>
            </a:r>
            <a:r>
              <a:rPr lang="ru-RU" b="1" dirty="0" smtClean="0"/>
              <a:t>простую, прозрачную систему для оценки и </a:t>
            </a:r>
            <a:r>
              <a:rPr lang="ru-RU" b="1" dirty="0" smtClean="0"/>
              <a:t>отбора </a:t>
            </a:r>
            <a:r>
              <a:rPr lang="ru-RU" dirty="0" smtClean="0"/>
              <a:t>поставщиков</a:t>
            </a:r>
            <a:r>
              <a:rPr lang="ru-RU" dirty="0" smtClean="0"/>
              <a:t>, заполненный </a:t>
            </a:r>
            <a:r>
              <a:rPr lang="ru-RU" b="1" dirty="0" smtClean="0"/>
              <a:t>реестр </a:t>
            </a:r>
            <a:r>
              <a:rPr lang="ru-RU" b="1" dirty="0" smtClean="0"/>
              <a:t>поставщиков.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82139" y="2565297"/>
            <a:ext cx="9404723" cy="1400530"/>
          </a:xfrm>
        </p:spPr>
        <p:txBody>
          <a:bodyPr/>
          <a:lstStyle/>
          <a:p>
            <a:pPr algn="ctr"/>
            <a:r>
              <a:rPr lang="ru-RU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Спасибо з</a:t>
            </a:r>
            <a:r>
              <a:rPr lang="ru-RU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а внимание!</a:t>
            </a:r>
            <a:endParaRPr lang="ru-R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3470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963da7b6adcce266b475acf6383ebea6867c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Форма библиотеки документов</Display>
  <Edit>Форма библиотеки документов</Edit>
  <New>Форма библиотеки документов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Это значение указывает на число сохранений и редакций. Программа отвечает за обновление этого значения после каждой редакции.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9BA7C2-4A1B-4334-9242-10ABBE6BB2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E313E4-9D2E-4DE5-8A91-B07E8A8D6A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2F7BC3D-343D-4DA0-9250-F5099A56683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516</Words>
  <Application>Microsoft Office PowerPoint</Application>
  <PresentationFormat>Произвольный</PresentationFormat>
  <Paragraphs>69</Paragraphs>
  <Slides>14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Ион</vt:lpstr>
      <vt:lpstr>Управление поставками проекта</vt:lpstr>
      <vt:lpstr>Управление поставками</vt:lpstr>
      <vt:lpstr>Фирма по торговле живыми цветами, Голландия • Цветы доставляются за 24 часа из любой точки мира в Голландию • Цветы доставляются к конечным продавцам в 50 странах за 24 часа • За это время они проходят контроль качества, сортируются, проходят аукцион , упаковываются, доставляются • Сотни поставщиков цветов, сотни наименований цветов • 50 экспортеров, участвующих в аукционах • 10-20 миллионов стеблей в сутки!</vt:lpstr>
      <vt:lpstr>Управление поставками</vt:lpstr>
      <vt:lpstr>Основные процессы управления поставками</vt:lpstr>
      <vt:lpstr>Планирование покупок и приобретений</vt:lpstr>
      <vt:lpstr>Планирование покупок и приобретений</vt:lpstr>
      <vt:lpstr>Планирование контрактов</vt:lpstr>
      <vt:lpstr>Запрос информации у продавцов</vt:lpstr>
      <vt:lpstr>Выбор продавцов</vt:lpstr>
      <vt:lpstr>Администрирование контрактов</vt:lpstr>
      <vt:lpstr>Закрытие контрактов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организации</dc:title>
  <dc:creator>Сисадмин</dc:creator>
  <cp:lastModifiedBy>Сисадмин</cp:lastModifiedBy>
  <cp:revision>24</cp:revision>
  <dcterms:created xsi:type="dcterms:W3CDTF">2013-04-05T19:56:08Z</dcterms:created>
  <dcterms:modified xsi:type="dcterms:W3CDTF">2014-10-29T13:54:29Z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</Properties>
</file>