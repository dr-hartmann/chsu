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-2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09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20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42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09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177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365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39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8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441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6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8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F344F-57B6-41B8-BF56-7CEA9E475010}" type="datetimeFigureOut">
              <a:rPr lang="ru-RU" smtClean="0"/>
              <a:t>21.10.2014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13457-7BE9-4733-B3C7-BBE727BC26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46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Управление рисками проекта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>
            <a:normAutofit/>
          </a:bodyPr>
          <a:lstStyle/>
          <a:p>
            <a:pPr algn="r"/>
            <a:r>
              <a:rPr lang="ru-RU" sz="2000" dirty="0" smtClean="0"/>
              <a:t>Оловянишникова Д.В.</a:t>
            </a:r>
          </a:p>
          <a:p>
            <a:pPr algn="r"/>
            <a:r>
              <a:rPr lang="ru-RU" sz="2000" dirty="0" smtClean="0"/>
              <a:t>1ПИм-01-11оп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05281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b="1" dirty="0"/>
              <a:t>Управление рисками проекта </a:t>
            </a:r>
            <a:r>
              <a:rPr lang="ru-RU" sz="1800" dirty="0"/>
              <a:t>включает в себя процессы, относящиеся к планированию управления рисками, их идентификации и анализу, реагированию на риски, мониторингу и управления рисками проекта. </a:t>
            </a:r>
            <a:endParaRPr lang="ru-RU" sz="1800" dirty="0" smtClean="0"/>
          </a:p>
          <a:p>
            <a:pPr marL="0" indent="0" algn="just">
              <a:buNone/>
            </a:pPr>
            <a:r>
              <a:rPr lang="ru-RU" sz="1800" b="1" dirty="0" smtClean="0"/>
              <a:t>Цели </a:t>
            </a:r>
            <a:r>
              <a:rPr lang="ru-RU" sz="1800" b="1" dirty="0"/>
              <a:t>управления рисками проекта </a:t>
            </a:r>
            <a:r>
              <a:rPr lang="ru-RU" sz="1800" dirty="0"/>
              <a:t>– повышение вероятности возникновения и воздействия благоприятных событий и снижение вероятности возникновения и воздействия неблагоприятных для проекта событий. </a:t>
            </a:r>
            <a:endParaRPr lang="ru-RU" sz="1800" dirty="0" smtClean="0"/>
          </a:p>
          <a:p>
            <a:pPr marL="0" indent="0" algn="just">
              <a:buNone/>
            </a:pPr>
            <a:endParaRPr lang="ru-RU" sz="1800" dirty="0" smtClean="0"/>
          </a:p>
          <a:p>
            <a:pPr marL="0" indent="0" algn="just">
              <a:buNone/>
            </a:pPr>
            <a:r>
              <a:rPr lang="ru-RU" sz="1800" dirty="0" smtClean="0"/>
              <a:t>Процессы управления рисками проекта включают в себя следующие:</a:t>
            </a:r>
          </a:p>
          <a:p>
            <a:pPr algn="just">
              <a:buAutoNum type="arabicParenR"/>
            </a:pPr>
            <a:r>
              <a:rPr lang="ru-RU" sz="1800" b="1" dirty="0" smtClean="0"/>
              <a:t>Планирование </a:t>
            </a:r>
            <a:r>
              <a:rPr lang="ru-RU" sz="1800" b="1" dirty="0"/>
              <a:t>управления рисками </a:t>
            </a:r>
            <a:endParaRPr lang="ru-RU" sz="1800" b="1" dirty="0" smtClean="0"/>
          </a:p>
          <a:p>
            <a:pPr algn="just">
              <a:buAutoNum type="arabicParenR"/>
            </a:pPr>
            <a:r>
              <a:rPr lang="ru-RU" sz="1800" b="1" dirty="0" smtClean="0"/>
              <a:t>Идентификация рисков</a:t>
            </a:r>
          </a:p>
          <a:p>
            <a:pPr algn="just">
              <a:buAutoNum type="arabicParenR"/>
            </a:pPr>
            <a:r>
              <a:rPr lang="ru-RU" sz="1800" b="1" dirty="0" smtClean="0"/>
              <a:t>Качественный анализ рисков</a:t>
            </a:r>
          </a:p>
          <a:p>
            <a:pPr algn="just">
              <a:buAutoNum type="arabicParenR"/>
            </a:pPr>
            <a:r>
              <a:rPr lang="ru-RU" sz="1800" b="1" dirty="0" smtClean="0"/>
              <a:t>Количественный анализ рисков</a:t>
            </a:r>
          </a:p>
          <a:p>
            <a:pPr algn="just">
              <a:buAutoNum type="arabicParenR"/>
            </a:pPr>
            <a:r>
              <a:rPr lang="ru-RU" sz="1800" b="1" dirty="0" smtClean="0"/>
              <a:t>Планирование реагирования на риски</a:t>
            </a:r>
          </a:p>
          <a:p>
            <a:pPr algn="just">
              <a:buAutoNum type="arabicParenR"/>
            </a:pPr>
            <a:r>
              <a:rPr lang="ru-RU" sz="1800" b="1" dirty="0" smtClean="0"/>
              <a:t>Мониторинг и управление рисками</a:t>
            </a:r>
            <a:endParaRPr lang="ru-RU" sz="1800" dirty="0" smtClean="0"/>
          </a:p>
        </p:txBody>
      </p:sp>
    </p:spTree>
    <p:extLst>
      <p:ext uri="{BB962C8B-B14F-4D97-AF65-F5344CB8AC3E}">
        <p14:creationId xmlns:p14="http://schemas.microsoft.com/office/powerpoint/2010/main" val="313921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Общая схема процессов управления рисками проекта</a:t>
            </a:r>
            <a:endParaRPr lang="ru-RU" sz="20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908720"/>
            <a:ext cx="6264696" cy="5754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597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Диаграмма зависимостей процессов</a:t>
            </a:r>
            <a:endParaRPr lang="ru-RU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24744"/>
            <a:ext cx="5472608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5584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1) Планирование управления рисками</a:t>
            </a:r>
            <a:endParaRPr lang="ru-RU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Планирование управления рисками – это процесс определения подходов и планирования операций по управлению рисками проекта. Планирование процессов управления рисками позволяет обеспечить соразмерность уровня, типа и прозрачности управления рисками как самому риску, так и значению проекта для организации, а также выделить достаточное количество времени и ресурсов для выполнения операций по управлению рисками и определить общее основание для оценки рисков.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3284984"/>
            <a:ext cx="654396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102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1) Планирование управления рисками</a:t>
            </a:r>
            <a:endParaRPr lang="ru-RU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Факторы внешней среды предприятия</a:t>
            </a:r>
          </a:p>
          <a:p>
            <a:pPr>
              <a:buAutoNum type="arabicPeriod"/>
            </a:pPr>
            <a:r>
              <a:rPr lang="ru-RU" sz="1800" dirty="0" smtClean="0"/>
              <a:t>Активы организационного процесса</a:t>
            </a:r>
          </a:p>
          <a:p>
            <a:pPr>
              <a:buAutoNum type="arabicPeriod"/>
            </a:pPr>
            <a:r>
              <a:rPr lang="ru-RU" sz="1800" dirty="0" smtClean="0"/>
              <a:t>Описание содержания проекта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проектом</a:t>
            </a:r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Совещания по планированию и анализ</a:t>
            </a:r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72685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1) Планирование управления рисками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ru-RU" sz="1800" b="1" dirty="0" smtClean="0"/>
              <a:t>Выходы: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рисками</a:t>
            </a:r>
          </a:p>
          <a:p>
            <a:pPr marL="0" indent="0">
              <a:buNone/>
            </a:pPr>
            <a:r>
              <a:rPr lang="ru-RU" sz="1800" dirty="0" smtClean="0"/>
              <a:t>Включает в себя:</a:t>
            </a:r>
          </a:p>
          <a:p>
            <a:pPr>
              <a:buFontTx/>
              <a:buChar char="-"/>
            </a:pPr>
            <a:r>
              <a:rPr lang="ru-RU" sz="1800" dirty="0" smtClean="0"/>
              <a:t>Методология; </a:t>
            </a:r>
          </a:p>
          <a:p>
            <a:pPr>
              <a:buFontTx/>
              <a:buChar char="-"/>
            </a:pPr>
            <a:r>
              <a:rPr lang="ru-RU" sz="1800" dirty="0" smtClean="0"/>
              <a:t>Распределение ролей и ответственности; </a:t>
            </a:r>
          </a:p>
          <a:p>
            <a:pPr>
              <a:buFontTx/>
              <a:buChar char="-"/>
            </a:pPr>
            <a:r>
              <a:rPr lang="ru-RU" sz="1800" dirty="0" smtClean="0"/>
              <a:t>Разработка бюджета; </a:t>
            </a:r>
          </a:p>
          <a:p>
            <a:pPr>
              <a:buFontTx/>
              <a:buChar char="-"/>
            </a:pPr>
            <a:r>
              <a:rPr lang="ru-RU" sz="1800" dirty="0" smtClean="0"/>
              <a:t>Сроки; </a:t>
            </a:r>
          </a:p>
          <a:p>
            <a:pPr>
              <a:buFontTx/>
              <a:buChar char="-"/>
            </a:pPr>
            <a:r>
              <a:rPr lang="ru-RU" sz="1800" dirty="0" smtClean="0"/>
              <a:t>Категории рисков; </a:t>
            </a:r>
          </a:p>
          <a:p>
            <a:pPr>
              <a:buFontTx/>
              <a:buChar char="-"/>
            </a:pPr>
            <a:r>
              <a:rPr lang="ru-RU" sz="1800" dirty="0" smtClean="0"/>
              <a:t>Определение вероятности возникновения рисков и их последствий;</a:t>
            </a:r>
          </a:p>
          <a:p>
            <a:pPr>
              <a:buFontTx/>
              <a:buChar char="-"/>
            </a:pPr>
            <a:r>
              <a:rPr lang="ru-RU" sz="1800" dirty="0" smtClean="0"/>
              <a:t>Матрица вероятности и последствий;</a:t>
            </a:r>
          </a:p>
          <a:p>
            <a:pPr>
              <a:buFontTx/>
              <a:buChar char="-"/>
            </a:pPr>
            <a:r>
              <a:rPr lang="ru-RU" sz="1800" dirty="0" smtClean="0"/>
              <a:t>Уточненная толерантность к рискам участников проекта;</a:t>
            </a:r>
          </a:p>
          <a:p>
            <a:pPr>
              <a:buFontTx/>
              <a:buChar char="-"/>
            </a:pPr>
            <a:r>
              <a:rPr lang="ru-RU" sz="1800" dirty="0" smtClean="0"/>
              <a:t>Формы отчетности;</a:t>
            </a:r>
          </a:p>
          <a:p>
            <a:pPr>
              <a:buFontTx/>
              <a:buChar char="-"/>
            </a:pPr>
            <a:r>
              <a:rPr lang="ru-RU" sz="1800" dirty="0" smtClean="0"/>
              <a:t>Отслеживание.</a:t>
            </a:r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91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Категории рисков: Иерархическая структура рисков</a:t>
            </a:r>
            <a:endParaRPr lang="ru-RU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08461"/>
            <a:ext cx="7055653" cy="4478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660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Матрица вероятности и последствий</a:t>
            </a:r>
            <a:endParaRPr lang="ru-RU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68760"/>
            <a:ext cx="6768752" cy="4026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351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2) Идентификация рисков</a:t>
            </a:r>
            <a:endParaRPr lang="ru-RU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Идентификация рисков предусматривает определение рисков, способных повлиять на </a:t>
            </a:r>
            <a:r>
              <a:rPr lang="ru-RU" sz="1800" dirty="0" smtClean="0"/>
              <a:t>проект</a:t>
            </a:r>
            <a:r>
              <a:rPr lang="ru-RU" sz="1800" dirty="0"/>
              <a:t>, и документальное оформление их характеристик. </a:t>
            </a:r>
            <a:endParaRPr lang="ru-RU" sz="1800" dirty="0" smtClean="0"/>
          </a:p>
          <a:p>
            <a:pPr marL="0" indent="0" algn="just">
              <a:buNone/>
            </a:pPr>
            <a:r>
              <a:rPr lang="ru-RU" sz="1800" dirty="0"/>
              <a:t>Идентификация рисков – это итеративный процесс, поскольку по мере развития проекта в рамках его жизненного цикла </a:t>
            </a:r>
            <a:r>
              <a:rPr lang="ru-RU" sz="1800" dirty="0" smtClean="0"/>
              <a:t>могут </a:t>
            </a:r>
            <a:r>
              <a:rPr lang="ru-RU" sz="1800" dirty="0"/>
              <a:t>обнаруживаться новые риски. </a:t>
            </a:r>
            <a:endParaRPr lang="ru-RU" sz="1800" dirty="0" smtClean="0"/>
          </a:p>
          <a:p>
            <a:pPr marL="0" indent="0" algn="just">
              <a:buNone/>
            </a:pPr>
            <a:endParaRPr lang="ru-RU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08920"/>
            <a:ext cx="6888384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6758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2) Идентификация рисков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Факторы внешней среды предприятия</a:t>
            </a:r>
          </a:p>
          <a:p>
            <a:pPr>
              <a:buAutoNum type="arabicPeriod"/>
            </a:pPr>
            <a:r>
              <a:rPr lang="ru-RU" sz="1800" dirty="0" smtClean="0"/>
              <a:t>Активы организационного процесса</a:t>
            </a:r>
          </a:p>
          <a:p>
            <a:pPr>
              <a:buAutoNum type="arabicPeriod"/>
            </a:pPr>
            <a:r>
              <a:rPr lang="ru-RU" sz="1800" dirty="0" smtClean="0"/>
              <a:t>Описание содержания проекта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рисками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проектом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Анализ документации</a:t>
            </a:r>
          </a:p>
          <a:p>
            <a:pPr>
              <a:buAutoNum type="arabicPeriod"/>
            </a:pPr>
            <a:r>
              <a:rPr lang="ru-RU" sz="1800" dirty="0" smtClean="0"/>
              <a:t>Методы сбора информации – мозговой штурм, метод </a:t>
            </a:r>
            <a:r>
              <a:rPr lang="ru-RU" sz="1800" dirty="0" err="1" smtClean="0"/>
              <a:t>Дельфи</a:t>
            </a:r>
            <a:r>
              <a:rPr lang="ru-RU" sz="1800" dirty="0" smtClean="0"/>
              <a:t>, опросы, идентификация основной причины, анализ </a:t>
            </a:r>
            <a:r>
              <a:rPr lang="en-CA" sz="1800" dirty="0" smtClean="0"/>
              <a:t>SWOT</a:t>
            </a:r>
            <a:endParaRPr lang="ru-RU" sz="1800" dirty="0" smtClean="0"/>
          </a:p>
          <a:p>
            <a:pPr>
              <a:buAutoNum type="arabicPeriod"/>
            </a:pPr>
            <a:r>
              <a:rPr lang="ru-RU" sz="1800" dirty="0" smtClean="0"/>
              <a:t>Анализ контрольных списков</a:t>
            </a:r>
          </a:p>
          <a:p>
            <a:pPr>
              <a:buAutoNum type="arabicPeriod"/>
            </a:pPr>
            <a:r>
              <a:rPr lang="ru-RU" sz="1800" dirty="0" smtClean="0"/>
              <a:t>Анализ допущений</a:t>
            </a:r>
          </a:p>
          <a:p>
            <a:pPr>
              <a:buAutoNum type="arabicPeriod"/>
            </a:pPr>
            <a:r>
              <a:rPr lang="ru-RU" sz="1800" dirty="0" smtClean="0"/>
              <a:t>Методы отображения с помощью диаграмм – диаграммы причинно-следственных связей, системная диаграмма (зависимостей процесса), диаграммы влияния.</a:t>
            </a:r>
          </a:p>
        </p:txBody>
      </p:sp>
    </p:spTree>
    <p:extLst>
      <p:ext uri="{BB962C8B-B14F-4D97-AF65-F5344CB8AC3E}">
        <p14:creationId xmlns:p14="http://schemas.microsoft.com/office/powerpoint/2010/main" val="3371982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2) Идентификация рисков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Выходы:</a:t>
            </a:r>
          </a:p>
          <a:p>
            <a:pPr>
              <a:buAutoNum type="arabicPeriod"/>
            </a:pPr>
            <a:r>
              <a:rPr lang="ru-RU" sz="1800" dirty="0" smtClean="0"/>
              <a:t>Реестр рисков:</a:t>
            </a:r>
          </a:p>
          <a:p>
            <a:r>
              <a:rPr lang="ru-RU" sz="1800" dirty="0" smtClean="0"/>
              <a:t>Список идентифицированных рисков;</a:t>
            </a:r>
          </a:p>
          <a:p>
            <a:r>
              <a:rPr lang="ru-RU" sz="1800" dirty="0" smtClean="0"/>
              <a:t>Список потенциальных действий по реагированию</a:t>
            </a:r>
          </a:p>
          <a:p>
            <a:r>
              <a:rPr lang="ru-RU" sz="1800" dirty="0" smtClean="0"/>
              <a:t>Основные причины возникновения риска</a:t>
            </a:r>
          </a:p>
          <a:p>
            <a:r>
              <a:rPr lang="ru-RU" sz="1800" dirty="0" smtClean="0"/>
              <a:t>Уточнение категорий рисков.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664826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3) Качественный анализ рисков</a:t>
            </a:r>
            <a:endParaRPr lang="ru-RU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Качественный анализ рисков включает в себя расстановку приоритетов для идентифицированных рисков, результаты которой используются </a:t>
            </a:r>
            <a:r>
              <a:rPr lang="ru-RU" sz="1800" dirty="0" smtClean="0"/>
              <a:t>впоследствии. </a:t>
            </a:r>
            <a:r>
              <a:rPr lang="ru-RU" sz="1800" dirty="0"/>
              <a:t>При качественном анализе рисков определяются приоритеты идентифицированных рисков на основании вероятности их возникновения, их влияния на достижение целей проекта в случае возникновения этих рисков, а также с учетом ряда других </a:t>
            </a:r>
            <a:r>
              <a:rPr lang="ru-RU" sz="1800" dirty="0" smtClean="0"/>
              <a:t>факторов.</a:t>
            </a:r>
          </a:p>
          <a:p>
            <a:pPr marL="0" indent="0" algn="just">
              <a:buNone/>
            </a:pPr>
            <a:endParaRPr lang="ru-RU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996952"/>
            <a:ext cx="654396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570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400" b="1" dirty="0"/>
              <a:t>3) Качественный анализ рисков</a:t>
            </a:r>
            <a:endParaRPr lang="ru-RU" sz="2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Активы организационного процесса</a:t>
            </a:r>
          </a:p>
          <a:p>
            <a:pPr>
              <a:buAutoNum type="arabicPeriod"/>
            </a:pPr>
            <a:r>
              <a:rPr lang="ru-RU" sz="1800" dirty="0" smtClean="0"/>
              <a:t>Описание содержания проекта </a:t>
            </a:r>
          </a:p>
          <a:p>
            <a:pPr>
              <a:buAutoNum type="arabicPeriod" startAt="3"/>
            </a:pPr>
            <a:r>
              <a:rPr lang="ru-RU" sz="1800" dirty="0" smtClean="0"/>
              <a:t>План управления рисками</a:t>
            </a:r>
          </a:p>
          <a:p>
            <a:pPr indent="12700"/>
            <a:r>
              <a:rPr lang="ru-RU" sz="1800" dirty="0"/>
              <a:t>распределение ролей и ответственности в управлении рисками, бюджетом и плановыми операциями по управлению рисками;</a:t>
            </a:r>
          </a:p>
          <a:p>
            <a:pPr indent="12700"/>
            <a:r>
              <a:rPr lang="ru-RU" sz="1800" dirty="0"/>
              <a:t>категории рисков; </a:t>
            </a:r>
          </a:p>
          <a:p>
            <a:pPr indent="12700"/>
            <a:r>
              <a:rPr lang="ru-RU" sz="1800" dirty="0"/>
              <a:t>определение вероятности возникновения и возможных последствий; </a:t>
            </a:r>
          </a:p>
          <a:p>
            <a:pPr indent="12700"/>
            <a:r>
              <a:rPr lang="ru-RU" sz="1800" dirty="0"/>
              <a:t>матрица вероятности и последствий </a:t>
            </a:r>
          </a:p>
          <a:p>
            <a:pPr indent="12700"/>
            <a:r>
              <a:rPr lang="ru-RU" sz="1800" dirty="0"/>
              <a:t>уточненная толерантность к риску участников проекта </a:t>
            </a:r>
            <a:endParaRPr lang="ru-RU" sz="1800" dirty="0" smtClean="0"/>
          </a:p>
          <a:p>
            <a:pPr marL="0" indent="0">
              <a:buNone/>
            </a:pPr>
            <a:r>
              <a:rPr lang="ru-RU" sz="1800" dirty="0" smtClean="0"/>
              <a:t>4.   Реестр рисков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84653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sz="2400" b="1" dirty="0">
                <a:solidFill>
                  <a:prstClr val="black"/>
                </a:solidFill>
              </a:rPr>
              <a:t>3) Качественный анализ рисков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Определение вероятности и воздействия рисков</a:t>
            </a:r>
          </a:p>
          <a:p>
            <a:pPr>
              <a:buAutoNum type="arabicPeriod"/>
            </a:pPr>
            <a:r>
              <a:rPr lang="ru-RU" sz="1800" dirty="0" smtClean="0"/>
              <a:t>Матрица вероятности и последствий</a:t>
            </a:r>
          </a:p>
          <a:p>
            <a:pPr>
              <a:buAutoNum type="arabicPeriod"/>
            </a:pPr>
            <a:r>
              <a:rPr lang="ru-RU" sz="1800" dirty="0" smtClean="0"/>
              <a:t>Оценка качества данных риска</a:t>
            </a:r>
          </a:p>
          <a:p>
            <a:pPr>
              <a:buAutoNum type="arabicPeriod"/>
            </a:pPr>
            <a:r>
              <a:rPr lang="ru-RU" sz="1800" dirty="0" smtClean="0"/>
              <a:t>Классификация рисков</a:t>
            </a:r>
          </a:p>
          <a:p>
            <a:pPr>
              <a:buAutoNum type="arabicPeriod"/>
            </a:pPr>
            <a:r>
              <a:rPr lang="ru-RU" sz="1800" dirty="0" smtClean="0"/>
              <a:t>Оценка срочности риска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 smtClean="0"/>
              <a:t>Выходы:</a:t>
            </a:r>
            <a:r>
              <a:rPr lang="ru-RU" sz="1800" dirty="0" smtClean="0"/>
              <a:t> </a:t>
            </a:r>
          </a:p>
          <a:p>
            <a:pPr marL="0" indent="0">
              <a:buNone/>
            </a:pPr>
            <a:r>
              <a:rPr lang="ru-RU" sz="1800" dirty="0" smtClean="0"/>
              <a:t>1. Реестр рисков (обновления):</a:t>
            </a:r>
          </a:p>
          <a:p>
            <a:r>
              <a:rPr lang="ru-RU" sz="1800" dirty="0" smtClean="0"/>
              <a:t>Относительное ранжирование или список приоритетов рисков</a:t>
            </a:r>
          </a:p>
          <a:p>
            <a:r>
              <a:rPr lang="ru-RU" sz="1800" dirty="0" smtClean="0"/>
              <a:t>Риски, сгруппированные по категориям</a:t>
            </a:r>
          </a:p>
          <a:p>
            <a:r>
              <a:rPr lang="ru-RU" sz="1800" dirty="0" smtClean="0"/>
              <a:t>Список рисков, требующих немедленного рассмотрения</a:t>
            </a:r>
          </a:p>
          <a:p>
            <a:r>
              <a:rPr lang="ru-RU" sz="1800" dirty="0" smtClean="0"/>
              <a:t>Список рисков для дополнительного анализа и реагирования</a:t>
            </a:r>
          </a:p>
          <a:p>
            <a:r>
              <a:rPr lang="ru-RU" sz="1800" dirty="0" smtClean="0"/>
              <a:t>Список рисков с низким приоритетом, нуждающихся в наблюдении</a:t>
            </a:r>
          </a:p>
          <a:p>
            <a:r>
              <a:rPr lang="ru-RU" sz="1800" dirty="0" smtClean="0"/>
              <a:t>Тренды результатов качественного анализа рисков 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660243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2000" b="1" dirty="0" smtClean="0"/>
              <a:t>4) Количественный анализ рисков</a:t>
            </a:r>
            <a:endParaRPr lang="ru-RU" sz="2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Количественный анализ производится в отношении тех рисков, которые в процессе качественного анализа рисков были квалифицированы как потенциально или существенным образом влияющие на конкурентоспособные свойства проекта. В процессе количественного анализа рисков оценивается эффект от таких рисковых событий и таким рискам присваивается цифровой рейтинг. </a:t>
            </a:r>
            <a:endParaRPr lang="ru-RU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5" y="2996952"/>
            <a:ext cx="6543965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155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sz="2000" b="1" dirty="0">
                <a:solidFill>
                  <a:prstClr val="black"/>
                </a:solidFill>
              </a:rPr>
              <a:t>4) Количественный анализ рисков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Активы организационного процесса</a:t>
            </a:r>
          </a:p>
          <a:p>
            <a:pPr>
              <a:buAutoNum type="arabicPeriod"/>
            </a:pPr>
            <a:r>
              <a:rPr lang="ru-RU" sz="1800" dirty="0" smtClean="0"/>
              <a:t>Описание содержимого проекта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рисками:</a:t>
            </a:r>
          </a:p>
          <a:p>
            <a:pPr indent="12700"/>
            <a:r>
              <a:rPr lang="ru-RU" sz="1800" dirty="0" smtClean="0"/>
              <a:t> распределение </a:t>
            </a:r>
            <a:r>
              <a:rPr lang="ru-RU" sz="1800" dirty="0"/>
              <a:t>ролей и ответственности в управлении рисками, бюджетом и плановыми операциями по управлению рисками; </a:t>
            </a:r>
            <a:endParaRPr lang="ru-RU" sz="1800" dirty="0" smtClean="0"/>
          </a:p>
          <a:p>
            <a:pPr indent="12700"/>
            <a:r>
              <a:rPr lang="ru-RU" sz="1800" dirty="0"/>
              <a:t> </a:t>
            </a:r>
            <a:r>
              <a:rPr lang="ru-RU" sz="1800" dirty="0"/>
              <a:t>категории рисков; </a:t>
            </a:r>
            <a:endParaRPr lang="ru-RU" sz="1800" dirty="0" smtClean="0"/>
          </a:p>
          <a:p>
            <a:pPr indent="12700"/>
            <a:r>
              <a:rPr lang="ru-RU" sz="1800" dirty="0"/>
              <a:t> </a:t>
            </a:r>
            <a:r>
              <a:rPr lang="ru-RU" sz="1800" dirty="0"/>
              <a:t>иерархическая структура ресурсов </a:t>
            </a:r>
            <a:r>
              <a:rPr lang="ru-RU" sz="1800" dirty="0" smtClean="0"/>
              <a:t>;</a:t>
            </a:r>
          </a:p>
          <a:p>
            <a:pPr indent="12700"/>
            <a:r>
              <a:rPr lang="ru-RU" sz="1800" dirty="0"/>
              <a:t> </a:t>
            </a:r>
            <a:r>
              <a:rPr lang="ru-RU" sz="1800" dirty="0"/>
              <a:t>уточненная толерантность к риску участников проекта</a:t>
            </a:r>
            <a:r>
              <a:rPr lang="ru-RU" sz="1800" dirty="0" smtClean="0"/>
              <a:t>.</a:t>
            </a:r>
          </a:p>
          <a:p>
            <a:pPr marL="355600" indent="-355600">
              <a:buAutoNum type="arabicPeriod" startAt="4"/>
            </a:pPr>
            <a:r>
              <a:rPr lang="ru-RU" sz="1800" dirty="0" smtClean="0"/>
              <a:t>Реестр рисков</a:t>
            </a:r>
          </a:p>
          <a:p>
            <a:pPr marL="0" indent="0">
              <a:buNone/>
            </a:pPr>
            <a:r>
              <a:rPr lang="ru-RU" sz="1800" dirty="0" smtClean="0"/>
              <a:t>5.    План </a:t>
            </a:r>
            <a:r>
              <a:rPr lang="ru-RU" sz="1800" dirty="0"/>
              <a:t>управления проектом включает в себя:</a:t>
            </a:r>
          </a:p>
          <a:p>
            <a:pPr lvl="0" indent="-160338"/>
            <a:r>
              <a:rPr lang="ru-RU" sz="1800" dirty="0"/>
              <a:t>План управления расписанием проекта. </a:t>
            </a:r>
            <a:endParaRPr lang="ru-RU" sz="1800" dirty="0" smtClean="0"/>
          </a:p>
          <a:p>
            <a:pPr lvl="0" indent="-160338"/>
            <a:r>
              <a:rPr lang="ru-RU" sz="1800" dirty="0" smtClean="0"/>
              <a:t>План </a:t>
            </a:r>
            <a:r>
              <a:rPr lang="ru-RU" sz="1800" dirty="0"/>
              <a:t>управления стоимостью проекта. </a:t>
            </a:r>
            <a:endParaRPr lang="ru-RU" sz="1800" dirty="0" smtClean="0"/>
          </a:p>
          <a:p>
            <a:pPr>
              <a:buAutoNum type="arabicPeriod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958361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/>
          <a:lstStyle/>
          <a:p>
            <a:r>
              <a:rPr lang="ru-RU" sz="2000" b="1" dirty="0">
                <a:solidFill>
                  <a:prstClr val="black"/>
                </a:solidFill>
              </a:rPr>
              <a:t>4) Количественный анализ рисков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Методы сбора и представления данных:</a:t>
            </a:r>
          </a:p>
          <a:p>
            <a:pPr indent="-160338"/>
            <a:r>
              <a:rPr lang="ru-RU" sz="1800" dirty="0" smtClean="0"/>
              <a:t>Опросы</a:t>
            </a:r>
          </a:p>
          <a:p>
            <a:pPr indent="-160338"/>
            <a:r>
              <a:rPr lang="ru-RU" sz="1800" dirty="0" smtClean="0"/>
              <a:t>Распределение вероятностей</a:t>
            </a:r>
          </a:p>
          <a:p>
            <a:pPr indent="-160338"/>
            <a:r>
              <a:rPr lang="ru-RU" sz="1800" dirty="0" smtClean="0"/>
              <a:t>Экспертная оценка</a:t>
            </a:r>
          </a:p>
          <a:p>
            <a:pPr marL="355600" indent="-355600">
              <a:buAutoNum type="arabicPeriod" startAt="2"/>
            </a:pPr>
            <a:r>
              <a:rPr lang="ru-RU" sz="1800" dirty="0" smtClean="0"/>
              <a:t>Методы количественного анализа рисков и моделирования:</a:t>
            </a:r>
          </a:p>
          <a:p>
            <a:pPr indent="-160338"/>
            <a:r>
              <a:rPr lang="ru-RU" sz="1800" dirty="0" smtClean="0"/>
              <a:t>Анализ чувствительности</a:t>
            </a:r>
          </a:p>
          <a:p>
            <a:pPr indent="-160338"/>
            <a:r>
              <a:rPr lang="ru-RU" sz="1800" dirty="0" smtClean="0"/>
              <a:t>Анализ ожидаемой денежной стоимости</a:t>
            </a:r>
          </a:p>
          <a:p>
            <a:pPr indent="-160338"/>
            <a:r>
              <a:rPr lang="ru-RU" sz="1800" dirty="0" smtClean="0"/>
              <a:t>Анализ дерева решений</a:t>
            </a:r>
          </a:p>
          <a:p>
            <a:pPr indent="-160338"/>
            <a:r>
              <a:rPr lang="ru-RU" sz="1800" dirty="0" smtClean="0"/>
              <a:t>Моделирование и имитация</a:t>
            </a:r>
          </a:p>
        </p:txBody>
      </p:sp>
    </p:spTree>
    <p:extLst>
      <p:ext uri="{BB962C8B-B14F-4D97-AF65-F5344CB8AC3E}">
        <p14:creationId xmlns:p14="http://schemas.microsoft.com/office/powerpoint/2010/main" val="3901266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ru-RU" sz="2000" b="1" dirty="0">
                <a:solidFill>
                  <a:prstClr val="black"/>
                </a:solidFill>
              </a:rPr>
              <a:t>4) Количественный анализ рисков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Выходы:</a:t>
            </a:r>
          </a:p>
          <a:p>
            <a:pPr>
              <a:buAutoNum type="arabicPeriod"/>
            </a:pPr>
            <a:r>
              <a:rPr lang="ru-RU" sz="1800" dirty="0" smtClean="0"/>
              <a:t>Реестр рисков (обновления):</a:t>
            </a:r>
          </a:p>
          <a:p>
            <a:pPr indent="-160338"/>
            <a:r>
              <a:rPr lang="ru-RU" sz="1800" dirty="0" smtClean="0"/>
              <a:t>Вероятностный анализ проекта</a:t>
            </a:r>
          </a:p>
          <a:p>
            <a:pPr indent="-160338"/>
            <a:r>
              <a:rPr lang="ru-RU" sz="1800" dirty="0" smtClean="0"/>
              <a:t>Вероятность достижения целей по стоимости и времени</a:t>
            </a:r>
          </a:p>
          <a:p>
            <a:pPr indent="-160338"/>
            <a:r>
              <a:rPr lang="ru-RU" sz="1800" dirty="0" smtClean="0"/>
              <a:t>Список приоритетных оцененных рисков</a:t>
            </a:r>
          </a:p>
          <a:p>
            <a:pPr indent="-160338"/>
            <a:r>
              <a:rPr lang="ru-RU" sz="1800" dirty="0" smtClean="0"/>
              <a:t>Тренды результатов количественного анализа рисков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249001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ru-RU" sz="2400" b="1" dirty="0" smtClean="0"/>
              <a:t>5) Планирование реагирования на риски</a:t>
            </a:r>
            <a:endParaRPr lang="ru-RU" sz="24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Планирование реагирования на риски – это процесс разработки путей и определения действий по увеличению возможностей и снижению угроз для целей проекта. Данный процесс начинается после проведения качественного анализа рисков и количественного анализа рисков. Он включает в себя определение и назначение одного или нескольких ответственных лиц ("ответственных за реагирование на риски"), в обязанности которых входит реагировать на каждый согласованный и подкрепленный бюджетом </a:t>
            </a:r>
            <a:r>
              <a:rPr lang="ru-RU" sz="1800" dirty="0" smtClean="0"/>
              <a:t>риск.</a:t>
            </a:r>
          </a:p>
          <a:p>
            <a:pPr marL="0" indent="0" algn="just">
              <a:buNone/>
            </a:pPr>
            <a:endParaRPr lang="ru-RU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356992"/>
            <a:ext cx="6027336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391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sz="2400" b="1" dirty="0">
                <a:solidFill>
                  <a:prstClr val="black"/>
                </a:solidFill>
              </a:rPr>
              <a:t>5) Планирование реагирования на риски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рисками</a:t>
            </a:r>
          </a:p>
          <a:p>
            <a:pPr>
              <a:buAutoNum type="arabicPeriod"/>
            </a:pPr>
            <a:r>
              <a:rPr lang="ru-RU" sz="1800" dirty="0" smtClean="0"/>
              <a:t>Реестр рисков</a:t>
            </a:r>
          </a:p>
          <a:p>
            <a:pPr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Стратегии реагирования на негативные риски(угрозы): уклонение, передача и снижение.</a:t>
            </a:r>
          </a:p>
          <a:p>
            <a:pPr>
              <a:buAutoNum type="arabicPeriod"/>
            </a:pPr>
            <a:r>
              <a:rPr lang="ru-RU" sz="1800" dirty="0" smtClean="0"/>
              <a:t>Стратегии реагирования на позитивные риски (благоприятные возможности): использование, совместное использование и усиление.</a:t>
            </a:r>
          </a:p>
          <a:p>
            <a:pPr>
              <a:buAutoNum type="arabicPeriod"/>
            </a:pPr>
            <a:r>
              <a:rPr lang="ru-RU" sz="1800" dirty="0" smtClean="0"/>
              <a:t>Общая стратегия реагирования на угрозы и благоприятные возможности.</a:t>
            </a:r>
          </a:p>
          <a:p>
            <a:pPr>
              <a:buAutoNum type="arabicPeriod"/>
            </a:pPr>
            <a:r>
              <a:rPr lang="ru-RU" sz="1800" dirty="0" smtClean="0"/>
              <a:t>Стратегия реагирования на непредвиденные обстоятельства.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/>
              <a:t>Выходы:</a:t>
            </a:r>
          </a:p>
          <a:p>
            <a:pPr>
              <a:buAutoNum type="arabicPeriod"/>
            </a:pPr>
            <a:r>
              <a:rPr lang="ru-RU" sz="1800" dirty="0"/>
              <a:t>Реестр рисков (обновления)</a:t>
            </a:r>
          </a:p>
          <a:p>
            <a:pPr>
              <a:buAutoNum type="arabicPeriod"/>
            </a:pPr>
            <a:r>
              <a:rPr lang="ru-RU" sz="1800" dirty="0"/>
              <a:t>План управления проектом (обновления)</a:t>
            </a:r>
          </a:p>
          <a:p>
            <a:pPr>
              <a:buAutoNum type="arabicPeriod"/>
            </a:pPr>
            <a:r>
              <a:rPr lang="ru-RU" sz="1800" dirty="0"/>
              <a:t>Контрактные соглашения, касающиеся рисков</a:t>
            </a:r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endParaRPr lang="ru-RU" sz="1800" dirty="0" smtClean="0"/>
          </a:p>
          <a:p>
            <a:pPr>
              <a:buAutoNum type="arabicPeriod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3271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ru-RU" sz="2400" b="1" dirty="0" smtClean="0">
                <a:solidFill>
                  <a:prstClr val="black"/>
                </a:solidFill>
              </a:rPr>
              <a:t>6) Мониторинг и управление рисками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1800" dirty="0"/>
              <a:t>Мониторинг и управление рисками (раздел 4.4) – это процесс идентификации, анализа и планирования вновь возникших рисков, отслеживания идентифицированных рисков и тех, которые отнесены в список для постоянного наблюдения, а также проверки и исполнения операций реагирования на риски и оценки их эффективности. В процессе мониторинга и управления рисками используются различные методики, например, анализ трендов и отклонений, для выполнения которых необходимы данные об исполнении, собранные в процессе </a:t>
            </a:r>
            <a:r>
              <a:rPr lang="ru-RU" sz="1800" dirty="0" smtClean="0"/>
              <a:t>выполнения </a:t>
            </a:r>
            <a:r>
              <a:rPr lang="ru-RU" sz="1800" dirty="0"/>
              <a:t>проекта. </a:t>
            </a:r>
            <a:endParaRPr lang="ru-RU" sz="18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418374"/>
            <a:ext cx="6397168" cy="2674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9788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sz="2400" b="1" dirty="0">
                <a:solidFill>
                  <a:prstClr val="black"/>
                </a:solidFill>
              </a:rPr>
              <a:t>6) Мониторинг и управление рисками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Входы: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рисками</a:t>
            </a:r>
          </a:p>
          <a:p>
            <a:pPr>
              <a:buAutoNum type="arabicPeriod"/>
            </a:pPr>
            <a:r>
              <a:rPr lang="ru-RU" sz="1800" dirty="0" smtClean="0"/>
              <a:t>Реестр рисков</a:t>
            </a:r>
          </a:p>
          <a:p>
            <a:pPr>
              <a:buAutoNum type="arabicPeriod"/>
            </a:pPr>
            <a:r>
              <a:rPr lang="ru-RU" sz="1800" dirty="0" smtClean="0"/>
              <a:t>Одобренные запросы на изменение</a:t>
            </a:r>
          </a:p>
          <a:p>
            <a:pPr>
              <a:buAutoNum type="arabicPeriod"/>
            </a:pPr>
            <a:r>
              <a:rPr lang="ru-RU" sz="1800" dirty="0" smtClean="0"/>
              <a:t>Информация об исполнении работ</a:t>
            </a:r>
          </a:p>
          <a:p>
            <a:pPr>
              <a:buAutoNum type="arabicPeriod"/>
            </a:pPr>
            <a:r>
              <a:rPr lang="ru-RU" sz="1800" dirty="0" smtClean="0"/>
              <a:t>Отчеты об исполнении</a:t>
            </a:r>
          </a:p>
          <a:p>
            <a:pPr marL="0" indent="0">
              <a:buNone/>
            </a:pPr>
            <a:endParaRPr lang="ru-RU" sz="1800" dirty="0"/>
          </a:p>
          <a:p>
            <a:pPr marL="0" indent="0">
              <a:buNone/>
            </a:pPr>
            <a:r>
              <a:rPr lang="ru-RU" sz="1800" b="1" dirty="0" smtClean="0"/>
              <a:t>Инструменты и методы:</a:t>
            </a:r>
          </a:p>
          <a:p>
            <a:pPr>
              <a:buAutoNum type="arabicPeriod"/>
            </a:pPr>
            <a:r>
              <a:rPr lang="ru-RU" sz="1800" dirty="0" smtClean="0"/>
              <a:t>Пересмотр рисков</a:t>
            </a:r>
          </a:p>
          <a:p>
            <a:pPr>
              <a:buAutoNum type="arabicPeriod"/>
            </a:pPr>
            <a:r>
              <a:rPr lang="ru-RU" sz="1800" dirty="0" smtClean="0"/>
              <a:t>Аудит рисков</a:t>
            </a:r>
          </a:p>
          <a:p>
            <a:pPr>
              <a:buAutoNum type="arabicPeriod"/>
            </a:pPr>
            <a:r>
              <a:rPr lang="ru-RU" sz="1800" dirty="0" smtClean="0"/>
              <a:t>Анализ отклонений и трендов</a:t>
            </a:r>
          </a:p>
          <a:p>
            <a:pPr>
              <a:buAutoNum type="arabicPeriod"/>
            </a:pPr>
            <a:r>
              <a:rPr lang="ru-RU" sz="1800" dirty="0" smtClean="0"/>
              <a:t>Техническое измерение исполнения</a:t>
            </a:r>
          </a:p>
          <a:p>
            <a:pPr>
              <a:buAutoNum type="arabicPeriod"/>
            </a:pPr>
            <a:r>
              <a:rPr lang="ru-RU" sz="1800" dirty="0" smtClean="0"/>
              <a:t>Анализ резервов</a:t>
            </a:r>
          </a:p>
          <a:p>
            <a:pPr>
              <a:buAutoNum type="arabicPeriod"/>
            </a:pPr>
            <a:r>
              <a:rPr lang="ru-RU" sz="1800" dirty="0" smtClean="0"/>
              <a:t>Совещания по текущему состоянию</a:t>
            </a:r>
          </a:p>
        </p:txBody>
      </p:sp>
    </p:spTree>
    <p:extLst>
      <p:ext uri="{BB962C8B-B14F-4D97-AF65-F5344CB8AC3E}">
        <p14:creationId xmlns:p14="http://schemas.microsoft.com/office/powerpoint/2010/main" val="761268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ru-RU" sz="2400" b="1" dirty="0">
                <a:solidFill>
                  <a:prstClr val="black"/>
                </a:solidFill>
              </a:rPr>
              <a:t>6) Мониторинг и управление рисками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Выходы:</a:t>
            </a:r>
          </a:p>
          <a:p>
            <a:pPr>
              <a:buAutoNum type="arabicPeriod"/>
            </a:pPr>
            <a:r>
              <a:rPr lang="ru-RU" sz="1800" dirty="0" smtClean="0"/>
              <a:t>Реестр рисков (обновления)</a:t>
            </a:r>
          </a:p>
          <a:p>
            <a:pPr>
              <a:buAutoNum type="arabicPeriod"/>
            </a:pPr>
            <a:r>
              <a:rPr lang="ru-RU" sz="1800" dirty="0" smtClean="0"/>
              <a:t>Запрошенные изменения</a:t>
            </a:r>
          </a:p>
          <a:p>
            <a:pPr>
              <a:buAutoNum type="arabicPeriod"/>
            </a:pPr>
            <a:r>
              <a:rPr lang="ru-RU" sz="1800" dirty="0" smtClean="0"/>
              <a:t>Рекомендованные корректирующие действия</a:t>
            </a:r>
          </a:p>
          <a:p>
            <a:pPr>
              <a:buAutoNum type="arabicPeriod"/>
            </a:pPr>
            <a:r>
              <a:rPr lang="ru-RU" sz="1800" dirty="0" smtClean="0"/>
              <a:t>Рекомендованные предупреждающие действия</a:t>
            </a:r>
          </a:p>
          <a:p>
            <a:pPr>
              <a:buAutoNum type="arabicPeriod"/>
            </a:pPr>
            <a:r>
              <a:rPr lang="ru-RU" sz="1800" dirty="0" smtClean="0"/>
              <a:t>Активы организационного процесса (обновления)</a:t>
            </a:r>
          </a:p>
          <a:p>
            <a:pPr>
              <a:buAutoNum type="arabicPeriod"/>
            </a:pPr>
            <a:r>
              <a:rPr lang="ru-RU" sz="1800" dirty="0" smtClean="0"/>
              <a:t>План управления проектом </a:t>
            </a:r>
            <a:r>
              <a:rPr lang="ru-RU" sz="1800" smtClean="0"/>
              <a:t>(обновления)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3207032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1088</Words>
  <Application>Microsoft Office PowerPoint</Application>
  <PresentationFormat>Экран (4:3)</PresentationFormat>
  <Paragraphs>171</Paragraphs>
  <Slides>24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5" baseType="lpstr">
      <vt:lpstr>Тема Office</vt:lpstr>
      <vt:lpstr>Управление рисками проекта</vt:lpstr>
      <vt:lpstr>Презентация PowerPoint</vt:lpstr>
      <vt:lpstr>Общая схема процессов управления рисками проекта</vt:lpstr>
      <vt:lpstr>Диаграмма зависимостей процессов</vt:lpstr>
      <vt:lpstr>1) Планирование управления рисками</vt:lpstr>
      <vt:lpstr>1) Планирование управления рисками</vt:lpstr>
      <vt:lpstr>1) Планирование управления рисками</vt:lpstr>
      <vt:lpstr>Категории рисков: Иерархическая структура рисков</vt:lpstr>
      <vt:lpstr>Матрица вероятности и последствий</vt:lpstr>
      <vt:lpstr>2) Идентификация рисков</vt:lpstr>
      <vt:lpstr>2) Идентификация рисков</vt:lpstr>
      <vt:lpstr>2) Идентификация рисков</vt:lpstr>
      <vt:lpstr>3) Качественный анализ рисков</vt:lpstr>
      <vt:lpstr>3) Качественный анализ рисков</vt:lpstr>
      <vt:lpstr>3) Качественный анализ рисков</vt:lpstr>
      <vt:lpstr>4) Количественный анализ рисков</vt:lpstr>
      <vt:lpstr>4) Количественный анализ рисков</vt:lpstr>
      <vt:lpstr>4) Количественный анализ рисков</vt:lpstr>
      <vt:lpstr>4) Количественный анализ рисков</vt:lpstr>
      <vt:lpstr>5) Планирование реагирования на риски</vt:lpstr>
      <vt:lpstr>5) Планирование реагирования на риски</vt:lpstr>
      <vt:lpstr>6) Мониторинг и управление рисками</vt:lpstr>
      <vt:lpstr>6) Мониторинг и управление рисками</vt:lpstr>
      <vt:lpstr>6) Мониторинг и управление рисками</vt:lpstr>
    </vt:vector>
  </TitlesOfParts>
  <Company>Krokoz™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рисками проекта</dc:title>
  <dc:creator>Диана</dc:creator>
  <cp:lastModifiedBy>Диана</cp:lastModifiedBy>
  <cp:revision>22</cp:revision>
  <dcterms:created xsi:type="dcterms:W3CDTF">2014-10-20T17:55:37Z</dcterms:created>
  <dcterms:modified xsi:type="dcterms:W3CDTF">2014-10-21T20:45:54Z</dcterms:modified>
</cp:coreProperties>
</file>