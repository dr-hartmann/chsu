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F01FFB1-91E6-4B72-9AE0-D44766CF344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3"/>
            <p14:sldId id="272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9C085A9-20CE-468C-AB81-6E17472F3030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F74D38F-D745-4131-AB6F-9D80C60E97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Устав проекта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88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Устав проекта - это ключевой документ, который используется для принятия решений в ходе всего проекта, а также на фазе приемки — для подтверждения результата. 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537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ru-RU" dirty="0"/>
              <a:t>Название проекта</a:t>
            </a:r>
          </a:p>
          <a:p>
            <a:pPr lvl="0" algn="just"/>
            <a:r>
              <a:rPr lang="ru-RU" dirty="0"/>
              <a:t>Цели проекта</a:t>
            </a:r>
          </a:p>
          <a:p>
            <a:pPr lvl="0" algn="just"/>
            <a:r>
              <a:rPr lang="ru-RU" dirty="0"/>
              <a:t>Результаты проекта</a:t>
            </a:r>
          </a:p>
          <a:p>
            <a:pPr lvl="0" algn="just"/>
            <a:r>
              <a:rPr lang="ru-RU" dirty="0"/>
              <a:t>Допущения и ограничения</a:t>
            </a:r>
          </a:p>
          <a:p>
            <a:pPr lvl="0" algn="just"/>
            <a:r>
              <a:rPr lang="ru-RU" dirty="0"/>
              <a:t>Ключевые участники и заинтересованные стороны</a:t>
            </a:r>
          </a:p>
          <a:p>
            <a:pPr lvl="0" algn="just"/>
            <a:r>
              <a:rPr lang="ru-RU" dirty="0"/>
              <a:t>Ресурсы проекта</a:t>
            </a:r>
          </a:p>
          <a:p>
            <a:pPr lvl="0" algn="just"/>
            <a:r>
              <a:rPr lang="ru-RU" dirty="0"/>
              <a:t>Сроки</a:t>
            </a:r>
          </a:p>
          <a:p>
            <a:pPr lvl="0" algn="just"/>
            <a:r>
              <a:rPr lang="ru-RU" dirty="0"/>
              <a:t>Риски</a:t>
            </a:r>
          </a:p>
          <a:p>
            <a:pPr lvl="0" algn="just"/>
            <a:r>
              <a:rPr lang="ru-RU" dirty="0"/>
              <a:t>Критерии приемки</a:t>
            </a:r>
          </a:p>
          <a:p>
            <a:pPr lvl="0" algn="just"/>
            <a:r>
              <a:rPr lang="ru-RU" dirty="0"/>
              <a:t>Обоснование полезности проекта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 устава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270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Цели проекта должны отвечать на вопрос </a:t>
            </a:r>
            <a:r>
              <a:rPr lang="ru-RU" i="1" dirty="0"/>
              <a:t>«зачем»</a:t>
            </a:r>
            <a:r>
              <a:rPr lang="ru-RU" dirty="0"/>
              <a:t> данный проект нужен. Цели проекта должны описывать бизнес-потребности и задачи, которые решаются в результате исполнения проекта.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и результаты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599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ru-RU" dirty="0"/>
              <a:t>Изменения в </a:t>
            </a:r>
            <a:r>
              <a:rPr lang="ru-RU" dirty="0" smtClean="0"/>
              <a:t>Компании</a:t>
            </a:r>
          </a:p>
          <a:p>
            <a:pPr lvl="0" algn="just"/>
            <a:r>
              <a:rPr lang="ru-RU" dirty="0" smtClean="0"/>
              <a:t>Реализация </a:t>
            </a:r>
            <a:r>
              <a:rPr lang="ru-RU" dirty="0"/>
              <a:t>стратегических </a:t>
            </a:r>
            <a:r>
              <a:rPr lang="ru-RU" dirty="0" smtClean="0"/>
              <a:t>планов</a:t>
            </a:r>
          </a:p>
          <a:p>
            <a:pPr lvl="0" algn="just"/>
            <a:r>
              <a:rPr lang="ru-RU" dirty="0" smtClean="0"/>
              <a:t>Выполнение контрактов</a:t>
            </a:r>
          </a:p>
          <a:p>
            <a:pPr lvl="0" algn="just"/>
            <a:r>
              <a:rPr lang="ru-RU" dirty="0" smtClean="0"/>
              <a:t>Разрешение </a:t>
            </a:r>
            <a:r>
              <a:rPr lang="ru-RU" dirty="0"/>
              <a:t>специфических </a:t>
            </a:r>
            <a:r>
              <a:rPr lang="ru-RU" dirty="0" smtClean="0"/>
              <a:t>проблем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426667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Результаты проекта отвечают на вопрос, «что» должно быть получено после его завершения.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4549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Какие именно бизнес-выгоды получит заказчик в результате </a:t>
            </a:r>
            <a:r>
              <a:rPr lang="ru-RU" dirty="0" smtClean="0"/>
              <a:t>проекта </a:t>
            </a:r>
            <a:endParaRPr lang="ru-RU" dirty="0"/>
          </a:p>
          <a:p>
            <a:pPr lvl="0"/>
            <a:r>
              <a:rPr lang="ru-RU" dirty="0"/>
              <a:t>Какой продукт или </a:t>
            </a:r>
            <a:r>
              <a:rPr lang="ru-RU" dirty="0" smtClean="0"/>
              <a:t>услуга</a:t>
            </a:r>
            <a:endParaRPr lang="ru-RU" dirty="0"/>
          </a:p>
          <a:p>
            <a:pPr lvl="0"/>
            <a:r>
              <a:rPr lang="ru-RU" dirty="0"/>
              <a:t>Высокоуровневые </a:t>
            </a:r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265506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Допущения, как правило, тесно связаны с управлением рисками. В разработке ПО часто приходится формулировать риски в виде допущений, тем самым передавая его заказчику. Например, оценивая проект разработки и внедрения по схеме с фиксированной ценой, мы должны записать в допущения предположение о том, что стоимость лицензий на стороннее ПО не изменится, до завершения проекта.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Допущения и ограничения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8138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Специфические нормативные </a:t>
            </a:r>
            <a:r>
              <a:rPr lang="ru-RU" dirty="0" smtClean="0"/>
              <a:t>требования</a:t>
            </a:r>
          </a:p>
          <a:p>
            <a:pPr lvl="0"/>
            <a:r>
              <a:rPr lang="ru-RU" dirty="0" smtClean="0"/>
              <a:t>Специфические </a:t>
            </a:r>
            <a:r>
              <a:rPr lang="ru-RU" dirty="0"/>
              <a:t>технические </a:t>
            </a:r>
            <a:r>
              <a:rPr lang="ru-RU" dirty="0" smtClean="0"/>
              <a:t>требования</a:t>
            </a:r>
          </a:p>
          <a:p>
            <a:r>
              <a:rPr lang="ru-RU" dirty="0" smtClean="0"/>
              <a:t>Специфические </a:t>
            </a:r>
            <a:r>
              <a:rPr lang="ru-RU" dirty="0"/>
              <a:t>требования к защите </a:t>
            </a:r>
            <a:r>
              <a:rPr lang="ru-RU" dirty="0" smtClean="0"/>
              <a:t>информации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9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Спонсор </a:t>
            </a:r>
            <a:r>
              <a:rPr lang="ru-RU" dirty="0" smtClean="0"/>
              <a:t>проекта</a:t>
            </a:r>
          </a:p>
          <a:p>
            <a:pPr lvl="0"/>
            <a:r>
              <a:rPr lang="ru-RU" dirty="0" smtClean="0"/>
              <a:t>Заказчик проекта</a:t>
            </a:r>
          </a:p>
          <a:p>
            <a:pPr lvl="0"/>
            <a:r>
              <a:rPr lang="ru-RU" dirty="0" smtClean="0"/>
              <a:t>Пользователи </a:t>
            </a:r>
            <a:r>
              <a:rPr lang="ru-RU" dirty="0"/>
              <a:t>результатов </a:t>
            </a:r>
            <a:r>
              <a:rPr lang="ru-RU" dirty="0" smtClean="0"/>
              <a:t>проекта</a:t>
            </a:r>
            <a:endParaRPr lang="ru-RU" dirty="0"/>
          </a:p>
          <a:p>
            <a:pPr lvl="0"/>
            <a:r>
              <a:rPr lang="ru-RU" dirty="0"/>
              <a:t>Куратор </a:t>
            </a:r>
            <a:r>
              <a:rPr lang="ru-RU" dirty="0" smtClean="0"/>
              <a:t>проекта</a:t>
            </a:r>
          </a:p>
          <a:p>
            <a:pPr lvl="0"/>
            <a:r>
              <a:rPr lang="ru-RU" dirty="0" smtClean="0"/>
              <a:t>Руководитель проекта</a:t>
            </a:r>
            <a:endParaRPr lang="ru-RU" dirty="0"/>
          </a:p>
          <a:p>
            <a:r>
              <a:rPr lang="ru-RU" dirty="0"/>
              <a:t>Соисполнители проекта. Субподрядчики и </a:t>
            </a:r>
            <a:r>
              <a:rPr lang="ru-RU" dirty="0" smtClean="0"/>
              <a:t>поставщики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Ключевые участники и заинтересованные стороны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3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Людские ресурсы и требования к квалификации </a:t>
            </a:r>
            <a:r>
              <a:rPr lang="ru-RU" dirty="0" smtClean="0"/>
              <a:t>персонала</a:t>
            </a:r>
            <a:endParaRPr lang="ru-RU" dirty="0"/>
          </a:p>
          <a:p>
            <a:pPr lvl="0"/>
            <a:r>
              <a:rPr lang="ru-RU" dirty="0"/>
              <a:t>Оборудование, услуги, расходные материалы, лицензии на ПО, критические компьютерные </a:t>
            </a:r>
            <a:r>
              <a:rPr lang="ru-RU" dirty="0" smtClean="0"/>
              <a:t>ресурсы</a:t>
            </a:r>
            <a:endParaRPr lang="ru-RU" dirty="0"/>
          </a:p>
          <a:p>
            <a:r>
              <a:rPr lang="ru-RU" dirty="0"/>
              <a:t>Бюджет </a:t>
            </a:r>
            <a:r>
              <a:rPr lang="ru-RU" dirty="0" smtClean="0"/>
              <a:t>проекта. План расходов и, при необходимости, предполагаемых доходов проекта с разбивкой по статьям и фазам/этапам проекта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Ресурсы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0691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http://citforum.ru/SE/project/arkhipenkov_lectures/14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7344816" cy="432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742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Контрольная точка — важный момент или событие в расписании проекта, отмечающее достижение заданного результата и/или начало/завершение определенного объема работы. Каждая контрольная точка характеризуется датой и объективными критериями ее достижения.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Сроки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4426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Риск — неопределенное событие или условие, наступление которого отрицательно или положительно сказывается на целях проекта.</a:t>
            </a:r>
          </a:p>
          <a:p>
            <a:pPr marL="109728" indent="0" algn="just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Риски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386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Критерии приемки должны определять числовые значения характеристик системы, которые должны быть продемонстрированы по результатам приемосдаточных испытаний или опытной эксплуатации и однозначно свидетельствовать о достижении целей проекта.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Критерии приемки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2587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/>
            <a:r>
              <a:rPr lang="ru-RU" dirty="0"/>
              <a:t>Для кого предназначены результаты проекта.</a:t>
            </a:r>
          </a:p>
          <a:p>
            <a:pPr lvl="0" algn="just"/>
            <a:r>
              <a:rPr lang="ru-RU" dirty="0"/>
              <a:t>Описание текущей ситуации «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». Какие у потенциального заказчика существуют проблемы.</a:t>
            </a:r>
          </a:p>
          <a:p>
            <a:pPr lvl="0" algn="just"/>
            <a:r>
              <a:rPr lang="ru-RU" dirty="0"/>
              <a:t>Каким образом результаты проекта решают эти проблемы («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»).</a:t>
            </a:r>
          </a:p>
          <a:p>
            <a:pPr lvl="0" algn="just"/>
            <a:r>
              <a:rPr lang="ru-RU" dirty="0"/>
              <a:t>Насколько значимо для клиента решение данных проблем (оценка экономического эффекта).</a:t>
            </a:r>
          </a:p>
          <a:p>
            <a:pPr algn="just"/>
            <a:r>
              <a:rPr lang="ru-RU" dirty="0"/>
              <a:t>Какие преимущества в итоге из этого может извлечь компания-исполнитель проекта. 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Обоснование полезности 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854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Эффективные процессы инициации программного проекта во многом определяют его будущую успешность. Недостаточное внимание этой фазе проекта неизбежно приводит к существенным проблемам при планировании, реализации и завершении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04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Устав проекта - это ключевой документ, который используется для принятия решений в ходе всего проекта, а также на фазе приемки — для подтверждения результата.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dirty="0" smtClean="0"/>
              <a:t>Выводы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2748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ru-RU" dirty="0"/>
              <a:t>Приоритет проекта определяется на основе оценки трех показателей:</a:t>
            </a:r>
          </a:p>
          <a:p>
            <a:pPr lvl="0" algn="just"/>
            <a:r>
              <a:rPr lang="ru-RU" dirty="0"/>
              <a:t>Финансовая ценность.</a:t>
            </a:r>
          </a:p>
          <a:p>
            <a:pPr lvl="0" algn="just"/>
            <a:r>
              <a:rPr lang="ru-RU" dirty="0"/>
              <a:t>Стратегическая ценность.</a:t>
            </a:r>
          </a:p>
          <a:p>
            <a:pPr lvl="0" algn="just"/>
            <a:r>
              <a:rPr lang="ru-RU" dirty="0"/>
              <a:t>Уровень рисков.</a:t>
            </a:r>
          </a:p>
          <a:p>
            <a:pPr marL="109728" indent="0" algn="just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65298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</TotalTime>
  <Words>491</Words>
  <Application>Microsoft Office PowerPoint</Application>
  <PresentationFormat>Экран (4:3)</PresentationFormat>
  <Paragraphs>63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Открытая</vt:lpstr>
      <vt:lpstr>Устав проекта</vt:lpstr>
      <vt:lpstr>Презентация PowerPoint</vt:lpstr>
      <vt:lpstr>Содержание устава</vt:lpstr>
      <vt:lpstr>Цели и результаты</vt:lpstr>
      <vt:lpstr>Цели и результаты</vt:lpstr>
      <vt:lpstr>Цели и результаты</vt:lpstr>
      <vt:lpstr>Цели и результаты</vt:lpstr>
      <vt:lpstr>Допущения и ограничения</vt:lpstr>
      <vt:lpstr>Презентация PowerPoint</vt:lpstr>
      <vt:lpstr>Ключевые участники и заинтересованные стороны</vt:lpstr>
      <vt:lpstr>Ресурсы</vt:lpstr>
      <vt:lpstr>Презентация PowerPoint</vt:lpstr>
      <vt:lpstr>Сроки</vt:lpstr>
      <vt:lpstr>Риски</vt:lpstr>
      <vt:lpstr>Критерии приемки</vt:lpstr>
      <vt:lpstr>Обоснование полезности проекта</vt:lpstr>
      <vt:lpstr>Выводы</vt:lpstr>
      <vt:lpstr>Выводы</vt:lpstr>
      <vt:lpstr>Выводы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Устав проекта</dc:title>
  <dc:creator>Admin</dc:creator>
  <cp:lastModifiedBy>Admin</cp:lastModifiedBy>
  <cp:revision>2</cp:revision>
  <dcterms:created xsi:type="dcterms:W3CDTF">2014-09-25T13:24:30Z</dcterms:created>
  <dcterms:modified xsi:type="dcterms:W3CDTF">2014-09-25T13:36:19Z</dcterms:modified>
</cp:coreProperties>
</file>