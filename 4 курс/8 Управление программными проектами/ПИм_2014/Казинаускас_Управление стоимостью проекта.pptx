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8" r:id="rId4"/>
    <p:sldId id="259" r:id="rId5"/>
    <p:sldId id="260" r:id="rId6"/>
    <p:sldId id="261" r:id="rId7"/>
    <p:sldId id="267" r:id="rId8"/>
    <p:sldId id="262" r:id="rId9"/>
    <p:sldId id="264" r:id="rId10"/>
    <p:sldId id="263" r:id="rId11"/>
    <p:sldId id="265" r:id="rId12"/>
    <p:sldId id="266" r:id="rId13"/>
    <p:sldId id="269" r:id="rId14"/>
    <p:sldId id="272" r:id="rId15"/>
    <p:sldId id="270" r:id="rId16"/>
    <p:sldId id="271" r:id="rId17"/>
    <p:sldId id="273" r:id="rId18"/>
    <p:sldId id="276" r:id="rId19"/>
    <p:sldId id="274" r:id="rId20"/>
    <p:sldId id="275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0"/>
  </p:normalViewPr>
  <p:slideViewPr>
    <p:cSldViewPr>
      <p:cViewPr varScale="1">
        <p:scale>
          <a:sx n="69" d="100"/>
          <a:sy n="69" d="100"/>
        </p:scale>
        <p:origin x="-13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04664" y="2515183"/>
            <a:ext cx="8134672" cy="1827634"/>
          </a:xfrm>
        </p:spPr>
        <p:txBody>
          <a:bodyPr>
            <a:noAutofit/>
          </a:bodyPr>
          <a:lstStyle/>
          <a:p>
            <a:r>
              <a:rPr lang="ru-RU" sz="5400" b="1" dirty="0"/>
              <a:t>Управление стоимостью проекта</a:t>
            </a:r>
            <a:r>
              <a:rPr lang="ru-RU" sz="4800" dirty="0"/>
              <a:t/>
            </a:r>
            <a:br>
              <a:rPr lang="ru-RU" sz="4800" dirty="0"/>
            </a:br>
            <a:endParaRPr lang="ru-RU" sz="4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27784" y="4797152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ru-RU" sz="2400" dirty="0" smtClean="0">
                <a:solidFill>
                  <a:schemeClr val="tx1"/>
                </a:solidFill>
              </a:rPr>
              <a:t>Выполнил: Казинаускас А.Ю.</a:t>
            </a:r>
          </a:p>
          <a:p>
            <a:pPr algn="r"/>
            <a:r>
              <a:rPr lang="ru-RU" sz="2400" dirty="0" smtClean="0">
                <a:solidFill>
                  <a:schemeClr val="tx1"/>
                </a:solidFill>
              </a:rPr>
              <a:t>Группа: 1ПИм-01-11оп</a:t>
            </a:r>
            <a:br>
              <a:rPr lang="ru-RU" sz="2400" dirty="0" smtClean="0">
                <a:solidFill>
                  <a:schemeClr val="tx1"/>
                </a:solidFill>
              </a:rPr>
            </a:br>
            <a:r>
              <a:rPr lang="ru-RU" sz="2400" dirty="0" smtClean="0">
                <a:solidFill>
                  <a:schemeClr val="tx1"/>
                </a:solidFill>
              </a:rPr>
              <a:t>Преподаватель: д.т.н. профессор </a:t>
            </a:r>
            <a:br>
              <a:rPr lang="ru-RU" sz="2400" dirty="0" smtClean="0">
                <a:solidFill>
                  <a:schemeClr val="tx1"/>
                </a:solidFill>
              </a:rPr>
            </a:br>
            <a:r>
              <a:rPr lang="ru-RU" sz="2400" dirty="0" smtClean="0">
                <a:solidFill>
                  <a:schemeClr val="tx1"/>
                </a:solidFill>
              </a:rPr>
              <a:t>Ершов Е.В.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52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107518"/>
            <a:ext cx="8676456" cy="6777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452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48" y="0"/>
            <a:ext cx="5508104" cy="6701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342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48" y="0"/>
            <a:ext cx="5508104" cy="6701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763688" y="620688"/>
            <a:ext cx="5634372" cy="17281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52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6025"/>
            <a:ext cx="7772400" cy="548679"/>
          </a:xfrm>
        </p:spPr>
        <p:txBody>
          <a:bodyPr>
            <a:noAutofit/>
          </a:bodyPr>
          <a:lstStyle/>
          <a:p>
            <a:r>
              <a:rPr lang="ru-RU" b="1" dirty="0"/>
              <a:t>Стоимостная оценка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297931"/>
            <a:ext cx="8571413" cy="357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99592" y="6011996"/>
            <a:ext cx="7776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Рис. 3</a:t>
            </a:r>
            <a:r>
              <a:rPr lang="ru-RU" b="1" dirty="0"/>
              <a:t>. Стоимостная оценка: входы, инструменты и методы, выходы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908720"/>
            <a:ext cx="889248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/>
              <a:t>Оценка стоимости плановых операций включает в себя приблизительную оценку стоимости ресурсов, необходимых для выполнения каждой плановой операции. </a:t>
            </a:r>
          </a:p>
        </p:txBody>
      </p:sp>
    </p:spTree>
    <p:extLst>
      <p:ext uri="{BB962C8B-B14F-4D97-AF65-F5344CB8AC3E}">
        <p14:creationId xmlns:p14="http://schemas.microsoft.com/office/powerpoint/2010/main" val="303452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9592" y="404664"/>
            <a:ext cx="7772400" cy="1470025"/>
          </a:xfrm>
        </p:spPr>
        <p:txBody>
          <a:bodyPr/>
          <a:lstStyle/>
          <a:p>
            <a:r>
              <a:rPr lang="ru-RU" b="1" dirty="0"/>
              <a:t>Стоимостная оценка: входы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7584" y="1556792"/>
            <a:ext cx="5832648" cy="4536504"/>
          </a:xfrm>
        </p:spPr>
        <p:txBody>
          <a:bodyPr numCol="1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2200" b="1" dirty="0" smtClean="0">
                <a:solidFill>
                  <a:schemeClr val="tx1"/>
                </a:solidFill>
              </a:rPr>
              <a:t>1. Факторы </a:t>
            </a:r>
            <a:r>
              <a:rPr lang="ru-RU" sz="2200" b="1" dirty="0">
                <a:solidFill>
                  <a:schemeClr val="tx1"/>
                </a:solidFill>
              </a:rPr>
              <a:t>внешней среды </a:t>
            </a:r>
            <a:r>
              <a:rPr lang="ru-RU" sz="2200" b="1" dirty="0" smtClean="0">
                <a:solidFill>
                  <a:schemeClr val="tx1"/>
                </a:solidFill>
              </a:rPr>
              <a:t>предприятия</a:t>
            </a:r>
          </a:p>
          <a:p>
            <a:pPr lvl="0" algn="just">
              <a:lnSpc>
                <a:spcPct val="150000"/>
              </a:lnSpc>
            </a:pPr>
            <a:r>
              <a:rPr lang="ru-RU" sz="2200" b="1" dirty="0" smtClean="0">
                <a:solidFill>
                  <a:schemeClr val="tx1"/>
                </a:solidFill>
              </a:rPr>
              <a:t>2. </a:t>
            </a:r>
            <a:r>
              <a:rPr lang="ru-RU" sz="2200" b="1" dirty="0" smtClean="0">
                <a:solidFill>
                  <a:schemeClr val="tx1"/>
                </a:solidFill>
              </a:rPr>
              <a:t>Активы </a:t>
            </a:r>
            <a:r>
              <a:rPr lang="ru-RU" sz="2200" b="1" dirty="0">
                <a:solidFill>
                  <a:schemeClr val="tx1"/>
                </a:solidFill>
              </a:rPr>
              <a:t>организационного </a:t>
            </a:r>
            <a:r>
              <a:rPr lang="ru-RU" sz="2200" b="1" dirty="0" smtClean="0">
                <a:solidFill>
                  <a:schemeClr val="tx1"/>
                </a:solidFill>
              </a:rPr>
              <a:t>процесса </a:t>
            </a:r>
          </a:p>
          <a:p>
            <a:pPr lvl="0" algn="just">
              <a:lnSpc>
                <a:spcPct val="150000"/>
              </a:lnSpc>
            </a:pPr>
            <a:r>
              <a:rPr lang="ru-RU" sz="2200" b="1" dirty="0" smtClean="0">
                <a:solidFill>
                  <a:schemeClr val="tx1"/>
                </a:solidFill>
              </a:rPr>
              <a:t>3</a:t>
            </a:r>
            <a:r>
              <a:rPr lang="ru-RU" sz="2200" b="1" dirty="0" smtClean="0">
                <a:solidFill>
                  <a:schemeClr val="tx1"/>
                </a:solidFill>
              </a:rPr>
              <a:t>. Описание </a:t>
            </a:r>
            <a:r>
              <a:rPr lang="ru-RU" sz="2200" b="1" dirty="0">
                <a:solidFill>
                  <a:schemeClr val="tx1"/>
                </a:solidFill>
              </a:rPr>
              <a:t>содержания </a:t>
            </a:r>
            <a:r>
              <a:rPr lang="ru-RU" sz="2200" b="1" dirty="0" smtClean="0">
                <a:solidFill>
                  <a:schemeClr val="tx1"/>
                </a:solidFill>
              </a:rPr>
              <a:t>проекта</a:t>
            </a:r>
            <a:endParaRPr lang="ru-RU" sz="2200" b="1" dirty="0">
              <a:solidFill>
                <a:schemeClr val="tx1"/>
              </a:solidFill>
            </a:endParaRPr>
          </a:p>
          <a:p>
            <a:pPr lvl="0" algn="just">
              <a:lnSpc>
                <a:spcPct val="150000"/>
              </a:lnSpc>
            </a:pPr>
            <a:r>
              <a:rPr lang="ru-RU" sz="2200" b="1" dirty="0" smtClean="0">
                <a:solidFill>
                  <a:schemeClr val="tx1"/>
                </a:solidFill>
              </a:rPr>
              <a:t>4</a:t>
            </a:r>
            <a:r>
              <a:rPr lang="ru-RU" sz="2200" b="1" dirty="0" smtClean="0">
                <a:solidFill>
                  <a:schemeClr val="tx1"/>
                </a:solidFill>
              </a:rPr>
              <a:t>. Иерархическая </a:t>
            </a:r>
            <a:r>
              <a:rPr lang="ru-RU" sz="2200" b="1" dirty="0">
                <a:solidFill>
                  <a:schemeClr val="tx1"/>
                </a:solidFill>
              </a:rPr>
              <a:t>структура </a:t>
            </a:r>
            <a:r>
              <a:rPr lang="ru-RU" sz="2200" b="1" dirty="0" smtClean="0">
                <a:solidFill>
                  <a:schemeClr val="tx1"/>
                </a:solidFill>
              </a:rPr>
              <a:t>работ</a:t>
            </a:r>
          </a:p>
          <a:p>
            <a:pPr lvl="0" algn="just">
              <a:lnSpc>
                <a:spcPct val="150000"/>
              </a:lnSpc>
            </a:pPr>
            <a:r>
              <a:rPr lang="ru-RU" sz="2200" b="1" dirty="0" smtClean="0">
                <a:solidFill>
                  <a:schemeClr val="tx1"/>
                </a:solidFill>
              </a:rPr>
              <a:t>5</a:t>
            </a:r>
            <a:r>
              <a:rPr lang="ru-RU" sz="2200" b="1" dirty="0" smtClean="0">
                <a:solidFill>
                  <a:schemeClr val="tx1"/>
                </a:solidFill>
              </a:rPr>
              <a:t>. Словарь ИСР</a:t>
            </a:r>
          </a:p>
          <a:p>
            <a:pPr lvl="0" algn="just">
              <a:lnSpc>
                <a:spcPct val="150000"/>
              </a:lnSpc>
            </a:pPr>
            <a:r>
              <a:rPr lang="ru-RU" sz="2200" b="1" dirty="0" smtClean="0">
                <a:solidFill>
                  <a:schemeClr val="tx1"/>
                </a:solidFill>
              </a:rPr>
              <a:t>6</a:t>
            </a:r>
            <a:r>
              <a:rPr lang="ru-RU" sz="2200" b="1" dirty="0" smtClean="0">
                <a:solidFill>
                  <a:schemeClr val="tx1"/>
                </a:solidFill>
              </a:rPr>
              <a:t>. План </a:t>
            </a:r>
            <a:r>
              <a:rPr lang="ru-RU" sz="2200" b="1" dirty="0">
                <a:solidFill>
                  <a:schemeClr val="tx1"/>
                </a:solidFill>
              </a:rPr>
              <a:t>управления </a:t>
            </a:r>
            <a:r>
              <a:rPr lang="ru-RU" sz="2200" b="1" dirty="0" smtClean="0">
                <a:solidFill>
                  <a:schemeClr val="tx1"/>
                </a:solidFill>
              </a:rPr>
              <a:t>проектом</a:t>
            </a:r>
            <a:endParaRPr lang="ru-RU" sz="22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52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b="1" dirty="0"/>
              <a:t>Стоимостная оценка: инструменты и методы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1772816"/>
            <a:ext cx="8470776" cy="521865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Оценка </a:t>
            </a:r>
            <a:r>
              <a:rPr lang="ru-RU" sz="2200" b="1" dirty="0"/>
              <a:t>по </a:t>
            </a:r>
            <a:r>
              <a:rPr lang="ru-RU" sz="2200" b="1" dirty="0" smtClean="0"/>
              <a:t>аналогам</a:t>
            </a:r>
          </a:p>
          <a:p>
            <a:pPr marL="514350" indent="-514350">
              <a:lnSpc>
                <a:spcPct val="150000"/>
              </a:lnSpc>
              <a:buFont typeface="Arial" pitchFamily="34" charset="0"/>
              <a:buAutoNum type="arabicPeriod"/>
            </a:pPr>
            <a:r>
              <a:rPr lang="ru-RU" sz="2200" b="1" dirty="0"/>
              <a:t>Определение ставок стоимости ресурсов</a:t>
            </a:r>
            <a:endParaRPr lang="ru-RU" sz="22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/>
              <a:t>Оценка </a:t>
            </a:r>
            <a:r>
              <a:rPr lang="en-US" sz="2200" b="1" dirty="0" smtClean="0"/>
              <a:t>“</a:t>
            </a:r>
            <a:r>
              <a:rPr lang="ru-RU" sz="2200" b="1" dirty="0" smtClean="0"/>
              <a:t>снизу вверх</a:t>
            </a:r>
            <a:r>
              <a:rPr lang="en-US" sz="2200" b="1" dirty="0" smtClean="0"/>
              <a:t>”</a:t>
            </a:r>
            <a:endParaRPr lang="ru-RU" sz="2200" b="1" dirty="0" smtClean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/>
              <a:t>Параметрическая </a:t>
            </a:r>
            <a:r>
              <a:rPr lang="ru-RU" sz="2200" b="1" dirty="0" smtClean="0"/>
              <a:t>оценка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/>
              <a:t>Программное обеспечение для управления </a:t>
            </a:r>
            <a:r>
              <a:rPr lang="ru-RU" sz="2200" b="1" dirty="0" smtClean="0"/>
              <a:t>проектами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/>
              <a:t>Анализ предложений </a:t>
            </a:r>
            <a:r>
              <a:rPr lang="ru-RU" sz="2200" b="1" dirty="0" smtClean="0"/>
              <a:t>исполнителей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/>
              <a:t>Анализ </a:t>
            </a:r>
            <a:r>
              <a:rPr lang="ru-RU" sz="2200" b="1" dirty="0" smtClean="0"/>
              <a:t>резервов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/>
              <a:t>Стоимость качества</a:t>
            </a:r>
            <a:endParaRPr lang="ru-RU" sz="2200" b="1" dirty="0" smtClean="0"/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016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85119"/>
            <a:ext cx="7772400" cy="1111633"/>
          </a:xfrm>
        </p:spPr>
        <p:txBody>
          <a:bodyPr/>
          <a:lstStyle/>
          <a:p>
            <a:r>
              <a:rPr lang="ru-RU" b="1" dirty="0"/>
              <a:t>Оценка стоимости: выходы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55576" y="1219200"/>
            <a:ext cx="7920880" cy="5234136"/>
          </a:xfrm>
        </p:spPr>
        <p:txBody>
          <a:bodyPr>
            <a:normAutofit fontScale="70000" lnSpcReduction="20000"/>
          </a:bodyPr>
          <a:lstStyle/>
          <a:p>
            <a:pPr marL="514350" indent="-514350" algn="l">
              <a:lnSpc>
                <a:spcPct val="120000"/>
              </a:lnSpc>
              <a:buAutoNum type="arabicPeriod"/>
            </a:pPr>
            <a:r>
              <a:rPr lang="ru-RU" b="1" dirty="0" smtClean="0">
                <a:solidFill>
                  <a:schemeClr val="tx1"/>
                </a:solidFill>
              </a:rPr>
              <a:t>Оценка </a:t>
            </a:r>
            <a:r>
              <a:rPr lang="ru-RU" b="1" dirty="0">
                <a:solidFill>
                  <a:schemeClr val="tx1"/>
                </a:solidFill>
              </a:rPr>
              <a:t>стоимости </a:t>
            </a:r>
            <a:r>
              <a:rPr lang="ru-RU" b="1" dirty="0" smtClean="0">
                <a:solidFill>
                  <a:schemeClr val="tx1"/>
                </a:solidFill>
              </a:rPr>
              <a:t>операции</a:t>
            </a:r>
          </a:p>
          <a:p>
            <a:pPr marL="514350" indent="-514350" algn="l">
              <a:lnSpc>
                <a:spcPct val="120000"/>
              </a:lnSpc>
              <a:buAutoNum type="arabicPeriod"/>
            </a:pPr>
            <a:r>
              <a:rPr lang="ru-RU" b="1" dirty="0">
                <a:solidFill>
                  <a:schemeClr val="tx1"/>
                </a:solidFill>
              </a:rPr>
              <a:t>Вспомогательные данные для оценки стоимости </a:t>
            </a:r>
            <a:r>
              <a:rPr lang="ru-RU" b="1" dirty="0" smtClean="0">
                <a:solidFill>
                  <a:schemeClr val="tx1"/>
                </a:solidFill>
              </a:rPr>
              <a:t>операции</a:t>
            </a:r>
          </a:p>
          <a:p>
            <a:pPr algn="l">
              <a:lnSpc>
                <a:spcPct val="120000"/>
              </a:lnSpc>
            </a:pPr>
            <a:r>
              <a:rPr lang="ru-RU" dirty="0" smtClean="0">
                <a:solidFill>
                  <a:schemeClr val="tx1"/>
                </a:solidFill>
              </a:rPr>
              <a:t>Содержат:</a:t>
            </a:r>
            <a:endParaRPr lang="ru-RU" dirty="0">
              <a:solidFill>
                <a:schemeClr val="tx1"/>
              </a:solidFill>
            </a:endParaRPr>
          </a:p>
          <a:p>
            <a:pPr marL="457200" lvl="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</a:rPr>
              <a:t>Описание </a:t>
            </a:r>
            <a:r>
              <a:rPr lang="ru-RU" dirty="0">
                <a:solidFill>
                  <a:schemeClr val="tx1"/>
                </a:solidFill>
              </a:rPr>
              <a:t>содержания работ проекта для плановой операции</a:t>
            </a:r>
          </a:p>
          <a:p>
            <a:pPr marL="457200" lvl="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Документацию по основанию для оценки (т.е. того, как оценка получена)</a:t>
            </a:r>
          </a:p>
          <a:p>
            <a:pPr marL="457200" lvl="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Документацию обо всех сделанных допущениях</a:t>
            </a:r>
          </a:p>
          <a:p>
            <a:pPr marL="457200" lvl="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Документацию обо всех ограничениях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Указание диапазона возможных значений </a:t>
            </a:r>
            <a:endParaRPr lang="ru-RU" dirty="0" smtClean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</a:pPr>
            <a:r>
              <a:rPr lang="ru-RU" b="1" dirty="0" smtClean="0">
                <a:solidFill>
                  <a:schemeClr val="tx1"/>
                </a:solidFill>
              </a:rPr>
              <a:t>3. </a:t>
            </a:r>
            <a:r>
              <a:rPr lang="ru-RU" b="1" dirty="0">
                <a:solidFill>
                  <a:schemeClr val="tx1"/>
                </a:solidFill>
              </a:rPr>
              <a:t>Запрошенные </a:t>
            </a:r>
            <a:r>
              <a:rPr lang="ru-RU" b="1" dirty="0" smtClean="0">
                <a:solidFill>
                  <a:schemeClr val="tx1"/>
                </a:solidFill>
              </a:rPr>
              <a:t>изменения</a:t>
            </a:r>
          </a:p>
          <a:p>
            <a:pPr algn="l">
              <a:lnSpc>
                <a:spcPct val="120000"/>
              </a:lnSpc>
            </a:pPr>
            <a:r>
              <a:rPr lang="ru-RU" b="1" dirty="0" smtClean="0">
                <a:solidFill>
                  <a:schemeClr val="tx1"/>
                </a:solidFill>
              </a:rPr>
              <a:t>4. </a:t>
            </a:r>
            <a:r>
              <a:rPr lang="ru-RU" b="1" dirty="0">
                <a:solidFill>
                  <a:schemeClr val="tx1"/>
                </a:solidFill>
              </a:rPr>
              <a:t>План управления стоимостью (обновления)</a:t>
            </a:r>
            <a:endParaRPr lang="ru-RU" dirty="0">
              <a:solidFill>
                <a:schemeClr val="tx1"/>
              </a:solidFill>
            </a:endParaRPr>
          </a:p>
          <a:p>
            <a:endParaRPr lang="ru-RU" b="1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452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48" y="0"/>
            <a:ext cx="5508104" cy="6701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745940" y="2348880"/>
            <a:ext cx="5634372" cy="23762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52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260648"/>
            <a:ext cx="7772400" cy="792088"/>
          </a:xfrm>
        </p:spPr>
        <p:txBody>
          <a:bodyPr>
            <a:normAutofit fontScale="90000"/>
          </a:bodyPr>
          <a:lstStyle/>
          <a:p>
            <a:r>
              <a:rPr lang="ru-RU" sz="4900" b="1" dirty="0" smtClean="0"/>
              <a:t> </a:t>
            </a:r>
            <a:r>
              <a:rPr lang="ru-RU" sz="4900" b="1" dirty="0"/>
              <a:t>Разработка бюджета расходов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61" y="2511098"/>
            <a:ext cx="8405819" cy="351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95536" y="6165304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Рис. 4</a:t>
            </a:r>
            <a:r>
              <a:rPr lang="ru-RU" b="1" dirty="0"/>
              <a:t>. Разработка бюджета расходов: входы, инструменты и методы, выходы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764704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Разработка бюджета расходов включает в себя объединение оценок стоимости отдельных плановых операций или пакетов работ с целью создания общего базового плана по стоимости для определения эффективности исполнения проекта. </a:t>
            </a:r>
          </a:p>
        </p:txBody>
      </p:sp>
    </p:spTree>
    <p:extLst>
      <p:ext uri="{BB962C8B-B14F-4D97-AF65-F5344CB8AC3E}">
        <p14:creationId xmlns:p14="http://schemas.microsoft.com/office/powerpoint/2010/main" val="303452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-27384"/>
            <a:ext cx="8566720" cy="1470025"/>
          </a:xfrm>
        </p:spPr>
        <p:txBody>
          <a:bodyPr/>
          <a:lstStyle/>
          <a:p>
            <a:r>
              <a:rPr lang="ru-RU" b="1" dirty="0"/>
              <a:t>Разработка бюджета расходов: входы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1412776"/>
            <a:ext cx="8568952" cy="5112568"/>
          </a:xfrm>
        </p:spPr>
        <p:txBody>
          <a:bodyPr>
            <a:normAutofit lnSpcReduction="10000"/>
          </a:bodyPr>
          <a:lstStyle/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Описание </a:t>
            </a:r>
            <a:r>
              <a:rPr lang="ru-RU" sz="2200" b="1" dirty="0">
                <a:solidFill>
                  <a:schemeClr val="tx1"/>
                </a:solidFill>
              </a:rPr>
              <a:t>содержания </a:t>
            </a:r>
            <a:r>
              <a:rPr lang="ru-RU" sz="2200" b="1" dirty="0" smtClean="0">
                <a:solidFill>
                  <a:schemeClr val="tx1"/>
                </a:solidFill>
              </a:rPr>
              <a:t>проекта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Иерархическая </a:t>
            </a:r>
            <a:r>
              <a:rPr lang="ru-RU" sz="2200" b="1" dirty="0">
                <a:solidFill>
                  <a:schemeClr val="tx1"/>
                </a:solidFill>
              </a:rPr>
              <a:t>структура </a:t>
            </a:r>
            <a:r>
              <a:rPr lang="ru-RU" sz="2200" b="1" dirty="0" smtClean="0">
                <a:solidFill>
                  <a:schemeClr val="tx1"/>
                </a:solidFill>
              </a:rPr>
              <a:t>работ</a:t>
            </a:r>
            <a:endParaRPr lang="ru-RU" sz="2200" dirty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Словарь ИСР</a:t>
            </a:r>
            <a:endParaRPr lang="ru-RU" sz="2200" dirty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Оценка </a:t>
            </a:r>
            <a:r>
              <a:rPr lang="ru-RU" sz="2200" b="1" dirty="0">
                <a:solidFill>
                  <a:schemeClr val="tx1"/>
                </a:solidFill>
              </a:rPr>
              <a:t>стоимости </a:t>
            </a:r>
            <a:r>
              <a:rPr lang="ru-RU" sz="2200" b="1" dirty="0" smtClean="0">
                <a:solidFill>
                  <a:schemeClr val="tx1"/>
                </a:solidFill>
              </a:rPr>
              <a:t>операции</a:t>
            </a:r>
            <a:endParaRPr lang="ru-RU" sz="2200" dirty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Вспомогательные </a:t>
            </a:r>
            <a:r>
              <a:rPr lang="ru-RU" sz="2200" b="1" dirty="0">
                <a:solidFill>
                  <a:schemeClr val="tx1"/>
                </a:solidFill>
              </a:rPr>
              <a:t>данные для оценки стоимости </a:t>
            </a:r>
            <a:r>
              <a:rPr lang="ru-RU" sz="2200" b="1" dirty="0" smtClean="0">
                <a:solidFill>
                  <a:schemeClr val="tx1"/>
                </a:solidFill>
              </a:rPr>
              <a:t>операции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Расписание проекта</a:t>
            </a:r>
            <a:endParaRPr lang="ru-RU" sz="2200" dirty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Календари ресурсов</a:t>
            </a:r>
            <a:endParaRPr lang="ru-RU" sz="2200" dirty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Контракт</a:t>
            </a:r>
            <a:endParaRPr lang="ru-RU" sz="2200" dirty="0">
              <a:solidFill>
                <a:schemeClr val="tx1"/>
              </a:solidFill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План </a:t>
            </a:r>
            <a:r>
              <a:rPr lang="ru-RU" sz="2200" b="1" dirty="0">
                <a:solidFill>
                  <a:schemeClr val="tx1"/>
                </a:solidFill>
              </a:rPr>
              <a:t>управления стоимостью</a:t>
            </a:r>
            <a:endParaRPr lang="ru-RU" sz="22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452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9776" y="188640"/>
            <a:ext cx="8134672" cy="1470025"/>
          </a:xfrm>
        </p:spPr>
        <p:txBody>
          <a:bodyPr>
            <a:normAutofit/>
          </a:bodyPr>
          <a:lstStyle/>
          <a:p>
            <a:r>
              <a:rPr lang="ru-RU" b="1" dirty="0"/>
              <a:t>Разработка бюджета расходов: инструменты и методы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2049666"/>
            <a:ext cx="6120680" cy="2387446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Суммирование стоимости</a:t>
            </a:r>
            <a:endParaRPr lang="ru-RU" sz="2200" dirty="0">
              <a:solidFill>
                <a:schemeClr val="tx1"/>
              </a:solidFill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Анализ резервов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Параметрическая оценка</a:t>
            </a:r>
            <a:endParaRPr lang="ru-RU" sz="2200" dirty="0">
              <a:solidFill>
                <a:schemeClr val="tx1"/>
              </a:solidFill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ru-RU" sz="2200" b="1" dirty="0" smtClean="0">
                <a:solidFill>
                  <a:schemeClr val="tx1"/>
                </a:solidFill>
              </a:rPr>
              <a:t>Согласование </a:t>
            </a:r>
            <a:r>
              <a:rPr lang="ru-RU" sz="2200" b="1" dirty="0">
                <a:solidFill>
                  <a:schemeClr val="tx1"/>
                </a:solidFill>
              </a:rPr>
              <a:t>объемов финансирования</a:t>
            </a:r>
            <a:endParaRPr lang="ru-RU" sz="22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452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9898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4900" b="1" dirty="0"/>
              <a:t>Разработка бюджета расходов: выходы</a:t>
            </a:r>
            <a:r>
              <a:rPr lang="ru-RU" sz="4900" dirty="0"/>
              <a:t/>
            </a:r>
            <a:br>
              <a:rPr lang="ru-RU" sz="4900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2880" y="1927373"/>
            <a:ext cx="8229600" cy="250973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Базовый </a:t>
            </a:r>
            <a:r>
              <a:rPr lang="ru-RU" sz="2200" b="1" dirty="0"/>
              <a:t>план по </a:t>
            </a:r>
            <a:r>
              <a:rPr lang="ru-RU" sz="2200" b="1" dirty="0" smtClean="0"/>
              <a:t>стоимости</a:t>
            </a:r>
            <a:endParaRPr lang="ru-RU" sz="22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Требования </a:t>
            </a:r>
            <a:r>
              <a:rPr lang="ru-RU" sz="2200" b="1" dirty="0"/>
              <a:t>к финансированию </a:t>
            </a:r>
            <a:r>
              <a:rPr lang="ru-RU" sz="2200" b="1" dirty="0" smtClean="0"/>
              <a:t>проекта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План </a:t>
            </a:r>
            <a:r>
              <a:rPr lang="ru-RU" sz="2200" b="1" dirty="0"/>
              <a:t>управления стоимостью (</a:t>
            </a:r>
            <a:r>
              <a:rPr lang="ru-RU" sz="2200" b="1" dirty="0" smtClean="0"/>
              <a:t>обновления)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 </a:t>
            </a:r>
            <a:r>
              <a:rPr lang="ru-RU" sz="2200" b="1" dirty="0"/>
              <a:t>Запрошенные изменения</a:t>
            </a:r>
            <a:endParaRPr lang="ru-RU" sz="2200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48" y="0"/>
            <a:ext cx="5508104" cy="6701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745940" y="4653136"/>
            <a:ext cx="5634372" cy="2094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44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ru-RU" b="1" dirty="0"/>
              <a:t>Управление стоимостью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21" y="2520280"/>
            <a:ext cx="8556267" cy="357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83568" y="6156012"/>
            <a:ext cx="7980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Рис. 6</a:t>
            </a:r>
            <a:r>
              <a:rPr lang="ru-RU" b="1" dirty="0"/>
              <a:t>. Управление стоимостью: входы, инструменты и методы, выходы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39552" y="1004535"/>
            <a:ext cx="900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Управление стоимостью проекта является частью общего управления изменениями и включает в себя поиск причин, вызывающих как позитивные, так и негативные отклонения</a:t>
            </a:r>
          </a:p>
        </p:txBody>
      </p:sp>
    </p:spTree>
    <p:extLst>
      <p:ext uri="{BB962C8B-B14F-4D97-AF65-F5344CB8AC3E}">
        <p14:creationId xmlns:p14="http://schemas.microsoft.com/office/powerpoint/2010/main" val="103013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Управление стоимостью: входы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1216" y="1523925"/>
            <a:ext cx="8219256" cy="478539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Базовый </a:t>
            </a:r>
            <a:r>
              <a:rPr lang="ru-RU" sz="2200" b="1" dirty="0"/>
              <a:t>план по </a:t>
            </a:r>
            <a:r>
              <a:rPr lang="ru-RU" sz="2200" b="1" dirty="0" smtClean="0"/>
              <a:t>стоимости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Требования </a:t>
            </a:r>
            <a:r>
              <a:rPr lang="ru-RU" sz="2200" b="1" dirty="0"/>
              <a:t>к финансированию </a:t>
            </a:r>
            <a:r>
              <a:rPr lang="ru-RU" sz="2200" b="1" dirty="0" smtClean="0"/>
              <a:t>проекта</a:t>
            </a:r>
            <a:endParaRPr lang="ru-RU" sz="22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Отчеты </a:t>
            </a:r>
            <a:r>
              <a:rPr lang="ru-RU" sz="2200" b="1" dirty="0"/>
              <a:t>об </a:t>
            </a:r>
            <a:r>
              <a:rPr lang="ru-RU" sz="2200" b="1" dirty="0" smtClean="0"/>
              <a:t>исполнении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Информация </a:t>
            </a:r>
            <a:r>
              <a:rPr lang="ru-RU" sz="2200" b="1" dirty="0"/>
              <a:t>об исполнении </a:t>
            </a:r>
            <a:r>
              <a:rPr lang="ru-RU" sz="2200" b="1" dirty="0" smtClean="0"/>
              <a:t>работ</a:t>
            </a:r>
            <a:endParaRPr lang="ru-RU" sz="22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Одобренные </a:t>
            </a:r>
            <a:r>
              <a:rPr lang="ru-RU" sz="2200" b="1" dirty="0"/>
              <a:t>запросы на </a:t>
            </a:r>
            <a:r>
              <a:rPr lang="ru-RU" sz="2200" b="1" dirty="0" smtClean="0"/>
              <a:t>изменения</a:t>
            </a:r>
            <a:endParaRPr lang="ru-RU" sz="22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ru-RU" sz="2200" b="1" dirty="0" smtClean="0"/>
              <a:t>План </a:t>
            </a:r>
            <a:r>
              <a:rPr lang="ru-RU" sz="2200" b="1" dirty="0"/>
              <a:t>управления проектом</a:t>
            </a:r>
            <a:endParaRPr lang="ru-RU" sz="2200" dirty="0"/>
          </a:p>
          <a:p>
            <a:pPr>
              <a:lnSpc>
                <a:spcPct val="15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771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 smtClean="0"/>
              <a:t>1   </a:t>
            </a:r>
            <a:r>
              <a:rPr lang="ru-RU" sz="2200" b="1" dirty="0"/>
              <a:t>Система управления изменениями стоимости</a:t>
            </a:r>
            <a:endParaRPr lang="ru-RU" sz="2200" dirty="0"/>
          </a:p>
          <a:p>
            <a:pPr marL="0" indent="0">
              <a:buNone/>
            </a:pPr>
            <a:r>
              <a:rPr lang="ru-RU" sz="2200" b="1" dirty="0" smtClean="0"/>
              <a:t>2   </a:t>
            </a:r>
            <a:r>
              <a:rPr lang="ru-RU" sz="2200" b="1" dirty="0"/>
              <a:t>Анализ измерения эффективности</a:t>
            </a:r>
            <a:endParaRPr lang="ru-RU" sz="2200" dirty="0"/>
          </a:p>
          <a:p>
            <a:pPr lvl="0"/>
            <a:r>
              <a:rPr lang="ru-RU" sz="2200" b="1" dirty="0"/>
              <a:t>Отклонение по </a:t>
            </a:r>
            <a:r>
              <a:rPr lang="ru-RU" sz="2200" b="1" dirty="0" smtClean="0"/>
              <a:t>стоимости. </a:t>
            </a:r>
            <a:r>
              <a:rPr lang="ru-RU" sz="2200" dirty="0" smtClean="0"/>
              <a:t>ОПС </a:t>
            </a:r>
            <a:r>
              <a:rPr lang="ru-RU" sz="2200" dirty="0"/>
              <a:t>= ОО – ФС</a:t>
            </a:r>
          </a:p>
          <a:p>
            <a:pPr lvl="0"/>
            <a:r>
              <a:rPr lang="ru-RU" sz="2200" b="1" dirty="0"/>
              <a:t>Отклонение по срокам (</a:t>
            </a:r>
            <a:r>
              <a:rPr lang="ru-RU" sz="2200" b="1" dirty="0" err="1"/>
              <a:t>ОСр</a:t>
            </a:r>
            <a:r>
              <a:rPr lang="ru-RU" sz="2200" b="1" dirty="0"/>
              <a:t>). </a:t>
            </a:r>
            <a:r>
              <a:rPr lang="ru-RU" sz="2200" dirty="0" err="1" smtClean="0"/>
              <a:t>ОСр</a:t>
            </a:r>
            <a:r>
              <a:rPr lang="ru-RU" sz="2200" dirty="0" smtClean="0"/>
              <a:t> </a:t>
            </a:r>
            <a:r>
              <a:rPr lang="ru-RU" sz="2200" dirty="0"/>
              <a:t>= ОО – </a:t>
            </a:r>
            <a:r>
              <a:rPr lang="ru-RU" sz="2200" dirty="0" smtClean="0"/>
              <a:t>ПО</a:t>
            </a:r>
          </a:p>
          <a:p>
            <a:r>
              <a:rPr lang="ru-RU" sz="2200" b="1" dirty="0"/>
              <a:t>Индекс выполнения стоимости (ИВСТ). </a:t>
            </a:r>
            <a:r>
              <a:rPr lang="ru-RU" sz="2200" dirty="0" smtClean="0"/>
              <a:t>ИВСТ </a:t>
            </a:r>
            <a:r>
              <a:rPr lang="ru-RU" sz="2200" dirty="0"/>
              <a:t>= </a:t>
            </a:r>
            <a:r>
              <a:rPr lang="ru-RU" sz="2200" dirty="0" smtClean="0"/>
              <a:t>ОО/ФС</a:t>
            </a:r>
          </a:p>
          <a:p>
            <a:pPr lvl="0"/>
            <a:r>
              <a:rPr lang="ru-RU" sz="2200" b="1" dirty="0"/>
              <a:t>Совокупный ИВСР (СИВСР). </a:t>
            </a:r>
            <a:r>
              <a:rPr lang="ru-RU" sz="2200" dirty="0" smtClean="0"/>
              <a:t>СИВСР </a:t>
            </a:r>
            <a:r>
              <a:rPr lang="ru-RU" sz="2200" dirty="0"/>
              <a:t>= ОО</a:t>
            </a:r>
            <a:r>
              <a:rPr lang="en-US" sz="2200" baseline="30000" dirty="0"/>
              <a:t>C</a:t>
            </a:r>
            <a:r>
              <a:rPr lang="ru-RU" sz="2200" dirty="0"/>
              <a:t>/ФС</a:t>
            </a:r>
            <a:r>
              <a:rPr lang="ru-RU" sz="2200" baseline="30000" dirty="0"/>
              <a:t>C</a:t>
            </a:r>
            <a:endParaRPr lang="ru-RU" sz="2200" dirty="0"/>
          </a:p>
          <a:p>
            <a:pPr lvl="0"/>
            <a:r>
              <a:rPr lang="ru-RU" sz="2200" b="1" dirty="0"/>
              <a:t>Индекс выполнения сроков (ИВСР). </a:t>
            </a:r>
            <a:r>
              <a:rPr lang="ru-RU" sz="2200" dirty="0" smtClean="0"/>
              <a:t>ИВСР </a:t>
            </a:r>
            <a:r>
              <a:rPr lang="ru-RU" sz="2200" dirty="0"/>
              <a:t>= </a:t>
            </a:r>
            <a:r>
              <a:rPr lang="ru-RU" sz="2200" dirty="0" smtClean="0"/>
              <a:t>ОО/ПО</a:t>
            </a:r>
          </a:p>
          <a:p>
            <a:pPr marL="0" indent="0">
              <a:buNone/>
            </a:pPr>
            <a:r>
              <a:rPr lang="ru-RU" sz="2200" b="1" dirty="0" smtClean="0"/>
              <a:t>3   Прогнозирование</a:t>
            </a:r>
          </a:p>
          <a:p>
            <a:pPr marL="0" indent="0">
              <a:buNone/>
            </a:pPr>
            <a:r>
              <a:rPr lang="ru-RU" sz="2200" b="1" dirty="0" smtClean="0"/>
              <a:t>4   </a:t>
            </a:r>
            <a:r>
              <a:rPr lang="ru-RU" sz="2200" b="1" dirty="0"/>
              <a:t>Анализ эффективности исполнения </a:t>
            </a:r>
            <a:r>
              <a:rPr lang="ru-RU" sz="2200" b="1" dirty="0" smtClean="0"/>
              <a:t>проекта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b="1" dirty="0" smtClean="0"/>
              <a:t>5   Программное обеспечение для управления проектами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b="1" dirty="0" smtClean="0"/>
              <a:t>6   </a:t>
            </a:r>
            <a:r>
              <a:rPr lang="ru-RU" sz="2200" b="1" dirty="0"/>
              <a:t>Управление отклонениями</a:t>
            </a:r>
            <a:endParaRPr lang="ru-RU" sz="2200" dirty="0"/>
          </a:p>
          <a:p>
            <a:pPr marL="0" indent="0">
              <a:buNone/>
            </a:pPr>
            <a:endParaRPr lang="ru-RU" dirty="0"/>
          </a:p>
          <a:p>
            <a:pPr marL="0" lvl="0" indent="0">
              <a:buNone/>
            </a:pPr>
            <a:endParaRPr lang="ru-RU" dirty="0"/>
          </a:p>
          <a:p>
            <a:endParaRPr lang="ru-RU" dirty="0"/>
          </a:p>
          <a:p>
            <a:pPr lvl="0"/>
            <a:endParaRPr lang="ru-RU" dirty="0"/>
          </a:p>
          <a:p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Управление стоимостью: инструменты и методы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486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69453"/>
            <a:ext cx="8856984" cy="4351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547664" y="6200608"/>
            <a:ext cx="63816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Рисунок </a:t>
            </a:r>
            <a:r>
              <a:rPr lang="ru-RU" b="1" dirty="0" smtClean="0"/>
              <a:t>7</a:t>
            </a:r>
            <a:r>
              <a:rPr lang="ru-RU" b="1" dirty="0"/>
              <a:t>. Пример графического отчета по исполнению</a:t>
            </a:r>
            <a:endParaRPr lang="ru-RU" dirty="0"/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Управление стоимостью: инструменты и методы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2889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Управление стоимостью: выходы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340768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200" b="1" dirty="0" smtClean="0"/>
              <a:t>1   </a:t>
            </a:r>
            <a:r>
              <a:rPr lang="ru-RU" sz="2200" b="1" dirty="0"/>
              <a:t>Стоимостная оценка (обновления)</a:t>
            </a:r>
            <a:endParaRPr lang="ru-RU" sz="22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 smtClean="0"/>
              <a:t>2   </a:t>
            </a:r>
            <a:r>
              <a:rPr lang="ru-RU" sz="2200" b="1" dirty="0"/>
              <a:t>Базовый план по стоимости (обновления</a:t>
            </a:r>
            <a:r>
              <a:rPr lang="ru-RU" sz="2200" b="1" dirty="0" smtClean="0"/>
              <a:t>)</a:t>
            </a:r>
            <a:endParaRPr lang="ru-RU" sz="22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 smtClean="0"/>
              <a:t>3   </a:t>
            </a:r>
            <a:r>
              <a:rPr lang="ru-RU" sz="2200" b="1" dirty="0"/>
              <a:t>Измерение эффективности</a:t>
            </a:r>
            <a:endParaRPr lang="ru-RU" sz="22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 smtClean="0"/>
              <a:t>4   </a:t>
            </a:r>
            <a:r>
              <a:rPr lang="ru-RU" sz="2200" b="1" dirty="0"/>
              <a:t>Прогнозируемое завершение</a:t>
            </a:r>
            <a:endParaRPr lang="ru-RU" sz="22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 smtClean="0"/>
              <a:t>5   </a:t>
            </a:r>
            <a:r>
              <a:rPr lang="ru-RU" sz="2200" b="1" dirty="0"/>
              <a:t>Запрошенные изменения</a:t>
            </a:r>
            <a:endParaRPr lang="ru-RU" sz="22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 smtClean="0"/>
              <a:t>6   </a:t>
            </a:r>
            <a:r>
              <a:rPr lang="ru-RU" sz="2200" b="1" dirty="0"/>
              <a:t>Рекомендованные корректирующие действия</a:t>
            </a:r>
            <a:endParaRPr lang="ru-RU" sz="22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 smtClean="0"/>
              <a:t>7   </a:t>
            </a:r>
            <a:r>
              <a:rPr lang="ru-RU" sz="2200" b="1" dirty="0"/>
              <a:t>Активы организационного процесса (обновления)</a:t>
            </a:r>
            <a:endParaRPr lang="ru-RU" sz="2200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 smtClean="0"/>
              <a:t>8   </a:t>
            </a:r>
            <a:r>
              <a:rPr lang="ru-RU" sz="2200" b="1" dirty="0"/>
              <a:t>План управления проектом (обновления)</a:t>
            </a:r>
            <a:endParaRPr lang="ru-RU" sz="2200" dirty="0"/>
          </a:p>
          <a:p>
            <a:pPr>
              <a:lnSpc>
                <a:spcPct val="150000"/>
              </a:lnSpc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70021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780928"/>
            <a:ext cx="8229600" cy="1143000"/>
          </a:xfrm>
        </p:spPr>
        <p:txBody>
          <a:bodyPr>
            <a:normAutofit/>
          </a:bodyPr>
          <a:lstStyle/>
          <a:p>
            <a:r>
              <a:rPr lang="ru-RU" sz="5400" dirty="0" smtClean="0"/>
              <a:t>Спасибо за внимание!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82523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496</Words>
  <Application>Microsoft Office PowerPoint</Application>
  <PresentationFormat>Экран (4:3)</PresentationFormat>
  <Paragraphs>93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Управление стоимостью проекта </vt:lpstr>
      <vt:lpstr>Презентация PowerPoint</vt:lpstr>
      <vt:lpstr>Презентация PowerPoint</vt:lpstr>
      <vt:lpstr>Презентация PowerPoint</vt:lpstr>
      <vt:lpstr>Стоимостная оценка</vt:lpstr>
      <vt:lpstr>Стоимостная оценка: входы </vt:lpstr>
      <vt:lpstr>Стоимостная оценка: инструменты и методы</vt:lpstr>
      <vt:lpstr>Оценка стоимости: выходы</vt:lpstr>
      <vt:lpstr>Презентация PowerPoint</vt:lpstr>
      <vt:lpstr> Разработка бюджета расходов </vt:lpstr>
      <vt:lpstr>Разработка бюджета расходов: входы</vt:lpstr>
      <vt:lpstr>Разработка бюджета расходов: инструменты и методы</vt:lpstr>
      <vt:lpstr>Разработка бюджета расходов: выходы  </vt:lpstr>
      <vt:lpstr>Презентация PowerPoint</vt:lpstr>
      <vt:lpstr>Управление стоимостью</vt:lpstr>
      <vt:lpstr>Управление стоимостью: входы</vt:lpstr>
      <vt:lpstr>Управление стоимостью: инструменты и методы </vt:lpstr>
      <vt:lpstr>Управление стоимостью: инструменты и методы </vt:lpstr>
      <vt:lpstr>Управление стоимостью: выходы 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стоимостью проекта </dc:title>
  <dc:creator>Алексей</dc:creator>
  <cp:lastModifiedBy>Алексей</cp:lastModifiedBy>
  <cp:revision>9</cp:revision>
  <dcterms:created xsi:type="dcterms:W3CDTF">2014-09-23T18:12:54Z</dcterms:created>
  <dcterms:modified xsi:type="dcterms:W3CDTF">2014-10-01T15:13:48Z</dcterms:modified>
</cp:coreProperties>
</file>